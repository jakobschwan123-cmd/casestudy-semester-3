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74" r:id="rId6"/>
    <p:sldId id="276" r:id="rId7"/>
    <p:sldId id="277"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001"/>
    <p:restoredTop sz="94610"/>
  </p:normalViewPr>
  <p:slideViewPr>
    <p:cSldViewPr snapToGrid="0" snapToObjects="1">
      <p:cViewPr>
        <p:scale>
          <a:sx n="134" d="100"/>
          <a:sy n="134" d="100"/>
        </p:scale>
        <p:origin x="952" y="1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 wir haben Zeit dafür eingeplant.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(70 s)
RepairFlow ist unsere Antwort darauf. Wichtig für die Einordnung: Wir sind nicht die Werkstatt, wir sind das Software-Startup. FixWerk ist unser Pilotkunde, an dessen Abläufen wir die Plattform entworfen haben. Diese Perspektive haben wir nach der Rückfrage des Dozenten bei der Konzeptvorstellung bewusst festgelegt.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Außerhalb der Plattform bleiben die physische Reparatur, die Systeme der Lieferanten und die Buchhaltung; dorthin gibt es Schnittstellen, mehr nicht.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3804D-9745-E945-7036-E99B9769A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EDE184-F0A1-587B-634E-F467BBE5AC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8B795-ED07-383D-F935-03E690DBE814}"/>
              </a:ext>
            </a:extLst>
          </p:cNvPr>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a:extLst>
              <a:ext uri="{FF2B5EF4-FFF2-40B4-BE49-F238E27FC236}">
                <a16:creationId xmlns:a16="http://schemas.microsoft.com/office/drawing/2014/main" id="{32569B22-EA7A-28D0-7E6A-0FFE1EDE3B9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4460752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(50 s)
Damit zur zweiten Hälfte: Was steckt hinter dieser Geschichte? Wir haben drei Modelle erstellt, die zusammenpassen. Zehn BPMN-Kollaborationsdiagramme mit 131 Aktivitäten im Werkstatt-Pool, dazu die Abläufe des Kunden mit 26 weiteren Aktivitäten. Ein Use-Case-Diagramm mit 19 Use Cases und 18 Akteuren. Ein vollständiges Klassendiagramm mit 27 Klassen und 36 Assoziationen. Sechs Sequenzdiagramme, gefordert waren fünf, und als Zugabe ein Zustandsdiagramm für den Reparaturauftrag.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60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zwei externe Akteure, der Lieferant und der KI-Diagnosedienst.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(80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(70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bisher zehn gemergte Pull Requests. Das Trello-Board hat eine Liste je Termin und eine Karte je Person und Aufgabe. Jedes Diagramm wurde im Zweierteam geprüft. Die Meilensteine: Am 02.09. standen alle Diagramme im Entwurf, am 05.10. die Korrekturen aus zwei Gesamtprüfungen, am 15.10. haben wir die Rollenstruktur umgesetzt, am 22.10. war die Generalprobe. Die Abgabe folgt am 13.11.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Prüfrunden: Eine Gesamtprüfung am 26.09., ein Komplettcheck am 05.10. mit 39 Befunden und der QA-Abgleich am 08.10.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5.svg"/><Relationship Id="rId4" Type="http://schemas.openxmlformats.org/officeDocument/2006/relationships/image" Target="../media/image24.sv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4.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548640" y="1234440"/>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8" name="Text 5"/>
          <p:cNvSpPr txBox="1"/>
          <p:nvPr/>
        </p:nvSpPr>
        <p:spPr>
          <a:xfrm>
            <a:off x="548640" y="1234440"/>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1</a:t>
            </a:r>
            <a:endParaRPr lang="en-US" sz="1400" dirty="0">
              <a:latin typeface="Segoe UI" panose="020B0502040204020203" pitchFamily="34" charset="0"/>
              <a:cs typeface="Segoe UI" panose="020B0502040204020203" pitchFamily="34" charset="0"/>
            </a:endParaRPr>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Das Problem: Werkstätten heute</a:t>
            </a:r>
            <a:endParaRPr lang="en-US" sz="1500" dirty="0">
              <a:latin typeface="Segoe UI" panose="020B0502040204020203" pitchFamily="34" charset="0"/>
              <a:cs typeface="Segoe UI" panose="020B0502040204020203" pitchFamily="34" charset="0"/>
            </a:endParaRPr>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David</a:t>
            </a:r>
            <a:endParaRPr lang="en-US" sz="1200" dirty="0">
              <a:latin typeface="Segoe UI" panose="020B0502040204020203" pitchFamily="34" charset="0"/>
              <a:cs typeface="Segoe UI" panose="020B0502040204020203" pitchFamily="34" charset="0"/>
            </a:endParaRPr>
          </a:p>
        </p:txBody>
      </p:sp>
      <p:sp>
        <p:nvSpPr>
          <p:cNvPr id="11" name="Shape 8"/>
          <p:cNvSpPr/>
          <p:nvPr/>
        </p:nvSpPr>
        <p:spPr>
          <a:xfrm>
            <a:off x="548640" y="1664208"/>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12" name="Text 9"/>
          <p:cNvSpPr txBox="1"/>
          <p:nvPr/>
        </p:nvSpPr>
        <p:spPr>
          <a:xfrm>
            <a:off x="548640" y="1664208"/>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2</a:t>
            </a:r>
            <a:endParaRPr lang="en-US" sz="1400" dirty="0">
              <a:latin typeface="Segoe UI" panose="020B0502040204020203" pitchFamily="34" charset="0"/>
              <a:cs typeface="Segoe UI" panose="020B0502040204020203" pitchFamily="34" charset="0"/>
            </a:endParaRPr>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RepairFlow: Lösung, Nutzen, Auftragsreise, KI-Sofortdiagnose</a:t>
            </a:r>
            <a:endParaRPr lang="en-US" sz="1500" dirty="0">
              <a:latin typeface="Segoe UI" panose="020B0502040204020203" pitchFamily="34" charset="0"/>
              <a:cs typeface="Segoe UI" panose="020B0502040204020203" pitchFamily="34" charset="0"/>
            </a:endParaRPr>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Adrian</a:t>
            </a:r>
            <a:endParaRPr lang="en-US" sz="1200" dirty="0">
              <a:latin typeface="Segoe UI" panose="020B0502040204020203" pitchFamily="34" charset="0"/>
              <a:cs typeface="Segoe UI" panose="020B0502040204020203" pitchFamily="34" charset="0"/>
            </a:endParaRPr>
          </a:p>
        </p:txBody>
      </p:sp>
      <p:sp>
        <p:nvSpPr>
          <p:cNvPr id="16" name="Shape 13"/>
          <p:cNvSpPr/>
          <p:nvPr/>
        </p:nvSpPr>
        <p:spPr>
          <a:xfrm>
            <a:off x="548640" y="2368296"/>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17" name="Text 14"/>
          <p:cNvSpPr txBox="1"/>
          <p:nvPr/>
        </p:nvSpPr>
        <p:spPr>
          <a:xfrm>
            <a:off x="548640" y="2368296"/>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3</a:t>
            </a:r>
            <a:endParaRPr lang="en-US" sz="1400" dirty="0">
              <a:latin typeface="Segoe UI" panose="020B0502040204020203" pitchFamily="34" charset="0"/>
              <a:cs typeface="Segoe UI" panose="020B0502040204020203" pitchFamily="34" charset="0"/>
            </a:endParaRPr>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Ergebnisse: zehn Geschäftsprozesse</a:t>
            </a:r>
            <a:endParaRPr lang="en-US" sz="1500" dirty="0">
              <a:latin typeface="Segoe UI" panose="020B0502040204020203" pitchFamily="34" charset="0"/>
              <a:cs typeface="Segoe UI" panose="020B0502040204020203" pitchFamily="34" charset="0"/>
            </a:endParaRPr>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Maximilian</a:t>
            </a:r>
            <a:endParaRPr lang="en-US" sz="1200" dirty="0">
              <a:latin typeface="Segoe UI" panose="020B0502040204020203" pitchFamily="34" charset="0"/>
              <a:cs typeface="Segoe UI" panose="020B0502040204020203" pitchFamily="34" charset="0"/>
            </a:endParaRPr>
          </a:p>
        </p:txBody>
      </p:sp>
      <p:sp>
        <p:nvSpPr>
          <p:cNvPr id="20" name="Shape 17"/>
          <p:cNvSpPr/>
          <p:nvPr/>
        </p:nvSpPr>
        <p:spPr>
          <a:xfrm>
            <a:off x="548640" y="2798064"/>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21" name="Text 18"/>
          <p:cNvSpPr txBox="1"/>
          <p:nvPr/>
        </p:nvSpPr>
        <p:spPr>
          <a:xfrm>
            <a:off x="548640" y="2798064"/>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4</a:t>
            </a:r>
            <a:endParaRPr lang="en-US" sz="1400" dirty="0">
              <a:latin typeface="Segoe UI" panose="020B0502040204020203" pitchFamily="34" charset="0"/>
              <a:cs typeface="Segoe UI" panose="020B0502040204020203" pitchFamily="34" charset="0"/>
            </a:endParaRPr>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Ergebnisse: Rollen, Use Cases und Datenmodell</a:t>
            </a:r>
            <a:endParaRPr lang="en-US" sz="1500" dirty="0">
              <a:latin typeface="Segoe UI" panose="020B0502040204020203" pitchFamily="34" charset="0"/>
              <a:cs typeface="Segoe UI" panose="020B0502040204020203" pitchFamily="34" charset="0"/>
            </a:endParaRPr>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David, Kilian</a:t>
            </a:r>
            <a:endParaRPr lang="en-US" sz="1200" dirty="0">
              <a:latin typeface="Segoe UI" panose="020B0502040204020203" pitchFamily="34" charset="0"/>
              <a:cs typeface="Segoe UI" panose="020B0502040204020203" pitchFamily="34" charset="0"/>
            </a:endParaRPr>
          </a:p>
        </p:txBody>
      </p:sp>
      <p:sp>
        <p:nvSpPr>
          <p:cNvPr id="24" name="Shape 21"/>
          <p:cNvSpPr/>
          <p:nvPr/>
        </p:nvSpPr>
        <p:spPr>
          <a:xfrm>
            <a:off x="548640" y="3227832"/>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25" name="Text 22"/>
          <p:cNvSpPr txBox="1"/>
          <p:nvPr/>
        </p:nvSpPr>
        <p:spPr>
          <a:xfrm>
            <a:off x="548640" y="3227832"/>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5</a:t>
            </a:r>
            <a:endParaRPr lang="en-US" sz="1400" dirty="0">
              <a:latin typeface="Segoe UI" panose="020B0502040204020203" pitchFamily="34" charset="0"/>
              <a:cs typeface="Segoe UI" panose="020B0502040204020203" pitchFamily="34" charset="0"/>
            </a:endParaRPr>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Vorgehen und Projektmanagement</a:t>
            </a:r>
            <a:endParaRPr lang="en-US" sz="1500" dirty="0">
              <a:latin typeface="Segoe UI" panose="020B0502040204020203" pitchFamily="34" charset="0"/>
              <a:cs typeface="Segoe UI" panose="020B0502040204020203" pitchFamily="34" charset="0"/>
            </a:endParaRPr>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Kilian</a:t>
            </a:r>
            <a:endParaRPr lang="en-US" sz="1200" dirty="0">
              <a:latin typeface="Segoe UI" panose="020B0502040204020203" pitchFamily="34" charset="0"/>
              <a:cs typeface="Segoe UI" panose="020B0502040204020203" pitchFamily="34" charset="0"/>
            </a:endParaRPr>
          </a:p>
        </p:txBody>
      </p:sp>
      <p:sp>
        <p:nvSpPr>
          <p:cNvPr id="28" name="Shape 25"/>
          <p:cNvSpPr/>
          <p:nvPr/>
        </p:nvSpPr>
        <p:spPr>
          <a:xfrm>
            <a:off x="548640" y="3657600"/>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29" name="Text 26"/>
          <p:cNvSpPr txBox="1"/>
          <p:nvPr/>
        </p:nvSpPr>
        <p:spPr>
          <a:xfrm>
            <a:off x="548640" y="3657600"/>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6</a:t>
            </a:r>
            <a:endParaRPr lang="en-US" sz="1400" dirty="0">
              <a:latin typeface="Segoe UI" panose="020B0502040204020203" pitchFamily="34" charset="0"/>
              <a:cs typeface="Segoe UI" panose="020B0502040204020203" pitchFamily="34" charset="0"/>
            </a:endParaRPr>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Qualität, Herausforderungen und Lernerfahrungen</a:t>
            </a:r>
            <a:endParaRPr lang="en-US" sz="1500" dirty="0">
              <a:latin typeface="Segoe UI" panose="020B0502040204020203" pitchFamily="34" charset="0"/>
              <a:cs typeface="Segoe UI" panose="020B0502040204020203" pitchFamily="34" charset="0"/>
            </a:endParaRPr>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Jakob</a:t>
            </a:r>
            <a:endParaRPr lang="en-US" sz="1200" dirty="0">
              <a:latin typeface="Segoe UI" panose="020B0502040204020203" pitchFamily="34" charset="0"/>
              <a:cs typeface="Segoe UI" panose="020B0502040204020203" pitchFamily="34" charset="0"/>
            </a:endParaRPr>
          </a:p>
        </p:txBody>
      </p:sp>
      <p:sp>
        <p:nvSpPr>
          <p:cNvPr id="32" name="Shape 29"/>
          <p:cNvSpPr/>
          <p:nvPr/>
        </p:nvSpPr>
        <p:spPr>
          <a:xfrm>
            <a:off x="548640" y="4087368"/>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3" name="Text 30"/>
          <p:cNvSpPr txBox="1"/>
          <p:nvPr/>
        </p:nvSpPr>
        <p:spPr>
          <a:xfrm>
            <a:off x="548640" y="4087368"/>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7</a:t>
            </a:r>
            <a:endParaRPr lang="en-US" sz="1400" dirty="0">
              <a:latin typeface="Segoe UI" panose="020B0502040204020203" pitchFamily="34" charset="0"/>
              <a:cs typeface="Segoe UI" panose="020B0502040204020203" pitchFamily="34" charset="0"/>
            </a:endParaRPr>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Geschäftsmodell, Ausblick und Fazit</a:t>
            </a:r>
            <a:endParaRPr lang="en-US" sz="1500" dirty="0">
              <a:latin typeface="Segoe UI" panose="020B0502040204020203" pitchFamily="34" charset="0"/>
              <a:cs typeface="Segoe UI" panose="020B0502040204020203" pitchFamily="34" charset="0"/>
            </a:endParaRPr>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Nina</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GmbH (vier Filialen, Fahrrad, E-Bike und Elektronik) arbeitet mit Papier, Excel-Listen und Telefon. Daraus folgen vier Probleme:</a:t>
            </a:r>
            <a:endParaRPr lang="en-US" sz="1300" dirty="0">
              <a:latin typeface="Segoe UI" panose="020B0502040204020203" pitchFamily="34" charset="0"/>
              <a:cs typeface="Segoe UI" panose="020B0502040204020203" pitchFamily="34" charset="0"/>
            </a:endParaRPr>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Keine zuverlässige Info, wann ein Kostenvoranschlag freizugeben oder das Gerät abholbereit ist. Rückfragen per Telefon, Geräte stehen wochenlang im Lager.</a:t>
            </a:r>
            <a:endParaRPr lang="en-US" sz="1150" dirty="0">
              <a:latin typeface="Segoe UI" panose="020B0502040204020203" pitchFamily="34" charset="0"/>
              <a:cs typeface="Segoe UI" panose="020B0502040204020203" pitchFamily="34" charset="0"/>
            </a:endParaRPr>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Wer wissen will, wo ein Gerät steht, fragt in der Werkstatt nach. Papierzettel und Excel-Listen laufen auseinander.</a:t>
            </a:r>
            <a:endParaRPr lang="en-US" sz="1150" dirty="0">
              <a:latin typeface="Segoe UI" panose="020B0502040204020203" pitchFamily="34" charset="0"/>
              <a:cs typeface="Segoe UI" panose="020B0502040204020203" pitchFamily="34" charset="0"/>
            </a:endParaRPr>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Jede Filiale bestellt für sich, obwohl das Teil in der Nachbarfiliale liegt. Das kostet Lieferzeit und Geld.</a:t>
            </a:r>
            <a:endParaRPr lang="en-US" sz="1150" dirty="0">
              <a:latin typeface="Segoe UI" panose="020B0502040204020203" pitchFamily="34" charset="0"/>
              <a:cs typeface="Segoe UI" panose="020B0502040204020203" pitchFamily="34" charset="0"/>
            </a:endParaRPr>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 die Kapazität der Techniker kennt niemand genau.</a:t>
            </a:r>
            <a:endParaRPr lang="en-US" sz="115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 die Lösung</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Eine Cloud-Plattform für den gesamten Reparatur-Lebenszyklus: von der Anfrage per App bis zur Abholung und Reklamation. Wir sind das Software-Startup, FixWerk ist unser Pilotkunde.</a:t>
            </a:r>
            <a:endParaRPr lang="en-US" sz="1400" dirty="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App mit Sofortdiagnose, Voranmeldung, KVA-Freigabe und Statusmeldungen</a:t>
            </a:r>
            <a:endParaRPr lang="en-US" sz="1050" dirty="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Auftragsstatus, Diagnose, Kostenvoranschlag, Reparaturschritte, Endkontrolle</a:t>
            </a:r>
            <a:endParaRPr lang="en-US" sz="1050" dirty="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Bestände aller Filialen, Reservierung, Umlagerung, Bestellung, Retoure</a:t>
            </a:r>
            <a:endParaRPr lang="en-US" sz="1050" dirty="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Rechnung, Zahlung, Übergabe an die Buchhaltung</a:t>
            </a:r>
            <a:endParaRPr lang="en-US" sz="1050" dirty="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Zielkunden: unabhängige Werkstätten und kleine Ketten mit 2 bis 10 Filialen im DACH-Raum</a:t>
            </a:r>
            <a:endParaRPr lang="en-US" sz="1200" dirty="0">
              <a:latin typeface="Segoe UI" panose="020B0502040204020203" pitchFamily="34" charset="0"/>
              <a:cs typeface="Segoe UI" panose="020B0502040204020203" pitchFamily="34" charset="0"/>
            </a:endParaRPr>
          </a:p>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Außerhalb der Plattform: physische Reparatur, Lieferantensysteme, Buchhaltung (nur Schnittstellen)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Fahrrad, E-Bike und Elektronik mit einer Kundenbasis und einem gemeinsamen Ersatzteillager. Ein Auftragsstatus für alle.</a:t>
            </a:r>
            <a:endParaRPr lang="en-US" sz="1150" dirty="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Bestände, Reservierungen und Umlagerungen über alle Standorte. Bestellt wird nur, was nirgends liegt.</a:t>
            </a:r>
            <a:endParaRPr lang="en-US" sz="1150" dirty="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Foto aus der App, Diagnosevorschlag, vorläufiger Kostenvoranschlag und Termin, bevor der Kunde die Werkstatt betritt.</a:t>
            </a:r>
            <a:endParaRPr lang="en-US" sz="115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11707356" cy="3499132"/>
            <a:chOff x="457200" y="1557129"/>
            <a:chExt cx="8366760" cy="2500684"/>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D07C062-CECE-758C-F23E-76755D09D423}"/>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94C75B7A-F4A9-86A4-9F84-444E2B34528C}"/>
              </a:ext>
            </a:extLst>
          </p:cNvPr>
          <p:cNvGrpSpPr/>
          <p:nvPr/>
        </p:nvGrpSpPr>
        <p:grpSpPr>
          <a:xfrm>
            <a:off x="-2876311" y="1557128"/>
            <a:ext cx="11707356" cy="3499132"/>
            <a:chOff x="457200" y="1557129"/>
            <a:chExt cx="8366760" cy="2500684"/>
          </a:xfrm>
        </p:grpSpPr>
        <p:sp>
          <p:nvSpPr>
            <p:cNvPr id="6" name="Shape 3">
              <a:extLst>
                <a:ext uri="{FF2B5EF4-FFF2-40B4-BE49-F238E27FC236}">
                  <a16:creationId xmlns:a16="http://schemas.microsoft.com/office/drawing/2014/main" id="{2E181FAA-36EF-144D-B56A-D77168F78B73}"/>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E7E58A4B-9203-2F78-19FA-6FE57CDDD22F}"/>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12C912F7-108E-212A-4788-2B6166EB19B6}"/>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60E2483F-F87D-BAC9-4869-7EE49ED76D48}"/>
                </a:ext>
              </a:extLst>
            </p:cNvPr>
            <p:cNvSpPr txBox="1"/>
            <p:nvPr/>
          </p:nvSpPr>
          <p:spPr>
            <a:xfrm>
              <a:off x="53949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73E6B55D-527E-7CBA-DEFF-50673B372522}"/>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5E037742-466D-8A88-27E2-CD020237D4EB}"/>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2AD78538-85F3-9616-279F-E65A45A1033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A5A217F9-4D0B-47B3-F955-DE78E0738C28}"/>
                </a:ext>
              </a:extLst>
            </p:cNvPr>
            <p:cNvSpPr txBox="1"/>
            <p:nvPr/>
          </p:nvSpPr>
          <p:spPr>
            <a:xfrm>
              <a:off x="1929384"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CBCDDFBB-55B6-F087-2BC9-18BB2AE0AAF6}"/>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93E4DB57-E3C7-75E6-CE79-88EACB5049D1}"/>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0D053BF0-3A12-F977-3F56-D7417C79E03F}"/>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E1EC901-30BE-5BDA-CD5C-E8F9C0631333}"/>
                </a:ext>
              </a:extLst>
            </p:cNvPr>
            <p:cNvSpPr txBox="1"/>
            <p:nvPr/>
          </p:nvSpPr>
          <p:spPr>
            <a:xfrm>
              <a:off x="3319272"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7084DA7-1A52-1596-AE3C-2E59E8C3DF50}"/>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DA8F6F7D-8344-65D1-BE8A-7211D60B702E}"/>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CAA51218-6ED7-8BE6-8523-F749F5BB8169}"/>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EBEEB3CE-BF1E-C06F-66B7-8E195CA797D5}"/>
                </a:ext>
              </a:extLst>
            </p:cNvPr>
            <p:cNvSpPr txBox="1"/>
            <p:nvPr/>
          </p:nvSpPr>
          <p:spPr>
            <a:xfrm>
              <a:off x="4709160"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AD8B4186-9B77-034E-6DF2-37A6D1ECD2C6}"/>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B14C7FAE-56D1-2B18-04AE-D96B48D316CC}"/>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AC451797-4598-3DCA-6C09-D2AC7C742D82}"/>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EE3D317B-1054-6ED4-B95A-DA3BAF51A099}"/>
                </a:ext>
              </a:extLst>
            </p:cNvPr>
            <p:cNvSpPr txBox="1"/>
            <p:nvPr/>
          </p:nvSpPr>
          <p:spPr>
            <a:xfrm>
              <a:off x="6099048"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33BDC169-3063-B1D4-890E-C9EEE8D6550C}"/>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0873EE84-DF4D-9A2C-342D-6076B3D6E492}"/>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073735B-FB1B-6895-4160-764DB7C6CEA1}"/>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5C6FABB9-40A4-EEAC-72AB-035884AB7AD8}"/>
                </a:ext>
              </a:extLst>
            </p:cNvPr>
            <p:cNvSpPr txBox="1"/>
            <p:nvPr/>
          </p:nvSpPr>
          <p:spPr>
            <a:xfrm>
              <a:off x="748893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E994FC96-1833-4218-D6E5-BD75A29B1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E5BDB458-3BA9-B11B-2A1D-63A824D706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421A7AFA-72A5-9CD1-2EC3-35F5916E11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028FFCC5-100D-274D-CC6D-CA29C12D473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FF39013E-C94B-91F2-8C6F-50FC2F0964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FF161112-AEC9-DBA2-EF43-9D05A44CA2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EFA6E04A-F220-CEB6-7786-4E0DF5207F8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933254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KI-Sofortdiagnose: KVA in 60 Sekunden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Aufnehmen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lädt Foto, Video oder Ton in der App hoch</a:t>
            </a:r>
            <a:endParaRPr lang="en-US" sz="1000" dirty="0">
              <a:latin typeface="Segoe UI" panose="020B0502040204020203" pitchFamily="34" charset="0"/>
              <a:cs typeface="Segoe UI" panose="020B0502040204020203" pitchFamily="34" charset="0"/>
            </a:endParaRPr>
          </a:p>
        </p:txBody>
      </p:sp>
      <p:sp>
        <p:nvSpPr>
          <p:cNvPr id="14" name="Text 9"/>
          <p:cNvSpPr txBox="1"/>
          <p:nvPr/>
        </p:nvSpPr>
        <p:spPr>
          <a:xfrm>
            <a:off x="2139696"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Erkennen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KI-Dienst nennt Gerätetyp, Ursache und Ersatzteile</a:t>
            </a:r>
            <a:endParaRPr lang="en-US" sz="1000" dirty="0">
              <a:latin typeface="Segoe UI" panose="020B0502040204020203" pitchFamily="34" charset="0"/>
              <a:cs typeface="Segoe UI" panose="020B0502040204020203" pitchFamily="34" charset="0"/>
            </a:endParaRPr>
          </a:p>
        </p:txBody>
      </p:sp>
      <p:sp>
        <p:nvSpPr>
          <p:cNvPr id="19" name="Text 13"/>
          <p:cNvSpPr txBox="1"/>
          <p:nvPr/>
        </p:nvSpPr>
        <p:spPr>
          <a:xfrm>
            <a:off x="3822192"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Kalkulieren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RepairFlow berechnet einen vorläufigen KVA</a:t>
            </a:r>
            <a:endParaRPr lang="en-US" sz="1000" dirty="0">
              <a:latin typeface="Segoe UI" panose="020B0502040204020203" pitchFamily="34" charset="0"/>
              <a:cs typeface="Segoe UI" panose="020B0502040204020203" pitchFamily="34" charset="0"/>
            </a:endParaRPr>
          </a:p>
        </p:txBody>
      </p:sp>
      <p:sp>
        <p:nvSpPr>
          <p:cNvPr id="24" name="Text 17"/>
          <p:cNvSpPr txBox="1"/>
          <p:nvPr/>
        </p:nvSpPr>
        <p:spPr>
          <a:xfrm>
            <a:off x="5504688"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Reservieren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Verfügbarkeit in allen Filialen, Teile vorreserviert</a:t>
            </a:r>
            <a:endParaRPr lang="en-US" sz="1000" dirty="0">
              <a:latin typeface="Segoe UI" panose="020B0502040204020203" pitchFamily="34" charset="0"/>
              <a:cs typeface="Segoe UI" panose="020B0502040204020203" pitchFamily="34" charset="0"/>
            </a:endParaRPr>
          </a:p>
        </p:txBody>
      </p:sp>
      <p:sp>
        <p:nvSpPr>
          <p:cNvPr id="29" name="Text 21"/>
          <p:cNvSpPr txBox="1"/>
          <p:nvPr/>
        </p:nvSpPr>
        <p:spPr>
          <a:xfrm>
            <a:off x="7187184"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Termin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Filiale und Termin vorgeschlagen, Kunde bestätigt</a:t>
            </a:r>
            <a:endParaRPr lang="en-US" sz="1000" dirty="0">
              <a:latin typeface="Segoe UI" panose="020B0502040204020203" pitchFamily="34" charset="0"/>
              <a:cs typeface="Segoe UI" panose="020B0502040204020203" pitchFamily="34" charset="0"/>
            </a:endParaRPr>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Heute machbar</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Sichtbare Schäden per Bildanalyse: gebrochenes Display, gerissene Kette</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Vorab-KVA aus Teilepreisen und Aufwandsrichtwerten</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Verfügbarkeitsprüfung und Vorreservierung</a:t>
            </a:r>
            <a:endParaRPr lang="en-US" sz="1100" dirty="0">
              <a:latin typeface="Segoe UI" panose="020B0502040204020203" pitchFamily="34" charset="0"/>
              <a:cs typeface="Segoe UI" panose="020B0502040204020203" pitchFamily="34" charset="0"/>
            </a:endParaRPr>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Vision und Absicherung</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Geräuschanalyse von E-Bike-Motoren, Aufwand aus Video</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Vorschlag bleibt vorläufig, der Techniker bestätigt oder korrigiert</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Medien nur mit Einwilligung, Löschung nach Abschluss</a:t>
            </a:r>
            <a:endParaRPr lang="en-US" sz="1100" dirty="0">
              <a:latin typeface="Segoe UI" panose="020B0502040204020203" pitchFamily="34" charset="0"/>
              <a:cs typeface="Segoe UI" panose="020B0502040204020203" pitchFamily="34" charset="0"/>
            </a:endParaRPr>
          </a:p>
        </p:txBody>
      </p:sp>
      <p:pic>
        <p:nvPicPr>
          <p:cNvPr id="35" name="Grafik 34" descr="Tageskalender mit einfarbiger Füllung">
            <a:extLst>
              <a:ext uri="{FF2B5EF4-FFF2-40B4-BE49-F238E27FC236}">
                <a16:creationId xmlns:a16="http://schemas.microsoft.com/office/drawing/2014/main" id="{02F94359-EFD3-0187-6F0B-1BADC1C1C8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288628"/>
            <a:ext cx="648000" cy="648000"/>
          </a:xfrm>
          <a:prstGeom prst="rect">
            <a:avLst/>
          </a:prstGeom>
        </p:spPr>
      </p:pic>
      <p:pic>
        <p:nvPicPr>
          <p:cNvPr id="37" name="Grafik 36" descr="Marke mit einfarbiger Füllung">
            <a:extLst>
              <a:ext uri="{FF2B5EF4-FFF2-40B4-BE49-F238E27FC236}">
                <a16:creationId xmlns:a16="http://schemas.microsoft.com/office/drawing/2014/main" id="{5C8F8888-A908-9FE9-76AC-9817079D2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288628"/>
            <a:ext cx="648000" cy="648000"/>
          </a:xfrm>
          <a:prstGeom prst="rect">
            <a:avLst/>
          </a:prstGeom>
        </p:spPr>
      </p:pic>
      <p:pic>
        <p:nvPicPr>
          <p:cNvPr id="39" name="Grafik 38" descr="Münzen mit einfarbiger Füllung">
            <a:extLst>
              <a:ext uri="{FF2B5EF4-FFF2-40B4-BE49-F238E27FC236}">
                <a16:creationId xmlns:a16="http://schemas.microsoft.com/office/drawing/2014/main" id="{9C064899-7FF6-F1FA-094D-A2C1BE09F6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260594"/>
            <a:ext cx="648000" cy="648000"/>
          </a:xfrm>
          <a:prstGeom prst="rect">
            <a:avLst/>
          </a:prstGeom>
        </p:spPr>
      </p:pic>
      <p:pic>
        <p:nvPicPr>
          <p:cNvPr id="41" name="Grafik 40" descr="Künstliche Intelligenz mit einfarbiger Füllung">
            <a:extLst>
              <a:ext uri="{FF2B5EF4-FFF2-40B4-BE49-F238E27FC236}">
                <a16:creationId xmlns:a16="http://schemas.microsoft.com/office/drawing/2014/main" id="{6DB060CD-45E9-4F32-6C01-D01512FAF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238897"/>
            <a:ext cx="648000" cy="648000"/>
          </a:xfrm>
          <a:prstGeom prst="rect">
            <a:avLst/>
          </a:prstGeom>
        </p:spPr>
      </p:pic>
      <p:pic>
        <p:nvPicPr>
          <p:cNvPr id="43" name="Grafik 42" descr="Kamera mit einfarbiger Füllung">
            <a:extLst>
              <a:ext uri="{FF2B5EF4-FFF2-40B4-BE49-F238E27FC236}">
                <a16:creationId xmlns:a16="http://schemas.microsoft.com/office/drawing/2014/main" id="{E41885DE-76B5-3C01-90F4-637E7069CE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300251"/>
            <a:ext cx="648000" cy="648000"/>
          </a:xfrm>
          <a:prstGeom prst="rect">
            <a:avLst/>
          </a:prstGeom>
        </p:spPr>
      </p:pic>
      <p:cxnSp>
        <p:nvCxnSpPr>
          <p:cNvPr id="3" name="Gerade Verbindung 2">
            <a:extLst>
              <a:ext uri="{FF2B5EF4-FFF2-40B4-BE49-F238E27FC236}">
                <a16:creationId xmlns:a16="http://schemas.microsoft.com/office/drawing/2014/main" id="{2472465D-9E73-998C-EB3F-FD9359C82543}"/>
              </a:ext>
            </a:extLst>
          </p:cNvPr>
          <p:cNvCxnSpPr>
            <a:cxnSpLocks/>
          </p:cNvCxnSpPr>
          <p:nvPr/>
        </p:nvCxnSpPr>
        <p:spPr>
          <a:xfrm>
            <a:off x="487680" y="3017521"/>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Gerade Verbindung 3">
            <a:extLst>
              <a:ext uri="{FF2B5EF4-FFF2-40B4-BE49-F238E27FC236}">
                <a16:creationId xmlns:a16="http://schemas.microsoft.com/office/drawing/2014/main" id="{ED6C3867-136C-1D68-02B8-139A62EA700B}"/>
              </a:ext>
            </a:extLst>
          </p:cNvPr>
          <p:cNvCxnSpPr>
            <a:cxnSpLocks/>
          </p:cNvCxnSpPr>
          <p:nvPr/>
        </p:nvCxnSpPr>
        <p:spPr>
          <a:xfrm>
            <a:off x="4501343" y="3192087"/>
            <a:ext cx="0" cy="121920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10</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BPMN-Kollaborationsdiagramme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131 Aktivitäten im Werkstatt-Pool</a:t>
            </a:r>
            <a:endParaRPr lang="en-US" sz="1100" dirty="0">
              <a:latin typeface="Segoe UI" panose="020B0502040204020203" pitchFamily="34" charset="0"/>
              <a:cs typeface="Segoe UI" panose="020B0502040204020203" pitchFamily="34" charset="0"/>
            </a:endParaRPr>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Use Cases</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17 Rollen und Akteure</a:t>
            </a:r>
            <a:endParaRPr lang="en-US" sz="1100" dirty="0">
              <a:latin typeface="Segoe UI" panose="020B0502040204020203" pitchFamily="34" charset="0"/>
              <a:cs typeface="Segoe UI" panose="020B0502040204020203" pitchFamily="34" charset="0"/>
            </a:endParaRPr>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27</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Klassen</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36 Assoziationen, 7 Aufzählungen</a:t>
            </a:r>
            <a:endParaRPr lang="en-US" sz="1100" dirty="0">
              <a:latin typeface="Segoe UI" panose="020B0502040204020203" pitchFamily="34" charset="0"/>
              <a:cs typeface="Segoe UI" panose="020B0502040204020203" pitchFamily="34" charset="0"/>
            </a:endParaRPr>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Sequenzdiagramme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 Zustandsdiagramm</a:t>
            </a:r>
            <a:endParaRPr lang="en-US" sz="1100" dirty="0">
              <a:latin typeface="Segoe UI" panose="020B0502040204020203" pitchFamily="34" charset="0"/>
              <a:cs typeface="Segoe UI" panose="020B0502040204020203" pitchFamily="34" charset="0"/>
            </a:endParaRPr>
          </a:p>
        </p:txBody>
      </p:sp>
      <p:sp>
        <p:nvSpPr>
          <p:cNvPr id="17" name="Text 13"/>
          <p:cNvSpPr txBox="1"/>
          <p:nvPr/>
        </p:nvSpPr>
        <p:spPr>
          <a:xfrm>
            <a:off x="64008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Geschäftsprozesse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Camunda Modeler, BPMN 2.0, angereichert für Camunda 8. Zehn Prozesse vom ersten Foto bis zur Retoure. 41 Nachrichtenflüsse, 48 Datenobjekte, 12 Datenspeicher.</a:t>
            </a:r>
            <a:endParaRPr lang="en-US" sz="1050" dirty="0">
              <a:latin typeface="Segoe UI" panose="020B0502040204020203" pitchFamily="34" charset="0"/>
              <a:cs typeface="Segoe UI" panose="020B0502040204020203" pitchFamily="34" charset="0"/>
            </a:endParaRPr>
          </a:p>
        </p:txBody>
      </p:sp>
      <p:sp>
        <p:nvSpPr>
          <p:cNvPr id="22" name="Text 17"/>
          <p:cNvSpPr txBox="1"/>
          <p:nvPr/>
        </p:nvSpPr>
        <p:spPr>
          <a:xfrm>
            <a:off x="342900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Objektorientierte Analyse</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Visual Paradigm: Use-Case-Diagramm, ein vollständiges Klassendiagramm, sechs Sequenzdiagramme als Unterdiagramme der Use Cases, Zustandsdiagramm des Reparaturauftrags.</a:t>
            </a:r>
            <a:endParaRPr lang="en-US" sz="1050" dirty="0">
              <a:latin typeface="Segoe UI" panose="020B0502040204020203" pitchFamily="34" charset="0"/>
              <a:cs typeface="Segoe UI" panose="020B0502040204020203" pitchFamily="34" charset="0"/>
            </a:endParaRPr>
          </a:p>
        </p:txBody>
      </p:sp>
      <p:sp>
        <p:nvSpPr>
          <p:cNvPr id="27" name="Text 21"/>
          <p:cNvSpPr txBox="1"/>
          <p:nvPr/>
        </p:nvSpPr>
        <p:spPr>
          <a:xfrm>
            <a:off x="621792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Dokumentation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Rund 20 Seiten: Projekt, Vorgehen, Projektmanagement, alle Artefakte, Konsistenz der Modelle, Herausforderungen und Feedback.</a:t>
            </a:r>
            <a:endParaRPr lang="en-US" sz="1050" dirty="0">
              <a:latin typeface="Segoe UI" panose="020B0502040204020203" pitchFamily="34" charset="0"/>
              <a:cs typeface="Segoe UI" panose="020B0502040204020203" pitchFamily="34" charset="0"/>
            </a:endParaRPr>
          </a:p>
        </p:txBody>
      </p:sp>
      <p:cxnSp>
        <p:nvCxnSpPr>
          <p:cNvPr id="4" name="Gerade Verbindung 3">
            <a:extLst>
              <a:ext uri="{FF2B5EF4-FFF2-40B4-BE49-F238E27FC236}">
                <a16:creationId xmlns:a16="http://schemas.microsoft.com/office/drawing/2014/main" id="{8C573E46-BC93-A9B9-D7EC-17E4C6DFE18A}"/>
              </a:ext>
            </a:extLst>
          </p:cNvPr>
          <p:cNvCxnSpPr>
            <a:cxnSpLocks/>
          </p:cNvCxnSpPr>
          <p:nvPr/>
        </p:nvCxnSpPr>
        <p:spPr>
          <a:xfrm>
            <a:off x="297180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Gerade Verbindung 4">
            <a:extLst>
              <a:ext uri="{FF2B5EF4-FFF2-40B4-BE49-F238E27FC236}">
                <a16:creationId xmlns:a16="http://schemas.microsoft.com/office/drawing/2014/main" id="{73E59AA9-5ABB-7007-6AC1-BF09D49F26D7}"/>
              </a:ext>
            </a:extLst>
          </p:cNvPr>
          <p:cNvCxnSpPr>
            <a:cxnSpLocks/>
          </p:cNvCxnSpPr>
          <p:nvPr/>
        </p:nvCxnSpPr>
        <p:spPr>
          <a:xfrm>
            <a:off x="592074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Gerade Verbindung 13">
            <a:extLst>
              <a:ext uri="{FF2B5EF4-FFF2-40B4-BE49-F238E27FC236}">
                <a16:creationId xmlns:a16="http://schemas.microsoft.com/office/drawing/2014/main" id="{FA1FCB79-1404-2061-8A83-0CC66FC7B823}"/>
              </a:ext>
            </a:extLst>
          </p:cNvPr>
          <p:cNvCxnSpPr>
            <a:cxnSpLocks/>
          </p:cNvCxnSpPr>
          <p:nvPr/>
        </p:nvCxnSpPr>
        <p:spPr>
          <a:xfrm>
            <a:off x="487680" y="2709949"/>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60 Prozent automatisiert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794826599"/>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79 %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131</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Aktivitäten im Werkstatt-Pool, im Schnitt 13,1 je Diagramm</a:t>
            </a:r>
            <a:endParaRPr lang="en-US" sz="1100" dirty="0">
              <a:latin typeface="Segoe UI" panose="020B0502040204020203" pitchFamily="34" charset="0"/>
              <a:cs typeface="Segoe UI" panose="020B0502040204020203" pitchFamily="34" charset="0"/>
            </a:endParaRPr>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60 %</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davon führt RepairFlow ohne manuelle Arbeit aus: Status, Benachrichtigung, Prüfung, Berechnung, Regel</a:t>
            </a:r>
            <a:endParaRPr lang="en-US" sz="1100" dirty="0">
              <a:latin typeface="Segoe UI" panose="020B0502040204020203" pitchFamily="34" charset="0"/>
              <a:cs typeface="Segoe UI" panose="020B0502040204020203" pitchFamily="34" charset="0"/>
            </a:endParaRPr>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Segoe UI" panose="020B0502040204020203" pitchFamily="34" charset="0"/>
                <a:ea typeface="Calibri" pitchFamily="34" charset="-122"/>
                <a:cs typeface="Segoe UI" panose="020B0502040204020203" pitchFamily="34" charset="0"/>
              </a:rPr>
              <a:t>Handwerk bleibt Handwerk: Diagnose, Reparatur und Endkontrolle sind Aktivitäten des Technikers mit Unterstützung durch das System.</a:t>
            </a:r>
            <a:endParaRPr lang="en-US" sz="1000" dirty="0">
              <a:latin typeface="Segoe UI" panose="020B0502040204020203" pitchFamily="34" charset="0"/>
              <a:cs typeface="Segoe UI" panose="020B0502040204020203" pitchFamily="34" charset="0"/>
            </a:endParaRPr>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Segoe UI" panose="020B0502040204020203" pitchFamily="34" charset="0"/>
                <a:ea typeface="Calibri" pitchFamily="34" charset="-122"/>
                <a:cs typeface="Segoe UI" panose="020B0502040204020203" pitchFamily="34" charset="0"/>
              </a:rPr>
              <a:t>01 bis 08: durchgehende Auftragsreise · 09 und 10: Reklamation und Retoure · Pool Werkstattbetrieb mit Lanes Service, Techniker, Werkstattleitung, Disposition; Kunde mit eigenem Ablauf, Lieferant als Black Box</a:t>
            </a:r>
            <a:endParaRPr lang="en-US" sz="950" dirty="0">
              <a:latin typeface="Segoe UI" panose="020B0502040204020203" pitchFamily="34" charset="0"/>
              <a:cs typeface="Segoe UI" panose="020B0502040204020203"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Prozess-Highlights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640079" y="192689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Nach dem Versand wartet ein ereignisbasiertes Gateway auf Freigabe, Ablehnung oder drei Tage Frist.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Bei Fristablauf erinnert RepairFlow, höchstens zweimal. Nach dem dritten Fristablauf ohne Antwort gilt der KVA als abgelehnt, das Gerät geht mit Diagnosepauschale zur Abholung.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 Auftrag bleibt liegen.</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342899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 Teil läuft parallel eine Prüfung: erst das eigene Lager, dann die anderen Filialen.</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Lokal vorhanden: reservieren. Anderswo vorhanden: umlagern. Nirgends: als Fehlteil markieren und erst dann bestellen (P06).</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Meldebestand unterschritten: Nachbestellvorschlag.</a:t>
            </a:r>
            <a:endParaRPr lang="en-US" sz="1150" dirty="0">
              <a:latin typeface="Segoe UI" panose="020B0502040204020203" pitchFamily="34" charset="0"/>
              <a:cs typeface="Segoe UI" panose="020B0502040204020203" pitchFamily="34" charset="0"/>
            </a:endParaRPr>
          </a:p>
        </p:txBody>
      </p:sp>
      <p:sp>
        <p:nvSpPr>
          <p:cNvPr id="19" name="Text 13"/>
          <p:cNvSpPr txBox="1"/>
          <p:nvPr/>
        </p:nvSpPr>
        <p:spPr>
          <a:xfrm>
            <a:off x="621791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Techniker prüft den Mangel, eine Geschäftsregel entscheidet über Gewährleistung.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Gewährleistung: kostenfreier Nacharbeitsauftrag, der durch die normale Auftragsreise läuft. Sonst: kostenpflichtiges Angebot.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Das Modell bleibt schlank, weil die Reklamation keine eigene Reparaturlogik braucht.</a:t>
            </a:r>
            <a:endParaRPr lang="en-US" sz="1150" dirty="0">
              <a:latin typeface="Segoe UI" panose="020B0502040204020203" pitchFamily="34" charset="0"/>
              <a:cs typeface="Segoe UI" panose="020B0502040204020203" pitchFamily="34" charset="0"/>
            </a:endParaRP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010833"/>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077889"/>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077889"/>
            <a:ext cx="914400" cy="914400"/>
          </a:xfrm>
          <a:prstGeom prst="rect">
            <a:avLst/>
          </a:prstGeom>
        </p:spPr>
      </p:pic>
      <p:cxnSp>
        <p:nvCxnSpPr>
          <p:cNvPr id="24" name="Gerade Verbindung 23">
            <a:extLst>
              <a:ext uri="{FF2B5EF4-FFF2-40B4-BE49-F238E27FC236}">
                <a16:creationId xmlns:a16="http://schemas.microsoft.com/office/drawing/2014/main" id="{7948C548-1A23-5D56-8228-CBC2E77D3897}"/>
              </a:ext>
            </a:extLst>
          </p:cNvPr>
          <p:cNvCxnSpPr>
            <a:cxnSpLocks/>
          </p:cNvCxnSpPr>
          <p:nvPr/>
        </p:nvCxnSpPr>
        <p:spPr>
          <a:xfrm>
            <a:off x="307155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Gerade Verbindung 26">
            <a:extLst>
              <a:ext uri="{FF2B5EF4-FFF2-40B4-BE49-F238E27FC236}">
                <a16:creationId xmlns:a16="http://schemas.microsoft.com/office/drawing/2014/main" id="{EF51E887-D57F-2501-C720-EF36F9A1AD5C}"/>
              </a:ext>
            </a:extLst>
          </p:cNvPr>
          <p:cNvCxnSpPr>
            <a:cxnSpLocks/>
          </p:cNvCxnSpPr>
          <p:nvPr/>
        </p:nvCxnSpPr>
        <p:spPr>
          <a:xfrm>
            <a:off x="587571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 Rollen und Use Cases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19 Use Cases in vier Bereichen. Jeder Use Case hat genau eine Rolle (Hinweis aus dem Coaching): lesbar, und die Rollen kehren in den Sequenzdiagrammen wieder.</a:t>
            </a:r>
            <a:endParaRPr lang="en-US" sz="1300" dirty="0">
              <a:latin typeface="Segoe UI" panose="020B0502040204020203" pitchFamily="34" charset="0"/>
              <a:cs typeface="Segoe UI" panose="020B0502040204020203" pitchFamily="34" charset="0"/>
            </a:endParaRPr>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200" dirty="0">
              <a:latin typeface="Segoe UI" panose="020B0502040204020203" pitchFamily="34" charset="0"/>
              <a:cs typeface="Segoe UI" panose="020B0502040204020203" pitchFamily="34" charset="0"/>
            </a:endParaRPr>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3 Use Cases</a:t>
            </a:r>
            <a:endParaRPr lang="en-US" sz="1000" dirty="0">
              <a:latin typeface="Segoe UI" panose="020B0502040204020203" pitchFamily="34" charset="0"/>
              <a:cs typeface="Segoe UI" panose="020B0502040204020203" pitchFamily="34" charset="0"/>
            </a:endParaRPr>
          </a:p>
          <a:p>
            <a:pPr marL="0" indent="0">
              <a:buNone/>
            </a:pPr>
            <a:endParaRPr lang="en-US" sz="1000" dirty="0">
              <a:latin typeface="Segoe UI" panose="020B0502040204020203" pitchFamily="34" charset="0"/>
              <a:cs typeface="Segoe UI" panose="020B0502040204020203" pitchFamily="34" charset="0"/>
            </a:endParaRPr>
          </a:p>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Sofortdiagnose anfordern, Voranmeldung bestätigen, KVA freigeben / ablehnen</a:t>
            </a:r>
            <a:endParaRPr lang="en-US" sz="1000" dirty="0">
              <a:latin typeface="Segoe UI" panose="020B0502040204020203" pitchFamily="34" charset="0"/>
              <a:cs typeface="Segoe UI" panose="020B0502040204020203" pitchFamily="34" charset="0"/>
            </a:endParaRPr>
          </a:p>
          <a:p>
            <a:pPr marL="0" indent="0">
              <a:buNone/>
            </a:pPr>
            <a:endParaRPr lang="en-US" sz="1000" dirty="0">
              <a:latin typeface="Segoe UI" panose="020B0502040204020203" pitchFamily="34" charset="0"/>
              <a:cs typeface="Segoe UI" panose="020B0502040204020203" pitchFamily="34" charset="0"/>
            </a:endParaRPr>
          </a:p>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extern: KI-Diagnosedienst</a:t>
            </a:r>
            <a:endParaRPr lang="en-US" sz="1000" dirty="0">
              <a:latin typeface="Segoe UI" panose="020B0502040204020203" pitchFamily="34" charset="0"/>
              <a:cs typeface="Segoe UI" panose="020B0502040204020203" pitchFamily="34" charset="0"/>
            </a:endParaRPr>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200" dirty="0">
              <a:latin typeface="Segoe UI" panose="020B0502040204020203" pitchFamily="34" charset="0"/>
              <a:cs typeface="Segoe UI" panose="020B0502040204020203" pitchFamily="34" charset="0"/>
            </a:endParaRPr>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9 Use Cases</a:t>
            </a:r>
            <a:endParaRPr lang="en-US" sz="1000" dirty="0">
              <a:latin typeface="Segoe UI" panose="020B0502040204020203" pitchFamily="34" charset="0"/>
              <a:cs typeface="Segoe UI" panose="020B0502040204020203" pitchFamily="34" charset="0"/>
            </a:endParaRPr>
          </a:p>
          <a:p>
            <a:pPr marL="0" indent="0">
              <a:buNone/>
            </a:pPr>
            <a:endParaRPr lang="en-US" sz="1000" dirty="0">
              <a:latin typeface="Segoe UI" panose="020B0502040204020203" pitchFamily="34" charset="0"/>
              <a:cs typeface="Segoe UI" panose="020B0502040204020203" pitchFamily="34" charset="0"/>
            </a:endParaRPr>
          </a:p>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Serviceannahme, Diagnoseprüfer, Diagnostiker, Kalkulator, Werkstattplaner, Reparateur, Endkontrolleur, Geräteausgabe, Reklamationsbearbeiter</a:t>
            </a:r>
            <a:endParaRPr lang="en-US" sz="1000" dirty="0">
              <a:latin typeface="Segoe UI" panose="020B0502040204020203" pitchFamily="34" charset="0"/>
              <a:cs typeface="Segoe UI" panose="020B0502040204020203" pitchFamily="34" charset="0"/>
            </a:endParaRPr>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Segoe UI" panose="020B0502040204020203" pitchFamily="34" charset="0"/>
                <a:ea typeface="Calibri" pitchFamily="34" charset="-122"/>
                <a:cs typeface="Segoe UI" panose="020B0502040204020203" pitchFamily="34" charset="0"/>
              </a:rPr>
              <a:t>Ersatzteil-Disposition</a:t>
            </a:r>
            <a:endParaRPr lang="en-US" sz="1200" dirty="0">
              <a:latin typeface="Segoe UI" panose="020B0502040204020203" pitchFamily="34" charset="0"/>
              <a:cs typeface="Segoe UI" panose="020B0502040204020203" pitchFamily="34" charset="0"/>
            </a:endParaRPr>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6 Use Cases</a:t>
            </a:r>
            <a:endParaRPr lang="en-US" sz="1000" dirty="0">
              <a:latin typeface="Segoe UI" panose="020B0502040204020203" pitchFamily="34" charset="0"/>
              <a:cs typeface="Segoe UI" panose="020B0502040204020203" pitchFamily="34" charset="0"/>
            </a:endParaRPr>
          </a:p>
          <a:p>
            <a:pPr marL="0" indent="0">
              <a:buNone/>
            </a:pPr>
            <a:endParaRPr lang="en-US" sz="1000" dirty="0">
              <a:latin typeface="Segoe UI" panose="020B0502040204020203" pitchFamily="34" charset="0"/>
              <a:cs typeface="Segoe UI" panose="020B0502040204020203" pitchFamily="34" charset="0"/>
            </a:endParaRPr>
          </a:p>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Teiledisponent, Bestandsplaner, Einkäufer, Wareneingang, Retourenbearbeiter</a:t>
            </a:r>
            <a:endParaRPr lang="en-US" sz="1000" dirty="0">
              <a:latin typeface="Segoe UI" panose="020B0502040204020203" pitchFamily="34" charset="0"/>
              <a:cs typeface="Segoe UI" panose="020B0502040204020203" pitchFamily="34" charset="0"/>
            </a:endParaRPr>
          </a:p>
          <a:p>
            <a:pPr marL="0" indent="0">
              <a:buNone/>
            </a:pPr>
            <a:endParaRPr lang="en-US" sz="1000" dirty="0">
              <a:latin typeface="Segoe UI" panose="020B0502040204020203" pitchFamily="34" charset="0"/>
              <a:cs typeface="Segoe UI" panose="020B0502040204020203" pitchFamily="34" charset="0"/>
            </a:endParaRPr>
          </a:p>
          <a:p>
            <a:pPr marL="0" indent="0">
              <a:buNone/>
            </a:pPr>
            <a:r>
              <a:rPr lang="en-US" sz="1000" dirty="0" err="1">
                <a:solidFill>
                  <a:srgbClr val="1B2430"/>
                </a:solidFill>
                <a:latin typeface="Segoe UI" panose="020B0502040204020203" pitchFamily="34" charset="0"/>
                <a:ea typeface="Calibri" pitchFamily="34" charset="-122"/>
                <a:cs typeface="Segoe UI" panose="020B0502040204020203" pitchFamily="34" charset="0"/>
              </a:rPr>
              <a:t>Lieferant</a:t>
            </a:r>
            <a:r>
              <a:rPr lang="en-US" sz="1000" dirty="0">
                <a:solidFill>
                  <a:srgbClr val="1B2430"/>
                </a:solidFill>
                <a:latin typeface="Segoe UI" panose="020B0502040204020203" pitchFamily="34" charset="0"/>
                <a:ea typeface="Calibri" pitchFamily="34" charset="-122"/>
                <a:cs typeface="Segoe UI" panose="020B0502040204020203" pitchFamily="34" charset="0"/>
              </a:rPr>
              <a:t>: Black Box, </a:t>
            </a:r>
            <a:r>
              <a:rPr lang="en-US" sz="1000" dirty="0" err="1">
                <a:solidFill>
                  <a:srgbClr val="1B2430"/>
                </a:solidFill>
                <a:latin typeface="Segoe UI" panose="020B0502040204020203" pitchFamily="34" charset="0"/>
                <a:ea typeface="Calibri" pitchFamily="34" charset="-122"/>
                <a:cs typeface="Segoe UI" panose="020B0502040204020203" pitchFamily="34" charset="0"/>
              </a:rPr>
              <a:t>kein</a:t>
            </a:r>
            <a:r>
              <a:rPr lang="en-US" sz="1000" dirty="0">
                <a:solidFill>
                  <a:srgbClr val="1B2430"/>
                </a:solidFill>
                <a:latin typeface="Segoe UI" panose="020B0502040204020203" pitchFamily="34" charset="0"/>
                <a:ea typeface="Calibri" pitchFamily="34" charset="-122"/>
                <a:cs typeface="Segoe UI" panose="020B0502040204020203" pitchFamily="34" charset="0"/>
              </a:rPr>
              <a:t> </a:t>
            </a:r>
            <a:r>
              <a:rPr lang="en-US" sz="1000" dirty="0" err="1">
                <a:solidFill>
                  <a:srgbClr val="1B2430"/>
                </a:solidFill>
                <a:latin typeface="Segoe UI" panose="020B0502040204020203" pitchFamily="34" charset="0"/>
                <a:ea typeface="Calibri" pitchFamily="34" charset="-122"/>
                <a:cs typeface="Segoe UI" panose="020B0502040204020203" pitchFamily="34" charset="0"/>
              </a:rPr>
              <a:t>Akteur</a:t>
            </a:r>
            <a:endParaRPr lang="en-US" sz="1000" dirty="0">
              <a:latin typeface="Segoe UI" panose="020B0502040204020203" pitchFamily="34" charset="0"/>
              <a:cs typeface="Segoe UI" panose="020B0502040204020203" pitchFamily="34" charset="0"/>
            </a:endParaRPr>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marL="0" indent="0">
              <a:buNone/>
            </a:pPr>
            <a:r>
              <a:rPr lang="en-US" sz="1200" b="1" dirty="0">
                <a:solidFill>
                  <a:srgbClr val="1B2430"/>
                </a:solidFill>
                <a:latin typeface="Segoe UI" panose="020B0502040204020203" pitchFamily="34" charset="0"/>
                <a:ea typeface="Calibri" pitchFamily="34" charset="-122"/>
                <a:cs typeface="Segoe UI" panose="020B0502040204020203" pitchFamily="34" charset="0"/>
              </a:rPr>
              <a:t>Administration</a:t>
            </a:r>
            <a:endParaRPr lang="en-US" sz="1200" dirty="0">
              <a:latin typeface="Segoe UI" panose="020B0502040204020203" pitchFamily="34" charset="0"/>
              <a:cs typeface="Segoe UI" panose="020B0502040204020203" pitchFamily="34" charset="0"/>
            </a:endParaRPr>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1 Use Case</a:t>
            </a:r>
            <a:endParaRPr lang="en-US" sz="1000" dirty="0">
              <a:latin typeface="Segoe UI" panose="020B0502040204020203" pitchFamily="34" charset="0"/>
              <a:cs typeface="Segoe UI" panose="020B0502040204020203" pitchFamily="34" charset="0"/>
            </a:endParaRPr>
          </a:p>
          <a:p>
            <a:pPr marL="0" indent="0">
              <a:buNone/>
            </a:pPr>
            <a:endParaRPr lang="en-US" sz="1000" dirty="0">
              <a:latin typeface="Segoe UI" panose="020B0502040204020203" pitchFamily="34" charset="0"/>
              <a:cs typeface="Segoe UI" panose="020B0502040204020203" pitchFamily="34" charset="0"/>
            </a:endParaRPr>
          </a:p>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Betriebsadministrator: Werkstattbetrieb und Filialen verwalten (Mandant)</a:t>
            </a:r>
            <a:endParaRPr lang="en-US" sz="1000" dirty="0">
              <a:latin typeface="Segoe UI" panose="020B0502040204020203" pitchFamily="34" charset="0"/>
              <a:cs typeface="Segoe UI" panose="020B0502040204020203" pitchFamily="34" charset="0"/>
            </a:endParaRPr>
          </a:p>
          <a:p>
            <a:pPr marL="0" indent="0">
              <a:buNone/>
            </a:pPr>
            <a:endParaRPr lang="en-US" sz="1000" dirty="0">
              <a:latin typeface="Segoe UI" panose="020B0502040204020203" pitchFamily="34" charset="0"/>
              <a:cs typeface="Segoe UI" panose="020B0502040204020203" pitchFamily="34" charset="0"/>
            </a:endParaRPr>
          </a:p>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Rolle → Mitarbeitertyp → Lane: Tabelle 7 der Doku</a:t>
            </a:r>
            <a:endParaRPr lang="en-US" sz="1000" dirty="0">
              <a:latin typeface="Segoe UI" panose="020B0502040204020203" pitchFamily="34" charset="0"/>
              <a:cs typeface="Segoe UI" panose="020B0502040204020203"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Entwurfsentscheidungen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Reparaturauftrag als Aggregatwurzel</a:t>
            </a:r>
            <a:endParaRPr lang="en-US" sz="1400" dirty="0">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Befund und Reparaturschritte sind Kompositionen; KVA und Gerät nur zugeordnet, weil der Vorab-KVA vor dem Auftrag entsteht.</a:t>
            </a:r>
            <a:endParaRPr lang="en-US" sz="1000" dirty="0">
              <a:latin typeface="Segoe UI" panose="020B0502040204020203" pitchFamily="34" charset="0"/>
              <a:cs typeface="Segoe UI" panose="020B0502040204020203" pitchFamily="34" charset="0"/>
            </a:endParaRPr>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Lagerbestand je Filiale</a:t>
            </a:r>
            <a:endParaRPr lang="en-US" sz="1400" dirty="0">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Eigene Klasse zwischen Ersatzteil und Filiale. Nur so lässt sich die Verfügbarkeit über alle Filialen prüfen.</a:t>
            </a:r>
            <a:endParaRPr lang="en-US" sz="1000" dirty="0">
              <a:latin typeface="Segoe UI" panose="020B0502040204020203" pitchFamily="34" charset="0"/>
              <a:cs typeface="Segoe UI" panose="020B0502040204020203" pitchFamily="34" charset="0"/>
            </a:endParaRPr>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vorreserviert, reserviert, entnommen, storniert: eine Beziehung mit eigenen Daten wird zur Klasse.</a:t>
            </a:r>
            <a:endParaRPr lang="en-US" sz="1000" dirty="0">
              <a:latin typeface="Segoe UI" panose="020B0502040204020203" pitchFamily="34" charset="0"/>
              <a:cs typeface="Segoe UI" panose="020B0502040204020203" pitchFamily="34" charset="0"/>
            </a:endParaRPr>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Mandant und Mitarbeitertypen</a:t>
            </a:r>
            <a:endParaRPr lang="en-US" sz="1400" dirty="0">
              <a:latin typeface="Segoe UI" panose="020B0502040204020203" pitchFamily="34" charset="0"/>
              <a:cs typeface="Segoe UI" panose="020B0502040204020203" pitchFamily="34" charset="0"/>
            </a:endParaRPr>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Werkstattbetrieb als Mandant; Servicemitarbeiter, Techniker, Disponent, Werkstattleiter als Unterklassen von Mitarbeiter, passend zu Lanes und Rollen.</a:t>
            </a:r>
            <a:endParaRPr lang="en-US" sz="1000" dirty="0">
              <a:latin typeface="Segoe UI" panose="020B0502040204020203" pitchFamily="34" charset="0"/>
              <a:cs typeface="Segoe UI" panose="020B0502040204020203" pitchFamily="34" charset="0"/>
            </a:endParaRPr>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Voranmeldung, Medienanhang und KIDiagnosevorschlag tragen das Alleinstellungsmerkmal im Modell.</a:t>
            </a:r>
            <a:endParaRPr lang="en-US" sz="1000" dirty="0">
              <a:latin typeface="Segoe UI" panose="020B0502040204020203" pitchFamily="34" charset="0"/>
              <a:cs typeface="Segoe UI" panose="020B0502040204020203" pitchFamily="34" charset="0"/>
            </a:endParaRPr>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892040" y="3474720"/>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Segoe UI" panose="020B0502040204020203" pitchFamily="34" charset="0"/>
                <a:ea typeface="Calibri" pitchFamily="34" charset="-122"/>
                <a:cs typeface="Segoe UI" panose="020B0502040204020203" pitchFamily="34" charset="0"/>
              </a:rPr>
              <a:t>27 Klassen · 36 Assoziationen · 7 Aufzählungen</a:t>
            </a:r>
            <a:endParaRPr lang="en-US" sz="1050" dirty="0">
              <a:latin typeface="Segoe UI" panose="020B0502040204020203" pitchFamily="34" charset="0"/>
              <a:cs typeface="Segoe UI" panose="020B0502040204020203" pitchFamily="34" charset="0"/>
            </a:endParaRPr>
          </a:p>
          <a:p>
            <a:pPr marL="0" indent="0">
              <a:buNone/>
            </a:pPr>
            <a:r>
              <a:rPr lang="en-US" sz="1050" dirty="0">
                <a:solidFill>
                  <a:srgbClr val="FFFFFF"/>
                </a:solidFill>
                <a:latin typeface="Segoe UI" panose="020B0502040204020203" pitchFamily="34" charset="0"/>
                <a:ea typeface="Calibri" pitchFamily="34" charset="-122"/>
                <a:cs typeface="Segoe UI" panose="020B0502040204020203" pitchFamily="34" charset="0"/>
              </a:rPr>
              <a:t>Botschaft = Operation: Die sechs Sequenzdiagramme verwenden ausschließlich Operationen dieser Klassen. Der Reparaturauftrag führt den Status als Attribut, das Zustandsdiagramm beschreibt seine Übergänge.</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Meilensteine</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02.09. alle Diagramme im Entwurf, 05.10. Korrekturen aus zwei Gesamtprüfungen, 15.10. Rollenstruktur und Zuständigkeiten, 22.10. Generalprobe, 27.10. Präsentation, 13.11. Abgabe.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Prüfrunden</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Gesamtprüfung 26.09., Komplettcheck 05.10. (39 Befunde), QA-Abgleich 08.10.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Abo je Filiale</a:t>
            </a:r>
            <a:endParaRPr lang="en-US" sz="1400" dirty="0">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Basis: Auftrags- und Kundenverwaltung mit Kundenportal. Pro: zusätzlich filialübergreifende Disposition und KI-Sofortdiagnose.</a:t>
            </a:r>
            <a:endParaRPr lang="en-US" sz="1150" dirty="0">
              <a:latin typeface="Segoe UI" panose="020B0502040204020203" pitchFamily="34" charset="0"/>
              <a:cs typeface="Segoe UI" panose="020B0502040204020203" pitchFamily="34" charset="0"/>
            </a:endParaRPr>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Zielkunden</a:t>
            </a:r>
            <a:endParaRPr lang="en-US" sz="1400" dirty="0">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Unabhängige Werkstätten und kleine Ketten mit 2 bis 10 Filialen im DACH-Raum, für die ein großes Werkstattsystem zu schwer ist.</a:t>
            </a:r>
            <a:endParaRPr lang="en-US" sz="1150" dirty="0">
              <a:latin typeface="Segoe UI" panose="020B0502040204020203" pitchFamily="34" charset="0"/>
              <a:cs typeface="Segoe UI" panose="020B0502040204020203" pitchFamily="34" charset="0"/>
            </a:endParaRPr>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marL="0" indent="0">
              <a:buNone/>
            </a:pPr>
            <a:r>
              <a:rPr lang="en-US" sz="1300" b="1" dirty="0">
                <a:solidFill>
                  <a:srgbClr val="F2A900"/>
                </a:solidFill>
                <a:latin typeface="Segoe UI" panose="020B0502040204020203" pitchFamily="34" charset="0"/>
                <a:ea typeface="Calibri" pitchFamily="34" charset="-122"/>
                <a:cs typeface="Segoe UI" panose="020B0502040204020203" pitchFamily="34" charset="0"/>
              </a:rPr>
              <a:t>Ausblick (Vision, nicht modelliert)</a:t>
            </a:r>
            <a:endParaRPr lang="en-US" sz="1300" dirty="0">
              <a:latin typeface="Segoe UI" panose="020B0502040204020203" pitchFamily="34" charset="0"/>
              <a:cs typeface="Segoe UI" panose="020B0502040204020203" pitchFamily="34" charset="0"/>
            </a:endParaRPr>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Predictive Disposition</a:t>
            </a:r>
            <a:endParaRPr lang="en-US" sz="1400" dirty="0">
              <a:latin typeface="Segoe UI" panose="020B0502040204020203" pitchFamily="34" charset="0"/>
              <a:cs typeface="Segoe UI" panose="020B0502040204020203" pitchFamily="34" charset="0"/>
            </a:endParaRPr>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Bedarfsprognose je Filiale und Saison, damit Teile vor der Nachfrage im Lager liegen.</a:t>
            </a:r>
            <a:endParaRPr lang="en-US" sz="1050" dirty="0">
              <a:latin typeface="Segoe UI" panose="020B0502040204020203" pitchFamily="34" charset="0"/>
              <a:cs typeface="Segoe UI" panose="020B0502040204020203" pitchFamily="34" charset="0"/>
            </a:endParaRPr>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Techniker-Copilot</a:t>
            </a:r>
            <a:endParaRPr lang="en-US" sz="1400" dirty="0">
              <a:latin typeface="Segoe UI" panose="020B0502040204020203" pitchFamily="34" charset="0"/>
              <a:cs typeface="Segoe UI" panose="020B0502040204020203" pitchFamily="34" charset="0"/>
            </a:endParaRPr>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Reparaturschritte und Aufwand aus der Historie ähnlicher Aufträge vorschlagen.</a:t>
            </a:r>
            <a:endParaRPr lang="en-US" sz="1050" dirty="0">
              <a:latin typeface="Segoe UI" panose="020B0502040204020203" pitchFamily="34" charset="0"/>
              <a:cs typeface="Segoe UI" panose="020B0502040204020203" pitchFamily="34" charset="0"/>
            </a:endParaRPr>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latin typeface="Segoe UI" panose="020B0502040204020203" pitchFamily="34" charset="0"/>
              <a:cs typeface="Segoe UI" panose="020B0502040204020203" pitchFamily="34" charset="0"/>
            </a:endParaRPr>
          </a:p>
        </p:txBody>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9" name="Image 4" descr="preencoded.png"/>
          <p:cNvPicPr>
            <a:picLocks noChangeAspect="1"/>
          </p:cNvPicPr>
          <p:nvPr/>
        </p:nvPicPr>
        <p:blipFill>
          <a:blip r:embed="rId7"/>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Digitale Geräteakte</a:t>
            </a:r>
            <a:endParaRPr lang="en-US" sz="1400" dirty="0">
              <a:latin typeface="Segoe UI" panose="020B0502040204020203" pitchFamily="34" charset="0"/>
              <a:cs typeface="Segoe UI" panose="020B0502040204020203" pitchFamily="34" charset="0"/>
            </a:endParaRPr>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Gerät behält seine Reparaturgeschichte über alle Filialen und Besitzer.</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Segoe UI" panose="020B0502040204020203" pitchFamily="34" charset="0"/>
                <a:ea typeface="Calibri" pitchFamily="34" charset="-122"/>
                <a:cs typeface="Segoe UI" panose="020B0502040204020203" pitchFamily="34" charset="0"/>
              </a:rPr>
              <a:t>Fazit</a:t>
            </a:r>
            <a:endParaRPr lang="en-US" sz="2800" dirty="0">
              <a:latin typeface="Segoe UI" panose="020B0502040204020203" pitchFamily="34" charset="0"/>
              <a:cs typeface="Segoe UI" panose="020B0502040204020203" pitchFamily="34" charset="0"/>
            </a:endParaRPr>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Segoe UI" panose="020B0502040204020203" pitchFamily="34" charset="0"/>
                <a:ea typeface="Calibri" pitchFamily="34" charset="-122"/>
                <a:cs typeface="Segoe UI" panose="020B0502040204020203" pitchFamily="34" charset="0"/>
              </a:rPr>
              <a:t>RepairFlow · Fallstudie Systemanalyse · WWI25B4 Gruppe 1</a:t>
            </a:r>
            <a:endParaRPr lang="en-US" sz="900" dirty="0">
              <a:latin typeface="Segoe UI" panose="020B0502040204020203" pitchFamily="34" charset="0"/>
              <a:cs typeface="Segoe UI" panose="020B0502040204020203" pitchFamily="34" charset="0"/>
            </a:endParaRPr>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Segoe UI" panose="020B0502040204020203" pitchFamily="34" charset="0"/>
                <a:ea typeface="Calibri" pitchFamily="34" charset="-122"/>
                <a:cs typeface="Segoe UI" panose="020B0502040204020203" pitchFamily="34" charset="0"/>
              </a:rPr>
              <a:t>17</a:t>
            </a:r>
            <a:endParaRPr lang="en-US" sz="900" dirty="0">
              <a:latin typeface="Segoe UI" panose="020B0502040204020203" pitchFamily="34" charset="0"/>
              <a:cs typeface="Segoe UI" panose="020B0502040204020203" pitchFamily="34" charset="0"/>
            </a:endParaRPr>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RepairFlow löst den Medienbruch aus Papier, Excel und Telefon und macht den Reparaturauftrag zum zentralen Zustandsautomaten.</a:t>
            </a:r>
            <a:endParaRPr lang="en-US" sz="1600" dirty="0">
              <a:latin typeface="Segoe UI" panose="020B0502040204020203" pitchFamily="34" charset="0"/>
              <a:cs typeface="Segoe UI" panose="020B0502040204020203" pitchFamily="34" charset="0"/>
            </a:endParaRPr>
          </a:p>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Der fachliche Mehrwert liegt in der filialübergreifenden Disposition und in der KI-Sofortdiagnose, die dem Kunden Klarheit gibt, bevor er die Werkstatt betritt.</a:t>
            </a:r>
            <a:endParaRPr lang="en-US" sz="1600" dirty="0">
              <a:latin typeface="Segoe UI" panose="020B0502040204020203" pitchFamily="34" charset="0"/>
              <a:cs typeface="Segoe UI" panose="020B0502040204020203" pitchFamily="34" charset="0"/>
            </a:endParaRPr>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Segoe UI" panose="020B0502040204020203" pitchFamily="34" charset="0"/>
                <a:ea typeface="Calibri" pitchFamily="34" charset="-122"/>
                <a:cs typeface="Segoe UI" panose="020B0502040204020203" pitchFamily="34" charset="0"/>
              </a:rPr>
              <a:t>Vielen Dank</a:t>
            </a:r>
            <a:endParaRPr lang="en-US" sz="4000" dirty="0">
              <a:latin typeface="Segoe UI" panose="020B0502040204020203" pitchFamily="34" charset="0"/>
              <a:cs typeface="Segoe UI" panose="020B0502040204020203" pitchFamily="34" charset="0"/>
            </a:endParaRPr>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Segoe UI" panose="020B0502040204020203" pitchFamily="34" charset="0"/>
                <a:ea typeface="Calibri" pitchFamily="34" charset="-122"/>
                <a:cs typeface="Segoe UI" panose="020B0502040204020203" pitchFamily="34" charset="0"/>
              </a:rPr>
              <a:t>Fragen?</a:t>
            </a:r>
            <a:endParaRPr lang="en-US" sz="2200" dirty="0">
              <a:latin typeface="Segoe UI" panose="020B0502040204020203" pitchFamily="34" charset="0"/>
              <a:cs typeface="Segoe UI" panose="020B0502040204020203" pitchFamily="34" charset="0"/>
            </a:endParaRPr>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Segoe UI" panose="020B0502040204020203" pitchFamily="34" charset="0"/>
                <a:ea typeface="Calibri" pitchFamily="34" charset="-122"/>
                <a:cs typeface="Segoe UI" panose="020B0502040204020203" pitchFamily="34" charset="0"/>
              </a:rPr>
              <a:t>Gruppe 1 · WWI25B4 · RepairFlow · Diagramme und Details in der Projektdokumentation</a:t>
            </a:r>
            <a:endParaRPr lang="en-US" sz="1200" dirty="0">
              <a:latin typeface="Segoe UI" panose="020B0502040204020203" pitchFamily="34" charset="0"/>
              <a:cs typeface="Segoe UI" panose="020B0502040204020203" pitchFamily="34" charset="0"/>
            </a:endParaRPr>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1" name="Image 0" descr="preencoded.png"/>
          <p:cNvPicPr>
            <a:picLocks noChangeAspect="1"/>
          </p:cNvPicPr>
          <p:nvPr/>
        </p:nvPicPr>
        <p:blipFill>
          <a:blip r:embed="rId3"/>
          <a:stretch>
            <a:fillRect/>
          </a:stretch>
        </p:blipFill>
        <p:spPr>
          <a:xfrm>
            <a:off x="7543800" y="3063240"/>
            <a:ext cx="457200" cy="4572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Anhang: Beiträge der Vortragenden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Segoe UI" panose="020B0502040204020203" pitchFamily="34" charset="0"/>
                <a:ea typeface="Calibri" pitchFamily="34" charset="-122"/>
                <a:cs typeface="Segoe UI" panose="020B0502040204020203" pitchFamily="34" charset="0"/>
              </a:rPr>
              <a:t>RepairFlow · Fallstudie Systemanalyse · WWI25B4 Gruppe 1</a:t>
            </a:r>
            <a:endParaRPr lang="en-US" sz="900" dirty="0">
              <a:latin typeface="Segoe UI" panose="020B0502040204020203" pitchFamily="34" charset="0"/>
              <a:cs typeface="Segoe UI" panose="020B0502040204020203" pitchFamily="34" charset="0"/>
            </a:endParaRPr>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Segoe UI" panose="020B0502040204020203" pitchFamily="34" charset="0"/>
                <a:ea typeface="Calibri" pitchFamily="34" charset="-122"/>
                <a:cs typeface="Segoe UI" panose="020B0502040204020203" pitchFamily="34" charset="0"/>
              </a:rPr>
              <a:t>18</a:t>
            </a:r>
            <a:endParaRPr lang="en-US" sz="900" dirty="0">
              <a:latin typeface="Segoe UI" panose="020B0502040204020203" pitchFamily="34" charset="0"/>
              <a:cs typeface="Segoe UI" panose="020B0502040204020203" pitchFamily="34" charset="0"/>
            </a:endParaRPr>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SD2, SD3, SD5,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8–10</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3"/>
          <p:cNvSpPr txBox="1"/>
          <p:nvPr/>
        </p:nvSpPr>
        <p:spPr>
          <a:xfrm>
            <a:off x="457200" y="425196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Segoe UI" panose="020B0502040204020203" pitchFamily="34" charset="0"/>
                <a:ea typeface="Calibri" pitchFamily="34" charset="-122"/>
                <a:cs typeface="Segoe UI" panose="020B0502040204020203" pitchFamily="34" charset="0"/>
              </a:rPr>
              <a:t>Zuordnung nach der Zuständigkeitsverteilung vom Gruppentermin 15.10.2026 (E-23): Jede Person trägt vor, was sie verantwortet.</a:t>
            </a:r>
            <a:endParaRPr lang="en-US" sz="1000" dirty="0">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4582</Words>
  <Application>Microsoft Macintosh PowerPoint</Application>
  <PresentationFormat>Bildschirmpräsentation (16:9)</PresentationFormat>
  <Paragraphs>361</Paragraphs>
  <Slides>19</Slides>
  <Notes>18</Notes>
  <HiddenSlides>3</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19</vt:i4>
      </vt:variant>
    </vt:vector>
  </HeadingPairs>
  <TitlesOfParts>
    <vt:vector size="24" baseType="lpstr">
      <vt:lpstr>Arial</vt:lpstr>
      <vt:lpstr>Calibri</vt:lpstr>
      <vt:lpstr>Segoe UI</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7</cp:revision>
  <dcterms:created xsi:type="dcterms:W3CDTF">2026-10-15T07:59:30Z</dcterms:created>
  <dcterms:modified xsi:type="dcterms:W3CDTF">2026-10-21T08:25:20Z</dcterms:modified>
</cp:coreProperties>
</file>