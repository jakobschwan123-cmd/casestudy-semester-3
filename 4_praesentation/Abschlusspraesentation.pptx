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003"/>
    <p:restoredTop sz="94610"/>
  </p:normalViewPr>
  <p:slideViewPr>
    <p:cSldViewPr snapToGrid="0" snapToObjects="1">
      <p:cViewPr varScale="1">
        <p:scale>
          <a:sx n="212" d="100"/>
          <a:sy n="212" d="100"/>
        </p:scale>
        <p:origin x="58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524029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(30 s)
Guten Morgen zusammen. Wir sind Gruppe 1 und stellen Ihnen RepairFlow vor: eine Plattform, mit der Reparaturwerkstätten ihre Aufträge, Ersatzteile und Kunden an einer Stelle steuern. Den Anfang macht David mit dem Problem, das wir lösen wollen. Danach zeigt Adrian die Lösung, Maximilian, Kilian und Jakob fassen zusammen, was wir dafür modelliert haben, und ich schließe mit Geschäftsmodell und Ausblick.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(40 s)
Unsere Präsentation hat zwei Hälften. In der ersten erzählen wir RepairFlow so, wie wir es einer Werkstatt vorstellen würden: Problem, Lösung, Nutzen, die Reparatur aus Kundensicht und unser Alleinstellungsmerkmal, die KI-Sofortdiagnose. In der zweiten Hälfte zeigen wir, was dahintersteckt: zehn Geschäftsprozesse, Rollen und Use Cases, das Datenmodell, unser Vorgehen und die Qualitätssicherung. Die Diagramme selbst finden Sie in der Projektdokumentation und im Abgabepaket; hier konzentrieren wir uns auf die Ergebnisse. Fragen gern am Ende, wir haben Zeit dafür eingeplant.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David (75 s)
Stellen Sie sich eine Werkstattkette mit vier Filialen vor, die Fahrräder, E-Bikes und Elektronik repariert. In unserem Szenario heißt sie FixWerk. Der Alltag dort läuft über Papierzettel, Excel-Listen und Telefon. Das führt zu vier Problemen. Erstens: Der Kunde gibt sein Gerät ab und hört dann nichts mehr. Ob der Kostenvoranschlag freizugeben ist oder das Gerät fertig ist, erfährt er, wenn er anruft. Zweitens: Niemand weiß ohne Nachfrage, wo ein Auftrag gerade steht, weil Zettel und Listen auseinanderlaufen. Drittens: Jede Filiale bestellt Ersatzteile für sich, obwohl das Teil oft in der Nachbarfiliale liegt. Viertens: Termine werden nach Gefühl zugesagt, weil die Auslastung der Techniker nicht sichtbar ist. Die vier Punkte sind Annahmen unseres Szenarios, aber jeder, der schon einmal ein Gerät zur Reparatur gebracht hat, kennt mindestens eines davon.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Adrian (70 s)
RepairFlow ist unsere Antwort darauf. Wichtig für die Einordnung: Wir sind nicht die Werkstatt, wir sind das Software-Startup. FixWerk ist unser Pilotkunde, an dessen Abläufen wir die Plattform entworfen haben. Diese Perspektive haben wir nach der Rückfrage des Dozenten bei der Konzeptvorstellung bewusst festgelegt. RepairFlow ist eine Cloud-Plattform, die den ganzen Reparatur-Lebenszyklus abdeckt, von der ersten Anfrage bis zur Abholung und Reklamation. Sie besteht aus vier Modulen: dem Kundenportal mit App, dem Auftrags- und Werkstattmodul, dem Dispositionsmodul für Ersatzteile und der Abrechnung. Zielkunden sind unabhängige Werkstätten und kleine Ketten mit zwei bis zehn Filialen. Außerhalb der Plattform bleiben die physische Reparatur, die Systeme der Lieferanten und die Buchhaltung; dorthin gibt es Schnittstellen, mehr nicht.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Adrian (60 s)
Was hat die Werkstatt davon? Drei Dinge. Erstens: eine Plattform für alle drei Gerätearten, mit einer Kundenbasis und einem gemeinsamen Ersatzteillager. Zweitens: filialübergreifende Disposition. RepairFlow kennt die Bestände aller Standorte, reserviert dort, wo das Teil liegt, und bestellt nur, was nirgends vorhanden ist. Das spart Lieferzeit und Doppelbestellungen. Drittens: der Kunde bekommt Klarheit, bevor er die Werkstatt betritt. Mit einem Foto aus der App erhält er einen Diagnosevorschlag, einen vorläufigen Kostenvoranschlag und einen Termin. Für die Werkstatt heißt das weniger Telefon, weniger Standzeit im Lager und eine Auslastung, die sie wirklich sieht.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David (75 s)
So sieht eine Reparatur mit RepairFlow aus. Der Kunde schickt per App ein Foto oder Video und bekommt innerhalb einer Minute Vorschlag, vorläufigen Kostenvoranschlag und Terminvorschlag. Bestätigt er, sind die Teile schon vorreserviert. In der Filiale wird das Gerät registriert und der Auftrag angelegt. Der Techniker prüft den Vorschlag, stellt die Diagnose und erstellt den Kostenvoranschlag, den der Kunde wieder in der App freigibt. Dann disponiert RepairFlow die Teile über alle Filialen und bestellt Fehlteile beim Lieferanten. Nach der Reparatur folgt die Endkontrolle, der Kunde wird benachrichtigt, holt ab und zahlt. Jeder dieser Schritte ist ein Status des Reparaturauftrags: angenommen, in Diagnose, KVA offen, freigegeben, Teile bestellt, in Reparatur, fertig, abgeholt. Dieser Zustandsautomat ist der rote Faden durch alle unsere Modelle. Und falls doch etwas nicht passt: Die Reklamation startet einen eigenen Prozess, im Gewährleistungsfall kostenfrei.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Adrian (80 s)
Unser Alleinstellungsmerkmal ist die KI-Sofortdiagnose, die Sie gerade in der Auftragsreise gesehen haben. Fünf Schritte: Der Kunde nimmt Foto, Video oder Ton auf. Ein KI-Dienst erkennt Gerätetyp, wahrscheinliche Ursache und benötigte Teile. RepairFlow rechnet daraus einen vorläufigen Kostenvoranschlag, prüft die Verfügbarkeit in allen Filialen und reserviert vor. Zum Schluss schlägt es Filiale und Termin vor, und der Kunde bestätigt. Uns war wichtig, das glaubwürdig zu halten. Heute machbar ist die Erkennung sichtbarer Schäden per Bildanalyse, etwa ein gebrochenes Display oder eine gerissene Kette, dazu ein Vorab-KVA aus Teilepreisen und Aufwandsrichtwerten. Vision sind Geräuschanalyse bei E-Bike-Motoren und eine Aufwandsschätzung aus Video. Deshalb bleibt der Vorschlag immer vorläufig: Der Techniker bestätigt oder korrigiert ihn, und erst dann wird daraus ein verbindlicher Kostenvoranschlag. Die Medien werden nur mit Einwilligung verarbeitet und nach Abschluss gelöscht.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Maximilian (50 s)
Damit zur zweiten Hälfte: Was steckt hinter dieser Geschichte? Wir haben drei Modelle erstellt, die zusammenpassen. Zehn BPMN-Kollaborationsdiagramme mit 131 Aktivitäten im Werkstatt-Pool, dazu die Abläufe des Kunden mit 26 weiteren Aktivitäten. Ein Use-Case-Diagramm mit 19 Use Cases und 18 Akteuren. Ein vollständiges Klassendiagramm mit 27 Klassen und 36 Assoziationen. Sechs Sequenzdiagramme, gefordert waren fünf, und als Zugabe ein Zustandsdiagramm für den Reparaturauftrag. Alle Modelle liegen im Camunda Modeler und in Visual Paradigm und werden mit der Dokumentation abgegeben. Ich beginne mit den Geschäftsprozessen.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Maximilian (70 s)
Die zehn Prozesse decken den gesamten Lebenszyklus ab. Prozesse 01 bis 08 sind die durchgehende Auftragsreise: Sofortdiagnose, Annahme, Diagnose, Kostenvoranschlag, Ersatzteilreservierung, Bestellung, Reparatur und Abholung. 09 und 10 sind die Folgeprozesse Reklamation und Retoure. Jedes Diagramm ist eine Kollaboration: Der Werkstattbetrieb ist der ausführbare Pool mit den Lanes Service, Techniker, Werkstattleitung und Disposition, der Kunde hat seinen eigenen Ablauf, der Lieferant bleibt eine Black Box. Die wichtigste Zahl: 60 Prozent der Aktivitäten führt RepairFlow ohne manuelle Arbeit aus, also Statuswechsel, Benachrichtigungen, Verfügbarkeitsprüfungen, Berechnungen und Regeln. Was Handwerk ist, bleibt Handwerk: Diagnose, Reparatur und Endkontrolle sind Aktivitäten des Technikers mit Unterstützung durch das System.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Maximilian (80 s)
Drei Stellen zeigen, was die Prozesse leisten. Erstens der Kostenvoranschlag in Prozess 04: Nach dem Versand wartet ein ereignisbasiertes Gateway auf Freigabe, Ablehnung oder den Ablauf von drei Tagen. Bei Fristablauf erinnert RepairFlow den Kunden, höchstens zweimal. Nach dem dritten Fristablauf ohne Antwort gilt der KVA als abgelehnt und das Gerät geht mit Diagnosepauschale zur Abholung. Kein Auftrag bleibt liegen. Zweitens die Disposition in Prozess 05: Für jedes benötigte Teil läuft parallel eine Prüfung, erst im eigenen Lager, dann in den anderen Filialen. Was lokal liegt, wird reserviert, was anderswo liegt, umgelagert, und nur Fehlteile werden bestellt. Drittens die Reklamation in Prozess 09: Der Techniker prüft den Mangel, RepairFlow entscheidet nach Regel über Gewährleistung, und im Gewährleistungsfall entsteht ein kostenfreier Nacharbeitsauftrag, der wieder durch die normale Auftragsreise läuft. So bleibt das Modell schlank, weil die Reklamation keine eigene Reparaturlogik braucht.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David (70 s)
Das Use-Case-Diagramm beschreibt, was RepairFlow für seine Benutzer leistet. 19 Use Cases in vier Bereichen: das Kundenportal mit Sofortdiagnose, Voranmeldung und KVA-Freigabe; Auftrag und Werkstatt von der Annahme bis zur Reklamation; die Ersatzteil-Disposition von der Reservierung bis zur Retoure; und die Administration des Werkstattbetriebs. Eine Besonderheit geht auf das Coaching zurück: Jeder Use Case hat genau eine Rolle. Statt eines Technikers mit fünf Verbindungen gibt es jetzt Diagnoseprüfer, Diagnostiker, Kalkulator, Reparateur und Endkontrolleur. Welche Person welche Rolle ausfüllt, regelt die Werkstatt selbst; im Datenmodell sind die Rollen den Mitarbeitertypen zugeordnet. Das Diagramm ist dadurch sofort lesbar, und die Rollen tauchen in den Sequenzdiagrammen wieder auf. Dazu kommen der Kunde und zwei externe Akteure, der Lieferant und der KI-Diagnosedienst.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Kilian (80 s)
Das Klassendiagramm ist ein einziges, vollständiges Modell mit 27 Klassen. Fünf Entscheidungen prägen es. Erstens: Der Reparaturauftrag ist die Aggregatwurzel. Befund und Reparaturschritte existieren nur mit ihrem Auftrag und sind deshalb Kompositionen, Kostenvoranschlag und Gerät sind nur zugeordnet, weil der Vorab-KVA schon vor dem Auftrag entsteht. Zweitens: Der Lagerbestand ist eine eigene Klasse zwischen Ersatzteil und Filiale. Nur so lässt sich die Verfügbarkeit über alle Filialen prüfen. Drittens: Die Reservierung ist eine eigene Klasse mit Lebenszyklus, vorreserviert, reserviert, entnommen, storniert. Viertens: Der Werkstattbetrieb ist der Mandant, und die Mitarbeiter sind nach Typ spezialisiert, Servicemitarbeiter, Techniker, Disponent und Werkstattleiter, passend zu den Lanes in BPMN und zu den Rollen im Use-Case-Diagramm. Fünftens: Voranmeldung, Medienanhang und KI-Diagnosevorschlag tragen die Sofortdiagnose. Die sechs Sequenzdiagramme verwenden ausschließlich Operationen dieser Klassen; jede Botschaft an ein Objekt ist eine Operation des Klassendiagramms.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Kilian (70 s)
Gearbeitet haben wir in Sprints, die sich am Takt der vier Gruppentermine orientiert haben, mit Review, Retrospektive und Planning je Termin. Nina hat die Projektleitung, David die Stellvertretung und die Sicherungen, Adrian ist Product Owner, ich Scrum Master, Maximilian verantwortet BPMN, Jakob die Qualität. Alles Schriftliche liegt in einem GitHub-Repository; jede Änderung geht über einen eigenen Branch, einen Pull Request und ein Review durch eine zweite Person, bisher zehn gemergte Pull Requests. Das Trello-Board hat eine Liste je Termin und eine Karte je Person und Aufgabe. Jedes Diagramm wurde im Zweierteam geprüft. Die Meilensteine: Am 02.09. standen alle Diagramme im Entwurf, am 05.10. die Korrekturen aus zwei Gesamtprüfungen, am 15.10. haben wir die Rollenstruktur umgesetzt, am 22.10. war die Generalprobe. Die Abgabe folgt am 13.11.</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Jakob (70 s)
Drei Modelle, die sich auf dieselben Dinge beziehen, laufen schnell auseinander. Dagegen hatten wir drei Mittel. Erstens Konventionen: Datenobjekte in BPMN tragen die Klassennamen, Aktivitäten heißen Verb plus Objekt, jede Rolle ist genau einer Lane und einer Klasse zugeordnet, und die Statuswerte sind in allen Modellen identisch. Zweitens Werkzeuge: Die BPMN-Dateien sind für Camunda 8 angereichert, mit Task-Definitionen, Timern und Bedingungen. Der Camunda-Linter und bpmnlint melden null Befunde. Drittens Prüfrunden: Eine Gesamtprüfung am 26.09., ein Komplettcheck am 05.10. mit 39 Befunden und der QA-Abgleich am 08.10. Jede Änderung wird gegen unsere QA-Checkliste geprüft, bevor sie gemergt wird. Ein Beispiel: Als wir die Nacharbeit in Prozess 07 auf zwei Durchläufe begrenzt haben, musste das Sequenzdiagramm SD4 nachziehen. Genau solche Stellen findet die Checkliste.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Jakob (70 s)
Vier Dinge haben uns am meisten beschäftigt. Die Perspektive: Werkstatt oder Softwareanbieter? Die Rückfrage des Dozenten hat uns zur klaren Entscheidung gezwungen, und danach mussten Texte und Klassenmodell nachziehen. Das Vokabular: Datenobjekte, Klassen, Lebenslinien und Statuswerte müssen wortgleich sein, sonst zerfällt die Analyse in drei Einzelmodelle. Die Werkzeuge: Der Camunda Modeler meldet für Camunda 8 fehlende technische Details als Fehler, und wir haben die Diagramme so lange angereichert, bis nichts mehr rot war. Und die Vision: Die KI-Sofortdiagnose soll beeindrucken, aber glaubwürdig bleiben, deshalb die Trennung in heute machbar und Vision. Gelernt haben wir, dass Konsistenz keine Prüfung am Ende ist, sondern eine Regel bei jeder Änderung. Und dass ein klarer Hinweis von außen, wie der zum Use-Case-Diagramm, ein Modell deutlich besser machen kann.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(70 s)
Zum Schluss der Blick nach vorn. RepairFlow wird als Abo je Filiale angeboten, in zwei Stufen: Basis mit Auftrags- und Kundenverwaltung, Pro mit filialübergreifender Disposition und KI-Sofortdiagnose. Zielkunden sind unabhängige Werkstätten und kleine Ketten mit zwei bis zehn Filialen im deutschsprachigen Raum. Das sind Betriebe, die heute genau die vier Probleme vom Anfang haben und für die ein großes Werkstattsystem zu schwer ist. Der Ausblick geht in drei Richtungen: Predictive Disposition, also eine Bedarfsprognose je Filiale und Saison, damit Teile vor der Nachfrage im Lager liegen. Ein Techniker-Copilot, der Reparaturschritte aus der Historie vorschlägt. Und eine digitale Geräteakte, in der jedes Gerät seine Reparaturgeschichte behält. Nichts davon ist modelliert, aber alles baut auf dem Datenmodell auf, das wir heute vorgestellt haben.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(30 s)
RepairFlow löst den Medienbruch aus Papier, Excel und Telefon und macht den Reparaturauftrag zum zentralen Zustandsautomaten. Der fachliche Mehrwert liegt in der filialübergreifenden Disposition und in der KI-Sofortdiagnose, die dem Kunden Klarheit gibt, bevor er die Werkstatt betritt. Vielen Dank für Ihre Aufmerksamkeit. Wir freuen uns auf Ihre Fragen.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
Pflichtangabe für den PDF-Export laut Ablauf: welche/r Vortragende welchen Beitrag verantwortet.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4.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11.png"/><Relationship Id="rId7"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13.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15.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4.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32.pn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36.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3" name="Text 1"/>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CFE3E3"/>
                </a:solidFill>
                <a:latin typeface="Calibri" pitchFamily="34" charset="0"/>
                <a:ea typeface="Calibri" pitchFamily="34" charset="-122"/>
                <a:cs typeface="Calibri" pitchFamily="34" charset="-120"/>
              </a:rPr>
              <a:t>1</a:t>
            </a:r>
            <a:endParaRPr lang="en-US" sz="900" dirty="0"/>
          </a:p>
        </p:txBody>
      </p:sp>
      <p:sp>
        <p:nvSpPr>
          <p:cNvPr id="5" name="Shape 2"/>
          <p:cNvSpPr/>
          <p:nvPr/>
        </p:nvSpPr>
        <p:spPr>
          <a:xfrm>
            <a:off x="6583680" y="-1097280"/>
            <a:ext cx="4114800" cy="4114800"/>
          </a:xfrm>
          <a:prstGeom prst="ellipse">
            <a:avLst/>
          </a:prstGeom>
          <a:solidFill>
            <a:srgbClr val="147A7A"/>
          </a:solidFill>
          <a:ln w="12700">
            <a:solidFill>
              <a:srgbClr val="147A7A"/>
            </a:solidFill>
            <a:prstDash val="solid"/>
          </a:ln>
        </p:spPr>
        <p:txBody>
          <a:bodyPr/>
          <a:lstStyle/>
          <a:p>
            <a:endParaRPr lang="de-DE"/>
          </a:p>
        </p:txBody>
      </p:sp>
      <p:sp>
        <p:nvSpPr>
          <p:cNvPr id="6" name="Text 3"/>
          <p:cNvSpPr txBox="1"/>
          <p:nvPr/>
        </p:nvSpPr>
        <p:spPr>
          <a:xfrm>
            <a:off x="548640" y="1188720"/>
            <a:ext cx="7315200" cy="100584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RepairFlow</a:t>
            </a:r>
            <a:endParaRPr lang="en-US" sz="5400" dirty="0"/>
          </a:p>
        </p:txBody>
      </p:sp>
      <p:sp>
        <p:nvSpPr>
          <p:cNvPr id="7" name="Text 4"/>
          <p:cNvSpPr txBox="1"/>
          <p:nvPr/>
        </p:nvSpPr>
        <p:spPr>
          <a:xfrm>
            <a:off x="548640" y="2194560"/>
            <a:ext cx="6858000" cy="548640"/>
          </a:xfrm>
          <a:prstGeom prst="rect">
            <a:avLst/>
          </a:prstGeom>
          <a:noFill/>
          <a:ln/>
        </p:spPr>
        <p:txBody>
          <a:bodyPr wrap="square" lIns="0" tIns="0" rIns="0" bIns="0" rtlCol="0" anchor="ctr"/>
          <a:lstStyle/>
          <a:p>
            <a:pPr marL="0" indent="0">
              <a:buNone/>
            </a:pPr>
            <a:r>
              <a:rPr lang="en-US" sz="2000" dirty="0">
                <a:solidFill>
                  <a:srgbClr val="CFE3E3"/>
                </a:solidFill>
                <a:latin typeface="Calibri" pitchFamily="34" charset="0"/>
                <a:ea typeface="Calibri" pitchFamily="34" charset="-122"/>
                <a:cs typeface="Calibri" pitchFamily="34" charset="-120"/>
              </a:rPr>
              <a:t>Werkstatt-Management als SaaS-Plattform mit KI-Sofortdiagnose</a:t>
            </a:r>
            <a:endParaRPr lang="en-US" sz="2000" dirty="0"/>
          </a:p>
        </p:txBody>
      </p:sp>
      <p:sp>
        <p:nvSpPr>
          <p:cNvPr id="8" name="Text 5"/>
          <p:cNvSpPr txBox="1"/>
          <p:nvPr/>
        </p:nvSpPr>
        <p:spPr>
          <a:xfrm>
            <a:off x="548640" y="3017520"/>
            <a:ext cx="7315200" cy="3657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Fallstudie Systemanalyse · Methoden der WI · DHBW Karlsruhe</a:t>
            </a:r>
            <a:endParaRPr lang="en-US" sz="1400" dirty="0"/>
          </a:p>
        </p:txBody>
      </p:sp>
      <p:sp>
        <p:nvSpPr>
          <p:cNvPr id="9" name="Text 6"/>
          <p:cNvSpPr txBox="1"/>
          <p:nvPr/>
        </p:nvSpPr>
        <p:spPr>
          <a:xfrm>
            <a:off x="548640" y="3429000"/>
            <a:ext cx="7863840" cy="548640"/>
          </a:xfrm>
          <a:prstGeom prst="rect">
            <a:avLst/>
          </a:prstGeom>
          <a:noFill/>
          <a:ln/>
        </p:spPr>
        <p:txBody>
          <a:bodyPr wrap="square" lIns="0" tIns="0" rIns="0" bIns="0" rtlCol="0" anchor="ctr"/>
          <a:lstStyle/>
          <a:p>
            <a:pPr marL="0" indent="0">
              <a:buNone/>
            </a:pPr>
            <a:r>
              <a:rPr lang="en-US" sz="1200" dirty="0">
                <a:solidFill>
                  <a:srgbClr val="CFE3E3"/>
                </a:solidFill>
                <a:latin typeface="Calibri" pitchFamily="34" charset="0"/>
                <a:ea typeface="Calibri" pitchFamily="34" charset="-122"/>
                <a:cs typeface="Calibri" pitchFamily="34" charset="-120"/>
              </a:rPr>
              <a:t>Kurs WWI25B4 · Gruppe 1: Maximilian Ewald, David Leismann, Kilian Platter, Nina Sattler, Jakob Schwan, Adrian Wenzler</a:t>
            </a:r>
            <a:endParaRPr lang="en-US" sz="1200" dirty="0"/>
          </a:p>
        </p:txBody>
      </p:sp>
      <p:sp>
        <p:nvSpPr>
          <p:cNvPr id="10" name="Text 7"/>
          <p:cNvSpPr txBox="1"/>
          <p:nvPr/>
        </p:nvSpPr>
        <p:spPr>
          <a:xfrm>
            <a:off x="548640" y="3977640"/>
            <a:ext cx="7863840" cy="365760"/>
          </a:xfrm>
          <a:prstGeom prst="rect">
            <a:avLst/>
          </a:prstGeom>
          <a:noFill/>
          <a:ln/>
        </p:spPr>
        <p:txBody>
          <a:bodyPr wrap="square" lIns="0" tIns="0" rIns="0" bIns="0" rtlCol="0" anchor="ctr"/>
          <a:lstStyle/>
          <a:p>
            <a:pPr marL="0" indent="0">
              <a:buNone/>
            </a:pPr>
            <a:r>
              <a:rPr lang="en-US" sz="1200" dirty="0">
                <a:solidFill>
                  <a:srgbClr val="F2A900"/>
                </a:solidFill>
                <a:latin typeface="Calibri" pitchFamily="34" charset="0"/>
                <a:ea typeface="Calibri" pitchFamily="34" charset="-122"/>
                <a:cs typeface="Calibri" pitchFamily="34" charset="-120"/>
              </a:rPr>
              <a:t>Abschlusspräsentation · 27.10.2026, 09:00 Uhr · Raum B458</a:t>
            </a:r>
            <a:endParaRPr lang="en-US" sz="1200" dirty="0"/>
          </a:p>
        </p:txBody>
      </p:sp>
      <p:sp>
        <p:nvSpPr>
          <p:cNvPr id="11" name="Shape 8"/>
          <p:cNvSpPr/>
          <p:nvPr/>
        </p:nvSpPr>
        <p:spPr>
          <a:xfrm>
            <a:off x="7315200" y="1097280"/>
            <a:ext cx="914400" cy="914400"/>
          </a:xfrm>
          <a:prstGeom prst="ellipse">
            <a:avLst/>
          </a:prstGeom>
          <a:solidFill>
            <a:srgbClr val="F2A900"/>
          </a:solidFill>
          <a:ln w="12700">
            <a:solidFill>
              <a:srgbClr val="F2A900"/>
            </a:solidFill>
            <a:prstDash val="solid"/>
          </a:ln>
        </p:spPr>
        <p:txBody>
          <a:bodyPr/>
          <a:lstStyle/>
          <a:p>
            <a:endParaRPr lang="de-DE"/>
          </a:p>
        </p:txBody>
      </p:sp>
      <p:pic>
        <p:nvPicPr>
          <p:cNvPr id="12" name="Image 0" descr="preencoded.png"/>
          <p:cNvPicPr>
            <a:picLocks noChangeAspect="1"/>
          </p:cNvPicPr>
          <p:nvPr/>
        </p:nvPicPr>
        <p:blipFill>
          <a:blip r:embed="rId3"/>
          <a:stretch>
            <a:fillRect/>
          </a:stretch>
        </p:blipFill>
        <p:spPr>
          <a:xfrm>
            <a:off x="7543800" y="132588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Agenda</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2</a:t>
            </a:r>
            <a:endParaRPr lang="en-US" sz="900" dirty="0"/>
          </a:p>
        </p:txBody>
      </p:sp>
      <p:sp>
        <p:nvSpPr>
          <p:cNvPr id="6" name="Text 3"/>
          <p:cNvSpPr txBox="1"/>
          <p:nvPr/>
        </p:nvSpPr>
        <p:spPr>
          <a:xfrm>
            <a:off x="548640" y="914400"/>
            <a:ext cx="3657600" cy="274320"/>
          </a:xfrm>
          <a:prstGeom prst="rect">
            <a:avLst/>
          </a:prstGeom>
          <a:noFill/>
          <a:ln/>
        </p:spPr>
        <p:txBody>
          <a:bodyPr wrap="square" lIns="0" tIns="0" rIns="0" bIns="0" rtlCol="0" anchor="ctr"/>
          <a:lstStyle/>
          <a:p>
            <a:pPr marL="0" indent="0">
              <a:buNone/>
            </a:pPr>
            <a:r>
              <a:rPr lang="en-US" sz="1100" b="1" dirty="0">
                <a:solidFill>
                  <a:srgbClr val="F2A900"/>
                </a:solidFill>
                <a:latin typeface="Calibri" pitchFamily="34" charset="0"/>
                <a:ea typeface="Calibri" pitchFamily="34" charset="-122"/>
                <a:cs typeface="Calibri" pitchFamily="34" charset="-120"/>
              </a:rPr>
              <a:t>Teil 1: der Pitch</a:t>
            </a:r>
            <a:endParaRPr lang="en-US" sz="1100" dirty="0"/>
          </a:p>
        </p:txBody>
      </p:sp>
      <p:sp>
        <p:nvSpPr>
          <p:cNvPr id="7" name="Shape 4"/>
          <p:cNvSpPr/>
          <p:nvPr/>
        </p:nvSpPr>
        <p:spPr>
          <a:xfrm>
            <a:off x="548640" y="1234440"/>
            <a:ext cx="384048" cy="384048"/>
          </a:xfrm>
          <a:prstGeom prst="ellipse">
            <a:avLst/>
          </a:prstGeom>
          <a:solidFill>
            <a:srgbClr val="0E5E5E"/>
          </a:solidFill>
          <a:ln w="12700">
            <a:solidFill>
              <a:srgbClr val="0E5E5E"/>
            </a:solidFill>
            <a:prstDash val="solid"/>
          </a:ln>
        </p:spPr>
        <p:txBody>
          <a:bodyPr/>
          <a:lstStyle/>
          <a:p>
            <a:endParaRPr lang="de-DE"/>
          </a:p>
        </p:txBody>
      </p:sp>
      <p:sp>
        <p:nvSpPr>
          <p:cNvPr id="8" name="Text 5"/>
          <p:cNvSpPr txBox="1"/>
          <p:nvPr/>
        </p:nvSpPr>
        <p:spPr>
          <a:xfrm>
            <a:off x="548640" y="123444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1097280" y="123444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Das Problem: Werkstätten heute</a:t>
            </a:r>
            <a:endParaRPr lang="en-US" sz="1500" dirty="0"/>
          </a:p>
        </p:txBody>
      </p:sp>
      <p:sp>
        <p:nvSpPr>
          <p:cNvPr id="10" name="Text 7"/>
          <p:cNvSpPr txBox="1"/>
          <p:nvPr/>
        </p:nvSpPr>
        <p:spPr>
          <a:xfrm>
            <a:off x="6309360" y="123444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a:t>
            </a:r>
            <a:endParaRPr lang="en-US" sz="1200" dirty="0"/>
          </a:p>
        </p:txBody>
      </p:sp>
      <p:sp>
        <p:nvSpPr>
          <p:cNvPr id="11" name="Shape 8"/>
          <p:cNvSpPr/>
          <p:nvPr/>
        </p:nvSpPr>
        <p:spPr>
          <a:xfrm>
            <a:off x="548640" y="1664208"/>
            <a:ext cx="384048" cy="384048"/>
          </a:xfrm>
          <a:prstGeom prst="ellipse">
            <a:avLst/>
          </a:prstGeom>
          <a:solidFill>
            <a:srgbClr val="0E5E5E"/>
          </a:solidFill>
          <a:ln w="12700">
            <a:solidFill>
              <a:srgbClr val="0E5E5E"/>
            </a:solidFill>
            <a:prstDash val="solid"/>
          </a:ln>
        </p:spPr>
        <p:txBody>
          <a:bodyPr/>
          <a:lstStyle/>
          <a:p>
            <a:endParaRPr lang="de-DE"/>
          </a:p>
        </p:txBody>
      </p:sp>
      <p:sp>
        <p:nvSpPr>
          <p:cNvPr id="12" name="Text 9"/>
          <p:cNvSpPr txBox="1"/>
          <p:nvPr/>
        </p:nvSpPr>
        <p:spPr>
          <a:xfrm>
            <a:off x="548640" y="166420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0"/>
          <p:cNvSpPr txBox="1"/>
          <p:nvPr/>
        </p:nvSpPr>
        <p:spPr>
          <a:xfrm>
            <a:off x="1097280" y="1664208"/>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RepairFlow: Lösung, Nutzen, Auftragsreise, KI-Sofortdiagnose</a:t>
            </a:r>
            <a:endParaRPr lang="en-US" sz="1500" dirty="0"/>
          </a:p>
        </p:txBody>
      </p:sp>
      <p:sp>
        <p:nvSpPr>
          <p:cNvPr id="14" name="Text 11"/>
          <p:cNvSpPr txBox="1"/>
          <p:nvPr/>
        </p:nvSpPr>
        <p:spPr>
          <a:xfrm>
            <a:off x="6309360" y="1664208"/>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Adrian</a:t>
            </a:r>
            <a:endParaRPr lang="en-US" sz="1200" dirty="0"/>
          </a:p>
        </p:txBody>
      </p:sp>
      <p:sp>
        <p:nvSpPr>
          <p:cNvPr id="15" name="Text 12"/>
          <p:cNvSpPr txBox="1"/>
          <p:nvPr/>
        </p:nvSpPr>
        <p:spPr>
          <a:xfrm>
            <a:off x="548640" y="2075688"/>
            <a:ext cx="3657600" cy="274320"/>
          </a:xfrm>
          <a:prstGeom prst="rect">
            <a:avLst/>
          </a:prstGeom>
          <a:noFill/>
          <a:ln/>
        </p:spPr>
        <p:txBody>
          <a:bodyPr wrap="square" lIns="0" tIns="0" rIns="0" bIns="0" rtlCol="0" anchor="ctr"/>
          <a:lstStyle/>
          <a:p>
            <a:pPr marL="0" indent="0">
              <a:buNone/>
            </a:pPr>
            <a:r>
              <a:rPr lang="en-US" sz="1100" b="1" dirty="0">
                <a:solidFill>
                  <a:srgbClr val="F2A900"/>
                </a:solidFill>
                <a:latin typeface="Calibri" pitchFamily="34" charset="0"/>
                <a:ea typeface="Calibri" pitchFamily="34" charset="-122"/>
                <a:cs typeface="Calibri" pitchFamily="34" charset="-120"/>
              </a:rPr>
              <a:t>Teil 2: was dahintersteckt</a:t>
            </a:r>
            <a:endParaRPr lang="en-US" sz="1100" dirty="0"/>
          </a:p>
        </p:txBody>
      </p:sp>
      <p:sp>
        <p:nvSpPr>
          <p:cNvPr id="16" name="Shape 13"/>
          <p:cNvSpPr/>
          <p:nvPr/>
        </p:nvSpPr>
        <p:spPr>
          <a:xfrm>
            <a:off x="548640" y="2368296"/>
            <a:ext cx="384048" cy="384048"/>
          </a:xfrm>
          <a:prstGeom prst="ellipse">
            <a:avLst/>
          </a:prstGeom>
          <a:solidFill>
            <a:srgbClr val="0E5E5E"/>
          </a:solidFill>
          <a:ln w="12700">
            <a:solidFill>
              <a:srgbClr val="0E5E5E"/>
            </a:solidFill>
            <a:prstDash val="solid"/>
          </a:ln>
        </p:spPr>
        <p:txBody>
          <a:bodyPr/>
          <a:lstStyle/>
          <a:p>
            <a:endParaRPr lang="de-DE"/>
          </a:p>
        </p:txBody>
      </p:sp>
      <p:sp>
        <p:nvSpPr>
          <p:cNvPr id="17" name="Text 14"/>
          <p:cNvSpPr txBox="1"/>
          <p:nvPr/>
        </p:nvSpPr>
        <p:spPr>
          <a:xfrm>
            <a:off x="548640" y="236829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5"/>
          <p:cNvSpPr txBox="1"/>
          <p:nvPr/>
        </p:nvSpPr>
        <p:spPr>
          <a:xfrm>
            <a:off x="1097280" y="2368296"/>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zehn Geschäftsprozesse</a:t>
            </a:r>
            <a:endParaRPr lang="en-US" sz="1500" dirty="0"/>
          </a:p>
        </p:txBody>
      </p:sp>
      <p:sp>
        <p:nvSpPr>
          <p:cNvPr id="19" name="Text 16"/>
          <p:cNvSpPr txBox="1"/>
          <p:nvPr/>
        </p:nvSpPr>
        <p:spPr>
          <a:xfrm>
            <a:off x="6309360" y="2368296"/>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Maximilian</a:t>
            </a:r>
            <a:endParaRPr lang="en-US" sz="1200" dirty="0"/>
          </a:p>
        </p:txBody>
      </p:sp>
      <p:sp>
        <p:nvSpPr>
          <p:cNvPr id="20" name="Shape 17"/>
          <p:cNvSpPr/>
          <p:nvPr/>
        </p:nvSpPr>
        <p:spPr>
          <a:xfrm>
            <a:off x="548640" y="2798064"/>
            <a:ext cx="384048" cy="384048"/>
          </a:xfrm>
          <a:prstGeom prst="ellipse">
            <a:avLst/>
          </a:prstGeom>
          <a:solidFill>
            <a:srgbClr val="0E5E5E"/>
          </a:solidFill>
          <a:ln w="12700">
            <a:solidFill>
              <a:srgbClr val="0E5E5E"/>
            </a:solidFill>
            <a:prstDash val="solid"/>
          </a:ln>
        </p:spPr>
        <p:txBody>
          <a:bodyPr/>
          <a:lstStyle/>
          <a:p>
            <a:endParaRPr lang="de-DE"/>
          </a:p>
        </p:txBody>
      </p:sp>
      <p:sp>
        <p:nvSpPr>
          <p:cNvPr id="21" name="Text 18"/>
          <p:cNvSpPr txBox="1"/>
          <p:nvPr/>
        </p:nvSpPr>
        <p:spPr>
          <a:xfrm>
            <a:off x="548640" y="2798064"/>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19"/>
          <p:cNvSpPr txBox="1"/>
          <p:nvPr/>
        </p:nvSpPr>
        <p:spPr>
          <a:xfrm>
            <a:off x="1097280" y="2798064"/>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Rollen, Use Cases und Datenmodell</a:t>
            </a:r>
            <a:endParaRPr lang="en-US" sz="1500" dirty="0"/>
          </a:p>
        </p:txBody>
      </p:sp>
      <p:sp>
        <p:nvSpPr>
          <p:cNvPr id="23" name="Text 20"/>
          <p:cNvSpPr txBox="1"/>
          <p:nvPr/>
        </p:nvSpPr>
        <p:spPr>
          <a:xfrm>
            <a:off x="6309360" y="2798064"/>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 Kilian</a:t>
            </a:r>
            <a:endParaRPr lang="en-US" sz="1200" dirty="0"/>
          </a:p>
        </p:txBody>
      </p:sp>
      <p:sp>
        <p:nvSpPr>
          <p:cNvPr id="24" name="Shape 21"/>
          <p:cNvSpPr/>
          <p:nvPr/>
        </p:nvSpPr>
        <p:spPr>
          <a:xfrm>
            <a:off x="548640" y="3227832"/>
            <a:ext cx="384048" cy="384048"/>
          </a:xfrm>
          <a:prstGeom prst="ellipse">
            <a:avLst/>
          </a:prstGeom>
          <a:solidFill>
            <a:srgbClr val="0E5E5E"/>
          </a:solidFill>
          <a:ln w="12700">
            <a:solidFill>
              <a:srgbClr val="0E5E5E"/>
            </a:solidFill>
            <a:prstDash val="solid"/>
          </a:ln>
        </p:spPr>
        <p:txBody>
          <a:bodyPr/>
          <a:lstStyle/>
          <a:p>
            <a:endParaRPr lang="de-DE"/>
          </a:p>
        </p:txBody>
      </p:sp>
      <p:sp>
        <p:nvSpPr>
          <p:cNvPr id="25" name="Text 22"/>
          <p:cNvSpPr txBox="1"/>
          <p:nvPr/>
        </p:nvSpPr>
        <p:spPr>
          <a:xfrm>
            <a:off x="548640" y="322783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6" name="Text 23"/>
          <p:cNvSpPr txBox="1"/>
          <p:nvPr/>
        </p:nvSpPr>
        <p:spPr>
          <a:xfrm>
            <a:off x="1097280" y="3227832"/>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Vorgehen und Projektmanagement</a:t>
            </a:r>
            <a:endParaRPr lang="en-US" sz="1500" dirty="0"/>
          </a:p>
        </p:txBody>
      </p:sp>
      <p:sp>
        <p:nvSpPr>
          <p:cNvPr id="27" name="Text 24"/>
          <p:cNvSpPr txBox="1"/>
          <p:nvPr/>
        </p:nvSpPr>
        <p:spPr>
          <a:xfrm>
            <a:off x="6309360" y="3227832"/>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Kilian</a:t>
            </a:r>
            <a:endParaRPr lang="en-US" sz="1200" dirty="0"/>
          </a:p>
        </p:txBody>
      </p:sp>
      <p:sp>
        <p:nvSpPr>
          <p:cNvPr id="28" name="Shape 25"/>
          <p:cNvSpPr/>
          <p:nvPr/>
        </p:nvSpPr>
        <p:spPr>
          <a:xfrm>
            <a:off x="548640" y="3657600"/>
            <a:ext cx="384048" cy="384048"/>
          </a:xfrm>
          <a:prstGeom prst="ellipse">
            <a:avLst/>
          </a:prstGeom>
          <a:solidFill>
            <a:srgbClr val="0E5E5E"/>
          </a:solidFill>
          <a:ln w="12700">
            <a:solidFill>
              <a:srgbClr val="0E5E5E"/>
            </a:solidFill>
            <a:prstDash val="solid"/>
          </a:ln>
        </p:spPr>
        <p:txBody>
          <a:bodyPr/>
          <a:lstStyle/>
          <a:p>
            <a:endParaRPr lang="de-DE"/>
          </a:p>
        </p:txBody>
      </p:sp>
      <p:sp>
        <p:nvSpPr>
          <p:cNvPr id="29" name="Text 26"/>
          <p:cNvSpPr txBox="1"/>
          <p:nvPr/>
        </p:nvSpPr>
        <p:spPr>
          <a:xfrm>
            <a:off x="548640" y="36576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0" name="Text 27"/>
          <p:cNvSpPr txBox="1"/>
          <p:nvPr/>
        </p:nvSpPr>
        <p:spPr>
          <a:xfrm>
            <a:off x="1097280" y="365760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Qualität, Herausforderungen und Lernerfahrungen</a:t>
            </a:r>
            <a:endParaRPr lang="en-US" sz="1500" dirty="0"/>
          </a:p>
        </p:txBody>
      </p:sp>
      <p:sp>
        <p:nvSpPr>
          <p:cNvPr id="31" name="Text 28"/>
          <p:cNvSpPr txBox="1"/>
          <p:nvPr/>
        </p:nvSpPr>
        <p:spPr>
          <a:xfrm>
            <a:off x="6309360" y="365760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Jakob</a:t>
            </a:r>
            <a:endParaRPr lang="en-US" sz="1200" dirty="0"/>
          </a:p>
        </p:txBody>
      </p:sp>
      <p:sp>
        <p:nvSpPr>
          <p:cNvPr id="32" name="Shape 29"/>
          <p:cNvSpPr/>
          <p:nvPr/>
        </p:nvSpPr>
        <p:spPr>
          <a:xfrm>
            <a:off x="548640" y="4087368"/>
            <a:ext cx="384048" cy="384048"/>
          </a:xfrm>
          <a:prstGeom prst="ellipse">
            <a:avLst/>
          </a:prstGeom>
          <a:solidFill>
            <a:srgbClr val="0E5E5E"/>
          </a:solidFill>
          <a:ln w="12700">
            <a:solidFill>
              <a:srgbClr val="0E5E5E"/>
            </a:solidFill>
            <a:prstDash val="solid"/>
          </a:ln>
        </p:spPr>
        <p:txBody>
          <a:bodyPr/>
          <a:lstStyle/>
          <a:p>
            <a:endParaRPr lang="de-DE"/>
          </a:p>
        </p:txBody>
      </p:sp>
      <p:sp>
        <p:nvSpPr>
          <p:cNvPr id="33" name="Text 30"/>
          <p:cNvSpPr txBox="1"/>
          <p:nvPr/>
        </p:nvSpPr>
        <p:spPr>
          <a:xfrm>
            <a:off x="548640" y="408736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4" name="Text 31"/>
          <p:cNvSpPr txBox="1"/>
          <p:nvPr/>
        </p:nvSpPr>
        <p:spPr>
          <a:xfrm>
            <a:off x="1097280" y="4087368"/>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Geschäftsmodell, Ausblick und Fazit</a:t>
            </a:r>
            <a:endParaRPr lang="en-US" sz="1500" dirty="0"/>
          </a:p>
        </p:txBody>
      </p:sp>
      <p:sp>
        <p:nvSpPr>
          <p:cNvPr id="35" name="Text 32"/>
          <p:cNvSpPr txBox="1"/>
          <p:nvPr/>
        </p:nvSpPr>
        <p:spPr>
          <a:xfrm>
            <a:off x="6309360" y="4087368"/>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Nina</a:t>
            </a:r>
            <a:endParaRPr lang="en-US" sz="1200" dirty="0"/>
          </a:p>
        </p:txBody>
      </p:sp>
      <p:sp>
        <p:nvSpPr>
          <p:cNvPr id="36" name="Text 33"/>
          <p:cNvSpPr txBox="1"/>
          <p:nvPr/>
        </p:nvSpPr>
        <p:spPr>
          <a:xfrm>
            <a:off x="548640" y="4389120"/>
            <a:ext cx="7772400" cy="274320"/>
          </a:xfrm>
          <a:prstGeom prst="rect">
            <a:avLst/>
          </a:prstGeom>
          <a:noFill/>
          <a:ln/>
        </p:spPr>
        <p:txBody>
          <a:bodyPr wrap="square" lIns="0" tIns="0" rIns="0" bIns="0" rtlCol="0" anchor="ctr"/>
          <a:lstStyle/>
          <a:p>
            <a:pPr marL="0" indent="0">
              <a:buNone/>
            </a:pPr>
            <a:r>
              <a:rPr lang="en-US" sz="1100" i="1" dirty="0">
                <a:solidFill>
                  <a:srgbClr val="5F6B7A"/>
                </a:solidFill>
                <a:latin typeface="Calibri" pitchFamily="34" charset="0"/>
                <a:ea typeface="Calibri" pitchFamily="34" charset="-122"/>
                <a:cs typeface="Calibri" pitchFamily="34" charset="-120"/>
              </a:rPr>
              <a:t>15 bis 20 Minuten · alle Gruppenmitglieder tragen vor · Diagramme in Dokumentation und Abgabepaket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Das Problem: Werkstätten heute</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3</a:t>
            </a:r>
            <a:endParaRPr lang="en-US" sz="900" dirty="0"/>
          </a:p>
        </p:txBody>
      </p:sp>
      <p:sp>
        <p:nvSpPr>
          <p:cNvPr id="6" name="Text 3"/>
          <p:cNvSpPr txBox="1"/>
          <p:nvPr/>
        </p:nvSpPr>
        <p:spPr>
          <a:xfrm>
            <a:off x="457200" y="960120"/>
            <a:ext cx="8229600" cy="640080"/>
          </a:xfrm>
          <a:prstGeom prst="rect">
            <a:avLst/>
          </a:prstGeom>
          <a:noFill/>
          <a:ln/>
        </p:spPr>
        <p:txBody>
          <a:bodyPr wrap="square" lIns="0" tIns="0" rIns="0" bIns="0" rtlCol="0" anchor="ctr"/>
          <a:lstStyle/>
          <a:p>
            <a:pPr marL="0" indent="0">
              <a:buNone/>
            </a:pPr>
            <a:r>
              <a:rPr lang="en-US" sz="1300" dirty="0">
                <a:solidFill>
                  <a:srgbClr val="1B2430"/>
                </a:solidFill>
                <a:latin typeface="Calibri" pitchFamily="34" charset="0"/>
                <a:ea typeface="Calibri" pitchFamily="34" charset="-122"/>
                <a:cs typeface="Calibri" pitchFamily="34" charset="-120"/>
              </a:rPr>
              <a:t>Unser Szenario: Die Werkstattkette FixWerk GmbH (vier Filialen, Fahrrad, E-Bike und Elektronik) arbeitet mit Papier, Excel-Listen und Telefon. Daraus folgen vier Probleme:</a:t>
            </a:r>
            <a:endParaRPr lang="en-US" sz="1300" dirty="0"/>
          </a:p>
        </p:txBody>
      </p:sp>
      <p:sp>
        <p:nvSpPr>
          <p:cNvPr id="7" name="Shape 4"/>
          <p:cNvSpPr/>
          <p:nvPr/>
        </p:nvSpPr>
        <p:spPr>
          <a:xfrm>
            <a:off x="457200" y="173736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8" name="Shape 5"/>
          <p:cNvSpPr/>
          <p:nvPr/>
        </p:nvSpPr>
        <p:spPr>
          <a:xfrm>
            <a:off x="640080" y="1920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9" name="Image 0" descr="preencoded.png"/>
          <p:cNvPicPr>
            <a:picLocks noChangeAspect="1"/>
          </p:cNvPicPr>
          <p:nvPr/>
        </p:nvPicPr>
        <p:blipFill>
          <a:blip r:embed="rId3"/>
          <a:stretch>
            <a:fillRect/>
          </a:stretch>
        </p:blipFill>
        <p:spPr>
          <a:xfrm>
            <a:off x="754380" y="2034540"/>
            <a:ext cx="228600" cy="228600"/>
          </a:xfrm>
          <a:prstGeom prst="rect">
            <a:avLst/>
          </a:prstGeom>
        </p:spPr>
      </p:pic>
      <p:sp>
        <p:nvSpPr>
          <p:cNvPr id="10" name="Text 6"/>
          <p:cNvSpPr txBox="1"/>
          <p:nvPr/>
        </p:nvSpPr>
        <p:spPr>
          <a:xfrm>
            <a:off x="1234440" y="1901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Kunden hören nichts</a:t>
            </a:r>
            <a:endParaRPr lang="en-US" sz="1400" dirty="0"/>
          </a:p>
        </p:txBody>
      </p:sp>
      <p:sp>
        <p:nvSpPr>
          <p:cNvPr id="11" name="Text 7"/>
          <p:cNvSpPr txBox="1"/>
          <p:nvPr/>
        </p:nvSpPr>
        <p:spPr>
          <a:xfrm>
            <a:off x="64008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Keine zuverlässige Info, wann ein Kostenvoranschlag freizugeben oder das Gerät abholbereit ist. Rückfragen per Telefon, Geräte stehen wochenlang im Lager.</a:t>
            </a:r>
            <a:endParaRPr lang="en-US" sz="1150" dirty="0"/>
          </a:p>
        </p:txBody>
      </p:sp>
      <p:sp>
        <p:nvSpPr>
          <p:cNvPr id="12" name="Shape 8"/>
          <p:cNvSpPr/>
          <p:nvPr/>
        </p:nvSpPr>
        <p:spPr>
          <a:xfrm>
            <a:off x="4709160" y="173736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13" name="Shape 9"/>
          <p:cNvSpPr/>
          <p:nvPr/>
        </p:nvSpPr>
        <p:spPr>
          <a:xfrm>
            <a:off x="4892040" y="1920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4" name="Image 1" descr="preencoded.png"/>
          <p:cNvPicPr>
            <a:picLocks noChangeAspect="1"/>
          </p:cNvPicPr>
          <p:nvPr/>
        </p:nvPicPr>
        <p:blipFill>
          <a:blip r:embed="rId4"/>
          <a:stretch>
            <a:fillRect/>
          </a:stretch>
        </p:blipFill>
        <p:spPr>
          <a:xfrm>
            <a:off x="5006340" y="2034540"/>
            <a:ext cx="228600" cy="228600"/>
          </a:xfrm>
          <a:prstGeom prst="rect">
            <a:avLst/>
          </a:prstGeom>
        </p:spPr>
      </p:pic>
      <p:sp>
        <p:nvSpPr>
          <p:cNvPr id="15" name="Text 10"/>
          <p:cNvSpPr txBox="1"/>
          <p:nvPr/>
        </p:nvSpPr>
        <p:spPr>
          <a:xfrm>
            <a:off x="5486400" y="1901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Kein Auftragsstatus</a:t>
            </a:r>
            <a:endParaRPr lang="en-US" sz="1400" dirty="0"/>
          </a:p>
        </p:txBody>
      </p:sp>
      <p:sp>
        <p:nvSpPr>
          <p:cNvPr id="16" name="Text 11"/>
          <p:cNvSpPr txBox="1"/>
          <p:nvPr/>
        </p:nvSpPr>
        <p:spPr>
          <a:xfrm>
            <a:off x="489204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Wer wissen will, wo ein Gerät steht, fragt in der Werkstatt nach. Papierzettel und Excel-Listen laufen auseinander.</a:t>
            </a:r>
            <a:endParaRPr lang="en-US" sz="1150" dirty="0"/>
          </a:p>
        </p:txBody>
      </p:sp>
      <p:sp>
        <p:nvSpPr>
          <p:cNvPr id="17" name="Shape 12"/>
          <p:cNvSpPr/>
          <p:nvPr/>
        </p:nvSpPr>
        <p:spPr>
          <a:xfrm>
            <a:off x="457200" y="320040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18" name="Shape 13"/>
          <p:cNvSpPr/>
          <p:nvPr/>
        </p:nvSpPr>
        <p:spPr>
          <a:xfrm>
            <a:off x="640080" y="33832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9" name="Image 2" descr="preencoded.png"/>
          <p:cNvPicPr>
            <a:picLocks noChangeAspect="1"/>
          </p:cNvPicPr>
          <p:nvPr/>
        </p:nvPicPr>
        <p:blipFill>
          <a:blip r:embed="rId5"/>
          <a:stretch>
            <a:fillRect/>
          </a:stretch>
        </p:blipFill>
        <p:spPr>
          <a:xfrm>
            <a:off x="754380" y="3497580"/>
            <a:ext cx="228600" cy="228600"/>
          </a:xfrm>
          <a:prstGeom prst="rect">
            <a:avLst/>
          </a:prstGeom>
        </p:spPr>
      </p:pic>
      <p:sp>
        <p:nvSpPr>
          <p:cNvPr id="20" name="Text 14"/>
          <p:cNvSpPr txBox="1"/>
          <p:nvPr/>
        </p:nvSpPr>
        <p:spPr>
          <a:xfrm>
            <a:off x="1234440" y="336499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Teile doppelt bestellt</a:t>
            </a:r>
            <a:endParaRPr lang="en-US" sz="1400" dirty="0"/>
          </a:p>
        </p:txBody>
      </p:sp>
      <p:sp>
        <p:nvSpPr>
          <p:cNvPr id="21" name="Text 15"/>
          <p:cNvSpPr txBox="1"/>
          <p:nvPr/>
        </p:nvSpPr>
        <p:spPr>
          <a:xfrm>
            <a:off x="64008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Jede Filiale bestellt für sich, obwohl das Teil in der Nachbarfiliale liegt. Das kostet Lieferzeit und Geld.</a:t>
            </a:r>
            <a:endParaRPr lang="en-US" sz="1150" dirty="0"/>
          </a:p>
        </p:txBody>
      </p:sp>
      <p:sp>
        <p:nvSpPr>
          <p:cNvPr id="22" name="Shape 16"/>
          <p:cNvSpPr/>
          <p:nvPr/>
        </p:nvSpPr>
        <p:spPr>
          <a:xfrm>
            <a:off x="4709160" y="320040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23" name="Shape 17"/>
          <p:cNvSpPr/>
          <p:nvPr/>
        </p:nvSpPr>
        <p:spPr>
          <a:xfrm>
            <a:off x="4892040" y="33832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4" name="Image 3" descr="preencoded.png"/>
          <p:cNvPicPr>
            <a:picLocks noChangeAspect="1"/>
          </p:cNvPicPr>
          <p:nvPr/>
        </p:nvPicPr>
        <p:blipFill>
          <a:blip r:embed="rId6"/>
          <a:stretch>
            <a:fillRect/>
          </a:stretch>
        </p:blipFill>
        <p:spPr>
          <a:xfrm>
            <a:off x="5006340" y="3497580"/>
            <a:ext cx="228600" cy="228600"/>
          </a:xfrm>
          <a:prstGeom prst="rect">
            <a:avLst/>
          </a:prstGeom>
        </p:spPr>
      </p:pic>
      <p:sp>
        <p:nvSpPr>
          <p:cNvPr id="25" name="Text 18"/>
          <p:cNvSpPr txBox="1"/>
          <p:nvPr/>
        </p:nvSpPr>
        <p:spPr>
          <a:xfrm>
            <a:off x="5486400" y="336499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Auslastung unsichtbar</a:t>
            </a:r>
            <a:endParaRPr lang="en-US" sz="1400" dirty="0"/>
          </a:p>
        </p:txBody>
      </p:sp>
      <p:sp>
        <p:nvSpPr>
          <p:cNvPr id="26" name="Text 19"/>
          <p:cNvSpPr txBox="1"/>
          <p:nvPr/>
        </p:nvSpPr>
        <p:spPr>
          <a:xfrm>
            <a:off x="489204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Termine werden nach Gefühl zugesagt, die Kapazität der Techniker kennt niemand genau.</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RepairFlow: die Lösung</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4</a:t>
            </a:r>
            <a:endParaRPr lang="en-US" sz="900" dirty="0"/>
          </a:p>
        </p:txBody>
      </p:sp>
      <p:sp>
        <p:nvSpPr>
          <p:cNvPr id="6" name="Shape 3"/>
          <p:cNvSpPr/>
          <p:nvPr/>
        </p:nvSpPr>
        <p:spPr>
          <a:xfrm>
            <a:off x="457200" y="960120"/>
            <a:ext cx="8229600" cy="777240"/>
          </a:xfrm>
          <a:prstGeom prst="roundRect">
            <a:avLst>
              <a:gd name="adj" fmla="val 9412"/>
            </a:avLst>
          </a:prstGeom>
          <a:solidFill>
            <a:srgbClr val="0E5E5E"/>
          </a:solidFill>
          <a:ln w="12700">
            <a:solidFill>
              <a:srgbClr val="0E5E5E"/>
            </a:solidFill>
            <a:prstDash val="solid"/>
          </a:ln>
        </p:spPr>
        <p:txBody>
          <a:bodyPr/>
          <a:lstStyle/>
          <a:p>
            <a:endParaRPr lang="de-DE"/>
          </a:p>
        </p:txBody>
      </p:sp>
      <p:sp>
        <p:nvSpPr>
          <p:cNvPr id="7" name="Text 4"/>
          <p:cNvSpPr txBox="1"/>
          <p:nvPr/>
        </p:nvSpPr>
        <p:spPr>
          <a:xfrm>
            <a:off x="640080" y="960120"/>
            <a:ext cx="7863840" cy="7772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Eine Cloud-Plattform für den gesamten Reparatur-Lebenszyklus: von der Anfrage per App bis zur Abholung und Reklamation. Wir sind das Software-Startup, FixWerk ist unser Pilotkunde.</a:t>
            </a:r>
            <a:endParaRPr lang="en-US" sz="1400" dirty="0"/>
          </a:p>
        </p:txBody>
      </p:sp>
      <p:sp>
        <p:nvSpPr>
          <p:cNvPr id="8" name="Shape 5"/>
          <p:cNvSpPr/>
          <p:nvPr/>
        </p:nvSpPr>
        <p:spPr>
          <a:xfrm>
            <a:off x="45720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9" name="Shape 6"/>
          <p:cNvSpPr/>
          <p:nvPr/>
        </p:nvSpPr>
        <p:spPr>
          <a:xfrm>
            <a:off x="64008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0" name="Image 0" descr="preencoded.png"/>
          <p:cNvPicPr>
            <a:picLocks noChangeAspect="1"/>
          </p:cNvPicPr>
          <p:nvPr/>
        </p:nvPicPr>
        <p:blipFill>
          <a:blip r:embed="rId3"/>
          <a:stretch>
            <a:fillRect/>
          </a:stretch>
        </p:blipFill>
        <p:spPr>
          <a:xfrm>
            <a:off x="754380" y="2217420"/>
            <a:ext cx="228600" cy="228600"/>
          </a:xfrm>
          <a:prstGeom prst="rect">
            <a:avLst/>
          </a:prstGeom>
        </p:spPr>
      </p:pic>
      <p:sp>
        <p:nvSpPr>
          <p:cNvPr id="11" name="Text 7"/>
          <p:cNvSpPr txBox="1"/>
          <p:nvPr/>
        </p:nvSpPr>
        <p:spPr>
          <a:xfrm>
            <a:off x="123444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Kundenportal</a:t>
            </a:r>
            <a:endParaRPr lang="en-US" sz="1400" dirty="0"/>
          </a:p>
        </p:txBody>
      </p:sp>
      <p:sp>
        <p:nvSpPr>
          <p:cNvPr id="12" name="Text 8"/>
          <p:cNvSpPr txBox="1"/>
          <p:nvPr/>
        </p:nvSpPr>
        <p:spPr>
          <a:xfrm>
            <a:off x="64008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App mit Sofortdiagnose, Voranmeldung, KVA-Freigabe und Statusmeldungen</a:t>
            </a:r>
            <a:endParaRPr lang="en-US" sz="1050" dirty="0"/>
          </a:p>
        </p:txBody>
      </p:sp>
      <p:sp>
        <p:nvSpPr>
          <p:cNvPr id="13" name="Shape 9"/>
          <p:cNvSpPr/>
          <p:nvPr/>
        </p:nvSpPr>
        <p:spPr>
          <a:xfrm>
            <a:off x="256032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14" name="Shape 10"/>
          <p:cNvSpPr/>
          <p:nvPr/>
        </p:nvSpPr>
        <p:spPr>
          <a:xfrm>
            <a:off x="274320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5" name="Image 1" descr="preencoded.png"/>
          <p:cNvPicPr>
            <a:picLocks noChangeAspect="1"/>
          </p:cNvPicPr>
          <p:nvPr/>
        </p:nvPicPr>
        <p:blipFill>
          <a:blip r:embed="rId4"/>
          <a:stretch>
            <a:fillRect/>
          </a:stretch>
        </p:blipFill>
        <p:spPr>
          <a:xfrm>
            <a:off x="2857500" y="2217420"/>
            <a:ext cx="228600" cy="228600"/>
          </a:xfrm>
          <a:prstGeom prst="rect">
            <a:avLst/>
          </a:prstGeom>
        </p:spPr>
      </p:pic>
      <p:sp>
        <p:nvSpPr>
          <p:cNvPr id="16" name="Text 11"/>
          <p:cNvSpPr txBox="1"/>
          <p:nvPr/>
        </p:nvSpPr>
        <p:spPr>
          <a:xfrm>
            <a:off x="333756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Auftrag und Werkstatt</a:t>
            </a:r>
            <a:endParaRPr lang="en-US" sz="1400" dirty="0"/>
          </a:p>
        </p:txBody>
      </p:sp>
      <p:sp>
        <p:nvSpPr>
          <p:cNvPr id="17" name="Text 12"/>
          <p:cNvSpPr txBox="1"/>
          <p:nvPr/>
        </p:nvSpPr>
        <p:spPr>
          <a:xfrm>
            <a:off x="274320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Auftragsstatus, Diagnose, Kostenvoranschlag, Reparaturschritte, Endkontrolle</a:t>
            </a:r>
            <a:endParaRPr lang="en-US" sz="1050" dirty="0"/>
          </a:p>
        </p:txBody>
      </p:sp>
      <p:sp>
        <p:nvSpPr>
          <p:cNvPr id="18" name="Shape 13"/>
          <p:cNvSpPr/>
          <p:nvPr/>
        </p:nvSpPr>
        <p:spPr>
          <a:xfrm>
            <a:off x="466344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19" name="Shape 14"/>
          <p:cNvSpPr/>
          <p:nvPr/>
        </p:nvSpPr>
        <p:spPr>
          <a:xfrm>
            <a:off x="484632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0" name="Image 2" descr="preencoded.png"/>
          <p:cNvPicPr>
            <a:picLocks noChangeAspect="1"/>
          </p:cNvPicPr>
          <p:nvPr/>
        </p:nvPicPr>
        <p:blipFill>
          <a:blip r:embed="rId5"/>
          <a:stretch>
            <a:fillRect/>
          </a:stretch>
        </p:blipFill>
        <p:spPr>
          <a:xfrm>
            <a:off x="4960620" y="2217420"/>
            <a:ext cx="228600" cy="228600"/>
          </a:xfrm>
          <a:prstGeom prst="rect">
            <a:avLst/>
          </a:prstGeom>
        </p:spPr>
      </p:pic>
      <p:sp>
        <p:nvSpPr>
          <p:cNvPr id="21" name="Text 15"/>
          <p:cNvSpPr txBox="1"/>
          <p:nvPr/>
        </p:nvSpPr>
        <p:spPr>
          <a:xfrm>
            <a:off x="544068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Disposition</a:t>
            </a:r>
            <a:endParaRPr lang="en-US" sz="1400" dirty="0"/>
          </a:p>
        </p:txBody>
      </p:sp>
      <p:sp>
        <p:nvSpPr>
          <p:cNvPr id="22" name="Text 16"/>
          <p:cNvSpPr txBox="1"/>
          <p:nvPr/>
        </p:nvSpPr>
        <p:spPr>
          <a:xfrm>
            <a:off x="484632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Bestände aller Filialen, Reservierung, Umlagerung, Bestellung, Retoure</a:t>
            </a:r>
            <a:endParaRPr lang="en-US" sz="1050" dirty="0"/>
          </a:p>
        </p:txBody>
      </p:sp>
      <p:sp>
        <p:nvSpPr>
          <p:cNvPr id="23" name="Shape 17"/>
          <p:cNvSpPr/>
          <p:nvPr/>
        </p:nvSpPr>
        <p:spPr>
          <a:xfrm>
            <a:off x="676656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24" name="Shape 18"/>
          <p:cNvSpPr/>
          <p:nvPr/>
        </p:nvSpPr>
        <p:spPr>
          <a:xfrm>
            <a:off x="694944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5" name="Image 3" descr="preencoded.png"/>
          <p:cNvPicPr>
            <a:picLocks noChangeAspect="1"/>
          </p:cNvPicPr>
          <p:nvPr/>
        </p:nvPicPr>
        <p:blipFill>
          <a:blip r:embed="rId6"/>
          <a:stretch>
            <a:fillRect/>
          </a:stretch>
        </p:blipFill>
        <p:spPr>
          <a:xfrm>
            <a:off x="7063740" y="2217420"/>
            <a:ext cx="228600" cy="228600"/>
          </a:xfrm>
          <a:prstGeom prst="rect">
            <a:avLst/>
          </a:prstGeom>
        </p:spPr>
      </p:pic>
      <p:sp>
        <p:nvSpPr>
          <p:cNvPr id="26" name="Text 19"/>
          <p:cNvSpPr txBox="1"/>
          <p:nvPr/>
        </p:nvSpPr>
        <p:spPr>
          <a:xfrm>
            <a:off x="754380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Abrechnung</a:t>
            </a:r>
            <a:endParaRPr lang="en-US" sz="1400" dirty="0"/>
          </a:p>
        </p:txBody>
      </p:sp>
      <p:sp>
        <p:nvSpPr>
          <p:cNvPr id="27" name="Text 20"/>
          <p:cNvSpPr txBox="1"/>
          <p:nvPr/>
        </p:nvSpPr>
        <p:spPr>
          <a:xfrm>
            <a:off x="694944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Rechnung, Zahlung, Übergabe an die Buchhaltung</a:t>
            </a:r>
            <a:endParaRPr lang="en-US" sz="1050" dirty="0"/>
          </a:p>
        </p:txBody>
      </p:sp>
      <p:sp>
        <p:nvSpPr>
          <p:cNvPr id="28" name="Text 21"/>
          <p:cNvSpPr txBox="1"/>
          <p:nvPr/>
        </p:nvSpPr>
        <p:spPr>
          <a:xfrm>
            <a:off x="457200" y="3886200"/>
            <a:ext cx="8229600" cy="731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Zielkunden: unabhängige Werkstätten und kleine Ketten mit 2 bis 10 Filialen im DACH-Raum</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Außerhalb der Plattform: physische Reparatur, Lieferantensysteme, Buchhaltung (nur Schnittstellen)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Drei Nutzenversprechen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5</a:t>
            </a:r>
            <a:endParaRPr lang="en-US" sz="900" dirty="0"/>
          </a:p>
        </p:txBody>
      </p:sp>
      <p:sp>
        <p:nvSpPr>
          <p:cNvPr id="6" name="Text 3"/>
          <p:cNvSpPr txBox="1"/>
          <p:nvPr/>
        </p:nvSpPr>
        <p:spPr>
          <a:xfrm>
            <a:off x="457200" y="960120"/>
            <a:ext cx="8229600" cy="365760"/>
          </a:xfrm>
          <a:prstGeom prst="rect">
            <a:avLst/>
          </a:prstGeom>
          <a:noFill/>
          <a:ln/>
        </p:spPr>
        <p:txBody>
          <a:bodyPr wrap="square" lIns="0" tIns="0" rIns="0" bIns="0" rtlCol="0" anchor="ctr"/>
          <a:lstStyle/>
          <a:p>
            <a:pPr marL="0" indent="0">
              <a:buNone/>
            </a:pPr>
            <a:r>
              <a:rPr lang="en-US" sz="1300" dirty="0">
                <a:solidFill>
                  <a:srgbClr val="1B2430"/>
                </a:solidFill>
                <a:latin typeface="Calibri" pitchFamily="34" charset="0"/>
                <a:ea typeface="Calibri" pitchFamily="34" charset="-122"/>
                <a:cs typeface="Calibri" pitchFamily="34" charset="-120"/>
              </a:rPr>
              <a:t>Was die Werkstatt davon hat:</a:t>
            </a:r>
            <a:endParaRPr lang="en-US" sz="1300" dirty="0"/>
          </a:p>
        </p:txBody>
      </p:sp>
      <p:sp>
        <p:nvSpPr>
          <p:cNvPr id="7" name="Shape 4"/>
          <p:cNvSpPr/>
          <p:nvPr/>
        </p:nvSpPr>
        <p:spPr>
          <a:xfrm>
            <a:off x="457200" y="1417320"/>
            <a:ext cx="2651760" cy="2377440"/>
          </a:xfrm>
          <a:prstGeom prst="roundRect">
            <a:avLst>
              <a:gd name="adj" fmla="val 3077"/>
            </a:avLst>
          </a:prstGeom>
          <a:solidFill>
            <a:srgbClr val="EEF4F4"/>
          </a:solidFill>
          <a:ln w="12700">
            <a:solidFill>
              <a:srgbClr val="EEF4F4"/>
            </a:solidFill>
            <a:prstDash val="solid"/>
          </a:ln>
        </p:spPr>
        <p:txBody>
          <a:bodyPr/>
          <a:lstStyle/>
          <a:p>
            <a:endParaRPr lang="de-DE"/>
          </a:p>
        </p:txBody>
      </p:sp>
      <p:sp>
        <p:nvSpPr>
          <p:cNvPr id="8" name="Shape 5"/>
          <p:cNvSpPr/>
          <p:nvPr/>
        </p:nvSpPr>
        <p:spPr>
          <a:xfrm>
            <a:off x="640080" y="160020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9" name="Image 0" descr="preencoded.png"/>
          <p:cNvPicPr>
            <a:picLocks noChangeAspect="1"/>
          </p:cNvPicPr>
          <p:nvPr/>
        </p:nvPicPr>
        <p:blipFill>
          <a:blip r:embed="rId3"/>
          <a:stretch>
            <a:fillRect/>
          </a:stretch>
        </p:blipFill>
        <p:spPr>
          <a:xfrm>
            <a:off x="754380" y="1714500"/>
            <a:ext cx="228600" cy="228600"/>
          </a:xfrm>
          <a:prstGeom prst="rect">
            <a:avLst/>
          </a:prstGeom>
        </p:spPr>
      </p:pic>
      <p:sp>
        <p:nvSpPr>
          <p:cNvPr id="10" name="Text 6"/>
          <p:cNvSpPr txBox="1"/>
          <p:nvPr/>
        </p:nvSpPr>
        <p:spPr>
          <a:xfrm>
            <a:off x="1234440" y="158191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Eine Plattform</a:t>
            </a:r>
            <a:endParaRPr lang="en-US" sz="1400" dirty="0"/>
          </a:p>
        </p:txBody>
      </p:sp>
      <p:sp>
        <p:nvSpPr>
          <p:cNvPr id="11" name="Text 7"/>
          <p:cNvSpPr txBox="1"/>
          <p:nvPr/>
        </p:nvSpPr>
        <p:spPr>
          <a:xfrm>
            <a:off x="640080" y="2148840"/>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Fahrrad, E-Bike und Elektronik mit einer Kundenbasis und einem gemeinsamen Ersatzteillager. Ein Auftragsstatus für alle.</a:t>
            </a:r>
            <a:endParaRPr lang="en-US" sz="1150" dirty="0"/>
          </a:p>
        </p:txBody>
      </p:sp>
      <p:sp>
        <p:nvSpPr>
          <p:cNvPr id="12" name="Shape 8"/>
          <p:cNvSpPr/>
          <p:nvPr/>
        </p:nvSpPr>
        <p:spPr>
          <a:xfrm>
            <a:off x="3246120" y="1417320"/>
            <a:ext cx="2651760" cy="2377440"/>
          </a:xfrm>
          <a:prstGeom prst="roundRect">
            <a:avLst>
              <a:gd name="adj" fmla="val 3077"/>
            </a:avLst>
          </a:prstGeom>
          <a:solidFill>
            <a:srgbClr val="EEF4F4"/>
          </a:solidFill>
          <a:ln w="12700">
            <a:solidFill>
              <a:srgbClr val="EEF4F4"/>
            </a:solidFill>
            <a:prstDash val="solid"/>
          </a:ln>
        </p:spPr>
        <p:txBody>
          <a:bodyPr/>
          <a:lstStyle/>
          <a:p>
            <a:endParaRPr lang="de-DE"/>
          </a:p>
        </p:txBody>
      </p:sp>
      <p:sp>
        <p:nvSpPr>
          <p:cNvPr id="13" name="Shape 9"/>
          <p:cNvSpPr/>
          <p:nvPr/>
        </p:nvSpPr>
        <p:spPr>
          <a:xfrm>
            <a:off x="3429000" y="160020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4" name="Image 1" descr="preencoded.png"/>
          <p:cNvPicPr>
            <a:picLocks noChangeAspect="1"/>
          </p:cNvPicPr>
          <p:nvPr/>
        </p:nvPicPr>
        <p:blipFill>
          <a:blip r:embed="rId4"/>
          <a:stretch>
            <a:fillRect/>
          </a:stretch>
        </p:blipFill>
        <p:spPr>
          <a:xfrm>
            <a:off x="3543300" y="1714500"/>
            <a:ext cx="228600" cy="228600"/>
          </a:xfrm>
          <a:prstGeom prst="rect">
            <a:avLst/>
          </a:prstGeom>
        </p:spPr>
      </p:pic>
      <p:sp>
        <p:nvSpPr>
          <p:cNvPr id="15" name="Text 10"/>
          <p:cNvSpPr txBox="1"/>
          <p:nvPr/>
        </p:nvSpPr>
        <p:spPr>
          <a:xfrm>
            <a:off x="4023360" y="158191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Filialübergreifend</a:t>
            </a:r>
            <a:endParaRPr lang="en-US" sz="1400" dirty="0"/>
          </a:p>
        </p:txBody>
      </p:sp>
      <p:sp>
        <p:nvSpPr>
          <p:cNvPr id="16" name="Text 11"/>
          <p:cNvSpPr txBox="1"/>
          <p:nvPr/>
        </p:nvSpPr>
        <p:spPr>
          <a:xfrm>
            <a:off x="3429000" y="2148840"/>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Bestände, Reservierungen und Umlagerungen über alle Standorte. Bestellt wird nur, was nirgends liegt.</a:t>
            </a:r>
            <a:endParaRPr lang="en-US" sz="1150" dirty="0"/>
          </a:p>
        </p:txBody>
      </p:sp>
      <p:sp>
        <p:nvSpPr>
          <p:cNvPr id="17" name="Shape 12"/>
          <p:cNvSpPr/>
          <p:nvPr/>
        </p:nvSpPr>
        <p:spPr>
          <a:xfrm>
            <a:off x="6035040" y="1417320"/>
            <a:ext cx="2651760" cy="2377440"/>
          </a:xfrm>
          <a:prstGeom prst="roundRect">
            <a:avLst>
              <a:gd name="adj" fmla="val 3077"/>
            </a:avLst>
          </a:prstGeom>
          <a:solidFill>
            <a:srgbClr val="FFF4D6"/>
          </a:solidFill>
          <a:ln w="12700">
            <a:solidFill>
              <a:srgbClr val="FFF4D6"/>
            </a:solidFill>
            <a:prstDash val="solid"/>
          </a:ln>
        </p:spPr>
        <p:txBody>
          <a:bodyPr/>
          <a:lstStyle/>
          <a:p>
            <a:endParaRPr lang="de-DE"/>
          </a:p>
        </p:txBody>
      </p:sp>
      <p:sp>
        <p:nvSpPr>
          <p:cNvPr id="18" name="Shape 13"/>
          <p:cNvSpPr/>
          <p:nvPr/>
        </p:nvSpPr>
        <p:spPr>
          <a:xfrm>
            <a:off x="6217920" y="160020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19" name="Image 2" descr="preencoded.png"/>
          <p:cNvPicPr>
            <a:picLocks noChangeAspect="1"/>
          </p:cNvPicPr>
          <p:nvPr/>
        </p:nvPicPr>
        <p:blipFill>
          <a:blip r:embed="rId5"/>
          <a:stretch>
            <a:fillRect/>
          </a:stretch>
        </p:blipFill>
        <p:spPr>
          <a:xfrm>
            <a:off x="6332220" y="1714500"/>
            <a:ext cx="228600" cy="228600"/>
          </a:xfrm>
          <a:prstGeom prst="rect">
            <a:avLst/>
          </a:prstGeom>
        </p:spPr>
      </p:pic>
      <p:sp>
        <p:nvSpPr>
          <p:cNvPr id="20" name="Text 14"/>
          <p:cNvSpPr txBox="1"/>
          <p:nvPr/>
        </p:nvSpPr>
        <p:spPr>
          <a:xfrm>
            <a:off x="6812280" y="158191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Klarheit vor dem Besuch</a:t>
            </a:r>
            <a:endParaRPr lang="en-US" sz="1400" dirty="0"/>
          </a:p>
        </p:txBody>
      </p:sp>
      <p:sp>
        <p:nvSpPr>
          <p:cNvPr id="21" name="Text 15"/>
          <p:cNvSpPr txBox="1"/>
          <p:nvPr/>
        </p:nvSpPr>
        <p:spPr>
          <a:xfrm>
            <a:off x="6217920" y="2148840"/>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Foto aus der App, Diagnosevorschlag, vorläufiger Kostenvoranschlag und Termin, bevor der Kunde die Werkstatt betritt.</a:t>
            </a:r>
            <a:endParaRPr lang="en-US" sz="1150" dirty="0"/>
          </a:p>
        </p:txBody>
      </p:sp>
      <p:sp>
        <p:nvSpPr>
          <p:cNvPr id="22" name="Shape 16"/>
          <p:cNvSpPr/>
          <p:nvPr/>
        </p:nvSpPr>
        <p:spPr>
          <a:xfrm>
            <a:off x="457200" y="3977640"/>
            <a:ext cx="8229600" cy="594360"/>
          </a:xfrm>
          <a:prstGeom prst="roundRect">
            <a:avLst>
              <a:gd name="adj" fmla="val 12308"/>
            </a:avLst>
          </a:prstGeom>
          <a:solidFill>
            <a:srgbClr val="EEF4F4"/>
          </a:solidFill>
          <a:ln w="12700">
            <a:solidFill>
              <a:srgbClr val="EEF4F4"/>
            </a:solidFill>
            <a:prstDash val="solid"/>
          </a:ln>
        </p:spPr>
        <p:txBody>
          <a:bodyPr/>
          <a:lstStyle/>
          <a:p>
            <a:endParaRPr lang="de-DE"/>
          </a:p>
        </p:txBody>
      </p:sp>
      <p:sp>
        <p:nvSpPr>
          <p:cNvPr id="23" name="Text 17"/>
          <p:cNvSpPr txBox="1"/>
          <p:nvPr/>
        </p:nvSpPr>
        <p:spPr>
          <a:xfrm>
            <a:off x="640080" y="3977640"/>
            <a:ext cx="7863840" cy="594360"/>
          </a:xfrm>
          <a:prstGeom prst="rect">
            <a:avLst/>
          </a:prstGeom>
          <a:noFill/>
          <a:ln/>
        </p:spPr>
        <p:txBody>
          <a:bodyPr wrap="square" lIns="0" tIns="0" rIns="0" bIns="0" rtlCol="0" anchor="ctr"/>
          <a:lstStyle/>
          <a:p>
            <a:pPr marL="0" indent="0">
              <a:buNone/>
            </a:pPr>
            <a:r>
              <a:rPr lang="en-US" sz="1200" dirty="0">
                <a:solidFill>
                  <a:srgbClr val="1B2430"/>
                </a:solidFill>
                <a:latin typeface="Calibri" pitchFamily="34" charset="0"/>
                <a:ea typeface="Calibri" pitchFamily="34" charset="-122"/>
                <a:cs typeface="Calibri" pitchFamily="34" charset="-120"/>
              </a:rPr>
              <a:t>Für die Werkstatt: weniger Telefon, weniger Standzeit im Lager, sichtbare Auslastung. Für den Kunden: Antwort in einer Minute statt in einer Woche.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Die Auftragsreise mit RepairFlow</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6</a:t>
            </a:r>
            <a:endParaRPr lang="en-US" sz="900" dirty="0"/>
          </a:p>
        </p:txBody>
      </p:sp>
      <p:sp>
        <p:nvSpPr>
          <p:cNvPr id="6" name="Shape 3"/>
          <p:cNvSpPr/>
          <p:nvPr/>
        </p:nvSpPr>
        <p:spPr>
          <a:xfrm>
            <a:off x="457200" y="1005840"/>
            <a:ext cx="1417320" cy="502920"/>
          </a:xfrm>
          <a:prstGeom prst="chevron">
            <a:avLst/>
          </a:prstGeom>
          <a:solidFill>
            <a:srgbClr val="0E5E5E"/>
          </a:solidFill>
          <a:ln w="12700">
            <a:solidFill>
              <a:srgbClr val="FFFFFF"/>
            </a:solidFill>
            <a:prstDash val="solid"/>
          </a:ln>
        </p:spPr>
        <p:txBody>
          <a:bodyPr/>
          <a:lstStyle/>
          <a:p>
            <a:endParaRPr lang="de-DE"/>
          </a:p>
        </p:txBody>
      </p:sp>
      <p:sp>
        <p:nvSpPr>
          <p:cNvPr id="7" name="Text 4"/>
          <p:cNvSpPr txBox="1"/>
          <p:nvPr/>
        </p:nvSpPr>
        <p:spPr>
          <a:xfrm>
            <a:off x="640080" y="1005840"/>
            <a:ext cx="105156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P01</a:t>
            </a:r>
            <a:endParaRPr lang="en-US" sz="1000" dirty="0"/>
          </a:p>
        </p:txBody>
      </p:sp>
      <p:sp>
        <p:nvSpPr>
          <p:cNvPr id="8" name="Shape 5"/>
          <p:cNvSpPr/>
          <p:nvPr/>
        </p:nvSpPr>
        <p:spPr>
          <a:xfrm>
            <a:off x="457200" y="1645920"/>
            <a:ext cx="1298448" cy="1828800"/>
          </a:xfrm>
          <a:prstGeom prst="roundRect">
            <a:avLst>
              <a:gd name="adj" fmla="val 5634"/>
            </a:avLst>
          </a:prstGeom>
          <a:solidFill>
            <a:srgbClr val="FFF4D6"/>
          </a:solidFill>
          <a:ln w="12700">
            <a:solidFill>
              <a:srgbClr val="FFF4D6"/>
            </a:solidFill>
            <a:prstDash val="solid"/>
          </a:ln>
        </p:spPr>
        <p:txBody>
          <a:bodyPr/>
          <a:lstStyle/>
          <a:p>
            <a:endParaRPr lang="de-DE"/>
          </a:p>
        </p:txBody>
      </p:sp>
      <p:sp>
        <p:nvSpPr>
          <p:cNvPr id="9" name="Shape 6"/>
          <p:cNvSpPr/>
          <p:nvPr/>
        </p:nvSpPr>
        <p:spPr>
          <a:xfrm>
            <a:off x="850392" y="1755648"/>
            <a:ext cx="502920" cy="502920"/>
          </a:xfrm>
          <a:prstGeom prst="ellipse">
            <a:avLst/>
          </a:prstGeom>
          <a:solidFill>
            <a:srgbClr val="F2A900"/>
          </a:solidFill>
          <a:ln w="12700">
            <a:solidFill>
              <a:srgbClr val="F2A900"/>
            </a:solidFill>
            <a:prstDash val="solid"/>
          </a:ln>
        </p:spPr>
        <p:txBody>
          <a:bodyPr/>
          <a:lstStyle/>
          <a:p>
            <a:endParaRPr lang="de-DE"/>
          </a:p>
        </p:txBody>
      </p:sp>
      <p:pic>
        <p:nvPicPr>
          <p:cNvPr id="10" name="Image 0" descr="preencoded.png"/>
          <p:cNvPicPr>
            <a:picLocks noChangeAspect="1"/>
          </p:cNvPicPr>
          <p:nvPr/>
        </p:nvPicPr>
        <p:blipFill>
          <a:blip r:embed="rId3"/>
          <a:stretch>
            <a:fillRect/>
          </a:stretch>
        </p:blipFill>
        <p:spPr>
          <a:xfrm>
            <a:off x="976122" y="1881378"/>
            <a:ext cx="251460" cy="251460"/>
          </a:xfrm>
          <a:prstGeom prst="rect">
            <a:avLst/>
          </a:prstGeom>
        </p:spPr>
      </p:pic>
      <p:sp>
        <p:nvSpPr>
          <p:cNvPr id="11" name="Text 7"/>
          <p:cNvSpPr txBox="1"/>
          <p:nvPr/>
        </p:nvSpPr>
        <p:spPr>
          <a:xfrm>
            <a:off x="502920" y="2331720"/>
            <a:ext cx="1207008" cy="365760"/>
          </a:xfrm>
          <a:prstGeom prst="rect">
            <a:avLst/>
          </a:prstGeom>
          <a:noFill/>
          <a:ln/>
        </p:spPr>
        <p:txBody>
          <a:bodyPr wrap="square" lIns="0" tIns="0" rIns="0" bIns="0" rtlCol="0" anchor="ctr"/>
          <a:lstStyle/>
          <a:p>
            <a:pPr marL="0" indent="0" algn="ctr">
              <a:buNone/>
            </a:pPr>
            <a:r>
              <a:rPr lang="en-US" sz="1100" b="1" dirty="0">
                <a:solidFill>
                  <a:srgbClr val="1B2430"/>
                </a:solidFill>
                <a:latin typeface="Calibri" pitchFamily="34" charset="0"/>
                <a:ea typeface="Calibri" pitchFamily="34" charset="-122"/>
                <a:cs typeface="Calibri" pitchFamily="34" charset="-120"/>
              </a:rPr>
              <a:t>Anfrage per App</a:t>
            </a:r>
            <a:endParaRPr lang="en-US" sz="1100" dirty="0"/>
          </a:p>
        </p:txBody>
      </p:sp>
      <p:sp>
        <p:nvSpPr>
          <p:cNvPr id="12" name="Text 8"/>
          <p:cNvSpPr txBox="1"/>
          <p:nvPr/>
        </p:nvSpPr>
        <p:spPr>
          <a:xfrm>
            <a:off x="530352" y="2697480"/>
            <a:ext cx="1152144" cy="731520"/>
          </a:xfrm>
          <a:prstGeom prst="rect">
            <a:avLst/>
          </a:prstGeom>
          <a:noFill/>
          <a:ln/>
        </p:spPr>
        <p:txBody>
          <a:bodyPr wrap="square" lIns="0" tIns="0" rIns="0" bIns="0" rtlCol="0" anchor="ctr"/>
          <a:lstStyle/>
          <a:p>
            <a:pPr marL="0" indent="0" algn="ctr">
              <a:buNone/>
            </a:pPr>
            <a:r>
              <a:rPr lang="en-US" sz="950" dirty="0">
                <a:solidFill>
                  <a:srgbClr val="1B2430"/>
                </a:solidFill>
                <a:latin typeface="Calibri" pitchFamily="34" charset="0"/>
                <a:ea typeface="Calibri" pitchFamily="34" charset="-122"/>
                <a:cs typeface="Calibri" pitchFamily="34" charset="-120"/>
              </a:rPr>
              <a:t>KI-Vorschlag, Vorab-KVA, Termin</a:t>
            </a:r>
            <a:endParaRPr lang="en-US" sz="950" dirty="0"/>
          </a:p>
        </p:txBody>
      </p:sp>
      <p:sp>
        <p:nvSpPr>
          <p:cNvPr id="13" name="Shape 9"/>
          <p:cNvSpPr/>
          <p:nvPr/>
        </p:nvSpPr>
        <p:spPr>
          <a:xfrm>
            <a:off x="1847088" y="1005840"/>
            <a:ext cx="1417320" cy="502920"/>
          </a:xfrm>
          <a:prstGeom prst="chevron">
            <a:avLst/>
          </a:prstGeom>
          <a:solidFill>
            <a:srgbClr val="147A7A"/>
          </a:solidFill>
          <a:ln w="12700">
            <a:solidFill>
              <a:srgbClr val="FFFFFF"/>
            </a:solidFill>
            <a:prstDash val="solid"/>
          </a:ln>
        </p:spPr>
        <p:txBody>
          <a:bodyPr/>
          <a:lstStyle/>
          <a:p>
            <a:endParaRPr lang="de-DE"/>
          </a:p>
        </p:txBody>
      </p:sp>
      <p:sp>
        <p:nvSpPr>
          <p:cNvPr id="14" name="Text 10"/>
          <p:cNvSpPr txBox="1"/>
          <p:nvPr/>
        </p:nvSpPr>
        <p:spPr>
          <a:xfrm>
            <a:off x="2029968" y="1005840"/>
            <a:ext cx="105156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P02</a:t>
            </a:r>
            <a:endParaRPr lang="en-US" sz="1000" dirty="0"/>
          </a:p>
        </p:txBody>
      </p:sp>
      <p:sp>
        <p:nvSpPr>
          <p:cNvPr id="15" name="Shape 11"/>
          <p:cNvSpPr/>
          <p:nvPr/>
        </p:nvSpPr>
        <p:spPr>
          <a:xfrm>
            <a:off x="1847088" y="1645920"/>
            <a:ext cx="1298448" cy="1828800"/>
          </a:xfrm>
          <a:prstGeom prst="roundRect">
            <a:avLst>
              <a:gd name="adj" fmla="val 5634"/>
            </a:avLst>
          </a:prstGeom>
          <a:solidFill>
            <a:srgbClr val="EEF4F4"/>
          </a:solidFill>
          <a:ln w="12700">
            <a:solidFill>
              <a:srgbClr val="EEF4F4"/>
            </a:solidFill>
            <a:prstDash val="solid"/>
          </a:ln>
        </p:spPr>
        <p:txBody>
          <a:bodyPr/>
          <a:lstStyle/>
          <a:p>
            <a:endParaRPr lang="de-DE"/>
          </a:p>
        </p:txBody>
      </p:sp>
      <p:sp>
        <p:nvSpPr>
          <p:cNvPr id="16" name="Shape 12"/>
          <p:cNvSpPr/>
          <p:nvPr/>
        </p:nvSpPr>
        <p:spPr>
          <a:xfrm>
            <a:off x="2240280" y="1755648"/>
            <a:ext cx="502920" cy="502920"/>
          </a:xfrm>
          <a:prstGeom prst="ellipse">
            <a:avLst/>
          </a:prstGeom>
          <a:solidFill>
            <a:srgbClr val="0E5E5E"/>
          </a:solidFill>
          <a:ln w="12700">
            <a:solidFill>
              <a:srgbClr val="0E5E5E"/>
            </a:solidFill>
            <a:prstDash val="solid"/>
          </a:ln>
        </p:spPr>
        <p:txBody>
          <a:bodyPr/>
          <a:lstStyle/>
          <a:p>
            <a:endParaRPr lang="de-DE"/>
          </a:p>
        </p:txBody>
      </p:sp>
      <p:pic>
        <p:nvPicPr>
          <p:cNvPr id="17" name="Image 1" descr="preencoded.png"/>
          <p:cNvPicPr>
            <a:picLocks noChangeAspect="1"/>
          </p:cNvPicPr>
          <p:nvPr/>
        </p:nvPicPr>
        <p:blipFill>
          <a:blip r:embed="rId4"/>
          <a:stretch>
            <a:fillRect/>
          </a:stretch>
        </p:blipFill>
        <p:spPr>
          <a:xfrm>
            <a:off x="2366010" y="1881378"/>
            <a:ext cx="251460" cy="251460"/>
          </a:xfrm>
          <a:prstGeom prst="rect">
            <a:avLst/>
          </a:prstGeom>
        </p:spPr>
      </p:pic>
      <p:sp>
        <p:nvSpPr>
          <p:cNvPr id="18" name="Text 13"/>
          <p:cNvSpPr txBox="1"/>
          <p:nvPr/>
        </p:nvSpPr>
        <p:spPr>
          <a:xfrm>
            <a:off x="1892808" y="2331720"/>
            <a:ext cx="1207008" cy="365760"/>
          </a:xfrm>
          <a:prstGeom prst="rect">
            <a:avLst/>
          </a:prstGeom>
          <a:noFill/>
          <a:ln/>
        </p:spPr>
        <p:txBody>
          <a:bodyPr wrap="square" lIns="0" tIns="0" rIns="0" bIns="0" rtlCol="0" anchor="ctr"/>
          <a:lstStyle/>
          <a:p>
            <a:pPr marL="0" indent="0" algn="ctr">
              <a:buNone/>
            </a:pPr>
            <a:r>
              <a:rPr lang="en-US" sz="1100" b="1" dirty="0">
                <a:solidFill>
                  <a:srgbClr val="1B2430"/>
                </a:solidFill>
                <a:latin typeface="Calibri" pitchFamily="34" charset="0"/>
                <a:ea typeface="Calibri" pitchFamily="34" charset="-122"/>
                <a:cs typeface="Calibri" pitchFamily="34" charset="-120"/>
              </a:rPr>
              <a:t>Annahme</a:t>
            </a:r>
            <a:endParaRPr lang="en-US" sz="1100" dirty="0"/>
          </a:p>
        </p:txBody>
      </p:sp>
      <p:sp>
        <p:nvSpPr>
          <p:cNvPr id="19" name="Text 14"/>
          <p:cNvSpPr txBox="1"/>
          <p:nvPr/>
        </p:nvSpPr>
        <p:spPr>
          <a:xfrm>
            <a:off x="1920240" y="2697480"/>
            <a:ext cx="1152144" cy="731520"/>
          </a:xfrm>
          <a:prstGeom prst="rect">
            <a:avLst/>
          </a:prstGeom>
          <a:noFill/>
          <a:ln/>
        </p:spPr>
        <p:txBody>
          <a:bodyPr wrap="square" lIns="0" tIns="0" rIns="0" bIns="0" rtlCol="0" anchor="ctr"/>
          <a:lstStyle/>
          <a:p>
            <a:pPr marL="0" indent="0" algn="ctr">
              <a:buNone/>
            </a:pPr>
            <a:r>
              <a:rPr lang="en-US" sz="950" dirty="0">
                <a:solidFill>
                  <a:srgbClr val="1B2430"/>
                </a:solidFill>
                <a:latin typeface="Calibri" pitchFamily="34" charset="0"/>
                <a:ea typeface="Calibri" pitchFamily="34" charset="-122"/>
                <a:cs typeface="Calibri" pitchFamily="34" charset="-120"/>
              </a:rPr>
              <a:t>Gerät registriert, Auftrag angelegt</a:t>
            </a:r>
            <a:endParaRPr lang="en-US" sz="950" dirty="0"/>
          </a:p>
        </p:txBody>
      </p:sp>
      <p:sp>
        <p:nvSpPr>
          <p:cNvPr id="20" name="Shape 15"/>
          <p:cNvSpPr/>
          <p:nvPr/>
        </p:nvSpPr>
        <p:spPr>
          <a:xfrm>
            <a:off x="3236976" y="1005840"/>
            <a:ext cx="1417320" cy="502920"/>
          </a:xfrm>
          <a:prstGeom prst="chevron">
            <a:avLst/>
          </a:prstGeom>
          <a:solidFill>
            <a:srgbClr val="0E5E5E"/>
          </a:solidFill>
          <a:ln w="12700">
            <a:solidFill>
              <a:srgbClr val="FFFFFF"/>
            </a:solidFill>
            <a:prstDash val="solid"/>
          </a:ln>
        </p:spPr>
        <p:txBody>
          <a:bodyPr/>
          <a:lstStyle/>
          <a:p>
            <a:endParaRPr lang="de-DE"/>
          </a:p>
        </p:txBody>
      </p:sp>
      <p:sp>
        <p:nvSpPr>
          <p:cNvPr id="21" name="Text 16"/>
          <p:cNvSpPr txBox="1"/>
          <p:nvPr/>
        </p:nvSpPr>
        <p:spPr>
          <a:xfrm>
            <a:off x="3419856" y="1005840"/>
            <a:ext cx="105156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P03, P04</a:t>
            </a:r>
            <a:endParaRPr lang="en-US" sz="1000" dirty="0"/>
          </a:p>
        </p:txBody>
      </p:sp>
      <p:sp>
        <p:nvSpPr>
          <p:cNvPr id="22" name="Shape 17"/>
          <p:cNvSpPr/>
          <p:nvPr/>
        </p:nvSpPr>
        <p:spPr>
          <a:xfrm>
            <a:off x="3236976" y="1645920"/>
            <a:ext cx="1298448" cy="1828800"/>
          </a:xfrm>
          <a:prstGeom prst="roundRect">
            <a:avLst>
              <a:gd name="adj" fmla="val 5634"/>
            </a:avLst>
          </a:prstGeom>
          <a:solidFill>
            <a:srgbClr val="EEF4F4"/>
          </a:solidFill>
          <a:ln w="12700">
            <a:solidFill>
              <a:srgbClr val="EEF4F4"/>
            </a:solidFill>
            <a:prstDash val="solid"/>
          </a:ln>
        </p:spPr>
        <p:txBody>
          <a:bodyPr/>
          <a:lstStyle/>
          <a:p>
            <a:endParaRPr lang="de-DE"/>
          </a:p>
        </p:txBody>
      </p:sp>
      <p:sp>
        <p:nvSpPr>
          <p:cNvPr id="23" name="Shape 18"/>
          <p:cNvSpPr/>
          <p:nvPr/>
        </p:nvSpPr>
        <p:spPr>
          <a:xfrm>
            <a:off x="3630168" y="1755648"/>
            <a:ext cx="502920" cy="502920"/>
          </a:xfrm>
          <a:prstGeom prst="ellipse">
            <a:avLst/>
          </a:prstGeom>
          <a:solidFill>
            <a:srgbClr val="0E5E5E"/>
          </a:solidFill>
          <a:ln w="12700">
            <a:solidFill>
              <a:srgbClr val="0E5E5E"/>
            </a:solidFill>
            <a:prstDash val="solid"/>
          </a:ln>
        </p:spPr>
        <p:txBody>
          <a:bodyPr/>
          <a:lstStyle/>
          <a:p>
            <a:endParaRPr lang="de-DE"/>
          </a:p>
        </p:txBody>
      </p:sp>
      <p:pic>
        <p:nvPicPr>
          <p:cNvPr id="24" name="Image 2" descr="preencoded.png"/>
          <p:cNvPicPr>
            <a:picLocks noChangeAspect="1"/>
          </p:cNvPicPr>
          <p:nvPr/>
        </p:nvPicPr>
        <p:blipFill>
          <a:blip r:embed="rId5"/>
          <a:stretch>
            <a:fillRect/>
          </a:stretch>
        </p:blipFill>
        <p:spPr>
          <a:xfrm>
            <a:off x="3755898" y="1881378"/>
            <a:ext cx="251460" cy="251460"/>
          </a:xfrm>
          <a:prstGeom prst="rect">
            <a:avLst/>
          </a:prstGeom>
        </p:spPr>
      </p:pic>
      <p:sp>
        <p:nvSpPr>
          <p:cNvPr id="25" name="Text 19"/>
          <p:cNvSpPr txBox="1"/>
          <p:nvPr/>
        </p:nvSpPr>
        <p:spPr>
          <a:xfrm>
            <a:off x="3282696" y="2331720"/>
            <a:ext cx="1207008" cy="365760"/>
          </a:xfrm>
          <a:prstGeom prst="rect">
            <a:avLst/>
          </a:prstGeom>
          <a:noFill/>
          <a:ln/>
        </p:spPr>
        <p:txBody>
          <a:bodyPr wrap="square" lIns="0" tIns="0" rIns="0" bIns="0" rtlCol="0" anchor="ctr"/>
          <a:lstStyle/>
          <a:p>
            <a:pPr marL="0" indent="0" algn="ctr">
              <a:buNone/>
            </a:pPr>
            <a:r>
              <a:rPr lang="en-US" sz="1100" b="1" dirty="0">
                <a:solidFill>
                  <a:srgbClr val="1B2430"/>
                </a:solidFill>
                <a:latin typeface="Calibri" pitchFamily="34" charset="0"/>
                <a:ea typeface="Calibri" pitchFamily="34" charset="-122"/>
                <a:cs typeface="Calibri" pitchFamily="34" charset="-120"/>
              </a:rPr>
              <a:t>Diagnose und KVA</a:t>
            </a:r>
            <a:endParaRPr lang="en-US" sz="1100" dirty="0"/>
          </a:p>
        </p:txBody>
      </p:sp>
      <p:sp>
        <p:nvSpPr>
          <p:cNvPr id="26" name="Text 20"/>
          <p:cNvSpPr txBox="1"/>
          <p:nvPr/>
        </p:nvSpPr>
        <p:spPr>
          <a:xfrm>
            <a:off x="3310128" y="2697480"/>
            <a:ext cx="1152144" cy="731520"/>
          </a:xfrm>
          <a:prstGeom prst="rect">
            <a:avLst/>
          </a:prstGeom>
          <a:noFill/>
          <a:ln/>
        </p:spPr>
        <p:txBody>
          <a:bodyPr wrap="square" lIns="0" tIns="0" rIns="0" bIns="0" rtlCol="0" anchor="ctr"/>
          <a:lstStyle/>
          <a:p>
            <a:pPr marL="0" indent="0" algn="ctr">
              <a:buNone/>
            </a:pPr>
            <a:r>
              <a:rPr lang="en-US" sz="950" dirty="0">
                <a:solidFill>
                  <a:srgbClr val="1B2430"/>
                </a:solidFill>
                <a:latin typeface="Calibri" pitchFamily="34" charset="0"/>
                <a:ea typeface="Calibri" pitchFamily="34" charset="-122"/>
                <a:cs typeface="Calibri" pitchFamily="34" charset="-120"/>
              </a:rPr>
              <a:t>Techniker prüft, Kunde gibt frei</a:t>
            </a:r>
            <a:endParaRPr lang="en-US" sz="950" dirty="0"/>
          </a:p>
        </p:txBody>
      </p:sp>
      <p:sp>
        <p:nvSpPr>
          <p:cNvPr id="27" name="Shape 21"/>
          <p:cNvSpPr/>
          <p:nvPr/>
        </p:nvSpPr>
        <p:spPr>
          <a:xfrm>
            <a:off x="4626864" y="1005840"/>
            <a:ext cx="1417320" cy="502920"/>
          </a:xfrm>
          <a:prstGeom prst="chevron">
            <a:avLst/>
          </a:prstGeom>
          <a:solidFill>
            <a:srgbClr val="147A7A"/>
          </a:solidFill>
          <a:ln w="12700">
            <a:solidFill>
              <a:srgbClr val="FFFFFF"/>
            </a:solidFill>
            <a:prstDash val="solid"/>
          </a:ln>
        </p:spPr>
        <p:txBody>
          <a:bodyPr/>
          <a:lstStyle/>
          <a:p>
            <a:endParaRPr lang="de-DE"/>
          </a:p>
        </p:txBody>
      </p:sp>
      <p:sp>
        <p:nvSpPr>
          <p:cNvPr id="28" name="Text 22"/>
          <p:cNvSpPr txBox="1"/>
          <p:nvPr/>
        </p:nvSpPr>
        <p:spPr>
          <a:xfrm>
            <a:off x="4809744" y="1005840"/>
            <a:ext cx="105156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P05, P06</a:t>
            </a:r>
            <a:endParaRPr lang="en-US" sz="1000" dirty="0"/>
          </a:p>
        </p:txBody>
      </p:sp>
      <p:sp>
        <p:nvSpPr>
          <p:cNvPr id="29" name="Shape 23"/>
          <p:cNvSpPr/>
          <p:nvPr/>
        </p:nvSpPr>
        <p:spPr>
          <a:xfrm>
            <a:off x="4626864" y="1645920"/>
            <a:ext cx="1298448" cy="1828800"/>
          </a:xfrm>
          <a:prstGeom prst="roundRect">
            <a:avLst>
              <a:gd name="adj" fmla="val 5634"/>
            </a:avLst>
          </a:prstGeom>
          <a:solidFill>
            <a:srgbClr val="EEF4F4"/>
          </a:solidFill>
          <a:ln w="12700">
            <a:solidFill>
              <a:srgbClr val="EEF4F4"/>
            </a:solidFill>
            <a:prstDash val="solid"/>
          </a:ln>
        </p:spPr>
        <p:txBody>
          <a:bodyPr/>
          <a:lstStyle/>
          <a:p>
            <a:endParaRPr lang="de-DE"/>
          </a:p>
        </p:txBody>
      </p:sp>
      <p:sp>
        <p:nvSpPr>
          <p:cNvPr id="30" name="Shape 24"/>
          <p:cNvSpPr/>
          <p:nvPr/>
        </p:nvSpPr>
        <p:spPr>
          <a:xfrm>
            <a:off x="5020056" y="1755648"/>
            <a:ext cx="502920" cy="502920"/>
          </a:xfrm>
          <a:prstGeom prst="ellipse">
            <a:avLst/>
          </a:prstGeom>
          <a:solidFill>
            <a:srgbClr val="0E5E5E"/>
          </a:solidFill>
          <a:ln w="12700">
            <a:solidFill>
              <a:srgbClr val="0E5E5E"/>
            </a:solidFill>
            <a:prstDash val="solid"/>
          </a:ln>
        </p:spPr>
        <p:txBody>
          <a:bodyPr/>
          <a:lstStyle/>
          <a:p>
            <a:endParaRPr lang="de-DE"/>
          </a:p>
        </p:txBody>
      </p:sp>
      <p:pic>
        <p:nvPicPr>
          <p:cNvPr id="31" name="Image 3" descr="preencoded.png"/>
          <p:cNvPicPr>
            <a:picLocks noChangeAspect="1"/>
          </p:cNvPicPr>
          <p:nvPr/>
        </p:nvPicPr>
        <p:blipFill>
          <a:blip r:embed="rId6"/>
          <a:stretch>
            <a:fillRect/>
          </a:stretch>
        </p:blipFill>
        <p:spPr>
          <a:xfrm>
            <a:off x="5145786" y="1881378"/>
            <a:ext cx="251460" cy="251460"/>
          </a:xfrm>
          <a:prstGeom prst="rect">
            <a:avLst/>
          </a:prstGeom>
        </p:spPr>
      </p:pic>
      <p:sp>
        <p:nvSpPr>
          <p:cNvPr id="32" name="Text 25"/>
          <p:cNvSpPr txBox="1"/>
          <p:nvPr/>
        </p:nvSpPr>
        <p:spPr>
          <a:xfrm>
            <a:off x="4672584" y="2331720"/>
            <a:ext cx="1207008" cy="365760"/>
          </a:xfrm>
          <a:prstGeom prst="rect">
            <a:avLst/>
          </a:prstGeom>
          <a:noFill/>
          <a:ln/>
        </p:spPr>
        <p:txBody>
          <a:bodyPr wrap="square" lIns="0" tIns="0" rIns="0" bIns="0" rtlCol="0" anchor="ctr"/>
          <a:lstStyle/>
          <a:p>
            <a:pPr marL="0" indent="0" algn="ctr">
              <a:buNone/>
            </a:pPr>
            <a:r>
              <a:rPr lang="en-US" sz="1100" b="1" dirty="0">
                <a:solidFill>
                  <a:srgbClr val="1B2430"/>
                </a:solidFill>
                <a:latin typeface="Calibri" pitchFamily="34" charset="0"/>
                <a:ea typeface="Calibri" pitchFamily="34" charset="-122"/>
                <a:cs typeface="Calibri" pitchFamily="34" charset="-120"/>
              </a:rPr>
              <a:t>Teile disponieren</a:t>
            </a:r>
            <a:endParaRPr lang="en-US" sz="1100" dirty="0"/>
          </a:p>
        </p:txBody>
      </p:sp>
      <p:sp>
        <p:nvSpPr>
          <p:cNvPr id="33" name="Text 26"/>
          <p:cNvSpPr txBox="1"/>
          <p:nvPr/>
        </p:nvSpPr>
        <p:spPr>
          <a:xfrm>
            <a:off x="4700016" y="2697480"/>
            <a:ext cx="1152144" cy="731520"/>
          </a:xfrm>
          <a:prstGeom prst="rect">
            <a:avLst/>
          </a:prstGeom>
          <a:noFill/>
          <a:ln/>
        </p:spPr>
        <p:txBody>
          <a:bodyPr wrap="square" lIns="0" tIns="0" rIns="0" bIns="0" rtlCol="0" anchor="ctr"/>
          <a:lstStyle/>
          <a:p>
            <a:pPr marL="0" indent="0" algn="ctr">
              <a:buNone/>
            </a:pPr>
            <a:r>
              <a:rPr lang="en-US" sz="950" dirty="0">
                <a:solidFill>
                  <a:srgbClr val="1B2430"/>
                </a:solidFill>
                <a:latin typeface="Calibri" pitchFamily="34" charset="0"/>
                <a:ea typeface="Calibri" pitchFamily="34" charset="-122"/>
                <a:cs typeface="Calibri" pitchFamily="34" charset="-120"/>
              </a:rPr>
              <a:t>alle Filialen, Fehlteile bestellen</a:t>
            </a:r>
            <a:endParaRPr lang="en-US" sz="950" dirty="0"/>
          </a:p>
        </p:txBody>
      </p:sp>
      <p:sp>
        <p:nvSpPr>
          <p:cNvPr id="34" name="Shape 27"/>
          <p:cNvSpPr/>
          <p:nvPr/>
        </p:nvSpPr>
        <p:spPr>
          <a:xfrm>
            <a:off x="6016752" y="1005840"/>
            <a:ext cx="1417320" cy="502920"/>
          </a:xfrm>
          <a:prstGeom prst="chevron">
            <a:avLst/>
          </a:prstGeom>
          <a:solidFill>
            <a:srgbClr val="0E5E5E"/>
          </a:solidFill>
          <a:ln w="12700">
            <a:solidFill>
              <a:srgbClr val="FFFFFF"/>
            </a:solidFill>
            <a:prstDash val="solid"/>
          </a:ln>
        </p:spPr>
        <p:txBody>
          <a:bodyPr/>
          <a:lstStyle/>
          <a:p>
            <a:endParaRPr lang="de-DE"/>
          </a:p>
        </p:txBody>
      </p:sp>
      <p:sp>
        <p:nvSpPr>
          <p:cNvPr id="35" name="Text 28"/>
          <p:cNvSpPr txBox="1"/>
          <p:nvPr/>
        </p:nvSpPr>
        <p:spPr>
          <a:xfrm>
            <a:off x="6199632" y="1005840"/>
            <a:ext cx="105156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P07</a:t>
            </a:r>
            <a:endParaRPr lang="en-US" sz="1000" dirty="0"/>
          </a:p>
        </p:txBody>
      </p:sp>
      <p:sp>
        <p:nvSpPr>
          <p:cNvPr id="36" name="Shape 29"/>
          <p:cNvSpPr/>
          <p:nvPr/>
        </p:nvSpPr>
        <p:spPr>
          <a:xfrm>
            <a:off x="6016752" y="1645920"/>
            <a:ext cx="1298448" cy="1828800"/>
          </a:xfrm>
          <a:prstGeom prst="roundRect">
            <a:avLst>
              <a:gd name="adj" fmla="val 5634"/>
            </a:avLst>
          </a:prstGeom>
          <a:solidFill>
            <a:srgbClr val="EEF4F4"/>
          </a:solidFill>
          <a:ln w="12700">
            <a:solidFill>
              <a:srgbClr val="EEF4F4"/>
            </a:solidFill>
            <a:prstDash val="solid"/>
          </a:ln>
        </p:spPr>
        <p:txBody>
          <a:bodyPr/>
          <a:lstStyle/>
          <a:p>
            <a:endParaRPr lang="de-DE"/>
          </a:p>
        </p:txBody>
      </p:sp>
      <p:sp>
        <p:nvSpPr>
          <p:cNvPr id="37" name="Shape 30"/>
          <p:cNvSpPr/>
          <p:nvPr/>
        </p:nvSpPr>
        <p:spPr>
          <a:xfrm>
            <a:off x="6409944" y="1755648"/>
            <a:ext cx="502920" cy="502920"/>
          </a:xfrm>
          <a:prstGeom prst="ellipse">
            <a:avLst/>
          </a:prstGeom>
          <a:solidFill>
            <a:srgbClr val="0E5E5E"/>
          </a:solidFill>
          <a:ln w="12700">
            <a:solidFill>
              <a:srgbClr val="0E5E5E"/>
            </a:solidFill>
            <a:prstDash val="solid"/>
          </a:ln>
        </p:spPr>
        <p:txBody>
          <a:bodyPr/>
          <a:lstStyle/>
          <a:p>
            <a:endParaRPr lang="de-DE"/>
          </a:p>
        </p:txBody>
      </p:sp>
      <p:pic>
        <p:nvPicPr>
          <p:cNvPr id="38" name="Image 4" descr="preencoded.png"/>
          <p:cNvPicPr>
            <a:picLocks noChangeAspect="1"/>
          </p:cNvPicPr>
          <p:nvPr/>
        </p:nvPicPr>
        <p:blipFill>
          <a:blip r:embed="rId7"/>
          <a:stretch>
            <a:fillRect/>
          </a:stretch>
        </p:blipFill>
        <p:spPr>
          <a:xfrm>
            <a:off x="6535674" y="1881378"/>
            <a:ext cx="251460" cy="251460"/>
          </a:xfrm>
          <a:prstGeom prst="rect">
            <a:avLst/>
          </a:prstGeom>
        </p:spPr>
      </p:pic>
      <p:sp>
        <p:nvSpPr>
          <p:cNvPr id="39" name="Text 31"/>
          <p:cNvSpPr txBox="1"/>
          <p:nvPr/>
        </p:nvSpPr>
        <p:spPr>
          <a:xfrm>
            <a:off x="6062472" y="2331720"/>
            <a:ext cx="1207008" cy="365760"/>
          </a:xfrm>
          <a:prstGeom prst="rect">
            <a:avLst/>
          </a:prstGeom>
          <a:noFill/>
          <a:ln/>
        </p:spPr>
        <p:txBody>
          <a:bodyPr wrap="square" lIns="0" tIns="0" rIns="0" bIns="0" rtlCol="0" anchor="ctr"/>
          <a:lstStyle/>
          <a:p>
            <a:pPr marL="0" indent="0" algn="ctr">
              <a:buNone/>
            </a:pPr>
            <a:r>
              <a:rPr lang="en-US" sz="1100" b="1" dirty="0">
                <a:solidFill>
                  <a:srgbClr val="1B2430"/>
                </a:solidFill>
                <a:latin typeface="Calibri" pitchFamily="34" charset="0"/>
                <a:ea typeface="Calibri" pitchFamily="34" charset="-122"/>
                <a:cs typeface="Calibri" pitchFamily="34" charset="-120"/>
              </a:rPr>
              <a:t>Reparatur</a:t>
            </a:r>
            <a:endParaRPr lang="en-US" sz="1100" dirty="0"/>
          </a:p>
        </p:txBody>
      </p:sp>
      <p:sp>
        <p:nvSpPr>
          <p:cNvPr id="40" name="Text 32"/>
          <p:cNvSpPr txBox="1"/>
          <p:nvPr/>
        </p:nvSpPr>
        <p:spPr>
          <a:xfrm>
            <a:off x="6089904" y="2697480"/>
            <a:ext cx="1152144" cy="731520"/>
          </a:xfrm>
          <a:prstGeom prst="rect">
            <a:avLst/>
          </a:prstGeom>
          <a:noFill/>
          <a:ln/>
        </p:spPr>
        <p:txBody>
          <a:bodyPr wrap="square" lIns="0" tIns="0" rIns="0" bIns="0" rtlCol="0" anchor="ctr"/>
          <a:lstStyle/>
          <a:p>
            <a:pPr marL="0" indent="0" algn="ctr">
              <a:buNone/>
            </a:pPr>
            <a:r>
              <a:rPr lang="en-US" sz="950" dirty="0">
                <a:solidFill>
                  <a:srgbClr val="1B2430"/>
                </a:solidFill>
                <a:latin typeface="Calibri" pitchFamily="34" charset="0"/>
                <a:ea typeface="Calibri" pitchFamily="34" charset="-122"/>
                <a:cs typeface="Calibri" pitchFamily="34" charset="-120"/>
              </a:rPr>
              <a:t>Schritte, Arbeitszeit, Endkontrolle</a:t>
            </a:r>
            <a:endParaRPr lang="en-US" sz="950" dirty="0"/>
          </a:p>
        </p:txBody>
      </p:sp>
      <p:sp>
        <p:nvSpPr>
          <p:cNvPr id="41" name="Shape 33"/>
          <p:cNvSpPr/>
          <p:nvPr/>
        </p:nvSpPr>
        <p:spPr>
          <a:xfrm>
            <a:off x="7406640" y="1005840"/>
            <a:ext cx="1417320" cy="502920"/>
          </a:xfrm>
          <a:prstGeom prst="chevron">
            <a:avLst/>
          </a:prstGeom>
          <a:solidFill>
            <a:srgbClr val="147A7A"/>
          </a:solidFill>
          <a:ln w="12700">
            <a:solidFill>
              <a:srgbClr val="FFFFFF"/>
            </a:solidFill>
            <a:prstDash val="solid"/>
          </a:ln>
        </p:spPr>
        <p:txBody>
          <a:bodyPr/>
          <a:lstStyle/>
          <a:p>
            <a:endParaRPr lang="de-DE"/>
          </a:p>
        </p:txBody>
      </p:sp>
      <p:sp>
        <p:nvSpPr>
          <p:cNvPr id="42" name="Text 34"/>
          <p:cNvSpPr txBox="1"/>
          <p:nvPr/>
        </p:nvSpPr>
        <p:spPr>
          <a:xfrm>
            <a:off x="7589520" y="1005840"/>
            <a:ext cx="105156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P08</a:t>
            </a:r>
            <a:endParaRPr lang="en-US" sz="1000" dirty="0"/>
          </a:p>
        </p:txBody>
      </p:sp>
      <p:sp>
        <p:nvSpPr>
          <p:cNvPr id="43" name="Shape 35"/>
          <p:cNvSpPr/>
          <p:nvPr/>
        </p:nvSpPr>
        <p:spPr>
          <a:xfrm>
            <a:off x="7406640" y="1645920"/>
            <a:ext cx="1298448" cy="1828800"/>
          </a:xfrm>
          <a:prstGeom prst="roundRect">
            <a:avLst>
              <a:gd name="adj" fmla="val 5634"/>
            </a:avLst>
          </a:prstGeom>
          <a:solidFill>
            <a:srgbClr val="EEF4F4"/>
          </a:solidFill>
          <a:ln w="12700">
            <a:solidFill>
              <a:srgbClr val="EEF4F4"/>
            </a:solidFill>
            <a:prstDash val="solid"/>
          </a:ln>
        </p:spPr>
        <p:txBody>
          <a:bodyPr/>
          <a:lstStyle/>
          <a:p>
            <a:endParaRPr lang="de-DE"/>
          </a:p>
        </p:txBody>
      </p:sp>
      <p:sp>
        <p:nvSpPr>
          <p:cNvPr id="44" name="Shape 36"/>
          <p:cNvSpPr/>
          <p:nvPr/>
        </p:nvSpPr>
        <p:spPr>
          <a:xfrm>
            <a:off x="7799832" y="1755648"/>
            <a:ext cx="502920" cy="502920"/>
          </a:xfrm>
          <a:prstGeom prst="ellipse">
            <a:avLst/>
          </a:prstGeom>
          <a:solidFill>
            <a:srgbClr val="0E5E5E"/>
          </a:solidFill>
          <a:ln w="12700">
            <a:solidFill>
              <a:srgbClr val="0E5E5E"/>
            </a:solidFill>
            <a:prstDash val="solid"/>
          </a:ln>
        </p:spPr>
        <p:txBody>
          <a:bodyPr/>
          <a:lstStyle/>
          <a:p>
            <a:endParaRPr lang="de-DE"/>
          </a:p>
        </p:txBody>
      </p:sp>
      <p:pic>
        <p:nvPicPr>
          <p:cNvPr id="45" name="Image 5" descr="preencoded.png"/>
          <p:cNvPicPr>
            <a:picLocks noChangeAspect="1"/>
          </p:cNvPicPr>
          <p:nvPr/>
        </p:nvPicPr>
        <p:blipFill>
          <a:blip r:embed="rId8"/>
          <a:stretch>
            <a:fillRect/>
          </a:stretch>
        </p:blipFill>
        <p:spPr>
          <a:xfrm>
            <a:off x="7925562" y="1881378"/>
            <a:ext cx="251460" cy="251460"/>
          </a:xfrm>
          <a:prstGeom prst="rect">
            <a:avLst/>
          </a:prstGeom>
        </p:spPr>
      </p:pic>
      <p:sp>
        <p:nvSpPr>
          <p:cNvPr id="46" name="Text 37"/>
          <p:cNvSpPr txBox="1"/>
          <p:nvPr/>
        </p:nvSpPr>
        <p:spPr>
          <a:xfrm>
            <a:off x="7452360" y="2331720"/>
            <a:ext cx="1207008" cy="365760"/>
          </a:xfrm>
          <a:prstGeom prst="rect">
            <a:avLst/>
          </a:prstGeom>
          <a:noFill/>
          <a:ln/>
        </p:spPr>
        <p:txBody>
          <a:bodyPr wrap="square" lIns="0" tIns="0" rIns="0" bIns="0" rtlCol="0" anchor="ctr"/>
          <a:lstStyle/>
          <a:p>
            <a:pPr marL="0" indent="0" algn="ctr">
              <a:buNone/>
            </a:pPr>
            <a:r>
              <a:rPr lang="en-US" sz="1100" b="1" dirty="0">
                <a:solidFill>
                  <a:srgbClr val="1B2430"/>
                </a:solidFill>
                <a:latin typeface="Calibri" pitchFamily="34" charset="0"/>
                <a:ea typeface="Calibri" pitchFamily="34" charset="-122"/>
                <a:cs typeface="Calibri" pitchFamily="34" charset="-120"/>
              </a:rPr>
              <a:t>Abholung</a:t>
            </a:r>
            <a:endParaRPr lang="en-US" sz="1100" dirty="0"/>
          </a:p>
        </p:txBody>
      </p:sp>
      <p:sp>
        <p:nvSpPr>
          <p:cNvPr id="47" name="Text 38"/>
          <p:cNvSpPr txBox="1"/>
          <p:nvPr/>
        </p:nvSpPr>
        <p:spPr>
          <a:xfrm>
            <a:off x="7479792" y="2697480"/>
            <a:ext cx="1152144" cy="731520"/>
          </a:xfrm>
          <a:prstGeom prst="rect">
            <a:avLst/>
          </a:prstGeom>
          <a:noFill/>
          <a:ln/>
        </p:spPr>
        <p:txBody>
          <a:bodyPr wrap="square" lIns="0" tIns="0" rIns="0" bIns="0" rtlCol="0" anchor="ctr"/>
          <a:lstStyle/>
          <a:p>
            <a:pPr marL="0" indent="0" algn="ctr">
              <a:buNone/>
            </a:pPr>
            <a:r>
              <a:rPr lang="en-US" sz="950" dirty="0">
                <a:solidFill>
                  <a:srgbClr val="1B2430"/>
                </a:solidFill>
                <a:latin typeface="Calibri" pitchFamily="34" charset="0"/>
                <a:ea typeface="Calibri" pitchFamily="34" charset="-122"/>
                <a:cs typeface="Calibri" pitchFamily="34" charset="-120"/>
              </a:rPr>
              <a:t>Benachrichtigung, Rechnung, Zahlung</a:t>
            </a:r>
            <a:endParaRPr lang="en-US" sz="950" dirty="0"/>
          </a:p>
        </p:txBody>
      </p:sp>
      <p:sp>
        <p:nvSpPr>
          <p:cNvPr id="48" name="Text 39"/>
          <p:cNvSpPr txBox="1"/>
          <p:nvPr/>
        </p:nvSpPr>
        <p:spPr>
          <a:xfrm>
            <a:off x="457200" y="3611880"/>
            <a:ext cx="2743200" cy="274320"/>
          </a:xfrm>
          <a:prstGeom prst="rect">
            <a:avLst/>
          </a:prstGeom>
          <a:noFill/>
          <a:ln/>
        </p:spPr>
        <p:txBody>
          <a:bodyPr wrap="square" lIns="0" tIns="0" rIns="0" bIns="0" rtlCol="0" anchor="ctr"/>
          <a:lstStyle/>
          <a:p>
            <a:pPr marL="0" indent="0">
              <a:buNone/>
            </a:pPr>
            <a:r>
              <a:rPr lang="en-US" sz="1100" b="1" dirty="0">
                <a:solidFill>
                  <a:srgbClr val="0E5E5E"/>
                </a:solidFill>
                <a:latin typeface="Calibri" pitchFamily="34" charset="0"/>
                <a:ea typeface="Calibri" pitchFamily="34" charset="-122"/>
                <a:cs typeface="Calibri" pitchFamily="34" charset="-120"/>
              </a:rPr>
              <a:t>Status des Reparaturauftrags:</a:t>
            </a:r>
            <a:endParaRPr lang="en-US" sz="1100" dirty="0"/>
          </a:p>
        </p:txBody>
      </p:sp>
      <p:sp>
        <p:nvSpPr>
          <p:cNvPr id="49" name="Shape 40"/>
          <p:cNvSpPr/>
          <p:nvPr/>
        </p:nvSpPr>
        <p:spPr>
          <a:xfrm>
            <a:off x="457200"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50" name="Text 41"/>
          <p:cNvSpPr txBox="1"/>
          <p:nvPr/>
        </p:nvSpPr>
        <p:spPr>
          <a:xfrm>
            <a:off x="457200"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angenommen</a:t>
            </a:r>
            <a:endParaRPr lang="en-US" sz="900" dirty="0"/>
          </a:p>
        </p:txBody>
      </p:sp>
      <p:sp>
        <p:nvSpPr>
          <p:cNvPr id="51" name="Shape 42"/>
          <p:cNvSpPr/>
          <p:nvPr/>
        </p:nvSpPr>
        <p:spPr>
          <a:xfrm>
            <a:off x="1490472"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52" name="Text 43"/>
          <p:cNvSpPr txBox="1"/>
          <p:nvPr/>
        </p:nvSpPr>
        <p:spPr>
          <a:xfrm>
            <a:off x="1490472"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in Diagnose</a:t>
            </a:r>
            <a:endParaRPr lang="en-US" sz="900" dirty="0"/>
          </a:p>
        </p:txBody>
      </p:sp>
      <p:sp>
        <p:nvSpPr>
          <p:cNvPr id="53" name="Shape 44"/>
          <p:cNvSpPr/>
          <p:nvPr/>
        </p:nvSpPr>
        <p:spPr>
          <a:xfrm>
            <a:off x="2523744"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54" name="Text 45"/>
          <p:cNvSpPr txBox="1"/>
          <p:nvPr/>
        </p:nvSpPr>
        <p:spPr>
          <a:xfrm>
            <a:off x="2523744"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KVA offen</a:t>
            </a:r>
            <a:endParaRPr lang="en-US" sz="900" dirty="0"/>
          </a:p>
        </p:txBody>
      </p:sp>
      <p:sp>
        <p:nvSpPr>
          <p:cNvPr id="55" name="Shape 46"/>
          <p:cNvSpPr/>
          <p:nvPr/>
        </p:nvSpPr>
        <p:spPr>
          <a:xfrm>
            <a:off x="3557016"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56" name="Text 47"/>
          <p:cNvSpPr txBox="1"/>
          <p:nvPr/>
        </p:nvSpPr>
        <p:spPr>
          <a:xfrm>
            <a:off x="3557016"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freigegeben</a:t>
            </a:r>
            <a:endParaRPr lang="en-US" sz="900" dirty="0"/>
          </a:p>
        </p:txBody>
      </p:sp>
      <p:sp>
        <p:nvSpPr>
          <p:cNvPr id="57" name="Shape 48"/>
          <p:cNvSpPr/>
          <p:nvPr/>
        </p:nvSpPr>
        <p:spPr>
          <a:xfrm>
            <a:off x="4590288"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58" name="Text 49"/>
          <p:cNvSpPr txBox="1"/>
          <p:nvPr/>
        </p:nvSpPr>
        <p:spPr>
          <a:xfrm>
            <a:off x="4590288"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Teile bestellt</a:t>
            </a:r>
            <a:endParaRPr lang="en-US" sz="900" dirty="0"/>
          </a:p>
        </p:txBody>
      </p:sp>
      <p:sp>
        <p:nvSpPr>
          <p:cNvPr id="59" name="Shape 50"/>
          <p:cNvSpPr/>
          <p:nvPr/>
        </p:nvSpPr>
        <p:spPr>
          <a:xfrm>
            <a:off x="5623560"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60" name="Text 51"/>
          <p:cNvSpPr txBox="1"/>
          <p:nvPr/>
        </p:nvSpPr>
        <p:spPr>
          <a:xfrm>
            <a:off x="5623560"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in Reparatur</a:t>
            </a:r>
            <a:endParaRPr lang="en-US" sz="900" dirty="0"/>
          </a:p>
        </p:txBody>
      </p:sp>
      <p:sp>
        <p:nvSpPr>
          <p:cNvPr id="61" name="Shape 52"/>
          <p:cNvSpPr/>
          <p:nvPr/>
        </p:nvSpPr>
        <p:spPr>
          <a:xfrm>
            <a:off x="6656832"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62" name="Text 53"/>
          <p:cNvSpPr txBox="1"/>
          <p:nvPr/>
        </p:nvSpPr>
        <p:spPr>
          <a:xfrm>
            <a:off x="6656832"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fertig</a:t>
            </a:r>
            <a:endParaRPr lang="en-US" sz="900" dirty="0"/>
          </a:p>
        </p:txBody>
      </p:sp>
      <p:sp>
        <p:nvSpPr>
          <p:cNvPr id="63" name="Shape 54"/>
          <p:cNvSpPr/>
          <p:nvPr/>
        </p:nvSpPr>
        <p:spPr>
          <a:xfrm>
            <a:off x="7690104"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64" name="Text 55"/>
          <p:cNvSpPr txBox="1"/>
          <p:nvPr/>
        </p:nvSpPr>
        <p:spPr>
          <a:xfrm>
            <a:off x="7690104"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abgeholt</a:t>
            </a:r>
            <a:endParaRPr lang="en-US" sz="900" dirty="0"/>
          </a:p>
        </p:txBody>
      </p:sp>
      <p:sp>
        <p:nvSpPr>
          <p:cNvPr id="65" name="Text 56"/>
          <p:cNvSpPr txBox="1"/>
          <p:nvPr/>
        </p:nvSpPr>
        <p:spPr>
          <a:xfrm>
            <a:off x="457200" y="4343400"/>
            <a:ext cx="8229600" cy="274320"/>
          </a:xfrm>
          <a:prstGeom prst="rect">
            <a:avLst/>
          </a:prstGeom>
          <a:noFill/>
          <a:ln/>
        </p:spPr>
        <p:txBody>
          <a:bodyPr wrap="square" lIns="0" tIns="0" rIns="0" bIns="0" rtlCol="0" anchor="ctr"/>
          <a:lstStyle/>
          <a:p>
            <a:pPr marL="0" indent="0">
              <a:buNone/>
            </a:pPr>
            <a:r>
              <a:rPr lang="en-US" sz="1000" i="1" dirty="0">
                <a:solidFill>
                  <a:srgbClr val="5F6B7A"/>
                </a:solidFill>
                <a:latin typeface="Calibri" pitchFamily="34" charset="0"/>
                <a:ea typeface="Calibri" pitchFamily="34" charset="-122"/>
                <a:cs typeface="Calibri" pitchFamily="34" charset="-120"/>
              </a:rPr>
              <a:t>Reklamation (P09) und Retoure (P10) sind Folgeprozesse; im Gewährleistungsfall startet ein kostenfreier Nacharbeitsauftrag.</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KI-Sofortdiagnose: KVA in 60 Sekunden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7</a:t>
            </a:r>
            <a:endParaRPr lang="en-US" sz="900" dirty="0"/>
          </a:p>
        </p:txBody>
      </p:sp>
      <p:sp>
        <p:nvSpPr>
          <p:cNvPr id="6" name="Shape 3"/>
          <p:cNvSpPr/>
          <p:nvPr/>
        </p:nvSpPr>
        <p:spPr>
          <a:xfrm>
            <a:off x="457200"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960120"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1097280" y="1325880"/>
            <a:ext cx="274320" cy="274320"/>
          </a:xfrm>
          <a:prstGeom prst="rect">
            <a:avLst/>
          </a:prstGeom>
        </p:spPr>
      </p:pic>
      <p:sp>
        <p:nvSpPr>
          <p:cNvPr id="9" name="Text 5"/>
          <p:cNvSpPr txBox="1"/>
          <p:nvPr/>
        </p:nvSpPr>
        <p:spPr>
          <a:xfrm>
            <a:off x="457200"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Aufnehmen</a:t>
            </a:r>
            <a:endParaRPr lang="en-US" sz="1300" dirty="0"/>
          </a:p>
        </p:txBody>
      </p:sp>
      <p:sp>
        <p:nvSpPr>
          <p:cNvPr id="10" name="Text 6"/>
          <p:cNvSpPr txBox="1"/>
          <p:nvPr/>
        </p:nvSpPr>
        <p:spPr>
          <a:xfrm>
            <a:off x="548640"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Kunde lädt Foto, Video oder Ton in der App hoch</a:t>
            </a:r>
            <a:endParaRPr lang="en-US" sz="1000" dirty="0"/>
          </a:p>
        </p:txBody>
      </p:sp>
      <p:sp>
        <p:nvSpPr>
          <p:cNvPr id="11" name="Shape 7"/>
          <p:cNvSpPr/>
          <p:nvPr/>
        </p:nvSpPr>
        <p:spPr>
          <a:xfrm>
            <a:off x="2139696" y="1051560"/>
            <a:ext cx="1554480" cy="1920240"/>
          </a:xfrm>
          <a:prstGeom prst="roundRect">
            <a:avLst>
              <a:gd name="adj" fmla="val 4706"/>
            </a:avLst>
          </a:prstGeom>
          <a:solidFill>
            <a:srgbClr val="FFF4D6"/>
          </a:solidFill>
          <a:ln w="12700">
            <a:solidFill>
              <a:srgbClr val="FFF4D6"/>
            </a:solidFill>
            <a:prstDash val="solid"/>
          </a:ln>
        </p:spPr>
        <p:txBody>
          <a:bodyPr/>
          <a:lstStyle/>
          <a:p>
            <a:endParaRPr lang="de-DE"/>
          </a:p>
        </p:txBody>
      </p:sp>
      <p:sp>
        <p:nvSpPr>
          <p:cNvPr id="12" name="Shape 8"/>
          <p:cNvSpPr/>
          <p:nvPr/>
        </p:nvSpPr>
        <p:spPr>
          <a:xfrm>
            <a:off x="2642616" y="1188720"/>
            <a:ext cx="548640" cy="548640"/>
          </a:xfrm>
          <a:prstGeom prst="ellipse">
            <a:avLst/>
          </a:prstGeom>
          <a:solidFill>
            <a:srgbClr val="F2A900"/>
          </a:solidFill>
          <a:ln w="12700">
            <a:solidFill>
              <a:srgbClr val="F2A900"/>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2779776" y="1325880"/>
            <a:ext cx="274320" cy="274320"/>
          </a:xfrm>
          <a:prstGeom prst="rect">
            <a:avLst/>
          </a:prstGeom>
        </p:spPr>
      </p:pic>
      <p:sp>
        <p:nvSpPr>
          <p:cNvPr id="14" name="Text 9"/>
          <p:cNvSpPr txBox="1"/>
          <p:nvPr/>
        </p:nvSpPr>
        <p:spPr>
          <a:xfrm>
            <a:off x="2139696"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Erkennen</a:t>
            </a:r>
            <a:endParaRPr lang="en-US" sz="1300" dirty="0"/>
          </a:p>
        </p:txBody>
      </p:sp>
      <p:sp>
        <p:nvSpPr>
          <p:cNvPr id="15" name="Text 10"/>
          <p:cNvSpPr txBox="1"/>
          <p:nvPr/>
        </p:nvSpPr>
        <p:spPr>
          <a:xfrm>
            <a:off x="2231136"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KI-Dienst nennt Gerätetyp, Ursache und Ersatzteile</a:t>
            </a:r>
            <a:endParaRPr lang="en-US" sz="1000" dirty="0"/>
          </a:p>
        </p:txBody>
      </p:sp>
      <p:sp>
        <p:nvSpPr>
          <p:cNvPr id="16" name="Shape 11"/>
          <p:cNvSpPr/>
          <p:nvPr/>
        </p:nvSpPr>
        <p:spPr>
          <a:xfrm>
            <a:off x="3822192"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4325112"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4462272" y="1325880"/>
            <a:ext cx="274320" cy="274320"/>
          </a:xfrm>
          <a:prstGeom prst="rect">
            <a:avLst/>
          </a:prstGeom>
        </p:spPr>
      </p:pic>
      <p:sp>
        <p:nvSpPr>
          <p:cNvPr id="19" name="Text 13"/>
          <p:cNvSpPr txBox="1"/>
          <p:nvPr/>
        </p:nvSpPr>
        <p:spPr>
          <a:xfrm>
            <a:off x="3822192"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Kalkulieren</a:t>
            </a:r>
            <a:endParaRPr lang="en-US" sz="1300" dirty="0"/>
          </a:p>
        </p:txBody>
      </p:sp>
      <p:sp>
        <p:nvSpPr>
          <p:cNvPr id="20" name="Text 14"/>
          <p:cNvSpPr txBox="1"/>
          <p:nvPr/>
        </p:nvSpPr>
        <p:spPr>
          <a:xfrm>
            <a:off x="3913632"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RepairFlow berechnet einen vorläufigen KVA</a:t>
            </a:r>
            <a:endParaRPr lang="en-US" sz="1000" dirty="0"/>
          </a:p>
        </p:txBody>
      </p:sp>
      <p:sp>
        <p:nvSpPr>
          <p:cNvPr id="21" name="Shape 15"/>
          <p:cNvSpPr/>
          <p:nvPr/>
        </p:nvSpPr>
        <p:spPr>
          <a:xfrm>
            <a:off x="5504688"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22" name="Shape 16"/>
          <p:cNvSpPr/>
          <p:nvPr/>
        </p:nvSpPr>
        <p:spPr>
          <a:xfrm>
            <a:off x="6007608"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6144768" y="1325880"/>
            <a:ext cx="274320" cy="274320"/>
          </a:xfrm>
          <a:prstGeom prst="rect">
            <a:avLst/>
          </a:prstGeom>
        </p:spPr>
      </p:pic>
      <p:sp>
        <p:nvSpPr>
          <p:cNvPr id="24" name="Text 17"/>
          <p:cNvSpPr txBox="1"/>
          <p:nvPr/>
        </p:nvSpPr>
        <p:spPr>
          <a:xfrm>
            <a:off x="5504688"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Reservieren</a:t>
            </a:r>
            <a:endParaRPr lang="en-US" sz="1300" dirty="0"/>
          </a:p>
        </p:txBody>
      </p:sp>
      <p:sp>
        <p:nvSpPr>
          <p:cNvPr id="25" name="Text 18"/>
          <p:cNvSpPr txBox="1"/>
          <p:nvPr/>
        </p:nvSpPr>
        <p:spPr>
          <a:xfrm>
            <a:off x="5596128"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Verfügbarkeit in allen Filialen, Teile vorreserviert</a:t>
            </a:r>
            <a:endParaRPr lang="en-US" sz="1000" dirty="0"/>
          </a:p>
        </p:txBody>
      </p:sp>
      <p:sp>
        <p:nvSpPr>
          <p:cNvPr id="26" name="Shape 19"/>
          <p:cNvSpPr/>
          <p:nvPr/>
        </p:nvSpPr>
        <p:spPr>
          <a:xfrm>
            <a:off x="7187184"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27" name="Shape 20"/>
          <p:cNvSpPr/>
          <p:nvPr/>
        </p:nvSpPr>
        <p:spPr>
          <a:xfrm>
            <a:off x="7690104"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28" name="Image 4" descr="preencoded.png"/>
          <p:cNvPicPr>
            <a:picLocks noChangeAspect="1"/>
          </p:cNvPicPr>
          <p:nvPr/>
        </p:nvPicPr>
        <p:blipFill>
          <a:blip r:embed="rId7"/>
          <a:stretch>
            <a:fillRect/>
          </a:stretch>
        </p:blipFill>
        <p:spPr>
          <a:xfrm>
            <a:off x="7827264" y="1325880"/>
            <a:ext cx="274320" cy="274320"/>
          </a:xfrm>
          <a:prstGeom prst="rect">
            <a:avLst/>
          </a:prstGeom>
        </p:spPr>
      </p:pic>
      <p:sp>
        <p:nvSpPr>
          <p:cNvPr id="29" name="Text 21"/>
          <p:cNvSpPr txBox="1"/>
          <p:nvPr/>
        </p:nvSpPr>
        <p:spPr>
          <a:xfrm>
            <a:off x="7187184"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Termin</a:t>
            </a:r>
            <a:endParaRPr lang="en-US" sz="1300" dirty="0"/>
          </a:p>
        </p:txBody>
      </p:sp>
      <p:sp>
        <p:nvSpPr>
          <p:cNvPr id="30" name="Text 22"/>
          <p:cNvSpPr txBox="1"/>
          <p:nvPr/>
        </p:nvSpPr>
        <p:spPr>
          <a:xfrm>
            <a:off x="7278624"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Filiale und Termin vorgeschlagen, Kunde bestätigt</a:t>
            </a:r>
            <a:endParaRPr lang="en-US" sz="1000" dirty="0"/>
          </a:p>
        </p:txBody>
      </p:sp>
      <p:sp>
        <p:nvSpPr>
          <p:cNvPr id="31" name="Text 23"/>
          <p:cNvSpPr txBox="1"/>
          <p:nvPr/>
        </p:nvSpPr>
        <p:spPr>
          <a:xfrm>
            <a:off x="457200" y="3200400"/>
            <a:ext cx="3931920" cy="274320"/>
          </a:xfrm>
          <a:prstGeom prst="rect">
            <a:avLst/>
          </a:prstGeom>
          <a:noFill/>
          <a:ln/>
        </p:spPr>
        <p:txBody>
          <a:bodyPr wrap="square" lIns="0" tIns="0" rIns="0" bIns="0" rtlCol="0" anchor="ctr"/>
          <a:lstStyle/>
          <a:p>
            <a:pPr marL="0" indent="0">
              <a:buNone/>
            </a:pPr>
            <a:r>
              <a:rPr lang="en-US" sz="1300" b="1" dirty="0">
                <a:solidFill>
                  <a:srgbClr val="0E5E5E"/>
                </a:solidFill>
                <a:latin typeface="Calibri" pitchFamily="34" charset="0"/>
                <a:ea typeface="Calibri" pitchFamily="34" charset="-122"/>
                <a:cs typeface="Calibri" pitchFamily="34" charset="-120"/>
              </a:rPr>
              <a:t>Heute machbar</a:t>
            </a:r>
            <a:endParaRPr lang="en-US" sz="1300" dirty="0"/>
          </a:p>
        </p:txBody>
      </p:sp>
      <p:sp>
        <p:nvSpPr>
          <p:cNvPr id="32" name="Text 24"/>
          <p:cNvSpPr txBox="1"/>
          <p:nvPr/>
        </p:nvSpPr>
        <p:spPr>
          <a:xfrm>
            <a:off x="457200" y="3520440"/>
            <a:ext cx="3931920" cy="11887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Sichtbare Schäden per Bildanalyse: gebrochenes Display, gerissene Kette</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Vorab-KVA aus Teilepreisen und Aufwandsrichtwerten</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Verfügbarkeitsprüfung und Vorreservierung</a:t>
            </a:r>
            <a:endParaRPr lang="en-US" sz="1100" dirty="0"/>
          </a:p>
        </p:txBody>
      </p:sp>
      <p:sp>
        <p:nvSpPr>
          <p:cNvPr id="33" name="Text 25"/>
          <p:cNvSpPr txBox="1"/>
          <p:nvPr/>
        </p:nvSpPr>
        <p:spPr>
          <a:xfrm>
            <a:off x="4754880" y="3200400"/>
            <a:ext cx="3931920" cy="274320"/>
          </a:xfrm>
          <a:prstGeom prst="rect">
            <a:avLst/>
          </a:prstGeom>
          <a:noFill/>
          <a:ln/>
        </p:spPr>
        <p:txBody>
          <a:bodyPr wrap="square" lIns="0" tIns="0" rIns="0" bIns="0" rtlCol="0" anchor="ctr"/>
          <a:lstStyle/>
          <a:p>
            <a:pPr marL="0" indent="0">
              <a:buNone/>
            </a:pPr>
            <a:r>
              <a:rPr lang="en-US" sz="1300" b="1" dirty="0">
                <a:solidFill>
                  <a:srgbClr val="F2A900"/>
                </a:solidFill>
                <a:latin typeface="Calibri" pitchFamily="34" charset="0"/>
                <a:ea typeface="Calibri" pitchFamily="34" charset="-122"/>
                <a:cs typeface="Calibri" pitchFamily="34" charset="-120"/>
              </a:rPr>
              <a:t>Vision und Absicherung</a:t>
            </a:r>
            <a:endParaRPr lang="en-US" sz="1300" dirty="0"/>
          </a:p>
        </p:txBody>
      </p:sp>
      <p:sp>
        <p:nvSpPr>
          <p:cNvPr id="34" name="Text 26"/>
          <p:cNvSpPr txBox="1"/>
          <p:nvPr/>
        </p:nvSpPr>
        <p:spPr>
          <a:xfrm>
            <a:off x="4754880" y="3520440"/>
            <a:ext cx="3931920" cy="11887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Geräuschanalyse von E-Bike-Motoren, Aufwand aus Video</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Vorschlag bleibt vorläufig, der Techniker bestätigt oder korrigiert</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Medien nur mit Einwilligung, Löschung nach Abschluss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Was wir gebaut haben: Ergebnisse in Zahlen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8</a:t>
            </a:r>
            <a:endParaRPr lang="en-US" sz="900" dirty="0"/>
          </a:p>
        </p:txBody>
      </p:sp>
      <p:sp>
        <p:nvSpPr>
          <p:cNvPr id="6" name="Text 3"/>
          <p:cNvSpPr txBox="1"/>
          <p:nvPr/>
        </p:nvSpPr>
        <p:spPr>
          <a:xfrm>
            <a:off x="45720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10</a:t>
            </a:r>
            <a:endParaRPr lang="en-US" sz="4000" dirty="0"/>
          </a:p>
        </p:txBody>
      </p:sp>
      <p:sp>
        <p:nvSpPr>
          <p:cNvPr id="7" name="Text 4"/>
          <p:cNvSpPr txBox="1"/>
          <p:nvPr/>
        </p:nvSpPr>
        <p:spPr>
          <a:xfrm>
            <a:off x="45720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BPMN-Kollaborationsdiagramme</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131 Aktivitäten im Werkstatt-Pool</a:t>
            </a:r>
            <a:endParaRPr lang="en-US" sz="1100" dirty="0"/>
          </a:p>
        </p:txBody>
      </p:sp>
      <p:sp>
        <p:nvSpPr>
          <p:cNvPr id="8" name="Text 5"/>
          <p:cNvSpPr txBox="1"/>
          <p:nvPr/>
        </p:nvSpPr>
        <p:spPr>
          <a:xfrm>
            <a:off x="265176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19</a:t>
            </a:r>
            <a:endParaRPr lang="en-US" sz="4000" dirty="0"/>
          </a:p>
        </p:txBody>
      </p:sp>
      <p:sp>
        <p:nvSpPr>
          <p:cNvPr id="9" name="Text 6"/>
          <p:cNvSpPr txBox="1"/>
          <p:nvPr/>
        </p:nvSpPr>
        <p:spPr>
          <a:xfrm>
            <a:off x="265176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Use Cases</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17 Rollen und Akteure</a:t>
            </a:r>
            <a:endParaRPr lang="en-US" sz="1100" dirty="0"/>
          </a:p>
        </p:txBody>
      </p:sp>
      <p:sp>
        <p:nvSpPr>
          <p:cNvPr id="10" name="Text 7"/>
          <p:cNvSpPr txBox="1"/>
          <p:nvPr/>
        </p:nvSpPr>
        <p:spPr>
          <a:xfrm>
            <a:off x="484632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27</a:t>
            </a:r>
            <a:endParaRPr lang="en-US" sz="4000" dirty="0"/>
          </a:p>
        </p:txBody>
      </p:sp>
      <p:sp>
        <p:nvSpPr>
          <p:cNvPr id="11" name="Text 8"/>
          <p:cNvSpPr txBox="1"/>
          <p:nvPr/>
        </p:nvSpPr>
        <p:spPr>
          <a:xfrm>
            <a:off x="484632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Klassen</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36 Assoziationen, 7 Aufzählungen</a:t>
            </a:r>
            <a:endParaRPr lang="en-US" sz="1100" dirty="0"/>
          </a:p>
        </p:txBody>
      </p:sp>
      <p:sp>
        <p:nvSpPr>
          <p:cNvPr id="12" name="Text 9"/>
          <p:cNvSpPr txBox="1"/>
          <p:nvPr/>
        </p:nvSpPr>
        <p:spPr>
          <a:xfrm>
            <a:off x="704088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6</a:t>
            </a:r>
            <a:endParaRPr lang="en-US" sz="4000" dirty="0"/>
          </a:p>
        </p:txBody>
      </p:sp>
      <p:sp>
        <p:nvSpPr>
          <p:cNvPr id="13" name="Text 10"/>
          <p:cNvSpPr txBox="1"/>
          <p:nvPr/>
        </p:nvSpPr>
        <p:spPr>
          <a:xfrm>
            <a:off x="704088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Sequenzdiagramme</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 Zustandsdiagramm</a:t>
            </a:r>
            <a:endParaRPr lang="en-US" sz="1100" dirty="0"/>
          </a:p>
        </p:txBody>
      </p:sp>
      <p:sp>
        <p:nvSpPr>
          <p:cNvPr id="14" name="Shape 11"/>
          <p:cNvSpPr/>
          <p:nvPr/>
        </p:nvSpPr>
        <p:spPr>
          <a:xfrm>
            <a:off x="457200" y="2697480"/>
            <a:ext cx="2651760" cy="1874520"/>
          </a:xfrm>
          <a:prstGeom prst="roundRect">
            <a:avLst>
              <a:gd name="adj" fmla="val 3902"/>
            </a:avLst>
          </a:prstGeom>
          <a:solidFill>
            <a:srgbClr val="EEF4F4"/>
          </a:solidFill>
          <a:ln w="12700">
            <a:solidFill>
              <a:srgbClr val="EEF4F4"/>
            </a:solidFill>
            <a:prstDash val="solid"/>
          </a:ln>
        </p:spPr>
        <p:txBody>
          <a:bodyPr/>
          <a:lstStyle/>
          <a:p>
            <a:endParaRPr lang="de-DE"/>
          </a:p>
        </p:txBody>
      </p:sp>
      <p:sp>
        <p:nvSpPr>
          <p:cNvPr id="15" name="Shape 12"/>
          <p:cNvSpPr/>
          <p:nvPr/>
        </p:nvSpPr>
        <p:spPr>
          <a:xfrm>
            <a:off x="640080" y="28803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6" name="Image 0" descr="preencoded.png"/>
          <p:cNvPicPr>
            <a:picLocks noChangeAspect="1"/>
          </p:cNvPicPr>
          <p:nvPr/>
        </p:nvPicPr>
        <p:blipFill>
          <a:blip r:embed="rId3"/>
          <a:stretch>
            <a:fillRect/>
          </a:stretch>
        </p:blipFill>
        <p:spPr>
          <a:xfrm>
            <a:off x="754380" y="2994660"/>
            <a:ext cx="228600" cy="228600"/>
          </a:xfrm>
          <a:prstGeom prst="rect">
            <a:avLst/>
          </a:prstGeom>
        </p:spPr>
      </p:pic>
      <p:sp>
        <p:nvSpPr>
          <p:cNvPr id="17" name="Text 13"/>
          <p:cNvSpPr txBox="1"/>
          <p:nvPr/>
        </p:nvSpPr>
        <p:spPr>
          <a:xfrm>
            <a:off x="1234440" y="28620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Geschäftsprozesse</a:t>
            </a:r>
            <a:endParaRPr lang="en-US" sz="1400" dirty="0"/>
          </a:p>
        </p:txBody>
      </p:sp>
      <p:sp>
        <p:nvSpPr>
          <p:cNvPr id="18" name="Text 14"/>
          <p:cNvSpPr txBox="1"/>
          <p:nvPr/>
        </p:nvSpPr>
        <p:spPr>
          <a:xfrm>
            <a:off x="64008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Camunda Modeler, BPMN 2.0, angereichert für Camunda 8. Zehn Prozesse vom ersten Foto bis zur Retoure. 41 Nachrichtenflüsse, 48 Datenobjekte, 12 Datenspeicher.</a:t>
            </a:r>
            <a:endParaRPr lang="en-US" sz="1050" dirty="0"/>
          </a:p>
        </p:txBody>
      </p:sp>
      <p:sp>
        <p:nvSpPr>
          <p:cNvPr id="19" name="Shape 15"/>
          <p:cNvSpPr/>
          <p:nvPr/>
        </p:nvSpPr>
        <p:spPr>
          <a:xfrm>
            <a:off x="3246120" y="2697480"/>
            <a:ext cx="2651760" cy="1874520"/>
          </a:xfrm>
          <a:prstGeom prst="roundRect">
            <a:avLst>
              <a:gd name="adj" fmla="val 3902"/>
            </a:avLst>
          </a:prstGeom>
          <a:solidFill>
            <a:srgbClr val="EEF4F4"/>
          </a:solidFill>
          <a:ln w="12700">
            <a:solidFill>
              <a:srgbClr val="EEF4F4"/>
            </a:solidFill>
            <a:prstDash val="solid"/>
          </a:ln>
        </p:spPr>
        <p:txBody>
          <a:bodyPr/>
          <a:lstStyle/>
          <a:p>
            <a:endParaRPr lang="de-DE"/>
          </a:p>
        </p:txBody>
      </p:sp>
      <p:sp>
        <p:nvSpPr>
          <p:cNvPr id="20" name="Shape 16"/>
          <p:cNvSpPr/>
          <p:nvPr/>
        </p:nvSpPr>
        <p:spPr>
          <a:xfrm>
            <a:off x="3429000" y="28803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1" name="Image 1" descr="preencoded.png"/>
          <p:cNvPicPr>
            <a:picLocks noChangeAspect="1"/>
          </p:cNvPicPr>
          <p:nvPr/>
        </p:nvPicPr>
        <p:blipFill>
          <a:blip r:embed="rId4"/>
          <a:stretch>
            <a:fillRect/>
          </a:stretch>
        </p:blipFill>
        <p:spPr>
          <a:xfrm>
            <a:off x="3543300" y="2994660"/>
            <a:ext cx="228600" cy="228600"/>
          </a:xfrm>
          <a:prstGeom prst="rect">
            <a:avLst/>
          </a:prstGeom>
        </p:spPr>
      </p:pic>
      <p:sp>
        <p:nvSpPr>
          <p:cNvPr id="22" name="Text 17"/>
          <p:cNvSpPr txBox="1"/>
          <p:nvPr/>
        </p:nvSpPr>
        <p:spPr>
          <a:xfrm>
            <a:off x="4023360" y="28620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Objektorientierte Analyse</a:t>
            </a:r>
            <a:endParaRPr lang="en-US" sz="1400" dirty="0"/>
          </a:p>
        </p:txBody>
      </p:sp>
      <p:sp>
        <p:nvSpPr>
          <p:cNvPr id="23" name="Text 18"/>
          <p:cNvSpPr txBox="1"/>
          <p:nvPr/>
        </p:nvSpPr>
        <p:spPr>
          <a:xfrm>
            <a:off x="342900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Visual Paradigm: Use-Case-Diagramm, ein vollständiges Klassendiagramm, sechs Sequenzdiagramme als Unterdiagramme der Use Cases, Zustandsdiagramm des Reparaturauftrags.</a:t>
            </a:r>
            <a:endParaRPr lang="en-US" sz="1050" dirty="0"/>
          </a:p>
        </p:txBody>
      </p:sp>
      <p:sp>
        <p:nvSpPr>
          <p:cNvPr id="24" name="Shape 19"/>
          <p:cNvSpPr/>
          <p:nvPr/>
        </p:nvSpPr>
        <p:spPr>
          <a:xfrm>
            <a:off x="6035040" y="2697480"/>
            <a:ext cx="2651760" cy="1874520"/>
          </a:xfrm>
          <a:prstGeom prst="roundRect">
            <a:avLst>
              <a:gd name="adj" fmla="val 3902"/>
            </a:avLst>
          </a:prstGeom>
          <a:solidFill>
            <a:srgbClr val="EEF4F4"/>
          </a:solidFill>
          <a:ln w="12700">
            <a:solidFill>
              <a:srgbClr val="EEF4F4"/>
            </a:solidFill>
            <a:prstDash val="solid"/>
          </a:ln>
        </p:spPr>
        <p:txBody>
          <a:bodyPr/>
          <a:lstStyle/>
          <a:p>
            <a:endParaRPr lang="de-DE"/>
          </a:p>
        </p:txBody>
      </p:sp>
      <p:sp>
        <p:nvSpPr>
          <p:cNvPr id="25" name="Shape 20"/>
          <p:cNvSpPr/>
          <p:nvPr/>
        </p:nvSpPr>
        <p:spPr>
          <a:xfrm>
            <a:off x="6217920" y="28803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6" name="Image 2" descr="preencoded.png"/>
          <p:cNvPicPr>
            <a:picLocks noChangeAspect="1"/>
          </p:cNvPicPr>
          <p:nvPr/>
        </p:nvPicPr>
        <p:blipFill>
          <a:blip r:embed="rId5"/>
          <a:stretch>
            <a:fillRect/>
          </a:stretch>
        </p:blipFill>
        <p:spPr>
          <a:xfrm>
            <a:off x="6332220" y="2994660"/>
            <a:ext cx="228600" cy="228600"/>
          </a:xfrm>
          <a:prstGeom prst="rect">
            <a:avLst/>
          </a:prstGeom>
        </p:spPr>
      </p:pic>
      <p:sp>
        <p:nvSpPr>
          <p:cNvPr id="27" name="Text 21"/>
          <p:cNvSpPr txBox="1"/>
          <p:nvPr/>
        </p:nvSpPr>
        <p:spPr>
          <a:xfrm>
            <a:off x="6812280" y="28620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Dokumentation</a:t>
            </a:r>
            <a:endParaRPr lang="en-US" sz="1400" dirty="0"/>
          </a:p>
        </p:txBody>
      </p:sp>
      <p:sp>
        <p:nvSpPr>
          <p:cNvPr id="28" name="Text 22"/>
          <p:cNvSpPr txBox="1"/>
          <p:nvPr/>
        </p:nvSpPr>
        <p:spPr>
          <a:xfrm>
            <a:off x="621792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Rund 20 Seiten: Projekt, Vorgehen, Projektmanagement, alle Artefakte, Konsistenz der Modelle, Herausforderungen und Feedback.</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Zehn Prozesse, 60 Prozent automatisiert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5120640" cy="3017520"/>
        </p:xfrm>
        <a:graphic>
          <a:graphicData uri="http://schemas.openxmlformats.org/drawingml/2006/table">
            <a:tbl>
              <a:tblPr/>
              <a:tblGrid>
                <a:gridCol w="41148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50292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7432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Nr</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Prozess</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Akt.</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autom.</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extLst>
                  <a:ext uri="{0D108BD9-81ED-4DB2-BD59-A6C34878D82A}">
                    <a16:rowId xmlns:a16="http://schemas.microsoft.com/office/drawing/2014/main" val="10000"/>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KI-Sofortdiagnose und Voranmeldung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Auftragsannahme, Geräteregistrierung und Terminplanung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Fehlerdiagnose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42 %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Kostenvoranschlag und Kundenfreigabe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64 %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Ersatzteil-Verfügbarkeit und Reservierung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79 %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06</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Ersatzteil-Bestellung beim Lieferanten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57 %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Reparaturdurchführung und Arbeitszeiterfassung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38 %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7"/>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08</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Abholung, Rechnung und Zahlung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65 %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8"/>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09</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Reklamation und Gewährleistung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53 %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9"/>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Ersatzteil-Retoure und Lieferanten-Reklamation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73 %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7" name="Text 3"/>
          <p:cNvSpPr txBox="1"/>
          <p:nvPr/>
        </p:nvSpPr>
        <p:spPr>
          <a:xfrm>
            <a:off x="5943600" y="1051560"/>
            <a:ext cx="274320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131</a:t>
            </a:r>
            <a:endParaRPr lang="en-US" sz="4000" dirty="0"/>
          </a:p>
        </p:txBody>
      </p:sp>
      <p:sp>
        <p:nvSpPr>
          <p:cNvPr id="8" name="Text 4"/>
          <p:cNvSpPr txBox="1"/>
          <p:nvPr/>
        </p:nvSpPr>
        <p:spPr>
          <a:xfrm>
            <a:off x="5943600" y="1783080"/>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Aktivitäten im Werkstatt-Pool, im Schnitt 13,1 je Diagramm</a:t>
            </a:r>
            <a:endParaRPr lang="en-US" sz="1100" dirty="0"/>
          </a:p>
        </p:txBody>
      </p:sp>
      <p:sp>
        <p:nvSpPr>
          <p:cNvPr id="9" name="Text 5"/>
          <p:cNvSpPr txBox="1"/>
          <p:nvPr/>
        </p:nvSpPr>
        <p:spPr>
          <a:xfrm>
            <a:off x="5943600" y="2423160"/>
            <a:ext cx="274320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60 %</a:t>
            </a:r>
            <a:endParaRPr lang="en-US" sz="4000" dirty="0"/>
          </a:p>
        </p:txBody>
      </p:sp>
      <p:sp>
        <p:nvSpPr>
          <p:cNvPr id="5" name="Text 6"/>
          <p:cNvSpPr txBox="1"/>
          <p:nvPr/>
        </p:nvSpPr>
        <p:spPr>
          <a:xfrm>
            <a:off x="5943600" y="3154680"/>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davon führt RepairFlow ohne manuelle Arbeit aus: Status, Benachrichtigung, Prüfung, Berechnung, Regel</a:t>
            </a:r>
            <a:endParaRPr lang="en-US" sz="1100" dirty="0"/>
          </a:p>
        </p:txBody>
      </p:sp>
      <p:sp>
        <p:nvSpPr>
          <p:cNvPr id="11" name="Text 7"/>
          <p:cNvSpPr txBox="1"/>
          <p:nvPr/>
        </p:nvSpPr>
        <p:spPr>
          <a:xfrm>
            <a:off x="5943600" y="3840480"/>
            <a:ext cx="2743200" cy="731520"/>
          </a:xfrm>
          <a:prstGeom prst="rect">
            <a:avLst/>
          </a:prstGeom>
          <a:noFill/>
          <a:ln/>
        </p:spPr>
        <p:txBody>
          <a:bodyPr wrap="square" lIns="0" tIns="0" rIns="0" bIns="0" rtlCol="0" anchor="ctr"/>
          <a:lstStyle/>
          <a:p>
            <a:pPr marL="0" indent="0">
              <a:buNone/>
            </a:pPr>
            <a:r>
              <a:rPr lang="en-US" sz="1000" i="1" dirty="0">
                <a:solidFill>
                  <a:srgbClr val="5F6B7A"/>
                </a:solidFill>
                <a:latin typeface="Calibri" pitchFamily="34" charset="0"/>
                <a:ea typeface="Calibri" pitchFamily="34" charset="-122"/>
                <a:cs typeface="Calibri" pitchFamily="34" charset="-120"/>
              </a:rPr>
              <a:t>Handwerk bleibt Handwerk: Diagnose, Reparatur und Endkontrolle sind Aktivitäten des Technikers mit Unterstützung durch das System.</a:t>
            </a:r>
            <a:endParaRPr lang="en-US" sz="1000" dirty="0"/>
          </a:p>
        </p:txBody>
      </p:sp>
      <p:sp>
        <p:nvSpPr>
          <p:cNvPr id="12" name="Text 8"/>
          <p:cNvSpPr txBox="1"/>
          <p:nvPr/>
        </p:nvSpPr>
        <p:spPr>
          <a:xfrm>
            <a:off x="457200" y="4069080"/>
            <a:ext cx="5120640" cy="548640"/>
          </a:xfrm>
          <a:prstGeom prst="rect">
            <a:avLst/>
          </a:prstGeom>
          <a:noFill/>
          <a:ln/>
        </p:spPr>
        <p:txBody>
          <a:bodyPr wrap="square" lIns="0" tIns="0" rIns="0" bIns="0" rtlCol="0" anchor="ctr"/>
          <a:lstStyle/>
          <a:p>
            <a:pPr marL="0" indent="0">
              <a:buNone/>
            </a:pPr>
            <a:r>
              <a:rPr lang="en-US" sz="950" i="1" dirty="0">
                <a:solidFill>
                  <a:srgbClr val="5F6B7A"/>
                </a:solidFill>
                <a:latin typeface="Calibri" pitchFamily="34" charset="0"/>
                <a:ea typeface="Calibri" pitchFamily="34" charset="-122"/>
                <a:cs typeface="Calibri" pitchFamily="34" charset="-120"/>
              </a:rPr>
              <a:t>01 bis 08: durchgehende Auftragsreise · 09 und 10: Reklamation und Retoure · Pool Werkstattbetrieb mit Lanes Service, Techniker, Werkstattleitung, Disposition; Kunde mit eigenem Ablauf, Lieferant als Black Box</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Drei Prozess-Highlights</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10</a:t>
            </a:r>
            <a:endParaRPr lang="en-US" sz="900" dirty="0"/>
          </a:p>
        </p:txBody>
      </p:sp>
      <p:sp>
        <p:nvSpPr>
          <p:cNvPr id="6" name="Shape 3"/>
          <p:cNvSpPr/>
          <p:nvPr/>
        </p:nvSpPr>
        <p:spPr>
          <a:xfrm>
            <a:off x="457200" y="1005840"/>
            <a:ext cx="2651760" cy="356616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KVA-Freigabe (P04)</a:t>
            </a:r>
            <a:endParaRPr lang="en-US" sz="1400" dirty="0"/>
          </a:p>
        </p:txBody>
      </p:sp>
      <p:sp>
        <p:nvSpPr>
          <p:cNvPr id="10" name="Text 6"/>
          <p:cNvSpPr txBox="1"/>
          <p:nvPr/>
        </p:nvSpPr>
        <p:spPr>
          <a:xfrm>
            <a:off x="640080" y="1737360"/>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Nach dem Versand wartet ein ereignisbasiertes Gateway auf Freigabe, Ablehnung oder drei Tage Frist.</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Bei Fristablauf erinnert RepairFlow, höchstens zweimal. Nach dem dritten Fristablauf ohne Antwort gilt der KVA als abgelehnt, das Gerät geht mit Diagnosepauschale zur Abholung.</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Kein Auftrag bleibt liegen.</a:t>
            </a:r>
            <a:endParaRPr lang="en-US" sz="1150" dirty="0"/>
          </a:p>
        </p:txBody>
      </p:sp>
      <p:sp>
        <p:nvSpPr>
          <p:cNvPr id="11" name="Shape 7"/>
          <p:cNvSpPr/>
          <p:nvPr/>
        </p:nvSpPr>
        <p:spPr>
          <a:xfrm>
            <a:off x="3246120" y="1005840"/>
            <a:ext cx="2651760" cy="356616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342900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3543300" y="1303020"/>
            <a:ext cx="228600" cy="228600"/>
          </a:xfrm>
          <a:prstGeom prst="rect">
            <a:avLst/>
          </a:prstGeom>
        </p:spPr>
      </p:pic>
      <p:sp>
        <p:nvSpPr>
          <p:cNvPr id="14" name="Text 9"/>
          <p:cNvSpPr txBox="1"/>
          <p:nvPr/>
        </p:nvSpPr>
        <p:spPr>
          <a:xfrm>
            <a:off x="402336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Disposition (P05)</a:t>
            </a:r>
            <a:endParaRPr lang="en-US" sz="1400" dirty="0"/>
          </a:p>
        </p:txBody>
      </p:sp>
      <p:sp>
        <p:nvSpPr>
          <p:cNvPr id="15" name="Text 10"/>
          <p:cNvSpPr txBox="1"/>
          <p:nvPr/>
        </p:nvSpPr>
        <p:spPr>
          <a:xfrm>
            <a:off x="3429000" y="1737360"/>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Je Teil läuft parallel eine Prüfung: erst das eigene Lager, dann die anderen Filialen.</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Lokal vorhanden: reservieren. Anderswo vorhanden: umlagern. Nirgends: als Fehlteil markieren und erst dann bestellen (P06).</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Meldebestand unterschritten: Nachbestellvorschlag.</a:t>
            </a:r>
            <a:endParaRPr lang="en-US" sz="1150" dirty="0"/>
          </a:p>
        </p:txBody>
      </p:sp>
      <p:sp>
        <p:nvSpPr>
          <p:cNvPr id="16" name="Shape 11"/>
          <p:cNvSpPr/>
          <p:nvPr/>
        </p:nvSpPr>
        <p:spPr>
          <a:xfrm>
            <a:off x="6035040" y="1005840"/>
            <a:ext cx="2651760" cy="356616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21792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6332220" y="1303020"/>
            <a:ext cx="228600" cy="228600"/>
          </a:xfrm>
          <a:prstGeom prst="rect">
            <a:avLst/>
          </a:prstGeom>
        </p:spPr>
      </p:pic>
      <p:sp>
        <p:nvSpPr>
          <p:cNvPr id="19" name="Text 13"/>
          <p:cNvSpPr txBox="1"/>
          <p:nvPr/>
        </p:nvSpPr>
        <p:spPr>
          <a:xfrm>
            <a:off x="681228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Reklamation (P09)</a:t>
            </a:r>
            <a:endParaRPr lang="en-US" sz="1400" dirty="0"/>
          </a:p>
        </p:txBody>
      </p:sp>
      <p:sp>
        <p:nvSpPr>
          <p:cNvPr id="20" name="Text 14"/>
          <p:cNvSpPr txBox="1"/>
          <p:nvPr/>
        </p:nvSpPr>
        <p:spPr>
          <a:xfrm>
            <a:off x="6217920" y="1737360"/>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Techniker prüft den Mangel, eine Geschäftsregel entscheidet über Gewährleistung.</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Gewährleistung: kostenfreier Nacharbeitsauftrag, der durch die normale Auftragsreise läuft. Sonst: kostenpflichtiges Angebot.</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Das Modell bleibt schlank, weil die Reklamation keine eigene Reparaturlogik braucht.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Wer macht was im System: Rollen und Use Cases</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11</a:t>
            </a:r>
            <a:endParaRPr lang="en-US" sz="900" dirty="0"/>
          </a:p>
        </p:txBody>
      </p:sp>
      <p:sp>
        <p:nvSpPr>
          <p:cNvPr id="6" name="Text 3"/>
          <p:cNvSpPr txBox="1"/>
          <p:nvPr/>
        </p:nvSpPr>
        <p:spPr>
          <a:xfrm>
            <a:off x="457200" y="960120"/>
            <a:ext cx="8229600" cy="548640"/>
          </a:xfrm>
          <a:prstGeom prst="rect">
            <a:avLst/>
          </a:prstGeom>
          <a:noFill/>
          <a:ln/>
        </p:spPr>
        <p:txBody>
          <a:bodyPr wrap="square" lIns="0" tIns="0" rIns="0" bIns="0" rtlCol="0" anchor="ctr"/>
          <a:lstStyle/>
          <a:p>
            <a:pPr marL="0" indent="0">
              <a:buNone/>
            </a:pPr>
            <a:r>
              <a:rPr lang="en-US" sz="1300" dirty="0">
                <a:solidFill>
                  <a:srgbClr val="1B2430"/>
                </a:solidFill>
                <a:latin typeface="Calibri" pitchFamily="34" charset="0"/>
                <a:ea typeface="Calibri" pitchFamily="34" charset="-122"/>
                <a:cs typeface="Calibri" pitchFamily="34" charset="-120"/>
              </a:rPr>
              <a:t>19 Use Cases in vier Bereichen. Jeder Use Case hat genau eine Rolle (Hinweis aus dem Coaching): lesbar, und die Rollen kehren in den Sequenzdiagrammen wieder.</a:t>
            </a:r>
            <a:endParaRPr lang="en-US" sz="1300" dirty="0"/>
          </a:p>
        </p:txBody>
      </p:sp>
      <p:sp>
        <p:nvSpPr>
          <p:cNvPr id="7" name="Shape 4"/>
          <p:cNvSpPr/>
          <p:nvPr/>
        </p:nvSpPr>
        <p:spPr>
          <a:xfrm>
            <a:off x="457200" y="1600200"/>
            <a:ext cx="1965960" cy="2971800"/>
          </a:xfrm>
          <a:prstGeom prst="roundRect">
            <a:avLst>
              <a:gd name="adj" fmla="val 3721"/>
            </a:avLst>
          </a:prstGeom>
          <a:solidFill>
            <a:srgbClr val="FFF4D6"/>
          </a:solidFill>
          <a:ln w="12700">
            <a:solidFill>
              <a:srgbClr val="FFF4D6"/>
            </a:solidFill>
            <a:prstDash val="solid"/>
          </a:ln>
        </p:spPr>
        <p:txBody>
          <a:bodyPr/>
          <a:lstStyle/>
          <a:p>
            <a:endParaRPr lang="de-DE"/>
          </a:p>
        </p:txBody>
      </p:sp>
      <p:sp>
        <p:nvSpPr>
          <p:cNvPr id="8" name="Shape 5"/>
          <p:cNvSpPr/>
          <p:nvPr/>
        </p:nvSpPr>
        <p:spPr>
          <a:xfrm>
            <a:off x="640080" y="178308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9" name="Image 0" descr="preencoded.png"/>
          <p:cNvPicPr>
            <a:picLocks noChangeAspect="1"/>
          </p:cNvPicPr>
          <p:nvPr/>
        </p:nvPicPr>
        <p:blipFill>
          <a:blip r:embed="rId3"/>
          <a:stretch>
            <a:fillRect/>
          </a:stretch>
        </p:blipFill>
        <p:spPr>
          <a:xfrm>
            <a:off x="754380" y="1897380"/>
            <a:ext cx="228600" cy="228600"/>
          </a:xfrm>
          <a:prstGeom prst="rect">
            <a:avLst/>
          </a:prstGeom>
        </p:spPr>
      </p:pic>
      <p:sp>
        <p:nvSpPr>
          <p:cNvPr id="10" name="Text 6"/>
          <p:cNvSpPr txBox="1"/>
          <p:nvPr/>
        </p:nvSpPr>
        <p:spPr>
          <a:xfrm>
            <a:off x="1234440" y="1764792"/>
            <a:ext cx="105156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Kundenportal</a:t>
            </a:r>
            <a:endParaRPr lang="en-US" sz="1200" dirty="0"/>
          </a:p>
        </p:txBody>
      </p:sp>
      <p:sp>
        <p:nvSpPr>
          <p:cNvPr id="11" name="Text 7"/>
          <p:cNvSpPr txBox="1"/>
          <p:nvPr/>
        </p:nvSpPr>
        <p:spPr>
          <a:xfrm>
            <a:off x="640080" y="2331720"/>
            <a:ext cx="160020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3 Use Cases</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Kunde: Sofortdiagnose anfordern, Voranmeldung bestätigen, KVA freigeben / ablehnen</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extern: KI-Diagnosedienst</a:t>
            </a:r>
            <a:endParaRPr lang="en-US" sz="1000" dirty="0"/>
          </a:p>
        </p:txBody>
      </p:sp>
      <p:sp>
        <p:nvSpPr>
          <p:cNvPr id="12" name="Shape 8"/>
          <p:cNvSpPr/>
          <p:nvPr/>
        </p:nvSpPr>
        <p:spPr>
          <a:xfrm>
            <a:off x="2560320" y="1600200"/>
            <a:ext cx="1965960" cy="2971800"/>
          </a:xfrm>
          <a:prstGeom prst="roundRect">
            <a:avLst>
              <a:gd name="adj" fmla="val 3721"/>
            </a:avLst>
          </a:prstGeom>
          <a:solidFill>
            <a:srgbClr val="EEF4F4"/>
          </a:solidFill>
          <a:ln w="12700">
            <a:solidFill>
              <a:srgbClr val="EEF4F4"/>
            </a:solidFill>
            <a:prstDash val="solid"/>
          </a:ln>
        </p:spPr>
        <p:txBody>
          <a:bodyPr/>
          <a:lstStyle/>
          <a:p>
            <a:endParaRPr lang="de-DE"/>
          </a:p>
        </p:txBody>
      </p:sp>
      <p:sp>
        <p:nvSpPr>
          <p:cNvPr id="13" name="Shape 9"/>
          <p:cNvSpPr/>
          <p:nvPr/>
        </p:nvSpPr>
        <p:spPr>
          <a:xfrm>
            <a:off x="2743200" y="17830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4" name="Image 1" descr="preencoded.png"/>
          <p:cNvPicPr>
            <a:picLocks noChangeAspect="1"/>
          </p:cNvPicPr>
          <p:nvPr/>
        </p:nvPicPr>
        <p:blipFill>
          <a:blip r:embed="rId4"/>
          <a:stretch>
            <a:fillRect/>
          </a:stretch>
        </p:blipFill>
        <p:spPr>
          <a:xfrm>
            <a:off x="2857500" y="1897380"/>
            <a:ext cx="228600" cy="228600"/>
          </a:xfrm>
          <a:prstGeom prst="rect">
            <a:avLst/>
          </a:prstGeom>
        </p:spPr>
      </p:pic>
      <p:sp>
        <p:nvSpPr>
          <p:cNvPr id="15" name="Text 10"/>
          <p:cNvSpPr txBox="1"/>
          <p:nvPr/>
        </p:nvSpPr>
        <p:spPr>
          <a:xfrm>
            <a:off x="3337560" y="1764792"/>
            <a:ext cx="105156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Auftrag und Werkstatt</a:t>
            </a:r>
            <a:endParaRPr lang="en-US" sz="1200" dirty="0"/>
          </a:p>
        </p:txBody>
      </p:sp>
      <p:sp>
        <p:nvSpPr>
          <p:cNvPr id="16" name="Text 11"/>
          <p:cNvSpPr txBox="1"/>
          <p:nvPr/>
        </p:nvSpPr>
        <p:spPr>
          <a:xfrm>
            <a:off x="2743200" y="2331720"/>
            <a:ext cx="160020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9 Use Cases</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Serviceannahme, Diagnoseprüfer, Diagnostiker, Kalkulator, Werkstattplaner, Reparateur, Endkontrolleur, Geräteausgabe, Reklamationsbearbeiter</a:t>
            </a:r>
            <a:endParaRPr lang="en-US" sz="1000" dirty="0"/>
          </a:p>
        </p:txBody>
      </p:sp>
      <p:sp>
        <p:nvSpPr>
          <p:cNvPr id="17" name="Shape 12"/>
          <p:cNvSpPr/>
          <p:nvPr/>
        </p:nvSpPr>
        <p:spPr>
          <a:xfrm>
            <a:off x="4663440" y="1600200"/>
            <a:ext cx="1965960" cy="2971800"/>
          </a:xfrm>
          <a:prstGeom prst="roundRect">
            <a:avLst>
              <a:gd name="adj" fmla="val 3721"/>
            </a:avLst>
          </a:prstGeom>
          <a:solidFill>
            <a:srgbClr val="EEF4F4"/>
          </a:solidFill>
          <a:ln w="12700">
            <a:solidFill>
              <a:srgbClr val="EEF4F4"/>
            </a:solidFill>
            <a:prstDash val="solid"/>
          </a:ln>
        </p:spPr>
        <p:txBody>
          <a:bodyPr/>
          <a:lstStyle/>
          <a:p>
            <a:endParaRPr lang="de-DE"/>
          </a:p>
        </p:txBody>
      </p:sp>
      <p:sp>
        <p:nvSpPr>
          <p:cNvPr id="18" name="Shape 13"/>
          <p:cNvSpPr/>
          <p:nvPr/>
        </p:nvSpPr>
        <p:spPr>
          <a:xfrm>
            <a:off x="4846320" y="17830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9" name="Image 2" descr="preencoded.png"/>
          <p:cNvPicPr>
            <a:picLocks noChangeAspect="1"/>
          </p:cNvPicPr>
          <p:nvPr/>
        </p:nvPicPr>
        <p:blipFill>
          <a:blip r:embed="rId5"/>
          <a:stretch>
            <a:fillRect/>
          </a:stretch>
        </p:blipFill>
        <p:spPr>
          <a:xfrm>
            <a:off x="4960620" y="1897380"/>
            <a:ext cx="228600" cy="228600"/>
          </a:xfrm>
          <a:prstGeom prst="rect">
            <a:avLst/>
          </a:prstGeom>
        </p:spPr>
      </p:pic>
      <p:sp>
        <p:nvSpPr>
          <p:cNvPr id="20" name="Text 14"/>
          <p:cNvSpPr txBox="1"/>
          <p:nvPr/>
        </p:nvSpPr>
        <p:spPr>
          <a:xfrm>
            <a:off x="5440680" y="1764792"/>
            <a:ext cx="105156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Ersatzteil-Disposition</a:t>
            </a:r>
            <a:endParaRPr lang="en-US" sz="1200" dirty="0"/>
          </a:p>
        </p:txBody>
      </p:sp>
      <p:sp>
        <p:nvSpPr>
          <p:cNvPr id="21" name="Text 15"/>
          <p:cNvSpPr txBox="1"/>
          <p:nvPr/>
        </p:nvSpPr>
        <p:spPr>
          <a:xfrm>
            <a:off x="4846320" y="2331720"/>
            <a:ext cx="160020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6 Use Cases</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Teiledisponent, Bestandsplaner, Einkäufer, Wareneingang, Retourenbearbeiter</a:t>
            </a:r>
            <a:endParaRPr lang="en-US" sz="1000" dirty="0"/>
          </a:p>
          <a:p>
            <a:pPr marL="0" indent="0">
              <a:buNone/>
            </a:pPr>
            <a:endParaRPr lang="en-US" sz="1000" dirty="0"/>
          </a:p>
          <a:p>
            <a:pPr marL="0" indent="0">
              <a:buNone/>
            </a:pPr>
            <a:r>
              <a:rPr lang="en-US" sz="1000" dirty="0" err="1">
                <a:solidFill>
                  <a:srgbClr val="1B2430"/>
                </a:solidFill>
                <a:latin typeface="Calibri" pitchFamily="34" charset="0"/>
                <a:ea typeface="Calibri" pitchFamily="34" charset="-122"/>
                <a:cs typeface="Calibri" pitchFamily="34" charset="-120"/>
              </a:rPr>
              <a:t>Lieferant</a:t>
            </a:r>
            <a:r>
              <a:rPr lang="en-US" sz="1000" dirty="0">
                <a:solidFill>
                  <a:srgbClr val="1B2430"/>
                </a:solidFill>
                <a:latin typeface="Calibri" pitchFamily="34" charset="0"/>
                <a:ea typeface="Calibri" pitchFamily="34" charset="-122"/>
                <a:cs typeface="Calibri" pitchFamily="34" charset="-120"/>
              </a:rPr>
              <a:t>: Black Box, </a:t>
            </a:r>
            <a:r>
              <a:rPr lang="en-US" sz="1000" dirty="0" err="1">
                <a:solidFill>
                  <a:srgbClr val="1B2430"/>
                </a:solidFill>
                <a:latin typeface="Calibri" pitchFamily="34" charset="0"/>
                <a:ea typeface="Calibri" pitchFamily="34" charset="-122"/>
                <a:cs typeface="Calibri" pitchFamily="34" charset="-120"/>
              </a:rPr>
              <a:t>kein</a:t>
            </a:r>
            <a:r>
              <a:rPr lang="en-US" sz="1000" dirty="0">
                <a:solidFill>
                  <a:srgbClr val="1B2430"/>
                </a:solidFill>
                <a:latin typeface="Calibri" pitchFamily="34" charset="0"/>
                <a:ea typeface="Calibri" pitchFamily="34" charset="-122"/>
                <a:cs typeface="Calibri" pitchFamily="34" charset="-120"/>
              </a:rPr>
              <a:t> </a:t>
            </a:r>
            <a:r>
              <a:rPr lang="en-US" sz="1000" dirty="0" err="1">
                <a:solidFill>
                  <a:srgbClr val="1B2430"/>
                </a:solidFill>
                <a:latin typeface="Calibri" pitchFamily="34" charset="0"/>
                <a:ea typeface="Calibri" pitchFamily="34" charset="-122"/>
                <a:cs typeface="Calibri" pitchFamily="34" charset="-120"/>
              </a:rPr>
              <a:t>Akteur</a:t>
            </a:r>
            <a:endParaRPr lang="en-US" sz="1000" dirty="0"/>
          </a:p>
        </p:txBody>
      </p:sp>
      <p:sp>
        <p:nvSpPr>
          <p:cNvPr id="22" name="Shape 16"/>
          <p:cNvSpPr/>
          <p:nvPr/>
        </p:nvSpPr>
        <p:spPr>
          <a:xfrm>
            <a:off x="6766560" y="1600200"/>
            <a:ext cx="1920240" cy="2971800"/>
          </a:xfrm>
          <a:prstGeom prst="roundRect">
            <a:avLst>
              <a:gd name="adj" fmla="val 3810"/>
            </a:avLst>
          </a:prstGeom>
          <a:solidFill>
            <a:srgbClr val="EEF4F4"/>
          </a:solidFill>
          <a:ln w="12700">
            <a:solidFill>
              <a:srgbClr val="EEF4F4"/>
            </a:solidFill>
            <a:prstDash val="solid"/>
          </a:ln>
        </p:spPr>
        <p:txBody>
          <a:bodyPr/>
          <a:lstStyle/>
          <a:p>
            <a:endParaRPr lang="de-DE"/>
          </a:p>
        </p:txBody>
      </p:sp>
      <p:sp>
        <p:nvSpPr>
          <p:cNvPr id="23" name="Shape 17"/>
          <p:cNvSpPr/>
          <p:nvPr/>
        </p:nvSpPr>
        <p:spPr>
          <a:xfrm>
            <a:off x="6949440" y="17830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4" name="Image 3" descr="preencoded.png"/>
          <p:cNvPicPr>
            <a:picLocks noChangeAspect="1"/>
          </p:cNvPicPr>
          <p:nvPr/>
        </p:nvPicPr>
        <p:blipFill>
          <a:blip r:embed="rId6"/>
          <a:stretch>
            <a:fillRect/>
          </a:stretch>
        </p:blipFill>
        <p:spPr>
          <a:xfrm>
            <a:off x="7063740" y="1897380"/>
            <a:ext cx="228600" cy="228600"/>
          </a:xfrm>
          <a:prstGeom prst="rect">
            <a:avLst/>
          </a:prstGeom>
        </p:spPr>
      </p:pic>
      <p:sp>
        <p:nvSpPr>
          <p:cNvPr id="25" name="Text 18"/>
          <p:cNvSpPr txBox="1"/>
          <p:nvPr/>
        </p:nvSpPr>
        <p:spPr>
          <a:xfrm>
            <a:off x="7543800" y="1764792"/>
            <a:ext cx="100584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Administration</a:t>
            </a:r>
            <a:endParaRPr lang="en-US" sz="1200" dirty="0"/>
          </a:p>
        </p:txBody>
      </p:sp>
      <p:sp>
        <p:nvSpPr>
          <p:cNvPr id="26" name="Text 19"/>
          <p:cNvSpPr txBox="1"/>
          <p:nvPr/>
        </p:nvSpPr>
        <p:spPr>
          <a:xfrm>
            <a:off x="6949440" y="2331720"/>
            <a:ext cx="155448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1 Use Case</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Betriebsadministrator: Werkstattbetrieb und Filialen verwalten (Mandant)</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Rolle → Mitarbeitertyp → Lane: Tabelle 7 der Doku</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Das Datenmodell: fünf Entwurfsentscheidungen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12</a:t>
            </a:r>
            <a:endParaRPr lang="en-US" sz="900" dirty="0"/>
          </a:p>
        </p:txBody>
      </p:sp>
      <p:sp>
        <p:nvSpPr>
          <p:cNvPr id="6" name="Shape 3"/>
          <p:cNvSpPr/>
          <p:nvPr/>
        </p:nvSpPr>
        <p:spPr>
          <a:xfrm>
            <a:off x="457200" y="1005840"/>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Reparaturauftrag als Aggregatwurzel</a:t>
            </a:r>
            <a:endParaRPr lang="en-US" sz="1400" dirty="0"/>
          </a:p>
        </p:txBody>
      </p:sp>
      <p:sp>
        <p:nvSpPr>
          <p:cNvPr id="10" name="Text 6"/>
          <p:cNvSpPr txBox="1"/>
          <p:nvPr/>
        </p:nvSpPr>
        <p:spPr>
          <a:xfrm>
            <a:off x="64008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Befund und Reparaturschritte sind Kompositionen; KVA und Gerät nur zugeordnet, weil der Vorab-KVA vor dem Auftrag entsteht.</a:t>
            </a:r>
            <a:endParaRPr lang="en-US" sz="1000" dirty="0"/>
          </a:p>
        </p:txBody>
      </p:sp>
      <p:sp>
        <p:nvSpPr>
          <p:cNvPr id="11" name="Shape 7"/>
          <p:cNvSpPr/>
          <p:nvPr/>
        </p:nvSpPr>
        <p:spPr>
          <a:xfrm>
            <a:off x="4709160" y="1005840"/>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Lagerbestand je Filiale</a:t>
            </a:r>
            <a:endParaRPr lang="en-US" sz="1400" dirty="0"/>
          </a:p>
        </p:txBody>
      </p:sp>
      <p:sp>
        <p:nvSpPr>
          <p:cNvPr id="15" name="Text 10"/>
          <p:cNvSpPr txBox="1"/>
          <p:nvPr/>
        </p:nvSpPr>
        <p:spPr>
          <a:xfrm>
            <a:off x="489204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Eigene Klasse zwischen Ersatzteil und Filiale. Nur so lässt sich die Verfügbarkeit über alle Filialen prüfen.</a:t>
            </a:r>
            <a:endParaRPr lang="en-US" sz="1000" dirty="0"/>
          </a:p>
        </p:txBody>
      </p:sp>
      <p:sp>
        <p:nvSpPr>
          <p:cNvPr id="16" name="Shape 11"/>
          <p:cNvSpPr/>
          <p:nvPr/>
        </p:nvSpPr>
        <p:spPr>
          <a:xfrm>
            <a:off x="457200" y="2221992"/>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40080" y="2404872"/>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754380" y="2519172"/>
            <a:ext cx="228600" cy="228600"/>
          </a:xfrm>
          <a:prstGeom prst="rect">
            <a:avLst/>
          </a:prstGeom>
        </p:spPr>
      </p:pic>
      <p:sp>
        <p:nvSpPr>
          <p:cNvPr id="19" name="Text 13"/>
          <p:cNvSpPr txBox="1"/>
          <p:nvPr/>
        </p:nvSpPr>
        <p:spPr>
          <a:xfrm>
            <a:off x="1234440" y="2386584"/>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Reservierung mit Lebenszyklus</a:t>
            </a:r>
            <a:endParaRPr lang="en-US" sz="1400" dirty="0"/>
          </a:p>
        </p:txBody>
      </p:sp>
      <p:sp>
        <p:nvSpPr>
          <p:cNvPr id="20" name="Text 14"/>
          <p:cNvSpPr txBox="1"/>
          <p:nvPr/>
        </p:nvSpPr>
        <p:spPr>
          <a:xfrm>
            <a:off x="64008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vorreserviert, reserviert, entnommen, storniert: eine Beziehung mit eigenen Daten wird zur Klasse.</a:t>
            </a:r>
            <a:endParaRPr lang="en-US" sz="1000" dirty="0"/>
          </a:p>
        </p:txBody>
      </p:sp>
      <p:sp>
        <p:nvSpPr>
          <p:cNvPr id="21" name="Shape 15"/>
          <p:cNvSpPr/>
          <p:nvPr/>
        </p:nvSpPr>
        <p:spPr>
          <a:xfrm>
            <a:off x="4709160" y="2221992"/>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22" name="Shape 16"/>
          <p:cNvSpPr/>
          <p:nvPr/>
        </p:nvSpPr>
        <p:spPr>
          <a:xfrm>
            <a:off x="4892040" y="2404872"/>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5006340" y="2519172"/>
            <a:ext cx="228600" cy="228600"/>
          </a:xfrm>
          <a:prstGeom prst="rect">
            <a:avLst/>
          </a:prstGeom>
        </p:spPr>
      </p:pic>
      <p:sp>
        <p:nvSpPr>
          <p:cNvPr id="24" name="Text 17"/>
          <p:cNvSpPr txBox="1"/>
          <p:nvPr/>
        </p:nvSpPr>
        <p:spPr>
          <a:xfrm>
            <a:off x="5486400" y="2386584"/>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Mandant und Mitarbeitertypen</a:t>
            </a:r>
            <a:endParaRPr lang="en-US" sz="1400" dirty="0"/>
          </a:p>
        </p:txBody>
      </p:sp>
      <p:sp>
        <p:nvSpPr>
          <p:cNvPr id="25" name="Text 18"/>
          <p:cNvSpPr txBox="1"/>
          <p:nvPr/>
        </p:nvSpPr>
        <p:spPr>
          <a:xfrm>
            <a:off x="489204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Werkstattbetrieb als Mandant; Servicemitarbeiter, Techniker, Disponent, Werkstattleiter als Unterklassen von Mitarbeiter, passend zu Lanes und Rollen.</a:t>
            </a:r>
            <a:endParaRPr lang="en-US" sz="1000" dirty="0"/>
          </a:p>
        </p:txBody>
      </p:sp>
      <p:sp>
        <p:nvSpPr>
          <p:cNvPr id="26" name="Shape 19"/>
          <p:cNvSpPr/>
          <p:nvPr/>
        </p:nvSpPr>
        <p:spPr>
          <a:xfrm>
            <a:off x="457200" y="3438144"/>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27" name="Shape 20"/>
          <p:cNvSpPr/>
          <p:nvPr/>
        </p:nvSpPr>
        <p:spPr>
          <a:xfrm>
            <a:off x="640080" y="3621024"/>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8" name="Image 4" descr="preencoded.png"/>
          <p:cNvPicPr>
            <a:picLocks noChangeAspect="1"/>
          </p:cNvPicPr>
          <p:nvPr/>
        </p:nvPicPr>
        <p:blipFill>
          <a:blip r:embed="rId7"/>
          <a:stretch>
            <a:fillRect/>
          </a:stretch>
        </p:blipFill>
        <p:spPr>
          <a:xfrm>
            <a:off x="754380" y="3735324"/>
            <a:ext cx="228600" cy="228600"/>
          </a:xfrm>
          <a:prstGeom prst="rect">
            <a:avLst/>
          </a:prstGeom>
        </p:spPr>
      </p:pic>
      <p:sp>
        <p:nvSpPr>
          <p:cNvPr id="29" name="Text 21"/>
          <p:cNvSpPr txBox="1"/>
          <p:nvPr/>
        </p:nvSpPr>
        <p:spPr>
          <a:xfrm>
            <a:off x="1234440" y="3602736"/>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Drei Klassen für die Sofortdiagnose</a:t>
            </a:r>
            <a:endParaRPr lang="en-US" sz="1400" dirty="0"/>
          </a:p>
        </p:txBody>
      </p:sp>
      <p:sp>
        <p:nvSpPr>
          <p:cNvPr id="30" name="Text 22"/>
          <p:cNvSpPr txBox="1"/>
          <p:nvPr/>
        </p:nvSpPr>
        <p:spPr>
          <a:xfrm>
            <a:off x="640080" y="4169664"/>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Voranmeldung, Medienanhang und KIDiagnosevorschlag tragen das Alleinstellungsmerkmal im Modell.</a:t>
            </a:r>
            <a:endParaRPr lang="en-US" sz="1000" dirty="0"/>
          </a:p>
        </p:txBody>
      </p:sp>
      <p:sp>
        <p:nvSpPr>
          <p:cNvPr id="31" name="Shape 23"/>
          <p:cNvSpPr/>
          <p:nvPr/>
        </p:nvSpPr>
        <p:spPr>
          <a:xfrm>
            <a:off x="4709160" y="3438144"/>
            <a:ext cx="3977640" cy="1115568"/>
          </a:xfrm>
          <a:prstGeom prst="roundRect">
            <a:avLst>
              <a:gd name="adj" fmla="val 6557"/>
            </a:avLst>
          </a:prstGeom>
          <a:solidFill>
            <a:srgbClr val="0E5E5E"/>
          </a:solidFill>
          <a:ln w="12700">
            <a:solidFill>
              <a:srgbClr val="0E5E5E"/>
            </a:solidFill>
            <a:prstDash val="solid"/>
          </a:ln>
        </p:spPr>
        <p:txBody>
          <a:bodyPr/>
          <a:lstStyle/>
          <a:p>
            <a:endParaRPr lang="de-DE"/>
          </a:p>
        </p:txBody>
      </p:sp>
      <p:sp>
        <p:nvSpPr>
          <p:cNvPr id="32" name="Text 24"/>
          <p:cNvSpPr txBox="1"/>
          <p:nvPr/>
        </p:nvSpPr>
        <p:spPr>
          <a:xfrm>
            <a:off x="4892040" y="3474720"/>
            <a:ext cx="3657600" cy="1051560"/>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27 Klassen · 36 Assoziationen · 7 Aufzählungen</a:t>
            </a:r>
            <a:endParaRPr lang="en-US" sz="1050" dirty="0"/>
          </a:p>
          <a:p>
            <a:pPr marL="0" indent="0">
              <a:buNone/>
            </a:pPr>
            <a:r>
              <a:rPr lang="en-US" sz="1050" dirty="0">
                <a:solidFill>
                  <a:srgbClr val="FFFFFF"/>
                </a:solidFill>
                <a:latin typeface="Calibri" pitchFamily="34" charset="0"/>
                <a:ea typeface="Calibri" pitchFamily="34" charset="-122"/>
                <a:cs typeface="Calibri" pitchFamily="34" charset="-120"/>
              </a:rPr>
              <a:t>Botschaft = Operation: Die sechs Sequenzdiagramme verwenden ausschließlich Operationen dieser Klassen. Der Reparaturauftrag führt den Status als Attribut, das Zustandsdiagramm beschreibt seine Übergänge.</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Vorgehen und Projektmanagement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13</a:t>
            </a:r>
            <a:endParaRPr lang="en-US" sz="900" dirty="0"/>
          </a:p>
        </p:txBody>
      </p:sp>
      <p:sp>
        <p:nvSpPr>
          <p:cNvPr id="6" name="Shape 3"/>
          <p:cNvSpPr/>
          <p:nvPr/>
        </p:nvSpPr>
        <p:spPr>
          <a:xfrm>
            <a:off x="4572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7" name="Text 4"/>
          <p:cNvSpPr txBox="1"/>
          <p:nvPr/>
        </p:nvSpPr>
        <p:spPr>
          <a:xfrm>
            <a:off x="5669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Themenwahl</a:t>
            </a:r>
            <a:endParaRPr lang="en-US" sz="900" dirty="0"/>
          </a:p>
        </p:txBody>
      </p:sp>
      <p:sp>
        <p:nvSpPr>
          <p:cNvPr id="8" name="Shape 5"/>
          <p:cNvSpPr/>
          <p:nvPr/>
        </p:nvSpPr>
        <p:spPr>
          <a:xfrm>
            <a:off x="18288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9" name="Text 6"/>
          <p:cNvSpPr txBox="1"/>
          <p:nvPr/>
        </p:nvSpPr>
        <p:spPr>
          <a:xfrm>
            <a:off x="19385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Konzept + Feedback</a:t>
            </a:r>
            <a:endParaRPr lang="en-US" sz="900" dirty="0"/>
          </a:p>
        </p:txBody>
      </p:sp>
      <p:sp>
        <p:nvSpPr>
          <p:cNvPr id="10" name="Shape 7"/>
          <p:cNvSpPr/>
          <p:nvPr/>
        </p:nvSpPr>
        <p:spPr>
          <a:xfrm>
            <a:off x="32004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11" name="Text 8"/>
          <p:cNvSpPr txBox="1"/>
          <p:nvPr/>
        </p:nvSpPr>
        <p:spPr>
          <a:xfrm>
            <a:off x="33101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Prozessanalyse</a:t>
            </a:r>
            <a:endParaRPr lang="en-US" sz="900" dirty="0"/>
          </a:p>
        </p:txBody>
      </p:sp>
      <p:sp>
        <p:nvSpPr>
          <p:cNvPr id="12" name="Shape 9"/>
          <p:cNvSpPr/>
          <p:nvPr/>
        </p:nvSpPr>
        <p:spPr>
          <a:xfrm>
            <a:off x="45720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13" name="Text 10"/>
          <p:cNvSpPr txBox="1"/>
          <p:nvPr/>
        </p:nvSpPr>
        <p:spPr>
          <a:xfrm>
            <a:off x="46817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BPMN</a:t>
            </a:r>
            <a:endParaRPr lang="en-US" sz="900" dirty="0"/>
          </a:p>
        </p:txBody>
      </p:sp>
      <p:sp>
        <p:nvSpPr>
          <p:cNvPr id="14" name="Shape 11"/>
          <p:cNvSpPr/>
          <p:nvPr/>
        </p:nvSpPr>
        <p:spPr>
          <a:xfrm>
            <a:off x="59436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15" name="Text 12"/>
          <p:cNvSpPr txBox="1"/>
          <p:nvPr/>
        </p:nvSpPr>
        <p:spPr>
          <a:xfrm>
            <a:off x="60533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OOA (UML)</a:t>
            </a:r>
            <a:endParaRPr lang="en-US" sz="900" dirty="0"/>
          </a:p>
        </p:txBody>
      </p:sp>
      <p:sp>
        <p:nvSpPr>
          <p:cNvPr id="16" name="Shape 13"/>
          <p:cNvSpPr/>
          <p:nvPr/>
        </p:nvSpPr>
        <p:spPr>
          <a:xfrm>
            <a:off x="73152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17" name="Text 14"/>
          <p:cNvSpPr txBox="1"/>
          <p:nvPr/>
        </p:nvSpPr>
        <p:spPr>
          <a:xfrm>
            <a:off x="74249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Doku + Präsentation</a:t>
            </a:r>
            <a:endParaRPr lang="en-US" sz="900" dirty="0"/>
          </a:p>
        </p:txBody>
      </p:sp>
      <p:sp>
        <p:nvSpPr>
          <p:cNvPr id="18" name="Shape 15"/>
          <p:cNvSpPr/>
          <p:nvPr/>
        </p:nvSpPr>
        <p:spPr>
          <a:xfrm>
            <a:off x="45720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19" name="Shape 16"/>
          <p:cNvSpPr/>
          <p:nvPr/>
        </p:nvSpPr>
        <p:spPr>
          <a:xfrm>
            <a:off x="64008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0" name="Image 0" descr="preencoded.png"/>
          <p:cNvPicPr>
            <a:picLocks noChangeAspect="1"/>
          </p:cNvPicPr>
          <p:nvPr/>
        </p:nvPicPr>
        <p:blipFill>
          <a:blip r:embed="rId3"/>
          <a:stretch>
            <a:fillRect/>
          </a:stretch>
        </p:blipFill>
        <p:spPr>
          <a:xfrm>
            <a:off x="754380" y="2080260"/>
            <a:ext cx="228600" cy="228600"/>
          </a:xfrm>
          <a:prstGeom prst="rect">
            <a:avLst/>
          </a:prstGeom>
        </p:spPr>
      </p:pic>
      <p:sp>
        <p:nvSpPr>
          <p:cNvPr id="21" name="Text 17"/>
          <p:cNvSpPr txBox="1"/>
          <p:nvPr/>
        </p:nvSpPr>
        <p:spPr>
          <a:xfrm>
            <a:off x="123444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Rollen</a:t>
            </a:r>
            <a:endParaRPr lang="en-US" sz="1400" dirty="0"/>
          </a:p>
        </p:txBody>
      </p:sp>
      <p:sp>
        <p:nvSpPr>
          <p:cNvPr id="22" name="Text 18"/>
          <p:cNvSpPr txBox="1"/>
          <p:nvPr/>
        </p:nvSpPr>
        <p:spPr>
          <a:xfrm>
            <a:off x="64008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Projektleitung Nina (Stellvertretung und Backups David), Product Owner Adrian, Scrum Master Kilian, UML Kilian und David, BPMN Maximilian, Qualität Jakob.</a:t>
            </a:r>
            <a:endParaRPr lang="en-US" sz="1150" dirty="0"/>
          </a:p>
        </p:txBody>
      </p:sp>
      <p:sp>
        <p:nvSpPr>
          <p:cNvPr id="23" name="Shape 19"/>
          <p:cNvSpPr/>
          <p:nvPr/>
        </p:nvSpPr>
        <p:spPr>
          <a:xfrm>
            <a:off x="324612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24" name="Shape 20"/>
          <p:cNvSpPr/>
          <p:nvPr/>
        </p:nvSpPr>
        <p:spPr>
          <a:xfrm>
            <a:off x="342900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5" name="Image 1" descr="preencoded.png"/>
          <p:cNvPicPr>
            <a:picLocks noChangeAspect="1"/>
          </p:cNvPicPr>
          <p:nvPr/>
        </p:nvPicPr>
        <p:blipFill>
          <a:blip r:embed="rId4"/>
          <a:stretch>
            <a:fillRect/>
          </a:stretch>
        </p:blipFill>
        <p:spPr>
          <a:xfrm>
            <a:off x="3543300" y="2080260"/>
            <a:ext cx="228600" cy="228600"/>
          </a:xfrm>
          <a:prstGeom prst="rect">
            <a:avLst/>
          </a:prstGeom>
        </p:spPr>
      </p:pic>
      <p:sp>
        <p:nvSpPr>
          <p:cNvPr id="26" name="Text 21"/>
          <p:cNvSpPr txBox="1"/>
          <p:nvPr/>
        </p:nvSpPr>
        <p:spPr>
          <a:xfrm>
            <a:off x="402336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Zusammenarbeit</a:t>
            </a:r>
            <a:endParaRPr lang="en-US" sz="1400" dirty="0"/>
          </a:p>
        </p:txBody>
      </p:sp>
      <p:sp>
        <p:nvSpPr>
          <p:cNvPr id="27" name="Text 22"/>
          <p:cNvSpPr txBox="1"/>
          <p:nvPr/>
        </p:nvSpPr>
        <p:spPr>
          <a:xfrm>
            <a:off x="342900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Scrum im Takt der vier Gruppentermine, Trello-Board mit einer Liste je Termin und einer Karte je Person und Aufgabe, Prüfung jedes Diagramms im Zweierteam, GitHub mit Branches, Pull Requests und Review.</a:t>
            </a:r>
            <a:endParaRPr lang="en-US" sz="1150" dirty="0"/>
          </a:p>
        </p:txBody>
      </p:sp>
      <p:sp>
        <p:nvSpPr>
          <p:cNvPr id="28" name="Shape 23"/>
          <p:cNvSpPr/>
          <p:nvPr/>
        </p:nvSpPr>
        <p:spPr>
          <a:xfrm>
            <a:off x="603504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29" name="Shape 24"/>
          <p:cNvSpPr/>
          <p:nvPr/>
        </p:nvSpPr>
        <p:spPr>
          <a:xfrm>
            <a:off x="621792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30" name="Image 2" descr="preencoded.png"/>
          <p:cNvPicPr>
            <a:picLocks noChangeAspect="1"/>
          </p:cNvPicPr>
          <p:nvPr/>
        </p:nvPicPr>
        <p:blipFill>
          <a:blip r:embed="rId5"/>
          <a:stretch>
            <a:fillRect/>
          </a:stretch>
        </p:blipFill>
        <p:spPr>
          <a:xfrm>
            <a:off x="6332220" y="2080260"/>
            <a:ext cx="228600" cy="228600"/>
          </a:xfrm>
          <a:prstGeom prst="rect">
            <a:avLst/>
          </a:prstGeom>
        </p:spPr>
      </p:pic>
      <p:sp>
        <p:nvSpPr>
          <p:cNvPr id="31" name="Text 25"/>
          <p:cNvSpPr txBox="1"/>
          <p:nvPr/>
        </p:nvSpPr>
        <p:spPr>
          <a:xfrm>
            <a:off x="681228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Meilensteine</a:t>
            </a:r>
            <a:endParaRPr lang="en-US" sz="1400" dirty="0"/>
          </a:p>
        </p:txBody>
      </p:sp>
      <p:sp>
        <p:nvSpPr>
          <p:cNvPr id="32" name="Text 26"/>
          <p:cNvSpPr txBox="1"/>
          <p:nvPr/>
        </p:nvSpPr>
        <p:spPr>
          <a:xfrm>
            <a:off x="621792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02.09. alle Diagramme im Entwurf, 05.10. Korrekturen aus zwei Gesamtprüfungen, 15.10. Rollenstruktur und Zuständigkeiten, 22.10. Generalprobe, 27.10. Präsentation, 13.11. Abgabe.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Qualität: Konventionen, Linter, Konsistenz</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14</a:t>
            </a:r>
            <a:endParaRPr lang="en-US" sz="900" dirty="0"/>
          </a:p>
        </p:txBody>
      </p:sp>
      <p:sp>
        <p:nvSpPr>
          <p:cNvPr id="6" name="Shape 3"/>
          <p:cNvSpPr/>
          <p:nvPr/>
        </p:nvSpPr>
        <p:spPr>
          <a:xfrm>
            <a:off x="45720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Konventionen</a:t>
            </a:r>
            <a:endParaRPr lang="en-US" sz="1400" dirty="0"/>
          </a:p>
        </p:txBody>
      </p:sp>
      <p:sp>
        <p:nvSpPr>
          <p:cNvPr id="10" name="Text 6"/>
          <p:cNvSpPr txBox="1"/>
          <p:nvPr/>
        </p:nvSpPr>
        <p:spPr>
          <a:xfrm>
            <a:off x="64008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Datenobjekte tragen Klassennamen. Aktivität = Verb + Objekt, Ereignis im Partizip Perfekt. Jede Rolle gehört zu genau einer Lane und einer Klasse. Statuswerte in allen Modellen identisch.</a:t>
            </a:r>
            <a:endParaRPr lang="en-US" sz="1050" dirty="0"/>
          </a:p>
        </p:txBody>
      </p:sp>
      <p:sp>
        <p:nvSpPr>
          <p:cNvPr id="11" name="Shape 7"/>
          <p:cNvSpPr/>
          <p:nvPr/>
        </p:nvSpPr>
        <p:spPr>
          <a:xfrm>
            <a:off x="324612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342900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3543300" y="1303020"/>
            <a:ext cx="228600" cy="228600"/>
          </a:xfrm>
          <a:prstGeom prst="rect">
            <a:avLst/>
          </a:prstGeom>
        </p:spPr>
      </p:pic>
      <p:sp>
        <p:nvSpPr>
          <p:cNvPr id="14" name="Text 9"/>
          <p:cNvSpPr txBox="1"/>
          <p:nvPr/>
        </p:nvSpPr>
        <p:spPr>
          <a:xfrm>
            <a:off x="402336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Werkzeuge</a:t>
            </a:r>
            <a:endParaRPr lang="en-US" sz="1400" dirty="0"/>
          </a:p>
        </p:txBody>
      </p:sp>
      <p:sp>
        <p:nvSpPr>
          <p:cNvPr id="15" name="Text 10"/>
          <p:cNvSpPr txBox="1"/>
          <p:nvPr/>
        </p:nvSpPr>
        <p:spPr>
          <a:xfrm>
            <a:off x="342900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BPMN-Dateien angereichert für Camunda 8: Task-Definitionen, Subscriptions, Timer, FEEL-Bedingungen. Camunda-Linter und bpmnlint: 0 Befunde.</a:t>
            </a:r>
            <a:endParaRPr lang="en-US" sz="1050" dirty="0"/>
          </a:p>
        </p:txBody>
      </p:sp>
      <p:sp>
        <p:nvSpPr>
          <p:cNvPr id="16" name="Shape 11"/>
          <p:cNvSpPr/>
          <p:nvPr/>
        </p:nvSpPr>
        <p:spPr>
          <a:xfrm>
            <a:off x="603504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21792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6332220" y="1303020"/>
            <a:ext cx="228600" cy="228600"/>
          </a:xfrm>
          <a:prstGeom prst="rect">
            <a:avLst/>
          </a:prstGeom>
        </p:spPr>
      </p:pic>
      <p:sp>
        <p:nvSpPr>
          <p:cNvPr id="19" name="Text 13"/>
          <p:cNvSpPr txBox="1"/>
          <p:nvPr/>
        </p:nvSpPr>
        <p:spPr>
          <a:xfrm>
            <a:off x="681228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Prüfrunden</a:t>
            </a:r>
            <a:endParaRPr lang="en-US" sz="1400" dirty="0"/>
          </a:p>
        </p:txBody>
      </p:sp>
      <p:sp>
        <p:nvSpPr>
          <p:cNvPr id="20" name="Text 14"/>
          <p:cNvSpPr txBox="1"/>
          <p:nvPr/>
        </p:nvSpPr>
        <p:spPr>
          <a:xfrm>
            <a:off x="621792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Gesamtprüfung 26.09., Komplettcheck 05.10. (39 Befunde), QA-Abgleich 08.10. Jeder Pull Request wird gegen die QA-Checkliste geprüft, bevor er gemergt wird.</a:t>
            </a:r>
            <a:endParaRPr lang="en-US" sz="1050" dirty="0"/>
          </a:p>
        </p:txBody>
      </p:sp>
      <p:sp>
        <p:nvSpPr>
          <p:cNvPr id="21" name="Shape 15"/>
          <p:cNvSpPr/>
          <p:nvPr/>
        </p:nvSpPr>
        <p:spPr>
          <a:xfrm>
            <a:off x="457200" y="3429000"/>
            <a:ext cx="8229600" cy="1143000"/>
          </a:xfrm>
          <a:prstGeom prst="roundRect">
            <a:avLst>
              <a:gd name="adj" fmla="val 6400"/>
            </a:avLst>
          </a:prstGeom>
          <a:solidFill>
            <a:srgbClr val="FFF4D6"/>
          </a:solidFill>
          <a:ln w="12700">
            <a:solidFill>
              <a:srgbClr val="FFF4D6"/>
            </a:solidFill>
            <a:prstDash val="solid"/>
          </a:ln>
        </p:spPr>
        <p:txBody>
          <a:bodyPr/>
          <a:lstStyle/>
          <a:p>
            <a:endParaRPr lang="de-DE"/>
          </a:p>
        </p:txBody>
      </p:sp>
      <p:sp>
        <p:nvSpPr>
          <p:cNvPr id="22" name="Shape 16"/>
          <p:cNvSpPr/>
          <p:nvPr/>
        </p:nvSpPr>
        <p:spPr>
          <a:xfrm>
            <a:off x="640080" y="361188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754380" y="3726180"/>
            <a:ext cx="228600" cy="228600"/>
          </a:xfrm>
          <a:prstGeom prst="rect">
            <a:avLst/>
          </a:prstGeom>
        </p:spPr>
      </p:pic>
      <p:sp>
        <p:nvSpPr>
          <p:cNvPr id="24" name="Text 17"/>
          <p:cNvSpPr txBox="1"/>
          <p:nvPr/>
        </p:nvSpPr>
        <p:spPr>
          <a:xfrm>
            <a:off x="1234440" y="3474720"/>
            <a:ext cx="7315200" cy="1051560"/>
          </a:xfrm>
          <a:prstGeom prst="rect">
            <a:avLst/>
          </a:prstGeom>
          <a:noFill/>
          <a:ln/>
        </p:spPr>
        <p:txBody>
          <a:bodyPr wrap="square" lIns="0" tIns="0" rIns="0" bIns="0" rtlCol="0" anchor="ctr"/>
          <a:lstStyle/>
          <a:p>
            <a:pPr marL="0" indent="0">
              <a:buNone/>
            </a:pPr>
            <a:r>
              <a:rPr lang="en-US" sz="1100" b="1" dirty="0">
                <a:solidFill>
                  <a:srgbClr val="1B2430"/>
                </a:solidFill>
                <a:latin typeface="Calibri" pitchFamily="34" charset="0"/>
                <a:ea typeface="Calibri" pitchFamily="34" charset="-122"/>
                <a:cs typeface="Calibri" pitchFamily="34" charset="-120"/>
              </a:rPr>
              <a:t>Beispiel: </a:t>
            </a:r>
            <a:r>
              <a:rPr lang="en-US" sz="1100" dirty="0">
                <a:solidFill>
                  <a:srgbClr val="1B2430"/>
                </a:solidFill>
                <a:latin typeface="Calibri" pitchFamily="34" charset="0"/>
                <a:ea typeface="Calibri" pitchFamily="34" charset="-122"/>
                <a:cs typeface="Calibri" pitchFamily="34" charset="-120"/>
              </a:rPr>
              <a:t>Als die Nacharbeit in Prozess 07 auf zwei Durchläufe begrenzt wurde, musste Sequenzdiagramm SD4 nachziehen (loop 0..2, danach Status abgelehnt). Genau solche Stellen findet die Checkliste: Botschaft = Operation, Lebenslinie = Rolle oder Klasse, Zustand = AuftragStatus.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Herausforderungen und Lernerfahrungen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15</a:t>
            </a:r>
            <a:endParaRPr lang="en-US" sz="900" dirty="0"/>
          </a:p>
        </p:txBody>
      </p:sp>
      <p:sp>
        <p:nvSpPr>
          <p:cNvPr id="6" name="Shape 3"/>
          <p:cNvSpPr/>
          <p:nvPr/>
        </p:nvSpPr>
        <p:spPr>
          <a:xfrm>
            <a:off x="457200" y="100584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Perspektive klären</a:t>
            </a:r>
            <a:endParaRPr lang="en-US" sz="1400" dirty="0"/>
          </a:p>
        </p:txBody>
      </p:sp>
      <p:sp>
        <p:nvSpPr>
          <p:cNvPr id="10" name="Text 6"/>
          <p:cNvSpPr txBox="1"/>
          <p:nvPr/>
        </p:nvSpPr>
        <p:spPr>
          <a:xfrm>
            <a:off x="64008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Werkstatt oder Softwareanbieter? Die Rückfrage des Dozenten hat uns zur klaren Entscheidung gezwungen: Solution Provider, FixWerk als Pilotkunde. Prozesse blieben, Texte und Klassenmodell zogen nach.</a:t>
            </a:r>
            <a:endParaRPr lang="en-US" sz="1150" dirty="0"/>
          </a:p>
        </p:txBody>
      </p:sp>
      <p:sp>
        <p:nvSpPr>
          <p:cNvPr id="11" name="Shape 7"/>
          <p:cNvSpPr/>
          <p:nvPr/>
        </p:nvSpPr>
        <p:spPr>
          <a:xfrm>
            <a:off x="4709160" y="100584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Drei Modelle, ein Vokabular</a:t>
            </a:r>
            <a:endParaRPr lang="en-US" sz="1400" dirty="0"/>
          </a:p>
        </p:txBody>
      </p:sp>
      <p:sp>
        <p:nvSpPr>
          <p:cNvPr id="15" name="Text 10"/>
          <p:cNvSpPr txBox="1"/>
          <p:nvPr/>
        </p:nvSpPr>
        <p:spPr>
          <a:xfrm>
            <a:off x="489204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Datenobjekte, Klassen, Lebenslinien und Statuswerte müssen wortgleich sein. Gemeinsame Namensregeln und ein Abgleich nach jeder Änderung halten die Modelle zusammen.</a:t>
            </a:r>
            <a:endParaRPr lang="en-US" sz="1150" dirty="0"/>
          </a:p>
        </p:txBody>
      </p:sp>
      <p:sp>
        <p:nvSpPr>
          <p:cNvPr id="16" name="Shape 11"/>
          <p:cNvSpPr/>
          <p:nvPr/>
        </p:nvSpPr>
        <p:spPr>
          <a:xfrm>
            <a:off x="457200" y="288036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40080" y="3063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754380" y="3177540"/>
            <a:ext cx="228600" cy="228600"/>
          </a:xfrm>
          <a:prstGeom prst="rect">
            <a:avLst/>
          </a:prstGeom>
        </p:spPr>
      </p:pic>
      <p:sp>
        <p:nvSpPr>
          <p:cNvPr id="19" name="Text 13"/>
          <p:cNvSpPr txBox="1"/>
          <p:nvPr/>
        </p:nvSpPr>
        <p:spPr>
          <a:xfrm>
            <a:off x="1234440" y="3044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Engine-ready statt Fehlerliste</a:t>
            </a:r>
            <a:endParaRPr lang="en-US" sz="1400" dirty="0"/>
          </a:p>
        </p:txBody>
      </p:sp>
      <p:sp>
        <p:nvSpPr>
          <p:cNvPr id="20" name="Text 14"/>
          <p:cNvSpPr txBox="1"/>
          <p:nvPr/>
        </p:nvSpPr>
        <p:spPr>
          <a:xfrm>
            <a:off x="64008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Der Camunda Modeler meldet für Camunda 8 fehlende technische Details als Fehler. Wir haben die Diagramme angereichert, bis der Linter keine Befunde mehr meldete.</a:t>
            </a:r>
            <a:endParaRPr lang="en-US" sz="1150" dirty="0"/>
          </a:p>
        </p:txBody>
      </p:sp>
      <p:sp>
        <p:nvSpPr>
          <p:cNvPr id="21" name="Shape 15"/>
          <p:cNvSpPr/>
          <p:nvPr/>
        </p:nvSpPr>
        <p:spPr>
          <a:xfrm>
            <a:off x="4709160" y="288036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22" name="Shape 16"/>
          <p:cNvSpPr/>
          <p:nvPr/>
        </p:nvSpPr>
        <p:spPr>
          <a:xfrm>
            <a:off x="4892040" y="3063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5006340" y="3177540"/>
            <a:ext cx="228600" cy="228600"/>
          </a:xfrm>
          <a:prstGeom prst="rect">
            <a:avLst/>
          </a:prstGeom>
        </p:spPr>
      </p:pic>
      <p:sp>
        <p:nvSpPr>
          <p:cNvPr id="24" name="Text 17"/>
          <p:cNvSpPr txBox="1"/>
          <p:nvPr/>
        </p:nvSpPr>
        <p:spPr>
          <a:xfrm>
            <a:off x="5486400" y="3044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Hinweise von außen nutzen</a:t>
            </a:r>
            <a:endParaRPr lang="en-US" sz="1400" dirty="0"/>
          </a:p>
        </p:txBody>
      </p:sp>
      <p:sp>
        <p:nvSpPr>
          <p:cNvPr id="25" name="Text 18"/>
          <p:cNvSpPr txBox="1"/>
          <p:nvPr/>
        </p:nvSpPr>
        <p:spPr>
          <a:xfrm>
            <a:off x="489204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Die KI-Vision glaubwürdig halten (heute machbar vs. Vision) und das Use-Case-Diagramm nach dem Coaching auf eine Rolle je Use Case umbauen: Beides hat die Arbeit deutlich besser gemacht.</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Geschäftsmodell und Ausblick</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16</a:t>
            </a:r>
            <a:endParaRPr lang="en-US" sz="900" dirty="0"/>
          </a:p>
        </p:txBody>
      </p:sp>
      <p:sp>
        <p:nvSpPr>
          <p:cNvPr id="6" name="Shape 3"/>
          <p:cNvSpPr/>
          <p:nvPr/>
        </p:nvSpPr>
        <p:spPr>
          <a:xfrm>
            <a:off x="457200" y="1005840"/>
            <a:ext cx="3977640" cy="1600200"/>
          </a:xfrm>
          <a:prstGeom prst="roundRect">
            <a:avLst>
              <a:gd name="adj" fmla="val 4571"/>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Abo je Filiale</a:t>
            </a:r>
            <a:endParaRPr lang="en-US" sz="1400" dirty="0"/>
          </a:p>
        </p:txBody>
      </p:sp>
      <p:sp>
        <p:nvSpPr>
          <p:cNvPr id="10" name="Text 6"/>
          <p:cNvSpPr txBox="1"/>
          <p:nvPr/>
        </p:nvSpPr>
        <p:spPr>
          <a:xfrm>
            <a:off x="640080" y="1737360"/>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Basis: Auftrags- und Kundenverwaltung mit Kundenportal. Pro: zusätzlich filialübergreifende Disposition und KI-Sofortdiagnose.</a:t>
            </a:r>
            <a:endParaRPr lang="en-US" sz="1150" dirty="0"/>
          </a:p>
        </p:txBody>
      </p:sp>
      <p:sp>
        <p:nvSpPr>
          <p:cNvPr id="11" name="Shape 7"/>
          <p:cNvSpPr/>
          <p:nvPr/>
        </p:nvSpPr>
        <p:spPr>
          <a:xfrm>
            <a:off x="4709160" y="1005840"/>
            <a:ext cx="3977640" cy="1600200"/>
          </a:xfrm>
          <a:prstGeom prst="roundRect">
            <a:avLst>
              <a:gd name="adj" fmla="val 4571"/>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Zielkunden</a:t>
            </a:r>
            <a:endParaRPr lang="en-US" sz="1400" dirty="0"/>
          </a:p>
        </p:txBody>
      </p:sp>
      <p:sp>
        <p:nvSpPr>
          <p:cNvPr id="15" name="Text 10"/>
          <p:cNvSpPr txBox="1"/>
          <p:nvPr/>
        </p:nvSpPr>
        <p:spPr>
          <a:xfrm>
            <a:off x="4892040" y="1737360"/>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Unabhängige Werkstätten und kleine Ketten mit 2 bis 10 Filialen im DACH-Raum, für die ein großes Werkstattsystem zu schwer ist.</a:t>
            </a:r>
            <a:endParaRPr lang="en-US" sz="1150" dirty="0"/>
          </a:p>
        </p:txBody>
      </p:sp>
      <p:sp>
        <p:nvSpPr>
          <p:cNvPr id="16" name="Text 11"/>
          <p:cNvSpPr txBox="1"/>
          <p:nvPr/>
        </p:nvSpPr>
        <p:spPr>
          <a:xfrm>
            <a:off x="457200" y="2743200"/>
            <a:ext cx="8229600" cy="274320"/>
          </a:xfrm>
          <a:prstGeom prst="rect">
            <a:avLst/>
          </a:prstGeom>
          <a:noFill/>
          <a:ln/>
        </p:spPr>
        <p:txBody>
          <a:bodyPr wrap="square" lIns="0" tIns="0" rIns="0" bIns="0" rtlCol="0" anchor="ctr"/>
          <a:lstStyle/>
          <a:p>
            <a:pPr marL="0" indent="0">
              <a:buNone/>
            </a:pPr>
            <a:r>
              <a:rPr lang="en-US" sz="1300" b="1" dirty="0">
                <a:solidFill>
                  <a:srgbClr val="F2A900"/>
                </a:solidFill>
                <a:latin typeface="Calibri" pitchFamily="34" charset="0"/>
                <a:ea typeface="Calibri" pitchFamily="34" charset="-122"/>
                <a:cs typeface="Calibri" pitchFamily="34" charset="-120"/>
              </a:rPr>
              <a:t>Ausblick (Vision, nicht modelliert)</a:t>
            </a:r>
            <a:endParaRPr lang="en-US" sz="1300" dirty="0"/>
          </a:p>
        </p:txBody>
      </p:sp>
      <p:sp>
        <p:nvSpPr>
          <p:cNvPr id="17" name="Shape 12"/>
          <p:cNvSpPr/>
          <p:nvPr/>
        </p:nvSpPr>
        <p:spPr>
          <a:xfrm>
            <a:off x="457200" y="3063240"/>
            <a:ext cx="2651760" cy="1508760"/>
          </a:xfrm>
          <a:prstGeom prst="roundRect">
            <a:avLst>
              <a:gd name="adj" fmla="val 4848"/>
            </a:avLst>
          </a:prstGeom>
          <a:solidFill>
            <a:srgbClr val="FFF4D6"/>
          </a:solidFill>
          <a:ln w="12700">
            <a:solidFill>
              <a:srgbClr val="FFF4D6"/>
            </a:solidFill>
            <a:prstDash val="solid"/>
          </a:ln>
        </p:spPr>
        <p:txBody>
          <a:bodyPr/>
          <a:lstStyle/>
          <a:p>
            <a:endParaRPr lang="de-DE"/>
          </a:p>
        </p:txBody>
      </p:sp>
      <p:sp>
        <p:nvSpPr>
          <p:cNvPr id="18" name="Shape 13"/>
          <p:cNvSpPr/>
          <p:nvPr/>
        </p:nvSpPr>
        <p:spPr>
          <a:xfrm>
            <a:off x="640080" y="324612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19" name="Image 2" descr="preencoded.png"/>
          <p:cNvPicPr>
            <a:picLocks noChangeAspect="1"/>
          </p:cNvPicPr>
          <p:nvPr/>
        </p:nvPicPr>
        <p:blipFill>
          <a:blip r:embed="rId5"/>
          <a:stretch>
            <a:fillRect/>
          </a:stretch>
        </p:blipFill>
        <p:spPr>
          <a:xfrm>
            <a:off x="754380" y="3360420"/>
            <a:ext cx="228600" cy="228600"/>
          </a:xfrm>
          <a:prstGeom prst="rect">
            <a:avLst/>
          </a:prstGeom>
        </p:spPr>
      </p:pic>
      <p:sp>
        <p:nvSpPr>
          <p:cNvPr id="20" name="Text 14"/>
          <p:cNvSpPr txBox="1"/>
          <p:nvPr/>
        </p:nvSpPr>
        <p:spPr>
          <a:xfrm>
            <a:off x="1234440" y="32278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Predictive Disposition</a:t>
            </a:r>
            <a:endParaRPr lang="en-US" sz="1400" dirty="0"/>
          </a:p>
        </p:txBody>
      </p:sp>
      <p:sp>
        <p:nvSpPr>
          <p:cNvPr id="21" name="Text 15"/>
          <p:cNvSpPr txBox="1"/>
          <p:nvPr/>
        </p:nvSpPr>
        <p:spPr>
          <a:xfrm>
            <a:off x="640080" y="3794760"/>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Bedarfsprognose je Filiale und Saison, damit Teile vor der Nachfrage im Lager liegen.</a:t>
            </a:r>
            <a:endParaRPr lang="en-US" sz="1050" dirty="0"/>
          </a:p>
        </p:txBody>
      </p:sp>
      <p:sp>
        <p:nvSpPr>
          <p:cNvPr id="22" name="Shape 16"/>
          <p:cNvSpPr/>
          <p:nvPr/>
        </p:nvSpPr>
        <p:spPr>
          <a:xfrm>
            <a:off x="3246120" y="3063240"/>
            <a:ext cx="2651760" cy="1508760"/>
          </a:xfrm>
          <a:prstGeom prst="roundRect">
            <a:avLst>
              <a:gd name="adj" fmla="val 4848"/>
            </a:avLst>
          </a:prstGeom>
          <a:solidFill>
            <a:srgbClr val="FFF4D6"/>
          </a:solidFill>
          <a:ln w="12700">
            <a:solidFill>
              <a:srgbClr val="FFF4D6"/>
            </a:solidFill>
            <a:prstDash val="solid"/>
          </a:ln>
        </p:spPr>
        <p:txBody>
          <a:bodyPr/>
          <a:lstStyle/>
          <a:p>
            <a:endParaRPr lang="de-DE"/>
          </a:p>
        </p:txBody>
      </p:sp>
      <p:sp>
        <p:nvSpPr>
          <p:cNvPr id="23" name="Shape 17"/>
          <p:cNvSpPr/>
          <p:nvPr/>
        </p:nvSpPr>
        <p:spPr>
          <a:xfrm>
            <a:off x="3429000" y="324612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24" name="Image 3" descr="preencoded.png"/>
          <p:cNvPicPr>
            <a:picLocks noChangeAspect="1"/>
          </p:cNvPicPr>
          <p:nvPr/>
        </p:nvPicPr>
        <p:blipFill>
          <a:blip r:embed="rId6"/>
          <a:stretch>
            <a:fillRect/>
          </a:stretch>
        </p:blipFill>
        <p:spPr>
          <a:xfrm>
            <a:off x="3543300" y="3360420"/>
            <a:ext cx="228600" cy="228600"/>
          </a:xfrm>
          <a:prstGeom prst="rect">
            <a:avLst/>
          </a:prstGeom>
        </p:spPr>
      </p:pic>
      <p:sp>
        <p:nvSpPr>
          <p:cNvPr id="25" name="Text 18"/>
          <p:cNvSpPr txBox="1"/>
          <p:nvPr/>
        </p:nvSpPr>
        <p:spPr>
          <a:xfrm>
            <a:off x="4023360" y="32278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Techniker-Copilot</a:t>
            </a:r>
            <a:endParaRPr lang="en-US" sz="1400" dirty="0"/>
          </a:p>
        </p:txBody>
      </p:sp>
      <p:sp>
        <p:nvSpPr>
          <p:cNvPr id="26" name="Text 19"/>
          <p:cNvSpPr txBox="1"/>
          <p:nvPr/>
        </p:nvSpPr>
        <p:spPr>
          <a:xfrm>
            <a:off x="3429000" y="3794760"/>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Reparaturschritte und Aufwand aus der Historie ähnlicher Aufträge vorschlagen.</a:t>
            </a:r>
            <a:endParaRPr lang="en-US" sz="1050" dirty="0"/>
          </a:p>
        </p:txBody>
      </p:sp>
      <p:sp>
        <p:nvSpPr>
          <p:cNvPr id="27" name="Shape 20"/>
          <p:cNvSpPr/>
          <p:nvPr/>
        </p:nvSpPr>
        <p:spPr>
          <a:xfrm>
            <a:off x="6035040" y="3063240"/>
            <a:ext cx="2651760" cy="1508760"/>
          </a:xfrm>
          <a:prstGeom prst="roundRect">
            <a:avLst>
              <a:gd name="adj" fmla="val 4848"/>
            </a:avLst>
          </a:prstGeom>
          <a:solidFill>
            <a:srgbClr val="FFF4D6"/>
          </a:solidFill>
          <a:ln w="12700">
            <a:solidFill>
              <a:srgbClr val="FFF4D6"/>
            </a:solidFill>
            <a:prstDash val="solid"/>
          </a:ln>
        </p:spPr>
        <p:txBody>
          <a:bodyPr/>
          <a:lstStyle/>
          <a:p>
            <a:endParaRPr lang="de-DE"/>
          </a:p>
        </p:txBody>
      </p:sp>
      <p:sp>
        <p:nvSpPr>
          <p:cNvPr id="28" name="Shape 21"/>
          <p:cNvSpPr/>
          <p:nvPr/>
        </p:nvSpPr>
        <p:spPr>
          <a:xfrm>
            <a:off x="6217920" y="324612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29" name="Image 4" descr="preencoded.png"/>
          <p:cNvPicPr>
            <a:picLocks noChangeAspect="1"/>
          </p:cNvPicPr>
          <p:nvPr/>
        </p:nvPicPr>
        <p:blipFill>
          <a:blip r:embed="rId7"/>
          <a:stretch>
            <a:fillRect/>
          </a:stretch>
        </p:blipFill>
        <p:spPr>
          <a:xfrm>
            <a:off x="6332220" y="3360420"/>
            <a:ext cx="228600" cy="228600"/>
          </a:xfrm>
          <a:prstGeom prst="rect">
            <a:avLst/>
          </a:prstGeom>
        </p:spPr>
      </p:pic>
      <p:sp>
        <p:nvSpPr>
          <p:cNvPr id="30" name="Text 22"/>
          <p:cNvSpPr txBox="1"/>
          <p:nvPr/>
        </p:nvSpPr>
        <p:spPr>
          <a:xfrm>
            <a:off x="6812280" y="32278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Digitale Geräteakte</a:t>
            </a:r>
            <a:endParaRPr lang="en-US" sz="1400" dirty="0"/>
          </a:p>
        </p:txBody>
      </p:sp>
      <p:sp>
        <p:nvSpPr>
          <p:cNvPr id="31" name="Text 23"/>
          <p:cNvSpPr txBox="1"/>
          <p:nvPr/>
        </p:nvSpPr>
        <p:spPr>
          <a:xfrm>
            <a:off x="6217920" y="3794760"/>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Jedes Gerät behält seine Reparaturgeschichte über alle Filialen und Besitzer.</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Fazit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CFE3E3"/>
                </a:solidFill>
                <a:latin typeface="Calibri" pitchFamily="34" charset="0"/>
                <a:ea typeface="Calibri" pitchFamily="34" charset="-122"/>
                <a:cs typeface="Calibri" pitchFamily="34" charset="-120"/>
              </a:rPr>
              <a:t>17</a:t>
            </a:r>
            <a:endParaRPr lang="en-US" sz="900" dirty="0"/>
          </a:p>
        </p:txBody>
      </p:sp>
      <p:sp>
        <p:nvSpPr>
          <p:cNvPr id="6" name="Text 3"/>
          <p:cNvSpPr txBox="1"/>
          <p:nvPr/>
        </p:nvSpPr>
        <p:spPr>
          <a:xfrm>
            <a:off x="548640" y="1097280"/>
            <a:ext cx="7863840" cy="1554480"/>
          </a:xfrm>
          <a:prstGeom prst="rect">
            <a:avLst/>
          </a:prstGeom>
          <a:noFill/>
          <a:ln/>
        </p:spPr>
        <p:txBody>
          <a:bodyPr wrap="square" lIns="0" tIns="0" rIns="0" bIns="0" rtlCol="0" anchor="t"/>
          <a:lstStyle/>
          <a:p>
            <a:pPr marL="0" indent="0">
              <a:spcAft>
                <a:spcPts val="1000"/>
              </a:spcAft>
              <a:buNone/>
            </a:pPr>
            <a:r>
              <a:rPr lang="en-US" sz="1600" dirty="0">
                <a:solidFill>
                  <a:srgbClr val="FFFFFF"/>
                </a:solidFill>
                <a:latin typeface="Calibri" pitchFamily="34" charset="0"/>
                <a:ea typeface="Calibri" pitchFamily="34" charset="-122"/>
                <a:cs typeface="Calibri" pitchFamily="34" charset="-120"/>
              </a:rPr>
              <a:t>RepairFlow löst den Medienbruch aus Papier, Excel und Telefon und macht den Reparaturauftrag zum zentralen Zustandsautomaten.</a:t>
            </a:r>
            <a:endParaRPr lang="en-US" sz="1600" dirty="0"/>
          </a:p>
          <a:p>
            <a:pPr marL="0" indent="0">
              <a:spcAft>
                <a:spcPts val="1000"/>
              </a:spcAft>
              <a:buNone/>
            </a:pPr>
            <a:r>
              <a:rPr lang="en-US" sz="1600" dirty="0">
                <a:solidFill>
                  <a:srgbClr val="FFFFFF"/>
                </a:solidFill>
                <a:latin typeface="Calibri" pitchFamily="34" charset="0"/>
                <a:ea typeface="Calibri" pitchFamily="34" charset="-122"/>
                <a:cs typeface="Calibri" pitchFamily="34" charset="-120"/>
              </a:rPr>
              <a:t>Der fachliche Mehrwert liegt in der filialübergreifenden Disposition und in der KI-Sofortdiagnose, die dem Kunden Klarheit gibt, bevor er die Werkstatt betritt.</a:t>
            </a:r>
            <a:endParaRPr lang="en-US" sz="1600" dirty="0"/>
          </a:p>
        </p:txBody>
      </p:sp>
      <p:sp>
        <p:nvSpPr>
          <p:cNvPr id="7" name="Text 4"/>
          <p:cNvSpPr txBox="1"/>
          <p:nvPr/>
        </p:nvSpPr>
        <p:spPr>
          <a:xfrm>
            <a:off x="548640" y="2834640"/>
            <a:ext cx="7315200" cy="731520"/>
          </a:xfrm>
          <a:prstGeom prst="rect">
            <a:avLst/>
          </a:prstGeom>
          <a:noFill/>
          <a:ln/>
        </p:spPr>
        <p:txBody>
          <a:bodyPr wrap="square" lIns="0" tIns="0" rIns="0" bIns="0"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Vielen Dank</a:t>
            </a:r>
            <a:endParaRPr lang="en-US" sz="4000" dirty="0"/>
          </a:p>
        </p:txBody>
      </p:sp>
      <p:sp>
        <p:nvSpPr>
          <p:cNvPr id="8" name="Text 5"/>
          <p:cNvSpPr txBox="1"/>
          <p:nvPr/>
        </p:nvSpPr>
        <p:spPr>
          <a:xfrm>
            <a:off x="548640" y="3566160"/>
            <a:ext cx="7315200" cy="457200"/>
          </a:xfrm>
          <a:prstGeom prst="rect">
            <a:avLst/>
          </a:prstGeom>
          <a:noFill/>
          <a:ln/>
        </p:spPr>
        <p:txBody>
          <a:bodyPr wrap="square" lIns="0" tIns="0" rIns="0" bIns="0" rtlCol="0" anchor="ctr"/>
          <a:lstStyle/>
          <a:p>
            <a:pPr marL="0" indent="0">
              <a:buNone/>
            </a:pPr>
            <a:r>
              <a:rPr lang="en-US" sz="2200" dirty="0">
                <a:solidFill>
                  <a:srgbClr val="CFE3E3"/>
                </a:solidFill>
                <a:latin typeface="Calibri" pitchFamily="34" charset="0"/>
                <a:ea typeface="Calibri" pitchFamily="34" charset="-122"/>
                <a:cs typeface="Calibri" pitchFamily="34" charset="-120"/>
              </a:rPr>
              <a:t>Fragen?</a:t>
            </a:r>
            <a:endParaRPr lang="en-US" sz="2200" dirty="0"/>
          </a:p>
        </p:txBody>
      </p:sp>
      <p:sp>
        <p:nvSpPr>
          <p:cNvPr id="9" name="Text 6"/>
          <p:cNvSpPr txBox="1"/>
          <p:nvPr/>
        </p:nvSpPr>
        <p:spPr>
          <a:xfrm>
            <a:off x="548640" y="4114800"/>
            <a:ext cx="731520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Gruppe 1 · WWI25B4 · RepairFlow · Diagramme und Details in der Projektdokumentation</a:t>
            </a:r>
            <a:endParaRPr lang="en-US" sz="1200" dirty="0"/>
          </a:p>
        </p:txBody>
      </p:sp>
      <p:sp>
        <p:nvSpPr>
          <p:cNvPr id="10" name="Shape 7"/>
          <p:cNvSpPr/>
          <p:nvPr/>
        </p:nvSpPr>
        <p:spPr>
          <a:xfrm>
            <a:off x="7315200" y="2834640"/>
            <a:ext cx="914400" cy="914400"/>
          </a:xfrm>
          <a:prstGeom prst="ellipse">
            <a:avLst/>
          </a:prstGeom>
          <a:solidFill>
            <a:srgbClr val="F2A900"/>
          </a:solidFill>
          <a:ln w="12700">
            <a:solidFill>
              <a:srgbClr val="F2A900"/>
            </a:solidFill>
            <a:prstDash val="solid"/>
          </a:ln>
        </p:spPr>
        <p:txBody>
          <a:bodyPr/>
          <a:lstStyle/>
          <a:p>
            <a:endParaRPr lang="de-DE"/>
          </a:p>
        </p:txBody>
      </p:sp>
      <p:pic>
        <p:nvPicPr>
          <p:cNvPr id="11" name="Image 0" descr="preencoded.png"/>
          <p:cNvPicPr>
            <a:picLocks noChangeAspect="1"/>
          </p:cNvPicPr>
          <p:nvPr/>
        </p:nvPicPr>
        <p:blipFill>
          <a:blip r:embed="rId3"/>
          <a:stretch>
            <a:fillRect/>
          </a:stretch>
        </p:blipFill>
        <p:spPr>
          <a:xfrm>
            <a:off x="7543800" y="3063240"/>
            <a:ext cx="457200" cy="4572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Anhang: Beiträge der Vortragenden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18</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3200400"/>
        </p:xfrm>
        <a:graphic>
          <a:graphicData uri="http://schemas.openxmlformats.org/drawingml/2006/table">
            <a:tbl>
              <a:tblPr/>
              <a:tblGrid>
                <a:gridCol w="15544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5669280">
                  <a:extLst>
                    <a:ext uri="{9D8B030D-6E8A-4147-A177-3AD203B41FA5}">
                      <a16:colId xmlns:a16="http://schemas.microsoft.com/office/drawing/2014/main" val="20002"/>
                    </a:ext>
                  </a:extLst>
                </a:gridCol>
              </a:tblGrid>
              <a:tr h="45720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Vortragende(r)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Folien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Verantworteter Beitrag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extLst>
                  <a:ext uri="{0D108BD9-81ED-4DB2-BD59-A6C34878D82A}">
                    <a16:rowId xmlns:a16="http://schemas.microsoft.com/office/drawing/2014/main" val="10000"/>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Nina Sattler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1–2, 16–17</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Einleitung und Agenda, Geschäftsmodell und Ausblick, Fazit, Moderation der Fragerunde; Projektleitung, Redaktion der Dokumentation, Abgabe-Archiv</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David Leismann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3, 6, 11</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Das Problem, Auftragsreise, Rollen und Use Cases; Use-Case-Diagramm und Sequenzdiagramme SD2, SD3, SD5, SD6 in Visual Paradigm, stellvertretende Projektleitung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Adrian Wenzler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4–5, 7</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Lösung, Nutzenversprechen, KI-Sofortdiagnose; Product Owner, Fachkonzept und Entscheidungslog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Maximilian Ewald</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8–10</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Ergebnisse in Zahlen, Prozesslandkarte, Prozess-Highlights; BPMN-Modellierung der zehn Prozesse im Camunda Modeler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Kilian Platter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12–13</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Datenmodell, Vorgehen und Projektmanagement; Klassendiagramm, SD1, SD4 und VP-Projekt, Scrum Master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Jakob Schwan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14–15</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Qualität, Herausforderungen; Qualitätssicherung, Reviews und Konsistenz der Modelle</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7" name="Text 3"/>
          <p:cNvSpPr txBox="1"/>
          <p:nvPr/>
        </p:nvSpPr>
        <p:spPr>
          <a:xfrm>
            <a:off x="457200" y="4251960"/>
            <a:ext cx="8229600" cy="274320"/>
          </a:xfrm>
          <a:prstGeom prst="rect">
            <a:avLst/>
          </a:prstGeom>
          <a:noFill/>
          <a:ln/>
        </p:spPr>
        <p:txBody>
          <a:bodyPr wrap="square" lIns="0" tIns="0" rIns="0" bIns="0" rtlCol="0" anchor="ctr"/>
          <a:lstStyle/>
          <a:p>
            <a:pPr marL="0" indent="0">
              <a:buNone/>
            </a:pPr>
            <a:r>
              <a:rPr lang="en-US" sz="1000" i="1" dirty="0">
                <a:solidFill>
                  <a:srgbClr val="5F6B7A"/>
                </a:solidFill>
                <a:latin typeface="Calibri" pitchFamily="34" charset="0"/>
                <a:ea typeface="Calibri" pitchFamily="34" charset="-122"/>
                <a:cs typeface="Calibri" pitchFamily="34" charset="-120"/>
              </a:rPr>
              <a:t>Zuordnung nach der Zuständigkeitsverteilung vom Gruppentermin 15.10.2026 (E-23): Jede Person trägt vor, was sie verantwortet.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0</TotalTime>
  <Words>4637</Words>
  <Application>Microsoft Macintosh PowerPoint</Application>
  <PresentationFormat>Bildschirmpräsentation (16:9)</PresentationFormat>
  <Paragraphs>378</Paragraphs>
  <Slides>18</Slides>
  <Notes>18</Notes>
  <HiddenSlides>3</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18</vt:i4>
      </vt:variant>
    </vt:vector>
  </HeadingPairs>
  <TitlesOfParts>
    <vt:vector size="21" baseType="lpstr">
      <vt:lpstr>Arial</vt:lpstr>
      <vt:lpstr>Calibri</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RepairFlow – Abschlusspräsentation Fallstudie Systemanalyse</dc:title>
  <dc:subject>PptxGenJS Presentation</dc:subject>
  <dc:creator>Gruppe 1 WWI25B4</dc:creator>
  <cp:lastModifiedBy>Ewald, Maximilian</cp:lastModifiedBy>
  <cp:revision>2</cp:revision>
  <dcterms:created xsi:type="dcterms:W3CDTF">2026-10-15T07:59:30Z</dcterms:created>
  <dcterms:modified xsi:type="dcterms:W3CDTF">2026-10-15T09:17:18Z</dcterms:modified>
</cp:coreProperties>
</file>