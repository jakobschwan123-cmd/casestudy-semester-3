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4" r:id="rId6"/>
    <p:sldId id="276" r:id="rId7"/>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p:restoredTop sz="87598"/>
  </p:normalViewPr>
  <p:slideViewPr>
    <p:cSldViewPr snapToGrid="0" snapToObjects="1">
      <p:cViewPr>
        <p:scale>
          <a:sx n="151" d="100"/>
          <a:sy n="151" d="100"/>
        </p:scale>
        <p:origin x="272" y="23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lian Platter" userId="c49eb2881fa751ca" providerId="LiveId" clId="{FDA102BF-EFD5-549B-81DE-49FC5087B7E9}"/>
    <pc:docChg chg="custSel modSld">
      <pc:chgData name="Kilian Platter" userId="c49eb2881fa751ca" providerId="LiveId" clId="{FDA102BF-EFD5-549B-81DE-49FC5087B7E9}" dt="2026-10-20T14:13:14.366" v="5" actId="34476"/>
      <pc:docMkLst>
        <pc:docMk/>
      </pc:docMkLst>
      <pc:sldChg chg="delSp mod">
        <pc:chgData name="Kilian Platter" userId="c49eb2881fa751ca" providerId="LiveId" clId="{FDA102BF-EFD5-549B-81DE-49FC5087B7E9}" dt="2026-10-20T14:04:48.652" v="0" actId="478"/>
        <pc:sldMkLst>
          <pc:docMk/>
          <pc:sldMk cId="0" sldId="257"/>
        </pc:sldMkLst>
        <pc:spChg chg="del">
          <ac:chgData name="Kilian Platter" userId="c49eb2881fa751ca" providerId="LiveId" clId="{FDA102BF-EFD5-549B-81DE-49FC5087B7E9}" dt="2026-10-20T14:04:48.652" v="0" actId="478"/>
          <ac:spMkLst>
            <pc:docMk/>
            <pc:sldMk cId="0" sldId="257"/>
            <ac:spMk id="36" creationId="{00000000-0000-0000-0000-000000000000}"/>
          </ac:spMkLst>
        </pc:spChg>
      </pc:sldChg>
      <pc:sldChg chg="modSp mod modNotesTx">
        <pc:chgData name="Kilian Platter" userId="c49eb2881fa751ca" providerId="LiveId" clId="{FDA102BF-EFD5-549B-81DE-49FC5087B7E9}" dt="2026-10-20T14:09:19.776" v="4" actId="20577"/>
        <pc:sldMkLst>
          <pc:docMk/>
          <pc:sldMk cId="0" sldId="263"/>
        </pc:sldMkLst>
        <pc:spChg chg="mod">
          <ac:chgData name="Kilian Platter" userId="c49eb2881fa751ca" providerId="LiveId" clId="{FDA102BF-EFD5-549B-81DE-49FC5087B7E9}" dt="2026-10-20T14:09:01.407" v="3" actId="20577"/>
          <ac:spMkLst>
            <pc:docMk/>
            <pc:sldMk cId="0" sldId="263"/>
            <ac:spMk id="13" creationId="{00000000-0000-0000-0000-000000000000}"/>
          </ac:spMkLst>
        </pc:spChg>
      </pc:sldChg>
      <pc:sldChg chg="mod modShow">
        <pc:chgData name="Kilian Platter" userId="c49eb2881fa751ca" providerId="LiveId" clId="{FDA102BF-EFD5-549B-81DE-49FC5087B7E9}" dt="2026-10-20T14:13:14.366" v="5" actId="34476"/>
        <pc:sldMkLst>
          <pc:docMk/>
          <pc:sldMk cId="0" sldId="26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(50 s)
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Die physische Reparatur, die Lieferantensysteme und die Buchhaltung bleiben außerhalb.</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de-DE" dirty="0"/>
              <a:t>Vortragende(r): David (55 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(60 s)
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Das spart Lieferzeit und Doppelbestellungen. Drittens: der Kunde bekommt Klarheit, bevor er die Werkstatt betritt. Mit einem Foto aus der App erhält er einen Diagnosevorschlag, einen vorläufigen Kostenvoranschlag und einen Termin. Für die Werkstatt heißt das weniger Telefon, weniger Standzeit im Lager und eine Auslastung, die sie wirklich sieht.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(50 s)
Damit zur zweiten Hälfte: Was steckt hinter dieser Geschichte? Wir haben drei Modelle erstellt, die zusammenpassen. Zehn BPMN-Kollaborationsdiagramme mit 133 Aktivitäten im Werkstatt-Pool, dazu die Abläufe des Kunden mit 26 weiteren Aktivitäten. Ein Use-Case-Diagramm mit 19 Use Cases und 17 Akteuren. Ein vollständiges Klassendiagramm mit 27 Klassen und 36 Assoziationen. Sechs Sequenzdiagramme, gefordert waren fünf.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der KI-Diagnosedienst als externes System. Der Lieferant ist bewusst kein Akteur: Er hat keinen Zugang zu RepairFlow und bleibt eine Black Box, mit der nur Nachrichten ausgetauscht werden.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(100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 Ein Beispiel ist SD4, die Fertigmeldung: Besteht der Auftrag auch nach der zweiten Nacharbeit die Endkontrolle nicht, ruft der Endkontrolleur wechsleStatus mit dem Wert ABGELEHNT auf, also genau die Operation, die der Reparaturauftrag im Klassendiagramm anbietet. Gezeichnet ist alles in Visual Paradigm, die Sequenzdiagramme hängen als Unterdiagramme an ihren Use Cases.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(90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Als Scrum Master war mir wichtig, dass Entscheidungen nicht im Gruppenchat verloren gehen: Alles, was mehrere betrifft, steht im Entscheidungslog mit Begründung und Datum. Das hat uns bei jeder Korrektur geholfen, weil wir nachvollziehen konnten, warum ein Modell sich über mehrere Veränderungen entwickelt hat. So sind aus den ersten Entwürfen Schritt für Schritt die Modelle geworden, die Sie heute sehen.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Reviews: Jedes Diagramm wurde im Zweierteam geprüft und in den Gruppenterminen gemeinsam abgestimmt.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 Id="rId5"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4.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8.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 David</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388620" y="2000000"/>
            <a:ext cx="8366760" cy="2500684"/>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P01</a:t>
              </a:r>
              <a:endParaRPr lang="en-US" sz="1600" dirty="0"/>
            </a:p>
          </p:txBody>
        </p:sp>
        <p:sp>
          <p:nvSpPr>
            <p:cNvPr id="11" name="Text 7">
              <a:extLst>
                <a:ext uri="{FF2B5EF4-FFF2-40B4-BE49-F238E27FC236}">
                  <a16:creationId xmlns:a16="http://schemas.microsoft.com/office/drawing/2014/main" id="{6E197140-AD58-EEF3-FC07-CB88B860C7D5}"/>
                </a:ext>
              </a:extLst>
            </p:cNvPr>
            <p:cNvSpPr txBox="1"/>
            <p:nvPr/>
          </p:nvSpPr>
          <p:spPr>
            <a:xfrm>
              <a:off x="41148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Anfrage per App</a:t>
              </a:r>
              <a:endParaRPr lang="en-US" sz="1400" dirty="0">
                <a:solidFill>
                  <a:schemeClr val="accent2">
                    <a:lumMod val="50000"/>
                  </a:schemeClr>
                </a:solidFill>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KI-Vorschlag, Vorab-KVA, Termin</a:t>
              </a:r>
              <a:endParaRPr lang="en-US" sz="1050" dirty="0"/>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P02</a:t>
              </a:r>
              <a:endParaRPr lang="en-US" sz="1600" dirty="0"/>
            </a:p>
          </p:txBody>
        </p:sp>
        <p:sp>
          <p:nvSpPr>
            <p:cNvPr id="18" name="Text 13">
              <a:extLst>
                <a:ext uri="{FF2B5EF4-FFF2-40B4-BE49-F238E27FC236}">
                  <a16:creationId xmlns:a16="http://schemas.microsoft.com/office/drawing/2014/main" id="{BE4AB8A3-EF0C-A300-509D-CF14A6E2B2B8}"/>
                </a:ext>
              </a:extLst>
            </p:cNvPr>
            <p:cNvSpPr txBox="1"/>
            <p:nvPr/>
          </p:nvSpPr>
          <p:spPr>
            <a:xfrm>
              <a:off x="1801368"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Annahme</a:t>
              </a:r>
              <a:endParaRPr lang="en-US" sz="1400" dirty="0">
                <a:solidFill>
                  <a:schemeClr val="accent2">
                    <a:lumMod val="75000"/>
                  </a:schemeClr>
                </a:solidFill>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Gerät registriert, Auftrag angelegt</a:t>
              </a:r>
              <a:endParaRPr lang="en-US" sz="1050" dirty="0"/>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P03, P04</a:t>
              </a:r>
              <a:endParaRPr lang="en-US" sz="1600" dirty="0"/>
            </a:p>
          </p:txBody>
        </p:sp>
        <p:sp>
          <p:nvSpPr>
            <p:cNvPr id="25" name="Text 19">
              <a:extLst>
                <a:ext uri="{FF2B5EF4-FFF2-40B4-BE49-F238E27FC236}">
                  <a16:creationId xmlns:a16="http://schemas.microsoft.com/office/drawing/2014/main" id="{EE2A20AE-03AC-6529-CA2C-E7313D9114E4}"/>
                </a:ext>
              </a:extLst>
            </p:cNvPr>
            <p:cNvSpPr txBox="1"/>
            <p:nvPr/>
          </p:nvSpPr>
          <p:spPr>
            <a:xfrm>
              <a:off x="3191256"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Diagnose und KVA</a:t>
              </a:r>
              <a:endParaRPr lang="en-US" sz="1400" dirty="0">
                <a:solidFill>
                  <a:schemeClr val="accent2">
                    <a:lumMod val="50000"/>
                  </a:schemeClr>
                </a:solidFill>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Techniker prüft, Kunde gibt frei</a:t>
              </a:r>
              <a:endParaRPr lang="en-US" sz="1050" dirty="0"/>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P05, P06</a:t>
              </a:r>
              <a:endParaRPr lang="en-US" sz="1600" dirty="0"/>
            </a:p>
          </p:txBody>
        </p:sp>
        <p:sp>
          <p:nvSpPr>
            <p:cNvPr id="32" name="Text 25">
              <a:extLst>
                <a:ext uri="{FF2B5EF4-FFF2-40B4-BE49-F238E27FC236}">
                  <a16:creationId xmlns:a16="http://schemas.microsoft.com/office/drawing/2014/main" id="{52752689-8AEF-ACC1-53C1-3E3917F660D0}"/>
                </a:ext>
              </a:extLst>
            </p:cNvPr>
            <p:cNvSpPr txBox="1"/>
            <p:nvPr/>
          </p:nvSpPr>
          <p:spPr>
            <a:xfrm>
              <a:off x="4581144"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Teile disponieren</a:t>
              </a:r>
              <a:endParaRPr lang="en-US" sz="1400" dirty="0">
                <a:solidFill>
                  <a:schemeClr val="accent2">
                    <a:lumMod val="75000"/>
                  </a:schemeClr>
                </a:solidFill>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alle Filialen, Fehlteile bestellen</a:t>
              </a:r>
              <a:endParaRPr lang="en-US" sz="1050" dirty="0"/>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P07</a:t>
              </a:r>
              <a:endParaRPr lang="en-US" sz="1600" dirty="0"/>
            </a:p>
          </p:txBody>
        </p:sp>
        <p:sp>
          <p:nvSpPr>
            <p:cNvPr id="39" name="Text 31">
              <a:extLst>
                <a:ext uri="{FF2B5EF4-FFF2-40B4-BE49-F238E27FC236}">
                  <a16:creationId xmlns:a16="http://schemas.microsoft.com/office/drawing/2014/main" id="{8C3D5FEF-7383-A38B-3CB2-0BB6EDAD636C}"/>
                </a:ext>
              </a:extLst>
            </p:cNvPr>
            <p:cNvSpPr txBox="1"/>
            <p:nvPr/>
          </p:nvSpPr>
          <p:spPr>
            <a:xfrm>
              <a:off x="5971032"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Reparatur</a:t>
              </a:r>
              <a:endParaRPr lang="en-US" sz="1400" dirty="0">
                <a:solidFill>
                  <a:schemeClr val="accent2">
                    <a:lumMod val="50000"/>
                  </a:schemeClr>
                </a:solidFill>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Schritte, Arbeitszeit, Endkontrolle</a:t>
              </a:r>
              <a:endParaRPr lang="en-US" sz="1050" dirty="0"/>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P08</a:t>
              </a:r>
              <a:endParaRPr lang="en-US" sz="1600" dirty="0"/>
            </a:p>
          </p:txBody>
        </p:sp>
        <p:sp>
          <p:nvSpPr>
            <p:cNvPr id="46" name="Text 37">
              <a:extLst>
                <a:ext uri="{FF2B5EF4-FFF2-40B4-BE49-F238E27FC236}">
                  <a16:creationId xmlns:a16="http://schemas.microsoft.com/office/drawing/2014/main" id="{9E6036D2-CA77-79F5-AD32-1E1090F78AC9}"/>
                </a:ext>
              </a:extLst>
            </p:cNvPr>
            <p:cNvSpPr txBox="1"/>
            <p:nvPr/>
          </p:nvSpPr>
          <p:spPr>
            <a:xfrm>
              <a:off x="736092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Abholung</a:t>
              </a:r>
              <a:endParaRPr lang="en-US" sz="1400" dirty="0">
                <a:solidFill>
                  <a:schemeClr val="accent2">
                    <a:lumMod val="75000"/>
                  </a:schemeClr>
                </a:solidFill>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Benachrichtigung, Rechnung, Zahlung</a:t>
              </a:r>
              <a:endParaRPr lang="en-US" sz="1050" dirty="0"/>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133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err="1">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de-DE" sz="1100" dirty="0">
                <a:solidFill>
                  <a:srgbClr val="1B2430"/>
                </a:solidFill>
                <a:latin typeface="Calibri" pitchFamily="34" charset="0"/>
                <a:ea typeface="Calibri" pitchFamily="34" charset="-122"/>
                <a:cs typeface="Calibri" pitchFamily="34" charset="-120"/>
              </a:rPr>
              <a:t>als Unterdiagramme der Use Cases</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42 Nachrichtenflüsse, 51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61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133</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13,3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61 %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vier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seine Übergänge zeigen die Prozesse 02 bis 08.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Ablauf je Diagramm</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Entwurf im Zweierteam, gegenseitiges Review, Abstimmung im Gruppentermin, Umsetzung über Pull Request mit Review. Entscheidungen mit Begründung im Entscheidungslog, damit jede Korrektur nachvollziehbar bleibt.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Reviews</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Diagramm im Zweierteam geprüft, Abstimmung in den Gruppenterminen.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Jede Person trägt vor, was sie im Projekt verantwortet hat.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4582</Words>
  <Application>Microsoft Macintosh PowerPoint</Application>
  <PresentationFormat>Bildschirmpräsentation (16:9)</PresentationFormat>
  <Paragraphs>382</Paragraphs>
  <Slides>19</Slides>
  <Notes>18</Notes>
  <HiddenSlides>2</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Kilian Platter</cp:lastModifiedBy>
  <cp:revision>4</cp:revision>
  <dcterms:created xsi:type="dcterms:W3CDTF">2026-10-15T07:59:30Z</dcterms:created>
  <dcterms:modified xsi:type="dcterms:W3CDTF">2026-10-20T14:13:15Z</dcterms:modified>
</cp:coreProperties>
</file>