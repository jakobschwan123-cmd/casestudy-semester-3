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a:t>
            </a:r>
          </a:p>
          <a:p/>
          <a:p>
            <a:r>
              <a:t>Kurz die sieben Teile und die Vortragenden nennen; Fragen bitte am Ende.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a:t>
            </a:r>
          </a:p>
          <a:p/>
          <a:p>
            <a:r>
              <a:t>FixWerk GmbH ist ein fiktiver Pilotkunde mit vier Filialen in der Region Karlsruhe (Fahrrad, E-Bike, Elektronik). Die vier Probleme sind Annahmen unseres Szenarios, keine erhobenen Daten.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a:t>
            </a:r>
          </a:p>
          <a:p/>
          <a:p>
            <a:r>
              <a:t>Rückfrage des Dozenten bei der Konzeptvorstellung: Betreiber oder Solution Provider? Wir sind der Softwareanbieter, FixWerk ist der Pilotkunde. Systemkontext: Buchhaltung, Lieferantensysteme und die physische Reparatur liegen außerhalb der Systemgrenze.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a:t>
            </a:r>
          </a:p>
          <a:p/>
          <a:p>
            <a:r>
              <a:t>Die drei Merkmale beschreiben den Zuschnitt unseres Entwurfs. Einen belegten Funktionsvergleich mit bestehenden Werkstattlösungen haben wir nicht erstellt; deshalb nennen wir keine Wettbewerber.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a:t>
            </a:r>
          </a:p>
          <a:p/>
          <a:p>
            <a:r>
              <a:t>Der Automat ist der gemeinsame Nenner aller Modelle: BPMN-Prozesse sind seine Übergänge, das Klassendiagramm führt ihn als Attribut status, die Sequenzdiagramme markieren die Wechsel.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a:t>
            </a:r>
          </a:p>
          <a:p/>
          <a:p>
            <a:r>
              <a:t>Prozesse 01 bis 08 sind die Auftragsreise entlang des Zustandsautomaten, 09 und 10 die Folgeprozesse Reklamation und Retoure. Gezählt sind nur die Aktivitäten im Werkstatt-Pool; die 26 Aktivitäten der Kundenabläufe kommen hinzu.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a:t>
            </a:r>
          </a:p>
          <a:p/>
          <a:p>
            <a:r>
              <a:t>Regeln aus der Vorlesung: Pool = Unternehmen, Lane = Rolle, keine Lane für Software. Automatisierung zeigt der Aktivitätstyp. Der Kunde hat einen eigenen, nicht ausführbaren Ablauf (z. B. Foto aufnehmen, Anfrage senden, KVA freigeben), der Lieferant bleibt Black Box. Als Qualitätsmanager: Diese Regeln sind die Prüfpunkte der QA-Checkliste.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a:t>
            </a:r>
          </a:p>
          <a:p/>
          <a:p>
            <a:r>
              <a:t>Message-Start aus der App, Voranmeldung wird sofort angelegt, Medienprüfung mit Rückfrage (Antwort oder 7-Tage-Timer), KI als Business Rule Task, Vorab-KVA, Verfügbarkeit über alle Filialen, Terminvorschlag, ereignisbasiertes Gateway: Bestätigung, Ablehnung oder 7-Tage-Timer.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a:t>
            </a:r>
          </a:p>
          <a:p/>
          <a:p>
            <a:r>
              <a:t>Ereignisbasiertes Gateway: Freigabe, Ablehnung oder Timer. Die Erinnerung protokollieren und den KVA erneut senden; nach der dritten Erinnerung gilt der KVA als abgelehnt. Abgelehnte Aufträge gehen über Prozess 08 mit Diagnosepauschale zur Abholung.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a:t>
            </a:r>
          </a:p>
          <a:p/>
          <a:p>
            <a:r>
              <a:t>Rückmeldung des Dozenten: ein Gimmick, das uns abhebt, darf visionär sein. Heute machbar: sichtbare Schäden per Bildanalyse. Vision: Geräuschanalyse, Aufwandsschätzung aus Video. Deshalb: Vorschlag bleibt vorläufig, Techniker bestätigt.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a:t>
            </a:r>
          </a:p>
          <a:p/>
          <a:p>
            <a:r>
              <a:t>19 Use Cases in vier Bereichen, 18 Akteure. Seit 15.10. (Hinweis des Dozenten): je Use Case genau eine Rolle, z. B. Diagnoseprüfer, Diagnostiker, Kalkulator, Reparateur und Endkontrolleur statt eines Technikers mit fünf Linien. Das Organigramm ordnet Rollen den Mitarbeiterklassen zu (Tabelle 7 der Doku). Kunde und Lieferant mehrfach dargestellt, UC08 nur per include ohne Akteur. include = immer, extend = bedingt.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a:t>
            </a:r>
          </a:p>
          <a:p/>
          <a:p>
            <a:r>
              <a:t>Entwurfsentscheidungen: Reparaturauftrag als Aggregatwurzel, Lagerbestand je Filiale, Reservierung als eigene Klasse, Werkstattbetrieb als Mandant, Rollen als Unterklassen von Mitarbeiter, drei KI-Klassen.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a:t>
            </a:r>
          </a:p>
          <a:p/>
          <a:p>
            <a:r>
              <a:t>BPMN 01: Medien nachreichen oder nach sieben Tagen verwerfen; KI erst nach Medienprüfung. Bestätigung, Terminablehnung und Timeout getrennt. Klassenbotschaften sind Operationen.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a:t>
            </a:r>
          </a:p>
          <a:p/>
          <a:p>
            <a:r>
              <a:t>BPMN 05: parallele Teileprüfung; Fehlteile zunächst markieren. Reservierungen bestätigen, Meldebestand prüfen, Kunde informieren, erst danach bestellen.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a:t>
            </a:r>
          </a:p>
          <a:p/>
          <a:p>
            <a:r>
              <a:t>Scrum im Takt der Gruppentermine: Review, Retrospektive und Planning je Termin. Jede Änderung über Branch, Pull Request und Review; Merge durch Jakob als Qualitätsmanager. Abstimmung über WhatsApp, Dateien nur über GitHub.</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a:t>
            </a:r>
          </a:p>
          <a:p/>
          <a:p>
            <a:r>
              <a:t>Beispiel für die Konsistenzprüfung: Nach den Korrekturen an Prozess 07 (E-19) musste SD4 nachgezogen werden. Prüfrunden: Gesamtprüfung am 26.09., Komplettcheck am 05.10. mit 39 Befunden, QA-Checkliste mit Q1 bis Q8.</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a:t>
            </a:r>
          </a:p>
          <a:p/>
          <a:p>
            <a:r>
              <a:t>Kennzahlen kurz nennen, dann die zwei Kernaussagen. Der Ausblick ist Vision, nicht modelliert.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t>
            </a:r>
          </a:p>
          <a:p/>
          <a:p>
            <a:r>
              <a:t>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1.png"/><Relationship Id="rId5"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sp>
      <p:sp>
        <p:nvSpPr>
          <p:cNvPr id="6" name="Text 3"/>
          <p:cNvSpPr txBox="1"/>
          <p:nvPr/>
        </p:nvSpPr>
        <p:spPr>
          <a:xfrm>
            <a:off x="548640" y="1188720"/>
            <a:ext cx="7315200" cy="100584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indent="0" marL="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indent="0" marL="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indent="0" marL="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sp>
      <p:pic>
        <p:nvPicPr>
          <p:cNvPr id="12" name="Image 0" descr="preencoded.png">    </p:cNvPr>
          <p:cNvPicPr>
            <a:picLocks noChangeAspect="1"/>
          </p:cNvPicPr>
          <p:nvPr/>
        </p:nvPicPr>
        <p:blipFill>
          <a:blip r:embed="rId1"/>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Agenda</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2</a:t>
            </a:r>
            <a:endParaRPr lang="en-US" sz="900" dirty="0"/>
          </a:p>
        </p:txBody>
      </p:sp>
      <p:sp>
        <p:nvSpPr>
          <p:cNvPr id="6" name="Shape 3"/>
          <p:cNvSpPr/>
          <p:nvPr/>
        </p:nvSpPr>
        <p:spPr>
          <a:xfrm>
            <a:off x="548640" y="1051560"/>
            <a:ext cx="384048" cy="384048"/>
          </a:xfrm>
          <a:prstGeom prst="ellipse">
            <a:avLst/>
          </a:prstGeom>
          <a:solidFill>
            <a:srgbClr val="0E5E5E"/>
          </a:solidFill>
          <a:ln w="12700">
            <a:solidFill>
              <a:srgbClr val="0E5E5E"/>
            </a:solidFill>
            <a:prstDash val="solid"/>
          </a:ln>
        </p:spPr>
      </p:sp>
      <p:sp>
        <p:nvSpPr>
          <p:cNvPr id="7" name="Text 4"/>
          <p:cNvSpPr txBox="1"/>
          <p:nvPr/>
        </p:nvSpPr>
        <p:spPr>
          <a:xfrm>
            <a:off x="548640" y="1051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1097280" y="1051560"/>
            <a:ext cx="5029200" cy="384048"/>
          </a:xfrm>
          <a:prstGeom prst="rect">
            <a:avLst/>
          </a:prstGeom>
          <a:noFill/>
          <a:ln/>
        </p:spPr>
        <p:txBody>
          <a:bodyPr wrap="square" lIns="0" tIns="0" rIns="0" bIns="0" rtlCol="0" anchor="ctr"/>
          <a:lstStyle/>
          <a:p>
            <a:pPr indent="0" marL="0">
              <a:buNone/>
            </a:pPr>
            <a:r>
              <a:rPr lang="en-US" sz="1600" dirty="0">
                <a:solidFill>
                  <a:srgbClr val="1B2430"/>
                </a:solidFill>
                <a:latin typeface="Calibri" pitchFamily="34" charset="0"/>
                <a:ea typeface="Calibri" pitchFamily="34" charset="-122"/>
                <a:cs typeface="Calibri" pitchFamily="34" charset="-120"/>
              </a:rPr>
              <a:t>Ausgangslage und Problem</a:t>
            </a:r>
            <a:endParaRPr lang="en-US" sz="1600" dirty="0"/>
          </a:p>
        </p:txBody>
      </p:sp>
      <p:sp>
        <p:nvSpPr>
          <p:cNvPr id="9" name="Text 6"/>
          <p:cNvSpPr txBox="1"/>
          <p:nvPr/>
        </p:nvSpPr>
        <p:spPr>
          <a:xfrm>
            <a:off x="6217920" y="1051560"/>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0" name="Shape 7"/>
          <p:cNvSpPr/>
          <p:nvPr/>
        </p:nvSpPr>
        <p:spPr>
          <a:xfrm>
            <a:off x="548640" y="1481328"/>
            <a:ext cx="384048" cy="384048"/>
          </a:xfrm>
          <a:prstGeom prst="ellipse">
            <a:avLst/>
          </a:prstGeom>
          <a:solidFill>
            <a:srgbClr val="0E5E5E"/>
          </a:solidFill>
          <a:ln w="12700">
            <a:solidFill>
              <a:srgbClr val="0E5E5E"/>
            </a:solidFill>
            <a:prstDash val="solid"/>
          </a:ln>
        </p:spPr>
      </p:sp>
      <p:sp>
        <p:nvSpPr>
          <p:cNvPr id="11" name="Text 8"/>
          <p:cNvSpPr txBox="1"/>
          <p:nvPr/>
        </p:nvSpPr>
        <p:spPr>
          <a:xfrm>
            <a:off x="548640" y="14813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txBox="1"/>
          <p:nvPr/>
        </p:nvSpPr>
        <p:spPr>
          <a:xfrm>
            <a:off x="1097280" y="1481328"/>
            <a:ext cx="5029200" cy="384048"/>
          </a:xfrm>
          <a:prstGeom prst="rect">
            <a:avLst/>
          </a:prstGeom>
          <a:noFill/>
          <a:ln/>
        </p:spPr>
        <p:txBody>
          <a:bodyPr wrap="square" lIns="0" tIns="0" rIns="0" bIns="0" rtlCol="0" anchor="ctr"/>
          <a:lstStyle/>
          <a:p>
            <a:pPr indent="0" marL="0">
              <a:buNone/>
            </a:pPr>
            <a:r>
              <a:rPr lang="en-US" sz="1600" dirty="0">
                <a:solidFill>
                  <a:srgbClr val="1B2430"/>
                </a:solidFill>
                <a:latin typeface="Calibri" pitchFamily="34" charset="0"/>
                <a:ea typeface="Calibri" pitchFamily="34" charset="-122"/>
                <a:cs typeface="Calibri" pitchFamily="34" charset="-120"/>
              </a:rPr>
              <a:t>Das Startup RepairFlow und der Markt</a:t>
            </a:r>
            <a:endParaRPr lang="en-US" sz="1600" dirty="0"/>
          </a:p>
        </p:txBody>
      </p:sp>
      <p:sp>
        <p:nvSpPr>
          <p:cNvPr id="13" name="Text 10"/>
          <p:cNvSpPr txBox="1"/>
          <p:nvPr/>
        </p:nvSpPr>
        <p:spPr>
          <a:xfrm>
            <a:off x="6217920" y="1481328"/>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Adrian</a:t>
            </a:r>
            <a:endParaRPr lang="en-US" sz="1200" dirty="0"/>
          </a:p>
        </p:txBody>
      </p:sp>
      <p:sp>
        <p:nvSpPr>
          <p:cNvPr id="14" name="Shape 11"/>
          <p:cNvSpPr/>
          <p:nvPr/>
        </p:nvSpPr>
        <p:spPr>
          <a:xfrm>
            <a:off x="548640" y="1911096"/>
            <a:ext cx="384048" cy="384048"/>
          </a:xfrm>
          <a:prstGeom prst="ellipse">
            <a:avLst/>
          </a:prstGeom>
          <a:solidFill>
            <a:srgbClr val="0E5E5E"/>
          </a:solidFill>
          <a:ln w="12700">
            <a:solidFill>
              <a:srgbClr val="0E5E5E"/>
            </a:solidFill>
            <a:prstDash val="solid"/>
          </a:ln>
        </p:spPr>
      </p:sp>
      <p:sp>
        <p:nvSpPr>
          <p:cNvPr id="15" name="Text 12"/>
          <p:cNvSpPr txBox="1"/>
          <p:nvPr/>
        </p:nvSpPr>
        <p:spPr>
          <a:xfrm>
            <a:off x="548640" y="19110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txBox="1"/>
          <p:nvPr/>
        </p:nvSpPr>
        <p:spPr>
          <a:xfrm>
            <a:off x="1097280" y="1911096"/>
            <a:ext cx="5029200" cy="384048"/>
          </a:xfrm>
          <a:prstGeom prst="rect">
            <a:avLst/>
          </a:prstGeom>
          <a:noFill/>
          <a:ln/>
        </p:spPr>
        <p:txBody>
          <a:bodyPr wrap="square" lIns="0" tIns="0" rIns="0" bIns="0" rtlCol="0" anchor="ctr"/>
          <a:lstStyle/>
          <a:p>
            <a:pPr indent="0" marL="0">
              <a:buNone/>
            </a:pPr>
            <a:r>
              <a:rPr lang="en-US" sz="1600" dirty="0">
                <a:solidFill>
                  <a:srgbClr val="1B2430"/>
                </a:solidFill>
                <a:latin typeface="Calibri" pitchFamily="34" charset="0"/>
                <a:ea typeface="Calibri" pitchFamily="34" charset="-122"/>
                <a:cs typeface="Calibri" pitchFamily="34" charset="-120"/>
              </a:rPr>
              <a:t>Geschäftsprozesse (BPMN)</a:t>
            </a:r>
            <a:endParaRPr lang="en-US" sz="1600" dirty="0"/>
          </a:p>
        </p:txBody>
      </p:sp>
      <p:sp>
        <p:nvSpPr>
          <p:cNvPr id="17" name="Text 14"/>
          <p:cNvSpPr txBox="1"/>
          <p:nvPr/>
        </p:nvSpPr>
        <p:spPr>
          <a:xfrm>
            <a:off x="6217920" y="1911096"/>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Maximilian, Jakob</a:t>
            </a:r>
            <a:endParaRPr lang="en-US" sz="1200" dirty="0"/>
          </a:p>
        </p:txBody>
      </p:sp>
      <p:sp>
        <p:nvSpPr>
          <p:cNvPr id="18" name="Shape 15"/>
          <p:cNvSpPr/>
          <p:nvPr/>
        </p:nvSpPr>
        <p:spPr>
          <a:xfrm>
            <a:off x="548640" y="2340864"/>
            <a:ext cx="384048" cy="384048"/>
          </a:xfrm>
          <a:prstGeom prst="ellipse">
            <a:avLst/>
          </a:prstGeom>
          <a:solidFill>
            <a:srgbClr val="0E5E5E"/>
          </a:solidFill>
          <a:ln w="12700">
            <a:solidFill>
              <a:srgbClr val="0E5E5E"/>
            </a:solidFill>
            <a:prstDash val="solid"/>
          </a:ln>
        </p:spPr>
      </p:sp>
      <p:sp>
        <p:nvSpPr>
          <p:cNvPr id="19" name="Text 16"/>
          <p:cNvSpPr txBox="1"/>
          <p:nvPr/>
        </p:nvSpPr>
        <p:spPr>
          <a:xfrm>
            <a:off x="548640" y="23408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txBox="1"/>
          <p:nvPr/>
        </p:nvSpPr>
        <p:spPr>
          <a:xfrm>
            <a:off x="1097280" y="2340864"/>
            <a:ext cx="5029200" cy="384048"/>
          </a:xfrm>
          <a:prstGeom prst="rect">
            <a:avLst/>
          </a:prstGeom>
          <a:noFill/>
          <a:ln/>
        </p:spPr>
        <p:txBody>
          <a:bodyPr wrap="square" lIns="0" tIns="0" rIns="0" bIns="0" rtlCol="0" anchor="ctr"/>
          <a:lstStyle/>
          <a:p>
            <a:pPr indent="0" marL="0">
              <a:buNone/>
            </a:pPr>
            <a:r>
              <a:rPr lang="en-US" sz="1600" dirty="0">
                <a:solidFill>
                  <a:srgbClr val="1B2430"/>
                </a:solidFill>
                <a:latin typeface="Calibri" pitchFamily="34" charset="0"/>
                <a:ea typeface="Calibri" pitchFamily="34" charset="-122"/>
                <a:cs typeface="Calibri" pitchFamily="34" charset="-120"/>
              </a:rPr>
              <a:t>KI-Sofortdiagnose als Alleinstellungsmerkmal</a:t>
            </a:r>
            <a:endParaRPr lang="en-US" sz="1600" dirty="0"/>
          </a:p>
        </p:txBody>
      </p:sp>
      <p:sp>
        <p:nvSpPr>
          <p:cNvPr id="21" name="Text 18"/>
          <p:cNvSpPr txBox="1"/>
          <p:nvPr/>
        </p:nvSpPr>
        <p:spPr>
          <a:xfrm>
            <a:off x="6217920" y="2340864"/>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Adrian</a:t>
            </a:r>
            <a:endParaRPr lang="en-US" sz="1200" dirty="0"/>
          </a:p>
        </p:txBody>
      </p:sp>
      <p:sp>
        <p:nvSpPr>
          <p:cNvPr id="22" name="Shape 19"/>
          <p:cNvSpPr/>
          <p:nvPr/>
        </p:nvSpPr>
        <p:spPr>
          <a:xfrm>
            <a:off x="548640" y="2770632"/>
            <a:ext cx="384048" cy="384048"/>
          </a:xfrm>
          <a:prstGeom prst="ellipse">
            <a:avLst/>
          </a:prstGeom>
          <a:solidFill>
            <a:srgbClr val="0E5E5E"/>
          </a:solidFill>
          <a:ln w="12700">
            <a:solidFill>
              <a:srgbClr val="0E5E5E"/>
            </a:solidFill>
            <a:prstDash val="solid"/>
          </a:ln>
        </p:spPr>
      </p:sp>
      <p:sp>
        <p:nvSpPr>
          <p:cNvPr id="23" name="Text 20"/>
          <p:cNvSpPr txBox="1"/>
          <p:nvPr/>
        </p:nvSpPr>
        <p:spPr>
          <a:xfrm>
            <a:off x="548640" y="27706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txBox="1"/>
          <p:nvPr/>
        </p:nvSpPr>
        <p:spPr>
          <a:xfrm>
            <a:off x="1097280" y="2770632"/>
            <a:ext cx="5029200" cy="384048"/>
          </a:xfrm>
          <a:prstGeom prst="rect">
            <a:avLst/>
          </a:prstGeom>
          <a:noFill/>
          <a:ln/>
        </p:spPr>
        <p:txBody>
          <a:bodyPr wrap="square" lIns="0" tIns="0" rIns="0" bIns="0" rtlCol="0" anchor="ctr"/>
          <a:lstStyle/>
          <a:p>
            <a:pPr indent="0" marL="0">
              <a:buNone/>
            </a:pPr>
            <a:r>
              <a:rPr lang="en-US" sz="1600" dirty="0">
                <a:solidFill>
                  <a:srgbClr val="1B2430"/>
                </a:solidFill>
                <a:latin typeface="Calibri" pitchFamily="34" charset="0"/>
                <a:ea typeface="Calibri" pitchFamily="34" charset="-122"/>
                <a:cs typeface="Calibri" pitchFamily="34" charset="-120"/>
              </a:rPr>
              <a:t>Objektorientierte Analyse (UML)</a:t>
            </a:r>
            <a:endParaRPr lang="en-US" sz="1600" dirty="0"/>
          </a:p>
        </p:txBody>
      </p:sp>
      <p:sp>
        <p:nvSpPr>
          <p:cNvPr id="25" name="Text 22"/>
          <p:cNvSpPr txBox="1"/>
          <p:nvPr/>
        </p:nvSpPr>
        <p:spPr>
          <a:xfrm>
            <a:off x="6217920" y="2770632"/>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David, Kilian</a:t>
            </a:r>
            <a:endParaRPr lang="en-US" sz="1200" dirty="0"/>
          </a:p>
        </p:txBody>
      </p:sp>
      <p:sp>
        <p:nvSpPr>
          <p:cNvPr id="26" name="Shape 23"/>
          <p:cNvSpPr/>
          <p:nvPr/>
        </p:nvSpPr>
        <p:spPr>
          <a:xfrm>
            <a:off x="548640" y="3200400"/>
            <a:ext cx="384048" cy="384048"/>
          </a:xfrm>
          <a:prstGeom prst="ellipse">
            <a:avLst/>
          </a:prstGeom>
          <a:solidFill>
            <a:srgbClr val="0E5E5E"/>
          </a:solidFill>
          <a:ln w="12700">
            <a:solidFill>
              <a:srgbClr val="0E5E5E"/>
            </a:solidFill>
            <a:prstDash val="solid"/>
          </a:ln>
        </p:spPr>
      </p:sp>
      <p:sp>
        <p:nvSpPr>
          <p:cNvPr id="27" name="Text 24"/>
          <p:cNvSpPr txBox="1"/>
          <p:nvPr/>
        </p:nvSpPr>
        <p:spPr>
          <a:xfrm>
            <a:off x="548640" y="32004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8" name="Text 25"/>
          <p:cNvSpPr txBox="1"/>
          <p:nvPr/>
        </p:nvSpPr>
        <p:spPr>
          <a:xfrm>
            <a:off x="1097280" y="3200400"/>
            <a:ext cx="5029200" cy="384048"/>
          </a:xfrm>
          <a:prstGeom prst="rect">
            <a:avLst/>
          </a:prstGeom>
          <a:noFill/>
          <a:ln/>
        </p:spPr>
        <p:txBody>
          <a:bodyPr wrap="square" lIns="0" tIns="0" rIns="0" bIns="0" rtlCol="0" anchor="ctr"/>
          <a:lstStyle/>
          <a:p>
            <a:pPr indent="0" marL="0">
              <a:buNone/>
            </a:pPr>
            <a:r>
              <a:rPr lang="en-US" sz="1600" dirty="0">
                <a:solidFill>
                  <a:srgbClr val="1B2430"/>
                </a:solidFill>
                <a:latin typeface="Calibri" pitchFamily="34" charset="0"/>
                <a:ea typeface="Calibri" pitchFamily="34" charset="-122"/>
                <a:cs typeface="Calibri" pitchFamily="34" charset="-120"/>
              </a:rPr>
              <a:t>Vorgehen und Projektmanagement</a:t>
            </a:r>
            <a:endParaRPr lang="en-US" sz="1600" dirty="0"/>
          </a:p>
        </p:txBody>
      </p:sp>
      <p:sp>
        <p:nvSpPr>
          <p:cNvPr id="29" name="Text 26"/>
          <p:cNvSpPr txBox="1"/>
          <p:nvPr/>
        </p:nvSpPr>
        <p:spPr>
          <a:xfrm>
            <a:off x="6217920" y="3200400"/>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30" name="Shape 27"/>
          <p:cNvSpPr/>
          <p:nvPr/>
        </p:nvSpPr>
        <p:spPr>
          <a:xfrm>
            <a:off x="548640" y="3630168"/>
            <a:ext cx="384048" cy="384048"/>
          </a:xfrm>
          <a:prstGeom prst="ellipse">
            <a:avLst/>
          </a:prstGeom>
          <a:solidFill>
            <a:srgbClr val="0E5E5E"/>
          </a:solidFill>
          <a:ln w="12700">
            <a:solidFill>
              <a:srgbClr val="0E5E5E"/>
            </a:solidFill>
            <a:prstDash val="solid"/>
          </a:ln>
        </p:spPr>
      </p:sp>
      <p:sp>
        <p:nvSpPr>
          <p:cNvPr id="31" name="Text 28"/>
          <p:cNvSpPr txBox="1"/>
          <p:nvPr/>
        </p:nvSpPr>
        <p:spPr>
          <a:xfrm>
            <a:off x="548640" y="3630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2" name="Text 29"/>
          <p:cNvSpPr txBox="1"/>
          <p:nvPr/>
        </p:nvSpPr>
        <p:spPr>
          <a:xfrm>
            <a:off x="1097280" y="3630168"/>
            <a:ext cx="5029200" cy="384048"/>
          </a:xfrm>
          <a:prstGeom prst="rect">
            <a:avLst/>
          </a:prstGeom>
          <a:noFill/>
          <a:ln/>
        </p:spPr>
        <p:txBody>
          <a:bodyPr wrap="square" lIns="0" tIns="0" rIns="0" bIns="0" rtlCol="0" anchor="ctr"/>
          <a:lstStyle/>
          <a:p>
            <a:pPr indent="0" marL="0">
              <a:buNone/>
            </a:pPr>
            <a:r>
              <a:rPr lang="en-US" sz="1600" dirty="0">
                <a:solidFill>
                  <a:srgbClr val="1B2430"/>
                </a:solidFill>
                <a:latin typeface="Calibri" pitchFamily="34" charset="0"/>
                <a:ea typeface="Calibri" pitchFamily="34" charset="-122"/>
                <a:cs typeface="Calibri" pitchFamily="34" charset="-120"/>
              </a:rPr>
              <a:t>Herausforderungen und Fazit</a:t>
            </a:r>
            <a:endParaRPr lang="en-US" sz="1600" dirty="0"/>
          </a:p>
        </p:txBody>
      </p:sp>
      <p:sp>
        <p:nvSpPr>
          <p:cNvPr id="33" name="Text 30"/>
          <p:cNvSpPr txBox="1"/>
          <p:nvPr/>
        </p:nvSpPr>
        <p:spPr>
          <a:xfrm>
            <a:off x="6217920" y="3630168"/>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Jakob, Nina</a:t>
            </a:r>
            <a:endParaRPr lang="en-US" sz="1200" dirty="0"/>
          </a:p>
        </p:txBody>
      </p:sp>
      <p:sp>
        <p:nvSpPr>
          <p:cNvPr id="34" name="Text 31"/>
          <p:cNvSpPr txBox="1"/>
          <p:nvPr/>
        </p:nvSpPr>
        <p:spPr>
          <a:xfrm>
            <a:off x="548640" y="4297680"/>
            <a:ext cx="7315200" cy="274320"/>
          </a:xfrm>
          <a:prstGeom prst="rect">
            <a:avLst/>
          </a:prstGeom>
          <a:noFill/>
          <a:ln/>
        </p:spPr>
        <p:txBody>
          <a:bodyPr wrap="square" lIns="0" tIns="0" rIns="0" bIns="0" rtlCol="0" anchor="ctr"/>
          <a:lstStyle/>
          <a:p>
            <a:pPr indent="0" marL="0">
              <a:buNone/>
            </a:pPr>
            <a:r>
              <a:rPr lang="en-US" sz="1100" i="1" dirty="0">
                <a:solidFill>
                  <a:srgbClr val="5F6B7A"/>
                </a:solidFill>
                <a:latin typeface="Calibri" pitchFamily="34" charset="0"/>
                <a:ea typeface="Calibri" pitchFamily="34" charset="-122"/>
                <a:cs typeface="Calibri" pitchFamily="34" charset="-120"/>
              </a:rPr>
              <a:t>15 bis 20 Minuten · alle Gruppenmitglieder tragen vor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Werkstätten heute: Papier, Excel und Telefon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3</a:t>
            </a:r>
            <a:endParaRPr lang="en-US" sz="900" dirty="0"/>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Unser Szenario: Die fiktive Werkstattkette FixWerk GmbH (vier Filialen, Fahrrad, E-Bike und Elektronik) arbeitet mit Papier, Excel-Listen und Telefon. Wir gehen von vier Problemen aus:</a:t>
            </a:r>
            <a:endParaRPr lang="en-US" sz="1300" dirty="0"/>
          </a:p>
        </p:txBody>
      </p:sp>
      <p:sp>
        <p:nvSpPr>
          <p:cNvPr id="7" name="Shape 4"/>
          <p:cNvSpPr/>
          <p:nvPr/>
        </p:nvSpPr>
        <p:spPr>
          <a:xfrm>
            <a:off x="457200" y="1737360"/>
            <a:ext cx="3977640" cy="1325880"/>
          </a:xfrm>
          <a:prstGeom prst="roundRect">
            <a:avLst>
              <a:gd name="adj" fmla="val 5517"/>
            </a:avLst>
          </a:prstGeom>
          <a:solidFill>
            <a:srgbClr val="EEF4F4"/>
          </a:solidFill>
          <a:ln w="12700">
            <a:solidFill>
              <a:srgbClr val="EEF4F4"/>
            </a:solidFill>
            <a:prstDash val="solid"/>
          </a:ln>
        </p:spPr>
      </p:sp>
      <p:sp>
        <p:nvSpPr>
          <p:cNvPr id="8" name="Shape 5"/>
          <p:cNvSpPr/>
          <p:nvPr/>
        </p:nvSpPr>
        <p:spPr>
          <a:xfrm>
            <a:off x="640080" y="1920240"/>
            <a:ext cx="457200" cy="457200"/>
          </a:xfrm>
          <a:prstGeom prst="ellipse">
            <a:avLst/>
          </a:prstGeom>
          <a:solidFill>
            <a:srgbClr val="0E5E5E"/>
          </a:solidFill>
          <a:ln w="12700">
            <a:solidFill>
              <a:srgbClr val="0E5E5E"/>
            </a:solidFill>
            <a:prstDash val="solid"/>
          </a:ln>
        </p:spPr>
      </p:sp>
      <p:pic>
        <p:nvPicPr>
          <p:cNvPr id="9" name="Image 0" descr="preencoded.png">    </p:cNvPr>
          <p:cNvPicPr>
            <a:picLocks noChangeAspect="1"/>
          </p:cNvPicPr>
          <p:nvPr/>
        </p:nvPicPr>
        <p:blipFill>
          <a:blip r:embed="rId1"/>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Kunden hören nichts</a:t>
            </a:r>
            <a:endParaRPr lang="en-US" sz="1400" dirty="0"/>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Keine zuverlässige Info, wann ein Kostenvoranschlag freizugeben oder das Gerät abholbereit ist. Rückfragen per Telefon, Geräte stehen wochenlang im Lager.</a:t>
            </a:r>
            <a:endParaRPr lang="en-US" sz="1150" dirty="0"/>
          </a:p>
        </p:txBody>
      </p:sp>
      <p:sp>
        <p:nvSpPr>
          <p:cNvPr id="12" name="Shape 8"/>
          <p:cNvSpPr/>
          <p:nvPr/>
        </p:nvSpPr>
        <p:spPr>
          <a:xfrm>
            <a:off x="4709160" y="1737360"/>
            <a:ext cx="3977640" cy="1325880"/>
          </a:xfrm>
          <a:prstGeom prst="roundRect">
            <a:avLst>
              <a:gd name="adj" fmla="val 5517"/>
            </a:avLst>
          </a:prstGeom>
          <a:solidFill>
            <a:srgbClr val="EEF4F4"/>
          </a:solidFill>
          <a:ln w="12700">
            <a:solidFill>
              <a:srgbClr val="EEF4F4"/>
            </a:solidFill>
            <a:prstDash val="solid"/>
          </a:ln>
        </p:spPr>
      </p:sp>
      <p:sp>
        <p:nvSpPr>
          <p:cNvPr id="13" name="Shape 9"/>
          <p:cNvSpPr/>
          <p:nvPr/>
        </p:nvSpPr>
        <p:spPr>
          <a:xfrm>
            <a:off x="4892040" y="1920240"/>
            <a:ext cx="457200" cy="457200"/>
          </a:xfrm>
          <a:prstGeom prst="ellipse">
            <a:avLst/>
          </a:prstGeom>
          <a:solidFill>
            <a:srgbClr val="0E5E5E"/>
          </a:solidFill>
          <a:ln w="12700">
            <a:solidFill>
              <a:srgbClr val="0E5E5E"/>
            </a:solidFill>
            <a:prstDash val="solid"/>
          </a:ln>
        </p:spPr>
      </p:sp>
      <p:pic>
        <p:nvPicPr>
          <p:cNvPr id="14" name="Image 1" descr="preencoded.png">    </p:cNvPr>
          <p:cNvPicPr>
            <a:picLocks noChangeAspect="1"/>
          </p:cNvPicPr>
          <p:nvPr/>
        </p:nvPicPr>
        <p:blipFill>
          <a:blip r:embed="rId2"/>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Kein Auftragsstatus</a:t>
            </a:r>
            <a:endParaRPr lang="en-US" sz="1400" dirty="0"/>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Wer wissen will, wo ein Gerät steht, fragt in der Werkstatt nach. Papierzettel und Excel-Listen laufen auseinander.</a:t>
            </a:r>
            <a:endParaRPr lang="en-US" sz="1150" dirty="0"/>
          </a:p>
        </p:txBody>
      </p:sp>
      <p:sp>
        <p:nvSpPr>
          <p:cNvPr id="17" name="Shape 12"/>
          <p:cNvSpPr/>
          <p:nvPr/>
        </p:nvSpPr>
        <p:spPr>
          <a:xfrm>
            <a:off x="457200" y="3200400"/>
            <a:ext cx="3977640" cy="1325880"/>
          </a:xfrm>
          <a:prstGeom prst="roundRect">
            <a:avLst>
              <a:gd name="adj" fmla="val 5517"/>
            </a:avLst>
          </a:prstGeom>
          <a:solidFill>
            <a:srgbClr val="EEF4F4"/>
          </a:solidFill>
          <a:ln w="12700">
            <a:solidFill>
              <a:srgbClr val="EEF4F4"/>
            </a:solidFill>
            <a:prstDash val="solid"/>
          </a:ln>
        </p:spPr>
      </p:sp>
      <p:sp>
        <p:nvSpPr>
          <p:cNvPr id="18" name="Shape 13"/>
          <p:cNvSpPr/>
          <p:nvPr/>
        </p:nvSpPr>
        <p:spPr>
          <a:xfrm>
            <a:off x="640080" y="3383280"/>
            <a:ext cx="457200" cy="457200"/>
          </a:xfrm>
          <a:prstGeom prst="ellipse">
            <a:avLst/>
          </a:prstGeom>
          <a:solidFill>
            <a:srgbClr val="0E5E5E"/>
          </a:solidFill>
          <a:ln w="12700">
            <a:solidFill>
              <a:srgbClr val="0E5E5E"/>
            </a:solidFill>
            <a:prstDash val="solid"/>
          </a:ln>
        </p:spPr>
      </p:sp>
      <p:pic>
        <p:nvPicPr>
          <p:cNvPr id="19" name="Image 2" descr="preencoded.png">    </p:cNvPr>
          <p:cNvPicPr>
            <a:picLocks noChangeAspect="1"/>
          </p:cNvPicPr>
          <p:nvPr/>
        </p:nvPicPr>
        <p:blipFill>
          <a:blip r:embed="rId3"/>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Teile doppelt bestellt</a:t>
            </a:r>
            <a:endParaRPr lang="en-US" sz="1400" dirty="0"/>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Jede Filiale bestellt für sich, obwohl das Teil in der Nachbarfiliale liegt. Das kostet Zeit und Geld.</a:t>
            </a:r>
            <a:endParaRPr lang="en-US" sz="1150" dirty="0"/>
          </a:p>
        </p:txBody>
      </p:sp>
      <p:sp>
        <p:nvSpPr>
          <p:cNvPr id="22" name="Shape 16"/>
          <p:cNvSpPr/>
          <p:nvPr/>
        </p:nvSpPr>
        <p:spPr>
          <a:xfrm>
            <a:off x="4709160" y="3200400"/>
            <a:ext cx="3977640" cy="1325880"/>
          </a:xfrm>
          <a:prstGeom prst="roundRect">
            <a:avLst>
              <a:gd name="adj" fmla="val 5517"/>
            </a:avLst>
          </a:prstGeom>
          <a:solidFill>
            <a:srgbClr val="EEF4F4"/>
          </a:solidFill>
          <a:ln w="12700">
            <a:solidFill>
              <a:srgbClr val="EEF4F4"/>
            </a:solidFill>
            <a:prstDash val="solid"/>
          </a:ln>
        </p:spPr>
      </p:sp>
      <p:sp>
        <p:nvSpPr>
          <p:cNvPr id="23" name="Shape 17"/>
          <p:cNvSpPr/>
          <p:nvPr/>
        </p:nvSpPr>
        <p:spPr>
          <a:xfrm>
            <a:off x="4892040" y="3383280"/>
            <a:ext cx="457200" cy="457200"/>
          </a:xfrm>
          <a:prstGeom prst="ellipse">
            <a:avLst/>
          </a:prstGeom>
          <a:solidFill>
            <a:srgbClr val="0E5E5E"/>
          </a:solidFill>
          <a:ln w="12700">
            <a:solidFill>
              <a:srgbClr val="0E5E5E"/>
            </a:solidFill>
            <a:prstDash val="solid"/>
          </a:ln>
        </p:spPr>
      </p:sp>
      <p:pic>
        <p:nvPicPr>
          <p:cNvPr id="24" name="Image 3" descr="preencoded.png">    </p:cNvPr>
          <p:cNvPicPr>
            <a:picLocks noChangeAspect="1"/>
          </p:cNvPicPr>
          <p:nvPr/>
        </p:nvPicPr>
        <p:blipFill>
          <a:blip r:embed="rId4"/>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Auslastung intransparent</a:t>
            </a:r>
            <a:endParaRPr lang="en-US" sz="1400" dirty="0"/>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Termine werden nach Gefühl zugesagt, die Kapazität der Techniker kennt niemand genau.</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RepairFlow: Solution Provider für Werkstätten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4</a:t>
            </a:r>
            <a:endParaRPr lang="en-US" sz="900" dirty="0"/>
          </a:p>
        </p:txBody>
      </p:sp>
      <p:sp>
        <p:nvSpPr>
          <p:cNvPr id="6" name="Text 3"/>
          <p:cNvSpPr txBox="1"/>
          <p:nvPr/>
        </p:nvSpPr>
        <p:spPr>
          <a:xfrm>
            <a:off x="457200" y="1051560"/>
            <a:ext cx="3931920" cy="3566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Wir sind das Software-Startup, nicht die Werkstatt: RepairFlow ist eine Cloud-Plattform für den gesamten Reparatur-Lebenszyklus.</a:t>
            </a:r>
            <a:endParaRPr lang="en-US" sz="1300" dirty="0"/>
          </a:p>
          <a:p>
            <a:pPr marL="342900" indent="-3429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Vier Module: Kundenportal mit App, Auftrags- und Werkstattmodul, Dispositionsmodul, Abrechnung.</a:t>
            </a:r>
            <a:endParaRPr lang="en-US" sz="1300" dirty="0"/>
          </a:p>
          <a:p>
            <a:pPr marL="342900" indent="-3429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Zielkunden: unabhängige Werkstätten und kleine Ketten mit 2 bis 10 Filialen im DACH-Raum.</a:t>
            </a:r>
            <a:endParaRPr lang="en-US" sz="1300" dirty="0"/>
          </a:p>
          <a:p>
            <a:pPr marL="342900" indent="-3429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Geschäftsmodell: monatliches Abo je Filiale, Stufen Basis und Pro (Disposition und KI-Sofortdiagnose).</a:t>
            </a:r>
            <a:endParaRPr lang="en-US" sz="1300" dirty="0"/>
          </a:p>
          <a:p>
            <a:pPr marL="342900" indent="-3429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Pilotkunde FixWerk GmbH: an ihren Prozessen haben wir die Plattform entworfen.</a:t>
            </a:r>
            <a:endParaRPr lang="en-US" sz="1300" dirty="0"/>
          </a:p>
        </p:txBody>
      </p:sp>
      <p:pic>
        <p:nvPicPr>
          <p:cNvPr id="7" name="Image 0" descr="/tmp/repo/uml/systemkontext.png">    </p:cNvPr>
          <p:cNvPicPr>
            <a:picLocks noChangeAspect="1"/>
          </p:cNvPicPr>
          <p:nvPr/>
        </p:nvPicPr>
        <p:blipFill>
          <a:blip r:embed="rId1"/>
          <a:stretch>
            <a:fillRect/>
          </a:stretch>
        </p:blipFill>
        <p:spPr>
          <a:xfrm>
            <a:off x="4572000" y="1051560"/>
            <a:ext cx="4114800" cy="2656347"/>
          </a:xfrm>
          <a:prstGeom prst="rect">
            <a:avLst/>
          </a:prstGeom>
        </p:spPr>
      </p:pic>
      <p:sp>
        <p:nvSpPr>
          <p:cNvPr id="8" name="Text 4"/>
          <p:cNvSpPr txBox="1"/>
          <p:nvPr/>
        </p:nvSpPr>
        <p:spPr>
          <a:xfrm>
            <a:off x="4572000" y="3753627"/>
            <a:ext cx="4114800" cy="274320"/>
          </a:xfrm>
          <a:prstGeom prst="rect">
            <a:avLst/>
          </a:prstGeom>
          <a:noFill/>
          <a:ln/>
        </p:spPr>
        <p:txBody>
          <a:bodyPr wrap="square" lIns="0" tIns="0" rIns="0" bIns="0" rtlCol="0" anchor="ctr"/>
          <a:lstStyle/>
          <a:p>
            <a:pPr algn="ctr" indent="0" marL="0">
              <a:buNone/>
            </a:pPr>
            <a:r>
              <a:rPr lang="en-US" sz="900" i="1" dirty="0">
                <a:solidFill>
                  <a:srgbClr val="5F6B7A"/>
                </a:solidFill>
                <a:latin typeface="Calibri" pitchFamily="34" charset="0"/>
                <a:ea typeface="Calibri" pitchFamily="34" charset="-122"/>
                <a:cs typeface="Calibri" pitchFamily="34" charset="-120"/>
              </a:rPr>
              <a:t>Systemkontext: Plattform, Mandant, Kunde, Lieferant, KI-Dienst</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Unser Zuschnitt: drei Merkmale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5</a:t>
            </a:r>
            <a:endParaRPr lang="en-US" sz="900" dirty="0"/>
          </a:p>
        </p:txBody>
      </p:sp>
      <p:sp>
        <p:nvSpPr>
          <p:cNvPr id="6" name="Text 3"/>
          <p:cNvSpPr txBox="1"/>
          <p:nvPr/>
        </p:nvSpPr>
        <p:spPr>
          <a:xfrm>
            <a:off x="457200" y="960120"/>
            <a:ext cx="8229600" cy="45720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RepairFlow soll Fahrrad-, E-Bike- und Elektronikreparaturen gemeinsam abbilden. Drei Merkmale prägen unseren Entwurf:</a:t>
            </a:r>
            <a:endParaRPr lang="en-US" sz="1300" dirty="0"/>
          </a:p>
        </p:txBody>
      </p:sp>
      <p:sp>
        <p:nvSpPr>
          <p:cNvPr id="7" name="Shape 4"/>
          <p:cNvSpPr/>
          <p:nvPr/>
        </p:nvSpPr>
        <p:spPr>
          <a:xfrm>
            <a:off x="457200" y="1600200"/>
            <a:ext cx="2651760" cy="2926080"/>
          </a:xfrm>
          <a:prstGeom prst="roundRect">
            <a:avLst>
              <a:gd name="adj" fmla="val 2759"/>
            </a:avLst>
          </a:prstGeom>
          <a:solidFill>
            <a:srgbClr val="EEF4F4"/>
          </a:solidFill>
          <a:ln w="12700">
            <a:solidFill>
              <a:srgbClr val="EEF4F4"/>
            </a:solidFill>
            <a:prstDash val="solid"/>
          </a:ln>
        </p:spPr>
      </p:sp>
      <p:sp>
        <p:nvSpPr>
          <p:cNvPr id="8" name="Shape 5"/>
          <p:cNvSpPr/>
          <p:nvPr/>
        </p:nvSpPr>
        <p:spPr>
          <a:xfrm>
            <a:off x="640080" y="1783080"/>
            <a:ext cx="457200" cy="457200"/>
          </a:xfrm>
          <a:prstGeom prst="ellipse">
            <a:avLst/>
          </a:prstGeom>
          <a:solidFill>
            <a:srgbClr val="0E5E5E"/>
          </a:solidFill>
          <a:ln w="12700">
            <a:solidFill>
              <a:srgbClr val="0E5E5E"/>
            </a:solidFill>
            <a:prstDash val="solid"/>
          </a:ln>
        </p:spPr>
      </p:sp>
      <p:pic>
        <p:nvPicPr>
          <p:cNvPr id="9" name="Image 0" descr="preencoded.png">    </p:cNvPr>
          <p:cNvPicPr>
            <a:picLocks noChangeAspect="1"/>
          </p:cNvPicPr>
          <p:nvPr/>
        </p:nvPicPr>
        <p:blipFill>
          <a:blip r:embed="rId1"/>
          <a:stretch>
            <a:fillRect/>
          </a:stretch>
        </p:blipFill>
        <p:spPr>
          <a:xfrm>
            <a:off x="754380" y="1897380"/>
            <a:ext cx="228600" cy="228600"/>
          </a:xfrm>
          <a:prstGeom prst="rect">
            <a:avLst/>
          </a:prstGeom>
        </p:spPr>
      </p:pic>
      <p:sp>
        <p:nvSpPr>
          <p:cNvPr id="10" name="Text 6"/>
          <p:cNvSpPr txBox="1"/>
          <p:nvPr/>
        </p:nvSpPr>
        <p:spPr>
          <a:xfrm>
            <a:off x="1234440" y="176479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Eine Plattform</a:t>
            </a:r>
            <a:endParaRPr lang="en-US" sz="1400" dirty="0"/>
          </a:p>
        </p:txBody>
      </p:sp>
      <p:sp>
        <p:nvSpPr>
          <p:cNvPr id="11" name="Text 7"/>
          <p:cNvSpPr txBox="1"/>
          <p:nvPr/>
        </p:nvSpPr>
        <p:spPr>
          <a:xfrm>
            <a:off x="640080" y="2331720"/>
            <a:ext cx="2286000" cy="205740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Fahrrad, E-Bike und Elektronik auf einer Plattform, mit gemeinsamer Kundenbasis und gemeinsamem Ersatzteillager.</a:t>
            </a:r>
            <a:endParaRPr lang="en-US" sz="1150" dirty="0"/>
          </a:p>
        </p:txBody>
      </p:sp>
      <p:sp>
        <p:nvSpPr>
          <p:cNvPr id="12" name="Shape 8"/>
          <p:cNvSpPr/>
          <p:nvPr/>
        </p:nvSpPr>
        <p:spPr>
          <a:xfrm>
            <a:off x="3246120" y="1600200"/>
            <a:ext cx="2651760" cy="2926080"/>
          </a:xfrm>
          <a:prstGeom prst="roundRect">
            <a:avLst>
              <a:gd name="adj" fmla="val 2759"/>
            </a:avLst>
          </a:prstGeom>
          <a:solidFill>
            <a:srgbClr val="EEF4F4"/>
          </a:solidFill>
          <a:ln w="12700">
            <a:solidFill>
              <a:srgbClr val="EEF4F4"/>
            </a:solidFill>
            <a:prstDash val="solid"/>
          </a:ln>
        </p:spPr>
      </p:sp>
      <p:sp>
        <p:nvSpPr>
          <p:cNvPr id="13" name="Shape 9"/>
          <p:cNvSpPr/>
          <p:nvPr/>
        </p:nvSpPr>
        <p:spPr>
          <a:xfrm>
            <a:off x="3429000" y="1783080"/>
            <a:ext cx="457200" cy="457200"/>
          </a:xfrm>
          <a:prstGeom prst="ellipse">
            <a:avLst/>
          </a:prstGeom>
          <a:solidFill>
            <a:srgbClr val="0E5E5E"/>
          </a:solidFill>
          <a:ln w="12700">
            <a:solidFill>
              <a:srgbClr val="0E5E5E"/>
            </a:solidFill>
            <a:prstDash val="solid"/>
          </a:ln>
        </p:spPr>
      </p:sp>
      <p:pic>
        <p:nvPicPr>
          <p:cNvPr id="14" name="Image 1" descr="preencoded.png">    </p:cNvPr>
          <p:cNvPicPr>
            <a:picLocks noChangeAspect="1"/>
          </p:cNvPicPr>
          <p:nvPr/>
        </p:nvPicPr>
        <p:blipFill>
          <a:blip r:embed="rId2"/>
          <a:stretch>
            <a:fillRect/>
          </a:stretch>
        </p:blipFill>
        <p:spPr>
          <a:xfrm>
            <a:off x="3543300" y="1897380"/>
            <a:ext cx="228600" cy="228600"/>
          </a:xfrm>
          <a:prstGeom prst="rect">
            <a:avLst/>
          </a:prstGeom>
        </p:spPr>
      </p:pic>
      <p:sp>
        <p:nvSpPr>
          <p:cNvPr id="15" name="Text 10"/>
          <p:cNvSpPr txBox="1"/>
          <p:nvPr/>
        </p:nvSpPr>
        <p:spPr>
          <a:xfrm>
            <a:off x="4023360" y="176479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Filialübergreifend</a:t>
            </a:r>
            <a:endParaRPr lang="en-US" sz="1400" dirty="0"/>
          </a:p>
        </p:txBody>
      </p:sp>
      <p:sp>
        <p:nvSpPr>
          <p:cNvPr id="16" name="Text 11"/>
          <p:cNvSpPr txBox="1"/>
          <p:nvPr/>
        </p:nvSpPr>
        <p:spPr>
          <a:xfrm>
            <a:off x="3429000" y="2331720"/>
            <a:ext cx="2286000" cy="205740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Bestände, Reservierungen und Umlagerungen über alle Standorte. Bestellt wird nur, was nirgends liegt.</a:t>
            </a:r>
            <a:endParaRPr lang="en-US" sz="1150" dirty="0"/>
          </a:p>
        </p:txBody>
      </p:sp>
      <p:sp>
        <p:nvSpPr>
          <p:cNvPr id="17" name="Shape 12"/>
          <p:cNvSpPr/>
          <p:nvPr/>
        </p:nvSpPr>
        <p:spPr>
          <a:xfrm>
            <a:off x="6035040" y="1600200"/>
            <a:ext cx="2651760" cy="2926080"/>
          </a:xfrm>
          <a:prstGeom prst="roundRect">
            <a:avLst>
              <a:gd name="adj" fmla="val 2759"/>
            </a:avLst>
          </a:prstGeom>
          <a:solidFill>
            <a:srgbClr val="FFF4D6"/>
          </a:solidFill>
          <a:ln w="12700">
            <a:solidFill>
              <a:srgbClr val="FFF4D6"/>
            </a:solidFill>
            <a:prstDash val="solid"/>
          </a:ln>
        </p:spPr>
      </p:sp>
      <p:sp>
        <p:nvSpPr>
          <p:cNvPr id="18" name="Shape 13"/>
          <p:cNvSpPr/>
          <p:nvPr/>
        </p:nvSpPr>
        <p:spPr>
          <a:xfrm>
            <a:off x="6217920" y="1783080"/>
            <a:ext cx="457200" cy="457200"/>
          </a:xfrm>
          <a:prstGeom prst="ellipse">
            <a:avLst/>
          </a:prstGeom>
          <a:solidFill>
            <a:srgbClr val="0E5E5E"/>
          </a:solidFill>
          <a:ln w="12700">
            <a:solidFill>
              <a:srgbClr val="0E5E5E"/>
            </a:solidFill>
            <a:prstDash val="solid"/>
          </a:ln>
        </p:spPr>
      </p:sp>
      <p:pic>
        <p:nvPicPr>
          <p:cNvPr id="19" name="Image 2" descr="preencoded.png">    </p:cNvPr>
          <p:cNvPicPr>
            <a:picLocks noChangeAspect="1"/>
          </p:cNvPicPr>
          <p:nvPr/>
        </p:nvPicPr>
        <p:blipFill>
          <a:blip r:embed="rId3"/>
          <a:stretch>
            <a:fillRect/>
          </a:stretch>
        </p:blipFill>
        <p:spPr>
          <a:xfrm>
            <a:off x="6332220" y="1897380"/>
            <a:ext cx="228600" cy="228600"/>
          </a:xfrm>
          <a:prstGeom prst="rect">
            <a:avLst/>
          </a:prstGeom>
        </p:spPr>
      </p:pic>
      <p:sp>
        <p:nvSpPr>
          <p:cNvPr id="20" name="Text 14"/>
          <p:cNvSpPr txBox="1"/>
          <p:nvPr/>
        </p:nvSpPr>
        <p:spPr>
          <a:xfrm>
            <a:off x="6812280" y="176479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KI-Sofortdiagnose</a:t>
            </a:r>
            <a:endParaRPr lang="en-US" sz="1400" dirty="0"/>
          </a:p>
        </p:txBody>
      </p:sp>
      <p:sp>
        <p:nvSpPr>
          <p:cNvPr id="21" name="Text 15"/>
          <p:cNvSpPr txBox="1"/>
          <p:nvPr/>
        </p:nvSpPr>
        <p:spPr>
          <a:xfrm>
            <a:off x="6217920" y="2331720"/>
            <a:ext cx="2286000" cy="205740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Diagnosevorschlag, vorläufiger Kostenvoranschlag und Termin, bevor der Kunde die Werkstatt betritt.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Der Reparaturauftrag als Zustandsautomat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6</a:t>
            </a:r>
            <a:endParaRPr lang="en-US" sz="900" dirty="0"/>
          </a:p>
        </p:txBody>
      </p:sp>
      <p:pic>
        <p:nvPicPr>
          <p:cNvPr id="6" name="Image 0" descr="/tmp/repo/uml/zustand-reparaturauftrag.png">    </p:cNvPr>
          <p:cNvPicPr>
            <a:picLocks noChangeAspect="1"/>
          </p:cNvPicPr>
          <p:nvPr/>
        </p:nvPicPr>
        <p:blipFill>
          <a:blip r:embed="rId1"/>
          <a:stretch>
            <a:fillRect/>
          </a:stretch>
        </p:blipFill>
        <p:spPr>
          <a:xfrm>
            <a:off x="999613" y="960120"/>
            <a:ext cx="2755654" cy="3657600"/>
          </a:xfrm>
          <a:prstGeom prst="rect">
            <a:avLst/>
          </a:prstGeom>
        </p:spPr>
      </p:pic>
      <p:sp>
        <p:nvSpPr>
          <p:cNvPr id="7" name="Text 3"/>
          <p:cNvSpPr txBox="1"/>
          <p:nvPr/>
        </p:nvSpPr>
        <p:spPr>
          <a:xfrm>
            <a:off x="4572000" y="1188720"/>
            <a:ext cx="4114800" cy="33832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angenommen → in Diagnose → KVA offen → freigegeben | abgelehnt → Teile bestellt → in Reparatur → fertig → abgeholt</a:t>
            </a:r>
            <a:endParaRPr lang="en-US" sz="1300" dirty="0"/>
          </a:p>
          <a:p>
            <a:pPr marL="342900" indent="-3429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Die zehn BPMN-Prozesse sind die Übergänge dieses Automaten.</a:t>
            </a:r>
            <a:endParaRPr lang="en-US" sz="1300" dirty="0"/>
          </a:p>
          <a:p>
            <a:pPr marL="342900" indent="-3429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Das Klassendiagramm führt ihn als Attribut status : AuftragStatus.</a:t>
            </a:r>
            <a:endParaRPr lang="en-US" sz="1300" dirty="0"/>
          </a:p>
          <a:p>
            <a:pPr marL="342900" indent="-3429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Die Sequenzdiagramme markieren die Statuswechsel, an denen sie beteiligt sind.</a:t>
            </a:r>
            <a:endParaRPr lang="en-US" sz="1300" dirty="0"/>
          </a:p>
          <a:p>
            <a:pPr marL="342900" indent="-342900">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Reklamation im Gewährleistungsfall startet einen neuen, kostenfreien Zyklus.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Zehn Geschäftsprozesse als Kollaborationsdiagramme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7</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5760720" cy="914400"/>
        </p:xfrm>
        <a:graphic>
          <a:graphicData uri="http://schemas.openxmlformats.org/drawingml/2006/table">
            <a:tbl>
              <a:tblPr/>
              <a:tblGrid>
                <a:gridCol w="365760"/>
                <a:gridCol w="2926080"/>
                <a:gridCol w="1463040"/>
                <a:gridCol w="457200"/>
                <a:gridCol w="548640"/>
              </a:tblGrid>
              <a:tr h="283464">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Pools</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r>
              <a:tr h="283464">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Werkstattbetrieb, Kunde</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83464">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Werkstattbetrieb, Kunde</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83464">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Werkstattbetrieb, Kunde</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83464">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Werkstattbetrieb, Kunde</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83464">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Werkstattbetrieb, Kunde</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79 %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83464">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Werkstattbetrieb, Lieferant, Kunde</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57 %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83464">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Werkstattbetrieb, Kunde</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83464">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Werkstattbetrieb, Kunde</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83464">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Werkstattbetrieb, Kunde</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83464">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Werkstattbetrieb, Lieferant</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bl>
          </a:graphicData>
        </a:graphic>
      </p:graphicFrame>
      <p:sp>
        <p:nvSpPr>
          <p:cNvPr id="7" name="Text 3"/>
          <p:cNvSpPr txBox="1"/>
          <p:nvPr/>
        </p:nvSpPr>
        <p:spPr>
          <a:xfrm>
            <a:off x="6492240" y="1188720"/>
            <a:ext cx="2103120" cy="731520"/>
          </a:xfrm>
          <a:prstGeom prst="rect">
            <a:avLst/>
          </a:prstGeom>
          <a:noFill/>
          <a:ln/>
        </p:spPr>
        <p:txBody>
          <a:bodyPr wrap="square" lIns="0" tIns="0" rIns="0" bIns="0" rtlCol="0" anchor="ctr"/>
          <a:lstStyle/>
          <a:p>
            <a:pPr algn="ctr" indent="0" marL="0">
              <a:buNone/>
            </a:pPr>
            <a:r>
              <a:rPr lang="en-US" sz="4000" b="1" dirty="0">
                <a:solidFill>
                  <a:srgbClr val="F2A900"/>
                </a:solidFill>
                <a:latin typeface="Calibri" pitchFamily="34" charset="0"/>
                <a:ea typeface="Calibri" pitchFamily="34" charset="-122"/>
                <a:cs typeface="Calibri" pitchFamily="34" charset="-120"/>
              </a:rPr>
              <a:t>131</a:t>
            </a:r>
            <a:endParaRPr lang="en-US" sz="4000" dirty="0"/>
          </a:p>
        </p:txBody>
      </p:sp>
      <p:sp>
        <p:nvSpPr>
          <p:cNvPr id="8" name="Text 4"/>
          <p:cNvSpPr txBox="1"/>
          <p:nvPr/>
        </p:nvSpPr>
        <p:spPr>
          <a:xfrm>
            <a:off x="6492240" y="1920240"/>
            <a:ext cx="2103120" cy="457200"/>
          </a:xfrm>
          <a:prstGeom prst="rect">
            <a:avLst/>
          </a:prstGeom>
          <a:noFill/>
          <a:ln/>
        </p:spPr>
        <p:txBody>
          <a:bodyPr wrap="square" lIns="0" tIns="0" rIns="0" bIns="0" rtlCol="0" anchor="ctr"/>
          <a:lstStyle/>
          <a:p>
            <a:pPr algn="ctr" indent="0" marL="0">
              <a:buNone/>
            </a:pPr>
            <a:r>
              <a:rPr lang="en-US" sz="1100" dirty="0">
                <a:solidFill>
                  <a:srgbClr val="1B2430"/>
                </a:solidFill>
                <a:latin typeface="Calibri" pitchFamily="34" charset="0"/>
                <a:ea typeface="Calibri" pitchFamily="34" charset="-122"/>
                <a:cs typeface="Calibri" pitchFamily="34" charset="-120"/>
              </a:rPr>
              <a:t>Aktivitäten im Werkstatt-Pool, im Schnitt 13,1 je Diagramm</a:t>
            </a:r>
            <a:endParaRPr lang="en-US" sz="1100" dirty="0"/>
          </a:p>
        </p:txBody>
      </p:sp>
      <p:sp>
        <p:nvSpPr>
          <p:cNvPr id="9" name="Text 5"/>
          <p:cNvSpPr txBox="1"/>
          <p:nvPr/>
        </p:nvSpPr>
        <p:spPr>
          <a:xfrm>
            <a:off x="6492240" y="2651760"/>
            <a:ext cx="2103120" cy="731520"/>
          </a:xfrm>
          <a:prstGeom prst="rect">
            <a:avLst/>
          </a:prstGeom>
          <a:noFill/>
          <a:ln/>
        </p:spPr>
        <p:txBody>
          <a:bodyPr wrap="square" lIns="0" tIns="0" rIns="0" bIns="0" rtlCol="0" anchor="ctr"/>
          <a:lstStyle/>
          <a:p>
            <a:pPr algn="ctr" indent="0" marL="0">
              <a:buNone/>
            </a:pPr>
            <a:r>
              <a:rPr lang="en-US" sz="4000" b="1" dirty="0">
                <a:solidFill>
                  <a:srgbClr val="F2A900"/>
                </a:solidFill>
                <a:latin typeface="Calibri" pitchFamily="34" charset="0"/>
                <a:ea typeface="Calibri" pitchFamily="34" charset="-122"/>
                <a:cs typeface="Calibri" pitchFamily="34" charset="-120"/>
              </a:rPr>
              <a:t>60 %</a:t>
            </a:r>
            <a:endParaRPr lang="en-US" sz="4000" dirty="0"/>
          </a:p>
        </p:txBody>
      </p:sp>
      <p:sp>
        <p:nvSpPr>
          <p:cNvPr id="10" name="Text 6"/>
          <p:cNvSpPr txBox="1"/>
          <p:nvPr/>
        </p:nvSpPr>
        <p:spPr>
          <a:xfrm>
            <a:off x="6492240" y="3383280"/>
            <a:ext cx="2103120" cy="457200"/>
          </a:xfrm>
          <a:prstGeom prst="rect">
            <a:avLst/>
          </a:prstGeom>
          <a:noFill/>
          <a:ln/>
        </p:spPr>
        <p:txBody>
          <a:bodyPr wrap="square" lIns="0" tIns="0" rIns="0" bIns="0" rtlCol="0" anchor="ctr"/>
          <a:lstStyle/>
          <a:p>
            <a:pPr algn="ctr" indent="0" marL="0">
              <a:buNone/>
            </a:pPr>
            <a:r>
              <a:rPr lang="en-US" sz="1100" dirty="0">
                <a:solidFill>
                  <a:srgbClr val="1B2430"/>
                </a:solidFill>
                <a:latin typeface="Calibri" pitchFamily="34" charset="0"/>
                <a:ea typeface="Calibri" pitchFamily="34" charset="-122"/>
                <a:cs typeface="Calibri" pitchFamily="34" charset="-120"/>
              </a:rPr>
              <a:t>davon führt RepairFlow ohne manuelle Arbeit aus</a:t>
            </a:r>
            <a:endParaRPr lang="en-US" sz="1100" dirty="0"/>
          </a:p>
        </p:txBody>
      </p:sp>
      <p:sp>
        <p:nvSpPr>
          <p:cNvPr id="11" name="Text 7"/>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000" i="1" dirty="0">
                <a:solidFill>
                  <a:srgbClr val="5F6B7A"/>
                </a:solidFill>
                <a:latin typeface="Calibri" pitchFamily="34" charset="0"/>
                <a:ea typeface="Calibri" pitchFamily="34" charset="-122"/>
                <a:cs typeface="Calibri" pitchFamily="34" charset="-120"/>
              </a:rPr>
              <a:t>Prozesse 01 bis 08: durchgehende Auftragsreise · 09 und 10: Reklamation und Retoure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So lesen sich unsere BPMN-Diagramme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8</a:t>
            </a:r>
            <a:endParaRPr lang="en-US" sz="900" dirty="0"/>
          </a:p>
        </p:txBody>
      </p:sp>
      <p:sp>
        <p:nvSpPr>
          <p:cNvPr id="6" name="Shape 3"/>
          <p:cNvSpPr/>
          <p:nvPr/>
        </p:nvSpPr>
        <p:spPr>
          <a:xfrm>
            <a:off x="457200" y="1005840"/>
            <a:ext cx="3977640" cy="1280160"/>
          </a:xfrm>
          <a:prstGeom prst="roundRect">
            <a:avLst>
              <a:gd name="adj" fmla="val 5714"/>
            </a:avLst>
          </a:prstGeom>
          <a:solidFill>
            <a:srgbClr val="EEF4F4"/>
          </a:solidFill>
          <a:ln w="12700">
            <a:solidFill>
              <a:srgbClr val="EEF4F4"/>
            </a:solidFill>
            <a:prstDash val="solid"/>
          </a:ln>
        </p:spPr>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sp>
      <p:pic>
        <p:nvPicPr>
          <p:cNvPr id="8" name="Image 0" descr="preencoded.png">    </p:cNvPr>
          <p:cNvPicPr>
            <a:picLocks noChangeAspect="1"/>
          </p:cNvPicPr>
          <p:nvPr/>
        </p:nvPicPr>
        <p:blipFill>
          <a:blip r:embed="rId1"/>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Pools und Lanes</a:t>
            </a:r>
            <a:endParaRPr lang="en-US" sz="1400" dirty="0"/>
          </a:p>
        </p:txBody>
      </p:sp>
      <p:sp>
        <p:nvSpPr>
          <p:cNvPr id="10" name="Text 6"/>
          <p:cNvSpPr txBox="1"/>
          <p:nvPr/>
        </p:nvSpPr>
        <p:spPr>
          <a:xfrm>
            <a:off x="640080" y="1737360"/>
            <a:ext cx="3611880" cy="4114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Pool = Unternehmen: Werkstattbetrieb (Mandant), Kunde mit eigenem Ablauf, Lieferant als Black Box. Lanes = Rollen: Service, Techniker, Werkstattleitung, Disposition.</a:t>
            </a:r>
            <a:endParaRPr lang="en-US" sz="1150" dirty="0"/>
          </a:p>
        </p:txBody>
      </p:sp>
      <p:sp>
        <p:nvSpPr>
          <p:cNvPr id="11" name="Shape 7"/>
          <p:cNvSpPr/>
          <p:nvPr/>
        </p:nvSpPr>
        <p:spPr>
          <a:xfrm>
            <a:off x="4709160" y="1005840"/>
            <a:ext cx="3977640" cy="1280160"/>
          </a:xfrm>
          <a:prstGeom prst="roundRect">
            <a:avLst>
              <a:gd name="adj" fmla="val 5714"/>
            </a:avLst>
          </a:prstGeom>
          <a:solidFill>
            <a:srgbClr val="EEF4F4"/>
          </a:solidFill>
          <a:ln w="12700">
            <a:solidFill>
              <a:srgbClr val="EEF4F4"/>
            </a:solidFill>
            <a:prstDash val="solid"/>
          </a:ln>
        </p:spPr>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sp>
      <p:pic>
        <p:nvPicPr>
          <p:cNvPr id="13" name="Image 1" descr="preencoded.png">    </p:cNvPr>
          <p:cNvPicPr>
            <a:picLocks noChangeAspect="1"/>
          </p:cNvPicPr>
          <p:nvPr/>
        </p:nvPicPr>
        <p:blipFill>
          <a:blip r:embed="rId2"/>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Automatisierung als Aktivitätstyp</a:t>
            </a:r>
            <a:endParaRPr lang="en-US" sz="1400" dirty="0"/>
          </a:p>
        </p:txBody>
      </p:sp>
      <p:sp>
        <p:nvSpPr>
          <p:cNvPr id="15" name="Text 10"/>
          <p:cNvSpPr txBox="1"/>
          <p:nvPr/>
        </p:nvSpPr>
        <p:spPr>
          <a:xfrm>
            <a:off x="4892040" y="1737360"/>
            <a:ext cx="3611880" cy="4114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Service Task = RepairFlow allein, Business Rule Task = Regel oder KI, Send/Receive = Nachricht, User Task = Mensch mit RepairFlow, Manual = außerhalb.</a:t>
            </a:r>
            <a:endParaRPr lang="en-US" sz="1150" dirty="0"/>
          </a:p>
        </p:txBody>
      </p:sp>
      <p:sp>
        <p:nvSpPr>
          <p:cNvPr id="16" name="Shape 11"/>
          <p:cNvSpPr/>
          <p:nvPr/>
        </p:nvSpPr>
        <p:spPr>
          <a:xfrm>
            <a:off x="457200" y="2423160"/>
            <a:ext cx="3977640" cy="1280160"/>
          </a:xfrm>
          <a:prstGeom prst="roundRect">
            <a:avLst>
              <a:gd name="adj" fmla="val 5714"/>
            </a:avLst>
          </a:prstGeom>
          <a:solidFill>
            <a:srgbClr val="EEF4F4"/>
          </a:solidFill>
          <a:ln w="12700">
            <a:solidFill>
              <a:srgbClr val="EEF4F4"/>
            </a:solidFill>
            <a:prstDash val="solid"/>
          </a:ln>
        </p:spPr>
      </p:sp>
      <p:sp>
        <p:nvSpPr>
          <p:cNvPr id="17" name="Shape 12"/>
          <p:cNvSpPr/>
          <p:nvPr/>
        </p:nvSpPr>
        <p:spPr>
          <a:xfrm>
            <a:off x="640080" y="2606040"/>
            <a:ext cx="457200" cy="457200"/>
          </a:xfrm>
          <a:prstGeom prst="ellipse">
            <a:avLst/>
          </a:prstGeom>
          <a:solidFill>
            <a:srgbClr val="0E5E5E"/>
          </a:solidFill>
          <a:ln w="12700">
            <a:solidFill>
              <a:srgbClr val="0E5E5E"/>
            </a:solidFill>
            <a:prstDash val="solid"/>
          </a:ln>
        </p:spPr>
      </p:sp>
      <p:pic>
        <p:nvPicPr>
          <p:cNvPr id="18" name="Image 2" descr="preencoded.png">    </p:cNvPr>
          <p:cNvPicPr>
            <a:picLocks noChangeAspect="1"/>
          </p:cNvPicPr>
          <p:nvPr/>
        </p:nvPicPr>
        <p:blipFill>
          <a:blip r:embed="rId3"/>
          <a:stretch>
            <a:fillRect/>
          </a:stretch>
        </p:blipFill>
        <p:spPr>
          <a:xfrm>
            <a:off x="754380" y="2720340"/>
            <a:ext cx="228600" cy="228600"/>
          </a:xfrm>
          <a:prstGeom prst="rect">
            <a:avLst/>
          </a:prstGeom>
        </p:spPr>
      </p:pic>
      <p:sp>
        <p:nvSpPr>
          <p:cNvPr id="19" name="Text 13"/>
          <p:cNvSpPr txBox="1"/>
          <p:nvPr/>
        </p:nvSpPr>
        <p:spPr>
          <a:xfrm>
            <a:off x="1234440" y="258775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Nachrichtenflüsse und Daten</a:t>
            </a:r>
            <a:endParaRPr lang="en-US" sz="1400" dirty="0"/>
          </a:p>
        </p:txBody>
      </p:sp>
      <p:sp>
        <p:nvSpPr>
          <p:cNvPr id="20" name="Text 14"/>
          <p:cNvSpPr txBox="1"/>
          <p:nvPr/>
        </p:nvSpPr>
        <p:spPr>
          <a:xfrm>
            <a:off x="640080" y="3154680"/>
            <a:ext cx="3611880" cy="4114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Kommunikation mit Kunde und Lieferant nur als Nachrichtenfluss. Datenobjekte tragen Klassennamen mit Zustand, z. B. Reparaturauftrag [freigegeben].</a:t>
            </a:r>
            <a:endParaRPr lang="en-US" sz="1150" dirty="0"/>
          </a:p>
        </p:txBody>
      </p:sp>
      <p:sp>
        <p:nvSpPr>
          <p:cNvPr id="21" name="Shape 15"/>
          <p:cNvSpPr/>
          <p:nvPr/>
        </p:nvSpPr>
        <p:spPr>
          <a:xfrm>
            <a:off x="4709160" y="2423160"/>
            <a:ext cx="3977640" cy="1280160"/>
          </a:xfrm>
          <a:prstGeom prst="roundRect">
            <a:avLst>
              <a:gd name="adj" fmla="val 5714"/>
            </a:avLst>
          </a:prstGeom>
          <a:solidFill>
            <a:srgbClr val="EEF4F4"/>
          </a:solidFill>
          <a:ln w="12700">
            <a:solidFill>
              <a:srgbClr val="EEF4F4"/>
            </a:solidFill>
            <a:prstDash val="solid"/>
          </a:ln>
        </p:spPr>
      </p:sp>
      <p:sp>
        <p:nvSpPr>
          <p:cNvPr id="22" name="Shape 16"/>
          <p:cNvSpPr/>
          <p:nvPr/>
        </p:nvSpPr>
        <p:spPr>
          <a:xfrm>
            <a:off x="4892040" y="2606040"/>
            <a:ext cx="457200" cy="457200"/>
          </a:xfrm>
          <a:prstGeom prst="ellipse">
            <a:avLst/>
          </a:prstGeom>
          <a:solidFill>
            <a:srgbClr val="0E5E5E"/>
          </a:solidFill>
          <a:ln w="12700">
            <a:solidFill>
              <a:srgbClr val="0E5E5E"/>
            </a:solidFill>
            <a:prstDash val="solid"/>
          </a:ln>
        </p:spPr>
      </p:sp>
      <p:pic>
        <p:nvPicPr>
          <p:cNvPr id="23" name="Image 3" descr="preencoded.png">    </p:cNvPr>
          <p:cNvPicPr>
            <a:picLocks noChangeAspect="1"/>
          </p:cNvPicPr>
          <p:nvPr/>
        </p:nvPicPr>
        <p:blipFill>
          <a:blip r:embed="rId4"/>
          <a:stretch>
            <a:fillRect/>
          </a:stretch>
        </p:blipFill>
        <p:spPr>
          <a:xfrm>
            <a:off x="5006340" y="2720340"/>
            <a:ext cx="228600" cy="228600"/>
          </a:xfrm>
          <a:prstGeom prst="rect">
            <a:avLst/>
          </a:prstGeom>
        </p:spPr>
      </p:pic>
      <p:sp>
        <p:nvSpPr>
          <p:cNvPr id="24" name="Text 17"/>
          <p:cNvSpPr txBox="1"/>
          <p:nvPr/>
        </p:nvSpPr>
        <p:spPr>
          <a:xfrm>
            <a:off x="5486400" y="258775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Ein Start, ein Ende, Linter sauber</a:t>
            </a:r>
            <a:endParaRPr lang="en-US" sz="1400" dirty="0"/>
          </a:p>
        </p:txBody>
      </p:sp>
      <p:sp>
        <p:nvSpPr>
          <p:cNvPr id="25" name="Text 18"/>
          <p:cNvSpPr txBox="1"/>
          <p:nvPr/>
        </p:nvSpPr>
        <p:spPr>
          <a:xfrm>
            <a:off x="4892040" y="3154680"/>
            <a:ext cx="3611880" cy="4114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Je Prozess ein Start- und ein Endereignis. Camunda-8-Anreicherung: Task-Definitionen, Subscriptions, Timer, FEEL-Bedingungen. Camunda-Linter: 0 Befunde.</a:t>
            </a:r>
            <a:endParaRPr lang="en-US" sz="1150" dirty="0"/>
          </a:p>
        </p:txBody>
      </p:sp>
      <p:pic>
        <p:nvPicPr>
          <p:cNvPr id="26" name="Image 4" descr="/tmp/repo/tools/pres/crop-05-links.png">    </p:cNvPr>
          <p:cNvPicPr>
            <a:picLocks noChangeAspect="1"/>
          </p:cNvPicPr>
          <p:nvPr/>
        </p:nvPicPr>
        <p:blipFill>
          <a:blip r:embed="rId5"/>
          <a:stretch>
            <a:fillRect/>
          </a:stretch>
        </p:blipFill>
        <p:spPr>
          <a:xfrm>
            <a:off x="3066497" y="3794760"/>
            <a:ext cx="3011006" cy="713232"/>
          </a:xfrm>
          <a:prstGeom prst="rect">
            <a:avLst/>
          </a:prstGeom>
        </p:spPr>
      </p:pic>
      <p:sp>
        <p:nvSpPr>
          <p:cNvPr id="27" name="Text 19"/>
          <p:cNvSpPr txBox="1"/>
          <p:nvPr/>
        </p:nvSpPr>
        <p:spPr>
          <a:xfrm>
            <a:off x="457200" y="4553712"/>
            <a:ext cx="8229600" cy="274320"/>
          </a:xfrm>
          <a:prstGeom prst="rect">
            <a:avLst/>
          </a:prstGeom>
          <a:noFill/>
          <a:ln/>
        </p:spPr>
        <p:txBody>
          <a:bodyPr wrap="square" lIns="0" tIns="0" rIns="0" bIns="0" rtlCol="0" anchor="ctr"/>
          <a:lstStyle/>
          <a:p>
            <a:pPr algn="ctr" indent="0" marL="0">
              <a:buNone/>
            </a:pPr>
            <a:r>
              <a:rPr lang="en-US" sz="900" i="1" dirty="0">
                <a:solidFill>
                  <a:srgbClr val="5F6B7A"/>
                </a:solidFill>
                <a:latin typeface="Calibri" pitchFamily="34" charset="0"/>
                <a:ea typeface="Calibri" pitchFamily="34" charset="-122"/>
                <a:cs typeface="Calibri" pitchFamily="34" charset="-120"/>
              </a:rPr>
              <a:t>Ausschnitt Prozess 05: paralleler Mehrfach-Teilprozess je Ersatzteil</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Prozess 01: KI-Sofortdiagnose und Voranmeldung</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9</a:t>
            </a:r>
            <a:endParaRPr lang="en-US" sz="900" dirty="0"/>
          </a:p>
        </p:txBody>
      </p:sp>
      <p:pic>
        <p:nvPicPr>
          <p:cNvPr id="6" name="Image 0" descr="/tmp/repo/tools/pres/crop-01-links.png">    </p:cNvPr>
          <p:cNvPicPr>
            <a:picLocks noChangeAspect="1"/>
          </p:cNvPicPr>
          <p:nvPr/>
        </p:nvPicPr>
        <p:blipFill>
          <a:blip r:embed="rId1"/>
          <a:stretch>
            <a:fillRect/>
          </a:stretch>
        </p:blipFill>
        <p:spPr>
          <a:xfrm>
            <a:off x="2018537" y="960120"/>
            <a:ext cx="5106927" cy="2468880"/>
          </a:xfrm>
          <a:prstGeom prst="rect">
            <a:avLst/>
          </a:prstGeom>
        </p:spPr>
      </p:pic>
      <p:sp>
        <p:nvSpPr>
          <p:cNvPr id="7" name="Text 3"/>
          <p:cNvSpPr txBox="1"/>
          <p:nvPr/>
        </p:nvSpPr>
        <p:spPr>
          <a:xfrm>
            <a:off x="457200" y="3474720"/>
            <a:ext cx="8229600" cy="274320"/>
          </a:xfrm>
          <a:prstGeom prst="rect">
            <a:avLst/>
          </a:prstGeom>
          <a:noFill/>
          <a:ln/>
        </p:spPr>
        <p:txBody>
          <a:bodyPr wrap="square" lIns="0" tIns="0" rIns="0" bIns="0" rtlCol="0" anchor="ctr"/>
          <a:lstStyle/>
          <a:p>
            <a:pPr algn="ctr" indent="0" marL="0">
              <a:buNone/>
            </a:pPr>
            <a:r>
              <a:rPr lang="en-US" sz="900" i="1" dirty="0">
                <a:solidFill>
                  <a:srgbClr val="5F6B7A"/>
                </a:solidFill>
                <a:latin typeface="Calibri" pitchFamily="34" charset="0"/>
                <a:ea typeface="Calibri" pitchFamily="34" charset="-122"/>
                <a:cs typeface="Calibri" pitchFamily="34" charset="-120"/>
              </a:rPr>
              <a:t>Ausschnitt Pool Kunde und Lane Service / Annahme: Aufnahme und Anfrage, Voranmeldung anlegen, Medienprüfung mit Rückfrage an den Kunden, KI-Diagnosevorschlag, Vorab-KVA</a:t>
            </a:r>
            <a:endParaRPr lang="en-US" sz="900" dirty="0"/>
          </a:p>
        </p:txBody>
      </p:sp>
      <p:sp>
        <p:nvSpPr>
          <p:cNvPr id="8" name="Text 4"/>
          <p:cNvSpPr txBox="1"/>
          <p:nvPr/>
        </p:nvSpPr>
        <p:spPr>
          <a:xfrm>
            <a:off x="457200" y="3794760"/>
            <a:ext cx="8229600" cy="91440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Kunde: Foto, Video oder Ton aufnehmen und in der App senden; RepairFlow legt daraus sofort die Voranmeldung an</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Rückfrage bei nicht auswertbaren Medien: neue Aufnahme oder nach 7 Tagen verwerfen</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KI-Diagnosevorschlag als Geschäftsregel-Aktivität, danach Vorab-KVA, Verfügbarkeitsprüfung und Terminvorschlag</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Warten auf Bestätigung (Vorreservierung), Ablehnung oder 7-Tage-Timer (Voranmeldung verwerfen)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Prozess 04: Kostenvoranschlag und Kundenfreigabe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10</a:t>
            </a:r>
            <a:endParaRPr lang="en-US" sz="900" dirty="0"/>
          </a:p>
        </p:txBody>
      </p:sp>
      <p:pic>
        <p:nvPicPr>
          <p:cNvPr id="6" name="Image 0" descr="/tmp/repo/tools/pres/crop-04-mitte.png">    </p:cNvPr>
          <p:cNvPicPr>
            <a:picLocks noChangeAspect="1"/>
          </p:cNvPicPr>
          <p:nvPr/>
        </p:nvPicPr>
        <p:blipFill>
          <a:blip r:embed="rId1"/>
          <a:stretch>
            <a:fillRect/>
          </a:stretch>
        </p:blipFill>
        <p:spPr>
          <a:xfrm>
            <a:off x="1697978" y="960120"/>
            <a:ext cx="5748044" cy="2423160"/>
          </a:xfrm>
          <a:prstGeom prst="rect">
            <a:avLst/>
          </a:prstGeom>
        </p:spPr>
      </p:pic>
      <p:sp>
        <p:nvSpPr>
          <p:cNvPr id="7" name="Text 3"/>
          <p:cNvSpPr txBox="1"/>
          <p:nvPr/>
        </p:nvSpPr>
        <p:spPr>
          <a:xfrm>
            <a:off x="457200" y="3429000"/>
            <a:ext cx="8229600" cy="274320"/>
          </a:xfrm>
          <a:prstGeom prst="rect">
            <a:avLst/>
          </a:prstGeom>
          <a:noFill/>
          <a:ln/>
        </p:spPr>
        <p:txBody>
          <a:bodyPr wrap="square" lIns="0" tIns="0" rIns="0" bIns="0" rtlCol="0" anchor="ctr"/>
          <a:lstStyle/>
          <a:p>
            <a:pPr algn="ctr" indent="0" marL="0">
              <a:buNone/>
            </a:pPr>
            <a:r>
              <a:rPr lang="en-US" sz="900" i="1" dirty="0">
                <a:solidFill>
                  <a:srgbClr val="5F6B7A"/>
                </a:solidFill>
                <a:latin typeface="Calibri" pitchFamily="34" charset="0"/>
                <a:ea typeface="Calibri" pitchFamily="34" charset="-122"/>
                <a:cs typeface="Calibri" pitchFamily="34" charset="-120"/>
              </a:rPr>
              <a:t>Ausschnitt Pool Kunde und Lane Service / Annahme: Kunde prüft und entscheidet, ereignisbasiertes Gateway mit Freigabe, Ablehnung und Timer, Erinnerungsschleife mit Ausstieg nach der dritten Erinnerung</a:t>
            </a:r>
            <a:endParaRPr lang="en-US" sz="900" dirty="0"/>
          </a:p>
        </p:txBody>
      </p:sp>
      <p:sp>
        <p:nvSpPr>
          <p:cNvPr id="8" name="Text 4"/>
          <p:cNvSpPr txBox="1"/>
          <p:nvPr/>
        </p:nvSpPr>
        <p:spPr>
          <a:xfrm>
            <a:off x="457200" y="3749040"/>
            <a:ext cx="8229600" cy="91440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Techniker erfasst Positionen, RepairFlow übernimmt Ersatzteilpreise und berechnet den KVA</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Ereignisbasiertes Gateway: Freigabe erhalten, Ablehnung erhalten oder 3 Tage verstrichen (Erinnerung, höchstens dreimal)</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Freigabe ruft Prozess 05 (Ersatzteile disponieren) auf; Ablehnung setzt den Auftrag auf „abgelehnt" und ruft Prozess 08 (Abholung mit Diagnosepauschale) auf</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KVA in 60 Sekunden: die KI-Sofortdiagnose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11</a:t>
            </a:r>
            <a:endParaRPr lang="en-US" sz="900" dirty="0"/>
          </a:p>
        </p:txBody>
      </p:sp>
      <p:sp>
        <p:nvSpPr>
          <p:cNvPr id="6" name="Shape 3"/>
          <p:cNvSpPr/>
          <p:nvPr/>
        </p:nvSpPr>
        <p:spPr>
          <a:xfrm>
            <a:off x="457200" y="1051560"/>
            <a:ext cx="1554480" cy="1920240"/>
          </a:xfrm>
          <a:prstGeom prst="roundRect">
            <a:avLst>
              <a:gd name="adj" fmla="val 4706"/>
            </a:avLst>
          </a:prstGeom>
          <a:solidFill>
            <a:srgbClr val="EEF4F4"/>
          </a:solidFill>
          <a:ln w="12700">
            <a:solidFill>
              <a:srgbClr val="EEF4F4"/>
            </a:solidFill>
            <a:prstDash val="solid"/>
          </a:ln>
        </p:spPr>
      </p:sp>
      <p:sp>
        <p:nvSpPr>
          <p:cNvPr id="7" name="Shape 4"/>
          <p:cNvSpPr/>
          <p:nvPr/>
        </p:nvSpPr>
        <p:spPr>
          <a:xfrm>
            <a:off x="960120" y="1188720"/>
            <a:ext cx="548640" cy="548640"/>
          </a:xfrm>
          <a:prstGeom prst="ellipse">
            <a:avLst/>
          </a:prstGeom>
          <a:solidFill>
            <a:srgbClr val="0E5E5E"/>
          </a:solidFill>
          <a:ln w="12700">
            <a:solidFill>
              <a:srgbClr val="0E5E5E"/>
            </a:solidFill>
            <a:prstDash val="solid"/>
          </a:ln>
        </p:spPr>
      </p:sp>
      <p:pic>
        <p:nvPicPr>
          <p:cNvPr id="8" name="Image 0" descr="preencoded.png">    </p:cNvPr>
          <p:cNvPicPr>
            <a:picLocks noChangeAspect="1"/>
          </p:cNvPicPr>
          <p:nvPr/>
        </p:nvPicPr>
        <p:blipFill>
          <a:blip r:embed="rId1"/>
          <a:stretch>
            <a:fillRect/>
          </a:stretch>
        </p:blipFill>
        <p:spPr>
          <a:xfrm>
            <a:off x="1097280" y="1325880"/>
            <a:ext cx="274320" cy="274320"/>
          </a:xfrm>
          <a:prstGeom prst="rect">
            <a:avLst/>
          </a:prstGeom>
        </p:spPr>
      </p:pic>
      <p:sp>
        <p:nvSpPr>
          <p:cNvPr id="9" name="Text 5"/>
          <p:cNvSpPr txBox="1"/>
          <p:nvPr/>
        </p:nvSpPr>
        <p:spPr>
          <a:xfrm>
            <a:off x="457200" y="1828800"/>
            <a:ext cx="1554480" cy="320040"/>
          </a:xfrm>
          <a:prstGeom prst="rect">
            <a:avLst/>
          </a:prstGeom>
          <a:noFill/>
          <a:ln/>
        </p:spPr>
        <p:txBody>
          <a:bodyPr wrap="square" lIns="0" tIns="0" rIns="0" bIns="0" rtlCol="0" anchor="ctr"/>
          <a:lstStyle/>
          <a:p>
            <a:pPr algn="ctr" indent="0" marL="0">
              <a:buNone/>
            </a:pPr>
            <a:r>
              <a:rPr lang="en-US" sz="1300" b="1" dirty="0">
                <a:solidFill>
                  <a:srgbClr val="1B2430"/>
                </a:solidFill>
                <a:latin typeface="Calibri" pitchFamily="34" charset="0"/>
                <a:ea typeface="Calibri" pitchFamily="34" charset="-122"/>
                <a:cs typeface="Calibri" pitchFamily="34" charset="-120"/>
              </a:rPr>
              <a:t>Aufnehmen</a:t>
            </a:r>
            <a:endParaRPr lang="en-US" sz="1300" dirty="0"/>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algn="ctr" indent="0" marL="0">
              <a:buNone/>
            </a:pPr>
            <a:r>
              <a:rPr lang="en-US" sz="1000" dirty="0">
                <a:solidFill>
                  <a:srgbClr val="1B2430"/>
                </a:solidFill>
                <a:latin typeface="Calibri" pitchFamily="34" charset="0"/>
                <a:ea typeface="Calibri" pitchFamily="34" charset="-122"/>
                <a:cs typeface="Calibri" pitchFamily="34" charset="-120"/>
              </a:rPr>
              <a:t>Kunde lädt Foto, Video oder Ton in der App hoch</a:t>
            </a:r>
            <a:endParaRPr lang="en-US" sz="1000" dirty="0"/>
          </a:p>
        </p:txBody>
      </p:sp>
      <p:sp>
        <p:nvSpPr>
          <p:cNvPr id="11" name="Shape 7"/>
          <p:cNvSpPr/>
          <p:nvPr/>
        </p:nvSpPr>
        <p:spPr>
          <a:xfrm>
            <a:off x="2139696" y="1051560"/>
            <a:ext cx="1554480" cy="1920240"/>
          </a:xfrm>
          <a:prstGeom prst="roundRect">
            <a:avLst>
              <a:gd name="adj" fmla="val 4706"/>
            </a:avLst>
          </a:prstGeom>
          <a:solidFill>
            <a:srgbClr val="FFF4D6"/>
          </a:solidFill>
          <a:ln w="12700">
            <a:solidFill>
              <a:srgbClr val="FFF4D6"/>
            </a:solidFill>
            <a:prstDash val="solid"/>
          </a:ln>
        </p:spPr>
      </p:sp>
      <p:sp>
        <p:nvSpPr>
          <p:cNvPr id="12" name="Shape 8"/>
          <p:cNvSpPr/>
          <p:nvPr/>
        </p:nvSpPr>
        <p:spPr>
          <a:xfrm>
            <a:off x="2642616" y="1188720"/>
            <a:ext cx="548640" cy="548640"/>
          </a:xfrm>
          <a:prstGeom prst="ellipse">
            <a:avLst/>
          </a:prstGeom>
          <a:solidFill>
            <a:srgbClr val="F2A900"/>
          </a:solidFill>
          <a:ln w="12700">
            <a:solidFill>
              <a:srgbClr val="F2A900"/>
            </a:solidFill>
            <a:prstDash val="solid"/>
          </a:ln>
        </p:spPr>
      </p:sp>
      <p:pic>
        <p:nvPicPr>
          <p:cNvPr id="13" name="Image 1" descr="preencoded.png">    </p:cNvPr>
          <p:cNvPicPr>
            <a:picLocks noChangeAspect="1"/>
          </p:cNvPicPr>
          <p:nvPr/>
        </p:nvPicPr>
        <p:blipFill>
          <a:blip r:embed="rId2"/>
          <a:stretch>
            <a:fillRect/>
          </a:stretch>
        </p:blipFill>
        <p:spPr>
          <a:xfrm>
            <a:off x="2779776" y="1325880"/>
            <a:ext cx="274320" cy="274320"/>
          </a:xfrm>
          <a:prstGeom prst="rect">
            <a:avLst/>
          </a:prstGeom>
        </p:spPr>
      </p:pic>
      <p:sp>
        <p:nvSpPr>
          <p:cNvPr id="14" name="Text 9"/>
          <p:cNvSpPr txBox="1"/>
          <p:nvPr/>
        </p:nvSpPr>
        <p:spPr>
          <a:xfrm>
            <a:off x="2139696" y="1828800"/>
            <a:ext cx="1554480" cy="320040"/>
          </a:xfrm>
          <a:prstGeom prst="rect">
            <a:avLst/>
          </a:prstGeom>
          <a:noFill/>
          <a:ln/>
        </p:spPr>
        <p:txBody>
          <a:bodyPr wrap="square" lIns="0" tIns="0" rIns="0" bIns="0" rtlCol="0" anchor="ctr"/>
          <a:lstStyle/>
          <a:p>
            <a:pPr algn="ctr" indent="0" marL="0">
              <a:buNone/>
            </a:pPr>
            <a:r>
              <a:rPr lang="en-US" sz="1300" b="1" dirty="0">
                <a:solidFill>
                  <a:srgbClr val="1B2430"/>
                </a:solidFill>
                <a:latin typeface="Calibri" pitchFamily="34" charset="0"/>
                <a:ea typeface="Calibri" pitchFamily="34" charset="-122"/>
                <a:cs typeface="Calibri" pitchFamily="34" charset="-120"/>
              </a:rPr>
              <a:t>Erkennen</a:t>
            </a:r>
            <a:endParaRPr lang="en-US" sz="1300" dirty="0"/>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algn="ctr" indent="0" marL="0">
              <a:buNone/>
            </a:pPr>
            <a:r>
              <a:rPr lang="en-US" sz="1000" dirty="0">
                <a:solidFill>
                  <a:srgbClr val="1B2430"/>
                </a:solidFill>
                <a:latin typeface="Calibri" pitchFamily="34" charset="0"/>
                <a:ea typeface="Calibri" pitchFamily="34" charset="-122"/>
                <a:cs typeface="Calibri" pitchFamily="34" charset="-120"/>
              </a:rPr>
              <a:t>KI-Dienst nennt Gerätetyp, Ursache und Ersatzteile</a:t>
            </a:r>
            <a:endParaRPr lang="en-US" sz="1000" dirty="0"/>
          </a:p>
        </p:txBody>
      </p:sp>
      <p:sp>
        <p:nvSpPr>
          <p:cNvPr id="16" name="Shape 11"/>
          <p:cNvSpPr/>
          <p:nvPr/>
        </p:nvSpPr>
        <p:spPr>
          <a:xfrm>
            <a:off x="3822192" y="1051560"/>
            <a:ext cx="1554480" cy="1920240"/>
          </a:xfrm>
          <a:prstGeom prst="roundRect">
            <a:avLst>
              <a:gd name="adj" fmla="val 4706"/>
            </a:avLst>
          </a:prstGeom>
          <a:solidFill>
            <a:srgbClr val="EEF4F4"/>
          </a:solidFill>
          <a:ln w="12700">
            <a:solidFill>
              <a:srgbClr val="EEF4F4"/>
            </a:solidFill>
            <a:prstDash val="solid"/>
          </a:ln>
        </p:spPr>
      </p:sp>
      <p:sp>
        <p:nvSpPr>
          <p:cNvPr id="17" name="Shape 12"/>
          <p:cNvSpPr/>
          <p:nvPr/>
        </p:nvSpPr>
        <p:spPr>
          <a:xfrm>
            <a:off x="4325112" y="1188720"/>
            <a:ext cx="548640" cy="548640"/>
          </a:xfrm>
          <a:prstGeom prst="ellipse">
            <a:avLst/>
          </a:prstGeom>
          <a:solidFill>
            <a:srgbClr val="0E5E5E"/>
          </a:solidFill>
          <a:ln w="12700">
            <a:solidFill>
              <a:srgbClr val="0E5E5E"/>
            </a:solidFill>
            <a:prstDash val="solid"/>
          </a:ln>
        </p:spPr>
      </p:sp>
      <p:pic>
        <p:nvPicPr>
          <p:cNvPr id="18" name="Image 2" descr="preencoded.png">    </p:cNvPr>
          <p:cNvPicPr>
            <a:picLocks noChangeAspect="1"/>
          </p:cNvPicPr>
          <p:nvPr/>
        </p:nvPicPr>
        <p:blipFill>
          <a:blip r:embed="rId3"/>
          <a:stretch>
            <a:fillRect/>
          </a:stretch>
        </p:blipFill>
        <p:spPr>
          <a:xfrm>
            <a:off x="4462272" y="1325880"/>
            <a:ext cx="274320" cy="274320"/>
          </a:xfrm>
          <a:prstGeom prst="rect">
            <a:avLst/>
          </a:prstGeom>
        </p:spPr>
      </p:pic>
      <p:sp>
        <p:nvSpPr>
          <p:cNvPr id="19" name="Text 13"/>
          <p:cNvSpPr txBox="1"/>
          <p:nvPr/>
        </p:nvSpPr>
        <p:spPr>
          <a:xfrm>
            <a:off x="3822192" y="1828800"/>
            <a:ext cx="1554480" cy="320040"/>
          </a:xfrm>
          <a:prstGeom prst="rect">
            <a:avLst/>
          </a:prstGeom>
          <a:noFill/>
          <a:ln/>
        </p:spPr>
        <p:txBody>
          <a:bodyPr wrap="square" lIns="0" tIns="0" rIns="0" bIns="0" rtlCol="0" anchor="ctr"/>
          <a:lstStyle/>
          <a:p>
            <a:pPr algn="ctr" indent="0" marL="0">
              <a:buNone/>
            </a:pPr>
            <a:r>
              <a:rPr lang="en-US" sz="1300" b="1" dirty="0">
                <a:solidFill>
                  <a:srgbClr val="1B2430"/>
                </a:solidFill>
                <a:latin typeface="Calibri" pitchFamily="34" charset="0"/>
                <a:ea typeface="Calibri" pitchFamily="34" charset="-122"/>
                <a:cs typeface="Calibri" pitchFamily="34" charset="-120"/>
              </a:rPr>
              <a:t>Kalkulieren</a:t>
            </a:r>
            <a:endParaRPr lang="en-US" sz="1300" dirty="0"/>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algn="ctr" indent="0" marL="0">
              <a:buNone/>
            </a:pPr>
            <a:r>
              <a:rPr lang="en-US" sz="1000" dirty="0">
                <a:solidFill>
                  <a:srgbClr val="1B2430"/>
                </a:solidFill>
                <a:latin typeface="Calibri" pitchFamily="34" charset="0"/>
                <a:ea typeface="Calibri" pitchFamily="34" charset="-122"/>
                <a:cs typeface="Calibri" pitchFamily="34" charset="-120"/>
              </a:rPr>
              <a:t>RepairFlow berechnet einen vorläufigen KVA</a:t>
            </a:r>
            <a:endParaRPr lang="en-US" sz="1000" dirty="0"/>
          </a:p>
        </p:txBody>
      </p:sp>
      <p:sp>
        <p:nvSpPr>
          <p:cNvPr id="21" name="Shape 15"/>
          <p:cNvSpPr/>
          <p:nvPr/>
        </p:nvSpPr>
        <p:spPr>
          <a:xfrm>
            <a:off x="5504688" y="1051560"/>
            <a:ext cx="1554480" cy="1920240"/>
          </a:xfrm>
          <a:prstGeom prst="roundRect">
            <a:avLst>
              <a:gd name="adj" fmla="val 4706"/>
            </a:avLst>
          </a:prstGeom>
          <a:solidFill>
            <a:srgbClr val="EEF4F4"/>
          </a:solidFill>
          <a:ln w="12700">
            <a:solidFill>
              <a:srgbClr val="EEF4F4"/>
            </a:solidFill>
            <a:prstDash val="solid"/>
          </a:ln>
        </p:spPr>
      </p:sp>
      <p:sp>
        <p:nvSpPr>
          <p:cNvPr id="22" name="Shape 16"/>
          <p:cNvSpPr/>
          <p:nvPr/>
        </p:nvSpPr>
        <p:spPr>
          <a:xfrm>
            <a:off x="6007608" y="1188720"/>
            <a:ext cx="548640" cy="548640"/>
          </a:xfrm>
          <a:prstGeom prst="ellipse">
            <a:avLst/>
          </a:prstGeom>
          <a:solidFill>
            <a:srgbClr val="0E5E5E"/>
          </a:solidFill>
          <a:ln w="12700">
            <a:solidFill>
              <a:srgbClr val="0E5E5E"/>
            </a:solidFill>
            <a:prstDash val="solid"/>
          </a:ln>
        </p:spPr>
      </p:sp>
      <p:pic>
        <p:nvPicPr>
          <p:cNvPr id="23" name="Image 3" descr="preencoded.png">    </p:cNvPr>
          <p:cNvPicPr>
            <a:picLocks noChangeAspect="1"/>
          </p:cNvPicPr>
          <p:nvPr/>
        </p:nvPicPr>
        <p:blipFill>
          <a:blip r:embed="rId4"/>
          <a:stretch>
            <a:fillRect/>
          </a:stretch>
        </p:blipFill>
        <p:spPr>
          <a:xfrm>
            <a:off x="6144768" y="1325880"/>
            <a:ext cx="274320" cy="274320"/>
          </a:xfrm>
          <a:prstGeom prst="rect">
            <a:avLst/>
          </a:prstGeom>
        </p:spPr>
      </p:pic>
      <p:sp>
        <p:nvSpPr>
          <p:cNvPr id="24" name="Text 17"/>
          <p:cNvSpPr txBox="1"/>
          <p:nvPr/>
        </p:nvSpPr>
        <p:spPr>
          <a:xfrm>
            <a:off x="5504688" y="1828800"/>
            <a:ext cx="1554480" cy="320040"/>
          </a:xfrm>
          <a:prstGeom prst="rect">
            <a:avLst/>
          </a:prstGeom>
          <a:noFill/>
          <a:ln/>
        </p:spPr>
        <p:txBody>
          <a:bodyPr wrap="square" lIns="0" tIns="0" rIns="0" bIns="0" rtlCol="0" anchor="ctr"/>
          <a:lstStyle/>
          <a:p>
            <a:pPr algn="ctr" indent="0" marL="0">
              <a:buNone/>
            </a:pPr>
            <a:r>
              <a:rPr lang="en-US" sz="1300" b="1" dirty="0">
                <a:solidFill>
                  <a:srgbClr val="1B2430"/>
                </a:solidFill>
                <a:latin typeface="Calibri" pitchFamily="34" charset="0"/>
                <a:ea typeface="Calibri" pitchFamily="34" charset="-122"/>
                <a:cs typeface="Calibri" pitchFamily="34" charset="-120"/>
              </a:rPr>
              <a:t>Reservieren</a:t>
            </a:r>
            <a:endParaRPr lang="en-US" sz="1300" dirty="0"/>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algn="ctr" indent="0" marL="0">
              <a:buNone/>
            </a:pPr>
            <a:r>
              <a:rPr lang="en-US" sz="1000" dirty="0">
                <a:solidFill>
                  <a:srgbClr val="1B2430"/>
                </a:solidFill>
                <a:latin typeface="Calibri" pitchFamily="34" charset="0"/>
                <a:ea typeface="Calibri" pitchFamily="34" charset="-122"/>
                <a:cs typeface="Calibri" pitchFamily="34" charset="-120"/>
              </a:rPr>
              <a:t>Verfügbarkeit in allen Filialen, Teile vorreserviert</a:t>
            </a:r>
            <a:endParaRPr lang="en-US" sz="1000" dirty="0"/>
          </a:p>
        </p:txBody>
      </p:sp>
      <p:sp>
        <p:nvSpPr>
          <p:cNvPr id="26" name="Shape 19"/>
          <p:cNvSpPr/>
          <p:nvPr/>
        </p:nvSpPr>
        <p:spPr>
          <a:xfrm>
            <a:off x="7187184" y="1051560"/>
            <a:ext cx="1554480" cy="1920240"/>
          </a:xfrm>
          <a:prstGeom prst="roundRect">
            <a:avLst>
              <a:gd name="adj" fmla="val 4706"/>
            </a:avLst>
          </a:prstGeom>
          <a:solidFill>
            <a:srgbClr val="EEF4F4"/>
          </a:solidFill>
          <a:ln w="12700">
            <a:solidFill>
              <a:srgbClr val="EEF4F4"/>
            </a:solidFill>
            <a:prstDash val="solid"/>
          </a:ln>
        </p:spPr>
      </p:sp>
      <p:sp>
        <p:nvSpPr>
          <p:cNvPr id="27" name="Shape 20"/>
          <p:cNvSpPr/>
          <p:nvPr/>
        </p:nvSpPr>
        <p:spPr>
          <a:xfrm>
            <a:off x="7690104" y="1188720"/>
            <a:ext cx="548640" cy="548640"/>
          </a:xfrm>
          <a:prstGeom prst="ellipse">
            <a:avLst/>
          </a:prstGeom>
          <a:solidFill>
            <a:srgbClr val="0E5E5E"/>
          </a:solidFill>
          <a:ln w="12700">
            <a:solidFill>
              <a:srgbClr val="0E5E5E"/>
            </a:solidFill>
            <a:prstDash val="solid"/>
          </a:ln>
        </p:spPr>
      </p:sp>
      <p:pic>
        <p:nvPicPr>
          <p:cNvPr id="28" name="Image 4" descr="preencoded.png">    </p:cNvPr>
          <p:cNvPicPr>
            <a:picLocks noChangeAspect="1"/>
          </p:cNvPicPr>
          <p:nvPr/>
        </p:nvPicPr>
        <p:blipFill>
          <a:blip r:embed="rId5"/>
          <a:stretch>
            <a:fillRect/>
          </a:stretch>
        </p:blipFill>
        <p:spPr>
          <a:xfrm>
            <a:off x="7827264" y="1325880"/>
            <a:ext cx="274320" cy="274320"/>
          </a:xfrm>
          <a:prstGeom prst="rect">
            <a:avLst/>
          </a:prstGeom>
        </p:spPr>
      </p:pic>
      <p:sp>
        <p:nvSpPr>
          <p:cNvPr id="29" name="Text 21"/>
          <p:cNvSpPr txBox="1"/>
          <p:nvPr/>
        </p:nvSpPr>
        <p:spPr>
          <a:xfrm>
            <a:off x="7187184" y="1828800"/>
            <a:ext cx="1554480" cy="320040"/>
          </a:xfrm>
          <a:prstGeom prst="rect">
            <a:avLst/>
          </a:prstGeom>
          <a:noFill/>
          <a:ln/>
        </p:spPr>
        <p:txBody>
          <a:bodyPr wrap="square" lIns="0" tIns="0" rIns="0" bIns="0" rtlCol="0" anchor="ctr"/>
          <a:lstStyle/>
          <a:p>
            <a:pPr algn="ctr" indent="0" marL="0">
              <a:buNone/>
            </a:pPr>
            <a:r>
              <a:rPr lang="en-US" sz="1300" b="1" dirty="0">
                <a:solidFill>
                  <a:srgbClr val="1B2430"/>
                </a:solidFill>
                <a:latin typeface="Calibri" pitchFamily="34" charset="0"/>
                <a:ea typeface="Calibri" pitchFamily="34" charset="-122"/>
                <a:cs typeface="Calibri" pitchFamily="34" charset="-120"/>
              </a:rPr>
              <a:t>Termin</a:t>
            </a:r>
            <a:endParaRPr lang="en-US" sz="1300" dirty="0"/>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algn="ctr" indent="0" marL="0">
              <a:buNone/>
            </a:pPr>
            <a:r>
              <a:rPr lang="en-US" sz="1000" dirty="0">
                <a:solidFill>
                  <a:srgbClr val="1B2430"/>
                </a:solidFill>
                <a:latin typeface="Calibri" pitchFamily="34" charset="0"/>
                <a:ea typeface="Calibri" pitchFamily="34" charset="-122"/>
                <a:cs typeface="Calibri" pitchFamily="34" charset="-120"/>
              </a:rPr>
              <a:t>Filiale und Termin vorgeschlagen, Kunde bestätigt</a:t>
            </a:r>
            <a:endParaRPr lang="en-US" sz="1000" dirty="0"/>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indent="0" marL="0">
              <a:buNone/>
            </a:pPr>
            <a:r>
              <a:rPr lang="en-US" sz="1300" b="1" dirty="0">
                <a:solidFill>
                  <a:srgbClr val="0E5E5E"/>
                </a:solidFill>
                <a:latin typeface="Calibri" pitchFamily="34" charset="0"/>
                <a:ea typeface="Calibri" pitchFamily="34" charset="-122"/>
                <a:cs typeface="Calibri" pitchFamily="34" charset="-120"/>
              </a:rPr>
              <a:t>Heute machbar</a:t>
            </a:r>
            <a:endParaRPr lang="en-US" sz="1300" dirty="0"/>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Sichtbare Schäden per Bildanalyse: gebrochenes Display, gerissene Kette</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Vorab-KVA aus Teilepreisen und Aufwandsrichtwerten</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Verfügbarkeitsprüfung und Vorreservierung</a:t>
            </a:r>
            <a:endParaRPr lang="en-US" sz="1100" dirty="0"/>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indent="0" marL="0">
              <a:buNone/>
            </a:pPr>
            <a:r>
              <a:rPr lang="en-US" sz="1300" b="1" dirty="0">
                <a:solidFill>
                  <a:srgbClr val="F2A900"/>
                </a:solidFill>
                <a:latin typeface="Calibri" pitchFamily="34" charset="0"/>
                <a:ea typeface="Calibri" pitchFamily="34" charset="-122"/>
                <a:cs typeface="Calibri" pitchFamily="34" charset="-120"/>
              </a:rPr>
              <a:t>Vision und Absicherung</a:t>
            </a:r>
            <a:endParaRPr lang="en-US" sz="1300" dirty="0"/>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Geräuschanalyse von E-Bike-Motoren, Aufwand aus Video</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Vorschlag bleibt vorläufig, der Techniker bestätigt oder korrigiert</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Medien nur mit Einwilligung, Löschung nach Abschluss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Use-Case-Diagramm: was RepairFlow leistet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12</a:t>
            </a:r>
            <a:endParaRPr lang="en-US" sz="900" dirty="0"/>
          </a:p>
        </p:txBody>
      </p:sp>
      <p:sp>
        <p:nvSpPr>
          <p:cNvPr id="7" name="Text 3"/>
          <p:cNvSpPr txBox="1"/>
          <p:nvPr/>
        </p:nvSpPr>
        <p:spPr>
          <a:xfrm>
            <a:off x="5669280" y="1097280"/>
            <a:ext cx="3017520" cy="3566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19 Use Cases in vier Bereichen: Kundenportal, Auftrag und Werkstatt, Ersatzteil-Disposition, Administration</a:t>
            </a:r>
            <a:endParaRPr lang="en-US" sz="1150" dirty="0"/>
          </a:p>
          <a:p>
            <a:pPr marL="342900" indent="-342900">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Je Use Case genau eine Rolle: 15 Mitarbeiterrollen statt vier Akteuren mit bis zu acht Linien (Hinweis des Dozenten)</a:t>
            </a:r>
            <a:endParaRPr lang="en-US" sz="1150" dirty="0"/>
          </a:p>
          <a:p>
            <a:pPr marL="342900" indent="-342900">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Kunde und die externen Akteure Lieferant und KI-Diagnosedienst mehrfach dargestellt; Rolle → Klasse und Lane: Tabelle 7 der Doku</a:t>
            </a:r>
            <a:endParaRPr lang="en-US" sz="1150" dirty="0"/>
          </a:p>
          <a:p>
            <a:pPr marL="342900" indent="-342900">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«include» für Pflicht-Teilschritte, z. B. Ersatzteile disponieren → Ersatzteil-Verfügbarkeit prüfen</a:t>
            </a:r>
            <a:endParaRPr lang="en-US" sz="1150" dirty="0"/>
          </a:p>
          <a:p>
            <a:pPr marL="342900" indent="-342900">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«extend» für bedingtes Verhalten, z. B. Voranmeldung bestätigen → Sofortdiagnose anfordern</a:t>
            </a:r>
            <a:endParaRPr lang="en-US" sz="1150" dirty="0"/>
          </a:p>
        </p:txBody>
      </p:sp>
      <p:pic>
        <p:nvPicPr>
          <p:cNvPr id="8" name="Picture 7" descr="uc_ausschnitt.png"/>
          <p:cNvPicPr>
            <a:picLocks noChangeAspect="1"/>
          </p:cNvPicPr>
          <p:nvPr/>
        </p:nvPicPr>
        <p:blipFill>
          <a:blip r:embed="rId5"/>
          <a:stretch>
            <a:fillRect/>
          </a:stretch>
        </p:blipFill>
        <p:spPr>
          <a:xfrm>
            <a:off x="912172" y="1460665"/>
            <a:ext cx="4027817" cy="2747949"/>
          </a:xfrm>
          <a:prstGeom prst="rect">
            <a:avLst/>
          </a:prstGeom>
        </p:spPr>
      </p:pic>
      <p:sp>
        <p:nvSpPr>
          <p:cNvPr id="9" name="TextBox 8"/>
          <p:cNvSpPr txBox="1"/>
          <p:nvPr/>
        </p:nvSpPr>
        <p:spPr>
          <a:xfrm>
            <a:off x="912172" y="4248614"/>
            <a:ext cx="4027817" cy="250000"/>
          </a:xfrm>
          <a:prstGeom prst="rect">
            <a:avLst/>
          </a:prstGeom>
          <a:noFill/>
        </p:spPr>
        <p:txBody>
          <a:bodyPr wrap="square">
            <a:spAutoFit/>
          </a:bodyPr>
          <a:lstStyle/>
          <a:p>
            <a:r>
              <a:rPr sz="900" i="1">
                <a:latin typeface="Calibri"/>
              </a:rPr>
              <a:t>Ausschnitt: Bereich „Auftrag und Werkstatt“ – je Use Case eine Rolle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Klassendiagramm: ein vollständiges Modell</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pic>
        <p:nvPicPr>
          <p:cNvPr id="6" name="Image 0" descr="/tmp/repo/uml/klassen.png">    </p:cNvPr>
          <p:cNvPicPr>
            <a:picLocks noChangeAspect="1"/>
          </p:cNvPicPr>
          <p:nvPr/>
        </p:nvPicPr>
        <p:blipFill>
          <a:blip r:embed="rId1"/>
          <a:stretch>
            <a:fillRect/>
          </a:stretch>
        </p:blipFill>
        <p:spPr>
          <a:xfrm>
            <a:off x="1083276" y="960120"/>
            <a:ext cx="3685608" cy="3429000"/>
          </a:xfrm>
          <a:prstGeom prst="rect">
            <a:avLst/>
          </a:prstGeom>
        </p:spPr>
      </p:pic>
      <p:sp>
        <p:nvSpPr>
          <p:cNvPr id="7" name="Text 3"/>
          <p:cNvSpPr txBox="1"/>
          <p:nvPr/>
        </p:nvSpPr>
        <p:spPr>
          <a:xfrm>
            <a:off x="365760" y="4434840"/>
            <a:ext cx="5120640" cy="274320"/>
          </a:xfrm>
          <a:prstGeom prst="rect">
            <a:avLst/>
          </a:prstGeom>
          <a:noFill/>
          <a:ln/>
        </p:spPr>
        <p:txBody>
          <a:bodyPr wrap="square" lIns="0" tIns="0" rIns="0" bIns="0" rtlCol="0" anchor="ctr"/>
          <a:lstStyle/>
          <a:p>
            <a:pPr algn="ctr" indent="0" marL="0">
              <a:buNone/>
            </a:pPr>
            <a:r>
              <a:rPr lang="en-US" sz="900" i="1" dirty="0">
                <a:solidFill>
                  <a:srgbClr val="5F6B7A"/>
                </a:solidFill>
                <a:latin typeface="Calibri" pitchFamily="34" charset="0"/>
                <a:ea typeface="Calibri" pitchFamily="34" charset="-122"/>
                <a:cs typeface="Calibri" pitchFamily="34" charset="-120"/>
              </a:rPr>
              <a:t>Ein vollständiges Diagramm mit 27 Klassen (Anhang C der Dokumentation)</a:t>
            </a:r>
            <a:endParaRPr lang="en-US" sz="900" dirty="0"/>
          </a:p>
        </p:txBody>
      </p:sp>
      <p:sp>
        <p:nvSpPr>
          <p:cNvPr id="8" name="Text 4"/>
          <p:cNvSpPr txBox="1"/>
          <p:nvPr/>
        </p:nvSpPr>
        <p:spPr>
          <a:xfrm>
            <a:off x="5669280" y="1097280"/>
            <a:ext cx="3017520" cy="3566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Reparaturauftrag als Aggregatwurzel: Befund und Reparaturschritte sind Kompositionen; KVA und Gerät sind nur zugeordnet (Vorab-KVA entsteht vor dem Auftrag)</a:t>
            </a:r>
            <a:endParaRPr lang="en-US" sz="1150" dirty="0"/>
          </a:p>
          <a:p>
            <a:pPr marL="342900" indent="-342900">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Lagerbestand als eigene Klasse zwischen Ersatzteil und Filiale: nur so geht filialübergreifende Verfügbarkeit</a:t>
            </a:r>
            <a:endParaRPr lang="en-US" sz="1150" dirty="0"/>
          </a:p>
          <a:p>
            <a:pPr marL="342900" indent="-342900">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ErsatzteilReservierung mit eigenem Lebenszyklus: vorreserviert, reserviert, entnommen, storniert</a:t>
            </a:r>
            <a:endParaRPr lang="en-US" sz="1150" dirty="0"/>
          </a:p>
          <a:p>
            <a:pPr marL="342900" indent="-342900">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Werkstattbetrieb als Mandant; Rollen Servicemitarbeiter, Techniker, Disponent, Werkstattleiter als Unterklassen von Mitarbeiter – wie die vier Lanes im BPMN</a:t>
            </a:r>
            <a:endParaRPr lang="en-US" sz="1150" dirty="0"/>
          </a:p>
          <a:p>
            <a:pPr marL="342900" indent="-342900">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Voranmeldung, Medienanhang, KIDiagnosevorschlag tragen die Sofortdiagnose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Sequenzdiagramm SD1: Sofortdiagnose anfordern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pic>
        <p:nvPicPr>
          <p:cNvPr id="6" name="Image 0" descr="/tmp/repo/uml/sequenz-01-sofortdiagnose.png">    </p:cNvPr>
          <p:cNvPicPr>
            <a:picLocks noChangeAspect="1"/>
          </p:cNvPicPr>
          <p:nvPr/>
        </p:nvPicPr>
        <p:blipFill>
          <a:blip r:embed="rId1"/>
          <a:stretch>
            <a:fillRect/>
          </a:stretch>
        </p:blipFill>
        <p:spPr>
          <a:xfrm>
            <a:off x="1854776" y="960120"/>
            <a:ext cx="2874128" cy="3749040"/>
          </a:xfrm>
          <a:prstGeom prst="rect">
            <a:avLst/>
          </a:prstGeom>
        </p:spPr>
      </p:pic>
      <p:sp>
        <p:nvSpPr>
          <p:cNvPr id="7" name="Text 3"/>
          <p:cNvSpPr txBox="1"/>
          <p:nvPr/>
        </p:nvSpPr>
        <p:spPr>
          <a:xfrm>
            <a:off x="6400800" y="1097280"/>
            <a:ext cx="2286000" cy="356616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Medienqualität prüfen; nur auswertbare Medien an den KI-Dienst senden</a:t>
            </a:r>
            <a:endParaRPr lang="en-US" sz="1050" dirty="0"/>
          </a:p>
          <a:p>
            <a:pPr marL="342900" indent="-3429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Rückfrage mit Nachreichung; nach 7 Tagen ohne neue Aufnahme abbrechen</a:t>
            </a:r>
            <a:endParaRPr lang="en-US" sz="1050" dirty="0"/>
          </a:p>
          <a:p>
            <a:pPr marL="342900" indent="-3429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loop je Ersatzteil und Filiale über Lagerbestand</a:t>
            </a:r>
            <a:endParaRPr lang="en-US" sz="1050" dirty="0"/>
          </a:p>
          <a:p>
            <a:pPr marL="342900" indent="-3429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Bestätigung → verfügbare Teile vorreservieren; Ablehnung oder 7-Tage-Timer → verwerfen</a:t>
            </a:r>
            <a:endParaRPr lang="en-US" sz="1050" dirty="0"/>
          </a:p>
          <a:p>
            <a:pPr marL="342900" indent="-3429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Klassenbotschaften verwenden Operationen des Klassendiagramms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Sequenzdiagramm SD3: Ersatzteile disponieren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pic>
        <p:nvPicPr>
          <p:cNvPr id="6" name="Image 0" descr="/tmp/repo/uml/sequenz-03-reservierung.png">    </p:cNvPr>
          <p:cNvPicPr>
            <a:picLocks noChangeAspect="1"/>
          </p:cNvPicPr>
          <p:nvPr/>
        </p:nvPicPr>
        <p:blipFill>
          <a:blip r:embed="rId1"/>
          <a:stretch>
            <a:fillRect/>
          </a:stretch>
        </p:blipFill>
        <p:spPr>
          <a:xfrm>
            <a:off x="1420193" y="960120"/>
            <a:ext cx="3743294" cy="3749040"/>
          </a:xfrm>
          <a:prstGeom prst="rect">
            <a:avLst/>
          </a:prstGeom>
        </p:spPr>
      </p:pic>
      <p:sp>
        <p:nvSpPr>
          <p:cNvPr id="7" name="Text 3"/>
          <p:cNvSpPr txBox="1"/>
          <p:nvPr/>
        </p:nvSpPr>
        <p:spPr>
          <a:xfrm>
            <a:off x="6400800" y="1097280"/>
            <a:ext cx="2286000" cy="356616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Erst der eigene Lagerbestand, dann loop über die anderen Filialen</a:t>
            </a:r>
            <a:endParaRPr lang="en-US" sz="1050" dirty="0"/>
          </a:p>
          <a:p>
            <a:pPr marL="342900" indent="-3429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Je Teil: lokal reservieren, Umlagerung oder Fehlteil markieren; parallele Teileprüfung</a:t>
            </a:r>
            <a:endParaRPr lang="en-US" sz="1050" dirty="0"/>
          </a:p>
          <a:p>
            <a:pPr marL="342900" indent="-3429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Danach Reservierungen bestätigen und Meldebestand prüfen (UC12)</a:t>
            </a:r>
            <a:endParaRPr lang="en-US" sz="1050" dirty="0"/>
          </a:p>
          <a:p>
            <a:pPr marL="342900" indent="-3429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Kunde über Reparaturbeginn informieren; danach Bestellung nur bei Fehlteilen (UC10)</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Vorgehen und Projektmanagement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16</a:t>
            </a:r>
            <a:endParaRPr lang="en-US" sz="900" dirty="0"/>
          </a:p>
        </p:txBody>
      </p:sp>
      <p:sp>
        <p:nvSpPr>
          <p:cNvPr id="6" name="Shape 3"/>
          <p:cNvSpPr/>
          <p:nvPr/>
        </p:nvSpPr>
        <p:spPr>
          <a:xfrm>
            <a:off x="457200" y="1005840"/>
            <a:ext cx="1371600" cy="548640"/>
          </a:xfrm>
          <a:prstGeom prst="chevron">
            <a:avLst/>
          </a:prstGeom>
          <a:solidFill>
            <a:srgbClr val="0E5E5E"/>
          </a:solidFill>
          <a:ln w="12700">
            <a:solidFill>
              <a:srgbClr val="FFFFFF"/>
            </a:solidFill>
            <a:prstDash val="solid"/>
          </a:ln>
        </p:spPr>
        <p:txBody>
          <a:bodyPr/>
          <a:p/>
        </p:txBody>
      </p:sp>
      <p:sp>
        <p:nvSpPr>
          <p:cNvPr id="7" name="Text 4"/>
          <p:cNvSpPr txBox="1"/>
          <p:nvPr/>
        </p:nvSpPr>
        <p:spPr>
          <a:xfrm>
            <a:off x="594360" y="1005840"/>
            <a:ext cx="114300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Themenwahl</a:t>
            </a:r>
            <a:endParaRPr lang="en-US" sz="1000" dirty="0"/>
          </a:p>
        </p:txBody>
      </p:sp>
      <p:sp>
        <p:nvSpPr>
          <p:cNvPr id="8" name="Shape 5"/>
          <p:cNvSpPr/>
          <p:nvPr/>
        </p:nvSpPr>
        <p:spPr>
          <a:xfrm>
            <a:off x="1828800" y="1005840"/>
            <a:ext cx="1371600" cy="548640"/>
          </a:xfrm>
          <a:prstGeom prst="chevron">
            <a:avLst/>
          </a:prstGeom>
          <a:solidFill>
            <a:srgbClr val="147A7A"/>
          </a:solidFill>
          <a:ln w="12700">
            <a:solidFill>
              <a:srgbClr val="FFFFFF"/>
            </a:solidFill>
            <a:prstDash val="solid"/>
          </a:ln>
        </p:spPr>
        <p:txBody>
          <a:bodyPr/>
          <a:p/>
        </p:txBody>
      </p:sp>
      <p:sp>
        <p:nvSpPr>
          <p:cNvPr id="9" name="Text 6"/>
          <p:cNvSpPr txBox="1"/>
          <p:nvPr/>
        </p:nvSpPr>
        <p:spPr>
          <a:xfrm>
            <a:off x="1965960" y="1005840"/>
            <a:ext cx="114300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Konzept + Feedback</a:t>
            </a:r>
            <a:endParaRPr lang="en-US" sz="1000" dirty="0"/>
          </a:p>
        </p:txBody>
      </p:sp>
      <p:sp>
        <p:nvSpPr>
          <p:cNvPr id="10" name="Shape 7"/>
          <p:cNvSpPr/>
          <p:nvPr/>
        </p:nvSpPr>
        <p:spPr>
          <a:xfrm>
            <a:off x="3200400" y="1005840"/>
            <a:ext cx="1371600" cy="548640"/>
          </a:xfrm>
          <a:prstGeom prst="chevron">
            <a:avLst/>
          </a:prstGeom>
          <a:solidFill>
            <a:srgbClr val="0E5E5E"/>
          </a:solidFill>
          <a:ln w="12700">
            <a:solidFill>
              <a:srgbClr val="FFFFFF"/>
            </a:solidFill>
            <a:prstDash val="solid"/>
          </a:ln>
        </p:spPr>
        <p:txBody>
          <a:bodyPr/>
          <a:p/>
        </p:txBody>
      </p:sp>
      <p:sp>
        <p:nvSpPr>
          <p:cNvPr id="11" name="Text 8"/>
          <p:cNvSpPr txBox="1"/>
          <p:nvPr/>
        </p:nvSpPr>
        <p:spPr>
          <a:xfrm>
            <a:off x="3337560" y="1005840"/>
            <a:ext cx="114300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Prozessanalyse</a:t>
            </a:r>
            <a:endParaRPr lang="en-US" sz="1000" dirty="0"/>
          </a:p>
        </p:txBody>
      </p:sp>
      <p:sp>
        <p:nvSpPr>
          <p:cNvPr id="12" name="Shape 9"/>
          <p:cNvSpPr/>
          <p:nvPr/>
        </p:nvSpPr>
        <p:spPr>
          <a:xfrm>
            <a:off x="4572000" y="1005840"/>
            <a:ext cx="1371600" cy="548640"/>
          </a:xfrm>
          <a:prstGeom prst="chevron">
            <a:avLst/>
          </a:prstGeom>
          <a:solidFill>
            <a:srgbClr val="147A7A"/>
          </a:solidFill>
          <a:ln w="12700">
            <a:solidFill>
              <a:srgbClr val="FFFFFF"/>
            </a:solidFill>
            <a:prstDash val="solid"/>
          </a:ln>
        </p:spPr>
        <p:txBody>
          <a:bodyPr/>
          <a:p/>
        </p:txBody>
      </p:sp>
      <p:sp>
        <p:nvSpPr>
          <p:cNvPr id="13" name="Text 10"/>
          <p:cNvSpPr txBox="1"/>
          <p:nvPr/>
        </p:nvSpPr>
        <p:spPr>
          <a:xfrm>
            <a:off x="4709160" y="1005840"/>
            <a:ext cx="114300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BPMN</a:t>
            </a:r>
            <a:endParaRPr lang="en-US" sz="1000" dirty="0"/>
          </a:p>
        </p:txBody>
      </p:sp>
      <p:sp>
        <p:nvSpPr>
          <p:cNvPr id="14" name="Shape 11"/>
          <p:cNvSpPr/>
          <p:nvPr/>
        </p:nvSpPr>
        <p:spPr>
          <a:xfrm>
            <a:off x="5943600" y="1005840"/>
            <a:ext cx="1371600" cy="548640"/>
          </a:xfrm>
          <a:prstGeom prst="chevron">
            <a:avLst/>
          </a:prstGeom>
          <a:solidFill>
            <a:srgbClr val="0E5E5E"/>
          </a:solidFill>
          <a:ln w="12700">
            <a:solidFill>
              <a:srgbClr val="FFFFFF"/>
            </a:solidFill>
            <a:prstDash val="solid"/>
          </a:ln>
        </p:spPr>
        <p:txBody>
          <a:bodyPr/>
          <a:p/>
        </p:txBody>
      </p:sp>
      <p:sp>
        <p:nvSpPr>
          <p:cNvPr id="15" name="Text 12"/>
          <p:cNvSpPr txBox="1"/>
          <p:nvPr/>
        </p:nvSpPr>
        <p:spPr>
          <a:xfrm>
            <a:off x="6080760" y="1005840"/>
            <a:ext cx="114300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OOA (UML)</a:t>
            </a:r>
            <a:endParaRPr lang="en-US" sz="1000" dirty="0"/>
          </a:p>
        </p:txBody>
      </p:sp>
      <p:sp>
        <p:nvSpPr>
          <p:cNvPr id="16" name="Shape 13"/>
          <p:cNvSpPr/>
          <p:nvPr/>
        </p:nvSpPr>
        <p:spPr>
          <a:xfrm>
            <a:off x="7315200" y="1005840"/>
            <a:ext cx="1371600" cy="548640"/>
          </a:xfrm>
          <a:prstGeom prst="chevron">
            <a:avLst/>
          </a:prstGeom>
          <a:solidFill>
            <a:srgbClr val="147A7A"/>
          </a:solidFill>
          <a:ln w="12700">
            <a:solidFill>
              <a:srgbClr val="FFFFFF"/>
            </a:solidFill>
            <a:prstDash val="solid"/>
          </a:ln>
        </p:spPr>
        <p:txBody>
          <a:bodyPr/>
          <a:p/>
        </p:txBody>
      </p:sp>
      <p:sp>
        <p:nvSpPr>
          <p:cNvPr id="17" name="Text 14"/>
          <p:cNvSpPr txBox="1"/>
          <p:nvPr/>
        </p:nvSpPr>
        <p:spPr>
          <a:xfrm>
            <a:off x="7452360" y="1005840"/>
            <a:ext cx="114300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Doku + Präsentation</a:t>
            </a:r>
            <a:endParaRPr lang="en-US" sz="1000" dirty="0"/>
          </a:p>
        </p:txBody>
      </p:sp>
      <p:sp>
        <p:nvSpPr>
          <p:cNvPr id="18" name="Shape 15"/>
          <p:cNvSpPr/>
          <p:nvPr/>
        </p:nvSpPr>
        <p:spPr>
          <a:xfrm>
            <a:off x="457200" y="1783080"/>
            <a:ext cx="2651760" cy="2834640"/>
          </a:xfrm>
          <a:prstGeom prst="roundRect">
            <a:avLst>
              <a:gd name="adj" fmla="val 2759"/>
            </a:avLst>
          </a:prstGeom>
          <a:solidFill>
            <a:srgbClr val="EEF4F4"/>
          </a:solidFill>
          <a:ln w="12700">
            <a:solidFill>
              <a:srgbClr val="EEF4F4"/>
            </a:solidFill>
            <a:prstDash val="solid"/>
          </a:ln>
        </p:spPr>
        <p:txBody>
          <a:bodyPr/>
          <a:p/>
        </p:txBody>
      </p:sp>
      <p:sp>
        <p:nvSpPr>
          <p:cNvPr id="19" name="Shape 16"/>
          <p:cNvSpPr/>
          <p:nvPr/>
        </p:nvSpPr>
        <p:spPr>
          <a:xfrm>
            <a:off x="640080" y="1965960"/>
            <a:ext cx="457200" cy="457200"/>
          </a:xfrm>
          <a:prstGeom prst="ellipse">
            <a:avLst/>
          </a:prstGeom>
          <a:solidFill>
            <a:srgbClr val="0E5E5E"/>
          </a:solidFill>
          <a:ln w="12700">
            <a:solidFill>
              <a:srgbClr val="0E5E5E"/>
            </a:solidFill>
            <a:prstDash val="solid"/>
          </a:ln>
        </p:spPr>
        <p:txBody>
          <a:bodyPr/>
          <a:p/>
        </p:txBody>
      </p:sp>
      <p:pic>
        <p:nvPicPr>
          <p:cNvPr id="20" name="Image 0" descr="preencoded.png">    </p:cNvPr>
          <p:cNvPicPr>
            <a:picLocks noChangeAspect="1"/>
          </p:cNvPicPr>
          <p:nvPr/>
        </p:nvPicPr>
        <p:blipFill>
          <a:blip r:embed="rId1"/>
          <a:stretch>
            <a:fillRect/>
          </a:stretch>
        </p:blipFill>
        <p:spPr>
          <a:xfrm>
            <a:off x="754380" y="2080260"/>
            <a:ext cx="228600" cy="228600"/>
          </a:xfrm>
          <a:prstGeom prst="rect">
            <a:avLst/>
          </a:prstGeom>
        </p:spPr>
      </p:pic>
      <p:sp>
        <p:nvSpPr>
          <p:cNvPr id="21" name="Text 17"/>
          <p:cNvSpPr txBox="1"/>
          <p:nvPr/>
        </p:nvSpPr>
        <p:spPr>
          <a:xfrm>
            <a:off x="1234440" y="194767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Rollen</a:t>
            </a:r>
            <a:endParaRPr lang="en-US" sz="1400" dirty="0"/>
          </a:p>
        </p:txBody>
      </p:sp>
      <p:sp>
        <p:nvSpPr>
          <p:cNvPr id="22" name="Text 18"/>
          <p:cNvSpPr txBox="1"/>
          <p:nvPr/>
        </p:nvSpPr>
        <p:spPr>
          <a:xfrm>
            <a:off x="640080" y="2514600"/>
            <a:ext cx="2286000" cy="196596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Projektleitung Nina (Stellvertretung und Backups David), Product Owner Adrian, Scrum Master Kilian, UML Kilian und David, BPMN Maximilian, Qualität Jakob.</a:t>
            </a:r>
            <a:endParaRPr lang="en-US" sz="1150" dirty="0"/>
          </a:p>
        </p:txBody>
      </p:sp>
      <p:sp>
        <p:nvSpPr>
          <p:cNvPr id="23" name="Shape 19"/>
          <p:cNvSpPr/>
          <p:nvPr/>
        </p:nvSpPr>
        <p:spPr>
          <a:xfrm>
            <a:off x="3246120" y="1783080"/>
            <a:ext cx="2651760" cy="2834640"/>
          </a:xfrm>
          <a:prstGeom prst="roundRect">
            <a:avLst>
              <a:gd name="adj" fmla="val 2759"/>
            </a:avLst>
          </a:prstGeom>
          <a:solidFill>
            <a:srgbClr val="EEF4F4"/>
          </a:solidFill>
          <a:ln w="12700">
            <a:solidFill>
              <a:srgbClr val="EEF4F4"/>
            </a:solidFill>
            <a:prstDash val="solid"/>
          </a:ln>
        </p:spPr>
        <p:txBody>
          <a:bodyPr/>
          <a:p/>
        </p:txBody>
      </p:sp>
      <p:sp>
        <p:nvSpPr>
          <p:cNvPr id="24" name="Shape 20"/>
          <p:cNvSpPr/>
          <p:nvPr/>
        </p:nvSpPr>
        <p:spPr>
          <a:xfrm>
            <a:off x="3429000" y="1965960"/>
            <a:ext cx="457200" cy="457200"/>
          </a:xfrm>
          <a:prstGeom prst="ellipse">
            <a:avLst/>
          </a:prstGeom>
          <a:solidFill>
            <a:srgbClr val="0E5E5E"/>
          </a:solidFill>
          <a:ln w="12700">
            <a:solidFill>
              <a:srgbClr val="0E5E5E"/>
            </a:solidFill>
            <a:prstDash val="solid"/>
          </a:ln>
        </p:spPr>
        <p:txBody>
          <a:bodyPr/>
          <a:p/>
        </p:txBody>
      </p:sp>
      <p:pic>
        <p:nvPicPr>
          <p:cNvPr id="25" name="Image 1" descr="preencoded.png">    </p:cNvPr>
          <p:cNvPicPr>
            <a:picLocks noChangeAspect="1"/>
          </p:cNvPicPr>
          <p:nvPr/>
        </p:nvPicPr>
        <p:blipFill>
          <a:blip r:embed="rId2"/>
          <a:stretch>
            <a:fillRect/>
          </a:stretch>
        </p:blipFill>
        <p:spPr>
          <a:xfrm>
            <a:off x="3543300" y="2080260"/>
            <a:ext cx="228600" cy="228600"/>
          </a:xfrm>
          <a:prstGeom prst="rect">
            <a:avLst/>
          </a:prstGeom>
        </p:spPr>
      </p:pic>
      <p:sp>
        <p:nvSpPr>
          <p:cNvPr id="26" name="Text 21"/>
          <p:cNvSpPr txBox="1"/>
          <p:nvPr/>
        </p:nvSpPr>
        <p:spPr>
          <a:xfrm>
            <a:off x="4023360" y="194767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Zusammenarbeit</a:t>
            </a:r>
            <a:endParaRPr lang="en-US" sz="1400" dirty="0"/>
          </a:p>
        </p:txBody>
      </p:sp>
      <p:sp>
        <p:nvSpPr>
          <p:cNvPr id="27" name="Text 22"/>
          <p:cNvSpPr txBox="1"/>
          <p:nvPr/>
        </p:nvSpPr>
        <p:spPr>
          <a:xfrm>
            <a:off x="3429000" y="2514600"/>
            <a:ext cx="2286000" cy="196596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Scrum im Takt der vier Gruppentermine, Trello-Board mit einer Liste je Termin und einer Karte je Person und Aufgabe, Prüfung jedes Diagramms im Zweierteam, GitHub mit Branches, Pull Requests und Review.</a:t>
            </a:r>
            <a:endParaRPr lang="en-US" sz="1150" dirty="0"/>
          </a:p>
        </p:txBody>
      </p:sp>
      <p:sp>
        <p:nvSpPr>
          <p:cNvPr id="28" name="Shape 23"/>
          <p:cNvSpPr/>
          <p:nvPr/>
        </p:nvSpPr>
        <p:spPr>
          <a:xfrm>
            <a:off x="6035040" y="1783080"/>
            <a:ext cx="2651760" cy="2834640"/>
          </a:xfrm>
          <a:prstGeom prst="roundRect">
            <a:avLst>
              <a:gd name="adj" fmla="val 2759"/>
            </a:avLst>
          </a:prstGeom>
          <a:solidFill>
            <a:srgbClr val="EEF4F4"/>
          </a:solidFill>
          <a:ln w="12700">
            <a:solidFill>
              <a:srgbClr val="EEF4F4"/>
            </a:solidFill>
            <a:prstDash val="solid"/>
          </a:ln>
        </p:spPr>
        <p:txBody>
          <a:bodyPr/>
          <a:p/>
        </p:txBody>
      </p:sp>
      <p:sp>
        <p:nvSpPr>
          <p:cNvPr id="29" name="Shape 24"/>
          <p:cNvSpPr/>
          <p:nvPr/>
        </p:nvSpPr>
        <p:spPr>
          <a:xfrm>
            <a:off x="6217920" y="1965960"/>
            <a:ext cx="457200" cy="457200"/>
          </a:xfrm>
          <a:prstGeom prst="ellipse">
            <a:avLst/>
          </a:prstGeom>
          <a:solidFill>
            <a:srgbClr val="0E5E5E"/>
          </a:solidFill>
          <a:ln w="12700">
            <a:solidFill>
              <a:srgbClr val="0E5E5E"/>
            </a:solidFill>
            <a:prstDash val="solid"/>
          </a:ln>
        </p:spPr>
        <p:txBody>
          <a:bodyPr/>
          <a:p/>
        </p:txBody>
      </p:sp>
      <p:pic>
        <p:nvPicPr>
          <p:cNvPr id="30" name="Image 2" descr="preencoded.png">    </p:cNvPr>
          <p:cNvPicPr>
            <a:picLocks noChangeAspect="1"/>
          </p:cNvPicPr>
          <p:nvPr/>
        </p:nvPicPr>
        <p:blipFill>
          <a:blip r:embed="rId3"/>
          <a:stretch>
            <a:fillRect/>
          </a:stretch>
        </p:blipFill>
        <p:spPr>
          <a:xfrm>
            <a:off x="6332220" y="2080260"/>
            <a:ext cx="228600" cy="228600"/>
          </a:xfrm>
          <a:prstGeom prst="rect">
            <a:avLst/>
          </a:prstGeom>
        </p:spPr>
      </p:pic>
      <p:sp>
        <p:nvSpPr>
          <p:cNvPr id="31" name="Text 25"/>
          <p:cNvSpPr txBox="1"/>
          <p:nvPr/>
        </p:nvSpPr>
        <p:spPr>
          <a:xfrm>
            <a:off x="6812280" y="194767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Meilensteine</a:t>
            </a:r>
            <a:endParaRPr lang="en-US" sz="1400" dirty="0"/>
          </a:p>
        </p:txBody>
      </p:sp>
      <p:sp>
        <p:nvSpPr>
          <p:cNvPr id="32" name="Text 26"/>
          <p:cNvSpPr txBox="1"/>
          <p:nvPr/>
        </p:nvSpPr>
        <p:spPr>
          <a:xfrm>
            <a:off x="6217920" y="2514600"/>
            <a:ext cx="2286000" cy="196596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02.09. alle Diagramme erstellt, Prüfung im Zweierteam verteilt, 05.10. Korrekturen und Sequenzdiagramme, 15.10. Modelle, Doku und Folien fertig, 22.10. Generalprobe, 27.10. Präsentation, 13.11. Abgabe.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Herausforderungen und was wir gelernt haben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17</a:t>
            </a:r>
            <a:endParaRPr lang="en-US" sz="900" dirty="0"/>
          </a:p>
        </p:txBody>
      </p:sp>
      <p:sp>
        <p:nvSpPr>
          <p:cNvPr id="6" name="Shape 3"/>
          <p:cNvSpPr/>
          <p:nvPr/>
        </p:nvSpPr>
        <p:spPr>
          <a:xfrm>
            <a:off x="457200" y="1005840"/>
            <a:ext cx="3977640" cy="1737360"/>
          </a:xfrm>
          <a:prstGeom prst="roundRect">
            <a:avLst>
              <a:gd name="adj" fmla="val 4211"/>
            </a:avLst>
          </a:prstGeom>
          <a:solidFill>
            <a:srgbClr val="EEF4F4"/>
          </a:solidFill>
          <a:ln w="12700">
            <a:solidFill>
              <a:srgbClr val="EEF4F4"/>
            </a:solidFill>
            <a:prstDash val="solid"/>
          </a:ln>
        </p:spPr>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sp>
      <p:pic>
        <p:nvPicPr>
          <p:cNvPr id="8" name="Image 0" descr="preencoded.png">    </p:cNvPr>
          <p:cNvPicPr>
            <a:picLocks noChangeAspect="1"/>
          </p:cNvPicPr>
          <p:nvPr/>
        </p:nvPicPr>
        <p:blipFill>
          <a:blip r:embed="rId1"/>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Perspektive klären</a:t>
            </a:r>
            <a:endParaRPr lang="en-US" sz="1400" dirty="0"/>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1" name="Shape 7"/>
          <p:cNvSpPr/>
          <p:nvPr/>
        </p:nvSpPr>
        <p:spPr>
          <a:xfrm>
            <a:off x="4709160" y="1005840"/>
            <a:ext cx="3977640" cy="1737360"/>
          </a:xfrm>
          <a:prstGeom prst="roundRect">
            <a:avLst>
              <a:gd name="adj" fmla="val 4211"/>
            </a:avLst>
          </a:prstGeom>
          <a:solidFill>
            <a:srgbClr val="EEF4F4"/>
          </a:solidFill>
          <a:ln w="12700">
            <a:solidFill>
              <a:srgbClr val="EEF4F4"/>
            </a:solidFill>
            <a:prstDash val="solid"/>
          </a:ln>
        </p:spPr>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sp>
      <p:pic>
        <p:nvPicPr>
          <p:cNvPr id="13" name="Image 1" descr="preencoded.png">    </p:cNvPr>
          <p:cNvPicPr>
            <a:picLocks noChangeAspect="1"/>
          </p:cNvPicPr>
          <p:nvPr/>
        </p:nvPicPr>
        <p:blipFill>
          <a:blip r:embed="rId2"/>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Drei Modelle, ein Vokabular</a:t>
            </a:r>
            <a:endParaRPr lang="en-US" sz="1400" dirty="0"/>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(QA-Checkliste) halten die Modelle zusammen.</a:t>
            </a:r>
            <a:endParaRPr lang="en-US" sz="1150" dirty="0"/>
          </a:p>
        </p:txBody>
      </p:sp>
      <p:sp>
        <p:nvSpPr>
          <p:cNvPr id="16" name="Shape 11"/>
          <p:cNvSpPr/>
          <p:nvPr/>
        </p:nvSpPr>
        <p:spPr>
          <a:xfrm>
            <a:off x="457200" y="2880360"/>
            <a:ext cx="3977640" cy="1737360"/>
          </a:xfrm>
          <a:prstGeom prst="roundRect">
            <a:avLst>
              <a:gd name="adj" fmla="val 4211"/>
            </a:avLst>
          </a:prstGeom>
          <a:solidFill>
            <a:srgbClr val="EEF4F4"/>
          </a:solidFill>
          <a:ln w="12700">
            <a:solidFill>
              <a:srgbClr val="EEF4F4"/>
            </a:solidFill>
            <a:prstDash val="solid"/>
          </a:ln>
        </p:spPr>
      </p:sp>
      <p:sp>
        <p:nvSpPr>
          <p:cNvPr id="17" name="Shape 12"/>
          <p:cNvSpPr/>
          <p:nvPr/>
        </p:nvSpPr>
        <p:spPr>
          <a:xfrm>
            <a:off x="640080" y="3063240"/>
            <a:ext cx="457200" cy="457200"/>
          </a:xfrm>
          <a:prstGeom prst="ellipse">
            <a:avLst/>
          </a:prstGeom>
          <a:solidFill>
            <a:srgbClr val="0E5E5E"/>
          </a:solidFill>
          <a:ln w="12700">
            <a:solidFill>
              <a:srgbClr val="0E5E5E"/>
            </a:solidFill>
            <a:prstDash val="solid"/>
          </a:ln>
        </p:spPr>
      </p:sp>
      <p:pic>
        <p:nvPicPr>
          <p:cNvPr id="18" name="Image 2" descr="preencoded.png">    </p:cNvPr>
          <p:cNvPicPr>
            <a:picLocks noChangeAspect="1"/>
          </p:cNvPicPr>
          <p:nvPr/>
        </p:nvPicPr>
        <p:blipFill>
          <a:blip r:embed="rId3"/>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Engine-ready statt Fehlerliste</a:t>
            </a:r>
            <a:endParaRPr lang="en-US" sz="1400" dirty="0"/>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Camunda-Linter (Regeln des Problems-Panels) keine Befunde mehr meldete.</a:t>
            </a:r>
            <a:endParaRPr lang="en-US" sz="1150" dirty="0"/>
          </a:p>
        </p:txBody>
      </p:sp>
      <p:sp>
        <p:nvSpPr>
          <p:cNvPr id="21" name="Shape 15"/>
          <p:cNvSpPr/>
          <p:nvPr/>
        </p:nvSpPr>
        <p:spPr>
          <a:xfrm>
            <a:off x="4709160" y="2880360"/>
            <a:ext cx="3977640" cy="1737360"/>
          </a:xfrm>
          <a:prstGeom prst="roundRect">
            <a:avLst>
              <a:gd name="adj" fmla="val 4211"/>
            </a:avLst>
          </a:prstGeom>
          <a:solidFill>
            <a:srgbClr val="EEF4F4"/>
          </a:solidFill>
          <a:ln w="12700">
            <a:solidFill>
              <a:srgbClr val="EEF4F4"/>
            </a:solidFill>
            <a:prstDash val="solid"/>
          </a:ln>
        </p:spPr>
      </p:sp>
      <p:sp>
        <p:nvSpPr>
          <p:cNvPr id="22" name="Shape 16"/>
          <p:cNvSpPr/>
          <p:nvPr/>
        </p:nvSpPr>
        <p:spPr>
          <a:xfrm>
            <a:off x="4892040" y="3063240"/>
            <a:ext cx="457200" cy="457200"/>
          </a:xfrm>
          <a:prstGeom prst="ellipse">
            <a:avLst/>
          </a:prstGeom>
          <a:solidFill>
            <a:srgbClr val="0E5E5E"/>
          </a:solidFill>
          <a:ln w="12700">
            <a:solidFill>
              <a:srgbClr val="0E5E5E"/>
            </a:solidFill>
            <a:prstDash val="solid"/>
          </a:ln>
        </p:spPr>
      </p:sp>
      <p:pic>
        <p:nvPicPr>
          <p:cNvPr id="23" name="Image 3" descr="preencoded.png">    </p:cNvPr>
          <p:cNvPicPr>
            <a:picLocks noChangeAspect="1"/>
          </p:cNvPicPr>
          <p:nvPr/>
        </p:nvPicPr>
        <p:blipFill>
          <a:blip r:embed="rId4"/>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Vision mit Absicherung</a:t>
            </a:r>
            <a:endParaRPr lang="en-US" sz="1400" dirty="0"/>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Die KI-Sofortdiagnose soll beeindrucken, aber glaubwürdig bleiben: klare Trennung von heute Machbarem und Vision, Vorschlag bleibt vorläufig.</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5E5E"/>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Fazit und Ausblick</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CFE3E3"/>
                </a:solidFill>
                <a:latin typeface="Calibri" pitchFamily="34" charset="0"/>
                <a:ea typeface="Calibri" pitchFamily="34" charset="-122"/>
                <a:cs typeface="Calibri" pitchFamily="34" charset="-120"/>
              </a:rPr>
              <a:t>18</a:t>
            </a:r>
            <a:endParaRPr lang="en-US" sz="900" dirty="0"/>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algn="ctr" indent="0" marL="0">
              <a:buNone/>
            </a:pPr>
            <a:r>
              <a:rPr lang="en-US" sz="4000" b="1" dirty="0">
                <a:solidFill>
                  <a:srgbClr val="F2A900"/>
                </a:solidFill>
                <a:latin typeface="Calibri" pitchFamily="34" charset="0"/>
                <a:ea typeface="Calibri" pitchFamily="34" charset="-122"/>
                <a:cs typeface="Calibri" pitchFamily="34" charset="-120"/>
              </a:rPr>
              <a:t>10</a:t>
            </a:r>
            <a:endParaRPr lang="en-US" sz="4000" dirty="0"/>
          </a:p>
        </p:txBody>
      </p:sp>
      <p:sp>
        <p:nvSpPr>
          <p:cNvPr id="7" name="Text 4"/>
          <p:cNvSpPr txBox="1"/>
          <p:nvPr/>
        </p:nvSpPr>
        <p:spPr>
          <a:xfrm>
            <a:off x="457200" y="1828800"/>
            <a:ext cx="2011680" cy="457200"/>
          </a:xfrm>
          <a:prstGeom prst="rect">
            <a:avLst/>
          </a:prstGeom>
          <a:noFill/>
          <a:ln/>
        </p:spPr>
        <p:txBody>
          <a:bodyPr wrap="square" lIns="0" tIns="0" rIns="0" bIns="0" rtlCol="0" anchor="ctr"/>
          <a:lstStyle/>
          <a:p>
            <a:pPr algn="ctr" indent="0" marL="0">
              <a:buNone/>
            </a:pPr>
            <a:r>
              <a:rPr lang="en-US" sz="1100" dirty="0">
                <a:solidFill>
                  <a:srgbClr val="1B2430"/>
                </a:solidFill>
                <a:latin typeface="Calibri" pitchFamily="34" charset="0"/>
                <a:ea typeface="Calibri" pitchFamily="34" charset="-122"/>
                <a:cs typeface="Calibri" pitchFamily="34" charset="-120"/>
              </a:rPr>
              <a:t>BPMN-Kollaborationsdiagramme, 131 Aktivitäten</a:t>
            </a:r>
            <a:endParaRPr lang="en-US" sz="1100" dirty="0"/>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algn="ctr" indent="0" marL="0">
              <a:buNone/>
            </a:pPr>
            <a:r>
              <a:rPr lang="en-US" sz="4000" b="1" dirty="0">
                <a:solidFill>
                  <a:srgbClr val="F2A900"/>
                </a:solidFill>
                <a:latin typeface="Calibri" pitchFamily="34" charset="0"/>
                <a:ea typeface="Calibri" pitchFamily="34" charset="-122"/>
                <a:cs typeface="Calibri" pitchFamily="34" charset="-120"/>
              </a:rPr>
              <a:t>19</a:t>
            </a:r>
            <a:endParaRPr lang="en-US" sz="4000" dirty="0"/>
          </a:p>
        </p:txBody>
      </p:sp>
      <p:sp>
        <p:nvSpPr>
          <p:cNvPr id="9" name="Text 6"/>
          <p:cNvSpPr txBox="1"/>
          <p:nvPr/>
        </p:nvSpPr>
        <p:spPr>
          <a:xfrm>
            <a:off x="2651760" y="1828800"/>
            <a:ext cx="2011680" cy="457200"/>
          </a:xfrm>
          <a:prstGeom prst="rect">
            <a:avLst/>
          </a:prstGeom>
          <a:noFill/>
          <a:ln/>
        </p:spPr>
        <p:txBody>
          <a:bodyPr wrap="square" lIns="0" tIns="0" rIns="0" bIns="0" rtlCol="0" anchor="ctr"/>
          <a:lstStyle/>
          <a:p>
            <a:pPr algn="ctr" indent="0" marL="0">
              <a:buNone/>
            </a:pPr>
            <a:r>
              <a:rPr lang="en-US" sz="1100" dirty="0">
                <a:solidFill>
                  <a:srgbClr val="1B2430"/>
                </a:solidFill>
                <a:latin typeface="Calibri" pitchFamily="34" charset="0"/>
                <a:ea typeface="Calibri" pitchFamily="34" charset="-122"/>
                <a:cs typeface="Calibri" pitchFamily="34" charset="-120"/>
              </a:rPr>
              <a:t>Use Cases, 18 Rollen und Akteure</a:t>
            </a:r>
            <a:endParaRPr lang="en-US" sz="1100" dirty="0"/>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algn="ctr" indent="0" marL="0">
              <a:buNone/>
            </a:pPr>
            <a:r>
              <a:rPr lang="en-US" sz="4000" b="1" dirty="0">
                <a:solidFill>
                  <a:srgbClr val="F2A900"/>
                </a:solidFill>
                <a:latin typeface="Calibri" pitchFamily="34" charset="0"/>
                <a:ea typeface="Calibri" pitchFamily="34" charset="-122"/>
                <a:cs typeface="Calibri" pitchFamily="34" charset="-120"/>
              </a:rPr>
              <a:t>27</a:t>
            </a:r>
            <a:endParaRPr lang="en-US" sz="4000" dirty="0"/>
          </a:p>
        </p:txBody>
      </p:sp>
      <p:sp>
        <p:nvSpPr>
          <p:cNvPr id="11" name="Text 8"/>
          <p:cNvSpPr txBox="1"/>
          <p:nvPr/>
        </p:nvSpPr>
        <p:spPr>
          <a:xfrm>
            <a:off x="4846320" y="1828800"/>
            <a:ext cx="2011680" cy="457200"/>
          </a:xfrm>
          <a:prstGeom prst="rect">
            <a:avLst/>
          </a:prstGeom>
          <a:noFill/>
          <a:ln/>
        </p:spPr>
        <p:txBody>
          <a:bodyPr wrap="square" lIns="0" tIns="0" rIns="0" bIns="0" rtlCol="0" anchor="ctr"/>
          <a:lstStyle/>
          <a:p>
            <a:pPr algn="ctr" indent="0" marL="0">
              <a:buNone/>
            </a:pPr>
            <a:r>
              <a:rPr lang="en-US" sz="1100" dirty="0">
                <a:solidFill>
                  <a:srgbClr val="1B2430"/>
                </a:solidFill>
                <a:latin typeface="Calibri" pitchFamily="34" charset="0"/>
                <a:ea typeface="Calibri" pitchFamily="34" charset="-122"/>
                <a:cs typeface="Calibri" pitchFamily="34" charset="-120"/>
              </a:rPr>
              <a:t>Klassen, 36 Assoziationen</a:t>
            </a:r>
            <a:endParaRPr lang="en-US" sz="1100" dirty="0"/>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algn="ctr" indent="0" marL="0">
              <a:buNone/>
            </a:pPr>
            <a:r>
              <a:rPr lang="en-US" sz="4000" b="1" dirty="0">
                <a:solidFill>
                  <a:srgbClr val="F2A900"/>
                </a:solidFill>
                <a:latin typeface="Calibri" pitchFamily="34" charset="0"/>
                <a:ea typeface="Calibri" pitchFamily="34" charset="-122"/>
                <a:cs typeface="Calibri" pitchFamily="34" charset="-120"/>
              </a:rPr>
              <a:t>6</a:t>
            </a:r>
            <a:endParaRPr lang="en-US" sz="4000" dirty="0"/>
          </a:p>
        </p:txBody>
      </p:sp>
      <p:sp>
        <p:nvSpPr>
          <p:cNvPr id="13" name="Text 10"/>
          <p:cNvSpPr txBox="1"/>
          <p:nvPr/>
        </p:nvSpPr>
        <p:spPr>
          <a:xfrm>
            <a:off x="7040880" y="1828800"/>
            <a:ext cx="2011680" cy="457200"/>
          </a:xfrm>
          <a:prstGeom prst="rect">
            <a:avLst/>
          </a:prstGeom>
          <a:noFill/>
          <a:ln/>
        </p:spPr>
        <p:txBody>
          <a:bodyPr wrap="square" lIns="0" tIns="0" rIns="0" bIns="0" rtlCol="0" anchor="ctr"/>
          <a:lstStyle/>
          <a:p>
            <a:pPr algn="ctr" indent="0" marL="0">
              <a:buNone/>
            </a:pPr>
            <a:r>
              <a:rPr lang="en-US" sz="1100" dirty="0">
                <a:solidFill>
                  <a:srgbClr val="1B2430"/>
                </a:solidFill>
                <a:latin typeface="Calibri" pitchFamily="34" charset="0"/>
                <a:ea typeface="Calibri" pitchFamily="34" charset="-122"/>
                <a:cs typeface="Calibri" pitchFamily="34" charset="-120"/>
              </a:rPr>
              <a:t>Sequenzdiagramme + Zustandsdiagramm</a:t>
            </a:r>
            <a:endParaRPr lang="en-US" sz="1100" dirty="0"/>
          </a:p>
        </p:txBody>
      </p:sp>
      <p:sp>
        <p:nvSpPr>
          <p:cNvPr id="14" name="Text 11"/>
          <p:cNvSpPr txBox="1"/>
          <p:nvPr/>
        </p:nvSpPr>
        <p:spPr>
          <a:xfrm>
            <a:off x="457200" y="2743200"/>
            <a:ext cx="8229600" cy="1737360"/>
          </a:xfrm>
          <a:prstGeom prst="rect">
            <a:avLst/>
          </a:prstGeom>
          <a:noFill/>
          <a:ln/>
        </p:spPr>
        <p:txBody>
          <a:bodyPr wrap="square" lIns="0" tIns="0" rIns="0" bIns="0" rtlCol="0" anchor="t"/>
          <a:lstStyle/>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RepairFlow löst den Medienbruch aus Papier, Excel und Telefon und macht den Reparaturauftrag zum zentralen Zustandsautomaten. </a:t>
            </a:r>
            <a:endParaRPr lang="en-US" sz="1400" dirty="0"/>
          </a:p>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Der fachliche Mehrwert liegt in der filialübergreifenden Disposition und in der KI-Sofortdiagnose, die dem Kunden Klarheit gibt, bevor er die Werkstatt betritt.</a:t>
            </a:r>
            <a:endParaRPr lang="en-US" sz="1400" dirty="0"/>
          </a:p>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Ausblick: Predictive Disposition (Bedarfsprognose je Filiale und Saison), Techniker-Copilot und digitale Geräteakte.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5E5E"/>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CFE3E3"/>
                </a:solidFill>
                <a:latin typeface="Calibri" pitchFamily="34" charset="0"/>
                <a:ea typeface="Calibri" pitchFamily="34" charset="-122"/>
                <a:cs typeface="Calibri" pitchFamily="34" charset="-120"/>
              </a:rPr>
              <a:t>19</a:t>
            </a:r>
            <a:endParaRPr lang="en-US" sz="900" dirty="0"/>
          </a:p>
        </p:txBody>
      </p:sp>
      <p:sp>
        <p:nvSpPr>
          <p:cNvPr id="5" name="Text 2"/>
          <p:cNvSpPr txBox="1"/>
          <p:nvPr/>
        </p:nvSpPr>
        <p:spPr>
          <a:xfrm>
            <a:off x="548640" y="1645920"/>
            <a:ext cx="7315200" cy="91440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Vielen Dank</a:t>
            </a:r>
            <a:endParaRPr lang="en-US" sz="4800" dirty="0"/>
          </a:p>
        </p:txBody>
      </p:sp>
      <p:sp>
        <p:nvSpPr>
          <p:cNvPr id="6" name="Text 3"/>
          <p:cNvSpPr txBox="1"/>
          <p:nvPr/>
        </p:nvSpPr>
        <p:spPr>
          <a:xfrm>
            <a:off x="548640" y="2560320"/>
            <a:ext cx="7315200" cy="548640"/>
          </a:xfrm>
          <a:prstGeom prst="rect">
            <a:avLst/>
          </a:prstGeom>
          <a:noFill/>
          <a:ln/>
        </p:spPr>
        <p:txBody>
          <a:bodyPr wrap="square" lIns="0" tIns="0" rIns="0" bIns="0" rtlCol="0" anchor="ctr"/>
          <a:lstStyle/>
          <a:p>
            <a:pPr indent="0" marL="0">
              <a:buNone/>
            </a:pPr>
            <a:r>
              <a:rPr lang="en-US" sz="2400" dirty="0">
                <a:solidFill>
                  <a:srgbClr val="CFE3E3"/>
                </a:solidFill>
                <a:latin typeface="Calibri" pitchFamily="34" charset="0"/>
                <a:ea typeface="Calibri" pitchFamily="34" charset="-122"/>
                <a:cs typeface="Calibri" pitchFamily="34" charset="-120"/>
              </a:rPr>
              <a:t>Fragen?</a:t>
            </a:r>
            <a:endParaRPr lang="en-US" sz="2400" dirty="0"/>
          </a:p>
        </p:txBody>
      </p:sp>
      <p:sp>
        <p:nvSpPr>
          <p:cNvPr id="7" name="Text 4"/>
          <p:cNvSpPr txBox="1"/>
          <p:nvPr/>
        </p:nvSpPr>
        <p:spPr>
          <a:xfrm>
            <a:off x="548640" y="3291840"/>
            <a:ext cx="731520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Gruppe 1 · WWI25B4 · RepairFlow</a:t>
            </a:r>
            <a:endParaRPr lang="en-US" sz="1400" dirty="0"/>
          </a:p>
        </p:txBody>
      </p:sp>
      <p:sp>
        <p:nvSpPr>
          <p:cNvPr id="8" name="Shape 5"/>
          <p:cNvSpPr/>
          <p:nvPr/>
        </p:nvSpPr>
        <p:spPr>
          <a:xfrm>
            <a:off x="7315200" y="1463040"/>
            <a:ext cx="914400" cy="914400"/>
          </a:xfrm>
          <a:prstGeom prst="ellipse">
            <a:avLst/>
          </a:prstGeom>
          <a:solidFill>
            <a:srgbClr val="F2A900"/>
          </a:solidFill>
          <a:ln w="12700">
            <a:solidFill>
              <a:srgbClr val="F2A900"/>
            </a:solidFill>
            <a:prstDash val="solid"/>
          </a:ln>
        </p:spPr>
      </p:sp>
      <p:pic>
        <p:nvPicPr>
          <p:cNvPr id="9" name="Image 0" descr="preencoded.png">    </p:cNvPr>
          <p:cNvPicPr>
            <a:picLocks noChangeAspect="1"/>
          </p:cNvPicPr>
          <p:nvPr/>
        </p:nvPicPr>
        <p:blipFill>
          <a:blip r:embed="rId1"/>
          <a:stretch>
            <a:fillRect/>
          </a:stretch>
        </p:blipFill>
        <p:spPr>
          <a:xfrm>
            <a:off x="7543800" y="1691640"/>
            <a:ext cx="457200" cy="4572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Anhang: Beiträge der Vortragenden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645920"/>
                <a:gridCol w="1097280"/>
                <a:gridCol w="5486400"/>
              </a:tblGrid>
              <a:tr h="41148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Vortragende(r)</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Folien</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Verantworteter Beitrag</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r>
              <a:tr h="411480">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Nina Sattler</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1–2, 18–19</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Einleitung und Agenda, Fazit und Ausblick, Moderation der Fragerunde; Projektleitung, Redaktion der Dokumentation, Abgabe-Archiv</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411480">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David Leismann</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3, 12, 15</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Ausgangslage und Problem, Use-Case-Diagramm, Sequenzdiagramm SD3; Use-Case-Diagramm und SD2, SD3, SD5, SD6 in Visual Paradigm, stellvertretende Projektleitung</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411480">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Adrian Wenzler</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4–6, 11</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Startup und Markt, Zustandsautomat, KI-Sofortdiagnose; Product Owner, Fachkonzept und Entscheidungslog</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411480">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Maximilian Ewald</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7, 9–10</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Prozesslandkarte, Prozesse 01 und 04; BPMN-Modellierung der zehn Prozesse im Camunda Modeler</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411480">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Kilian Platter</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13–14, 16</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Klassendiagramm, Sequenzdiagramm SD1, Vorgehen und Projektmanagement; Klassendiagramm, SD1, SD4 und VP-Projekt, Scrum Master</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411480">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Jakob Schwan</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8, 17</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100" dirty="0">
                          <a:solidFill>
                            <a:srgbClr val="1B2430"/>
                          </a:solidFill>
                          <a:latin typeface="Calibri" pitchFamily="34" charset="0"/>
                          <a:ea typeface="Calibri" pitchFamily="34" charset="-122"/>
                          <a:cs typeface="Calibri" pitchFamily="34" charset="-120"/>
                        </a:rPr>
                        <a:t>BPMN-Konventionen, Herausforderungen; Qualitätssicherung, Reviews und Konsistenz der Modelle</a:t>
                      </a:r>
                      <a:endParaRPr lang="en-US" sz="110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bl>
          </a:graphicData>
        </a:graphic>
      </p:graphicFrame>
      <p:sp>
        <p:nvSpPr>
          <p:cNvPr id="7" name="Text 3"/>
          <p:cNvSpPr txBox="1"/>
          <p:nvPr/>
        </p:nvSpPr>
        <p:spPr>
          <a:xfrm>
            <a:off x="457200" y="4114800"/>
            <a:ext cx="8229600" cy="274320"/>
          </a:xfrm>
          <a:prstGeom prst="rect">
            <a:avLst/>
          </a:prstGeom>
          <a:noFill/>
          <a:ln/>
        </p:spPr>
        <p:txBody>
          <a:bodyPr wrap="square" lIns="0" tIns="0" rIns="0" bIns="0" rtlCol="0" anchor="ctr"/>
          <a:lstStyle/>
          <a:p>
            <a:pPr indent="0" marL="0">
              <a:buNone/>
            </a:pPr>
            <a:r>
              <a:rPr lang="en-US" sz="1000" i="1" dirty="0">
                <a:solidFill>
                  <a:srgbClr val="5F6B7A"/>
                </a:solidFill>
                <a:latin typeface="Calibri" pitchFamily="34" charset="0"/>
                <a:ea typeface="Calibri" pitchFamily="34" charset="-122"/>
                <a:cs typeface="Calibri" pitchFamily="34" charset="-120"/>
              </a:rPr>
              <a:t>Zuordnung nach der Zuständigkeitsverteilung vom Gruppentermin 15.10.2026 (E-23): Jede Person trägt vor, was sie verantwortet.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
  <dc:creator>Gruppe 1 WWI25B4</dc:creator>
  <cp:lastModifiedBy/>
  <cp:revision>1</cp:revision>
  <dcterms:created xsi:type="dcterms:W3CDTF">2026-10-08T14:51:01Z</dcterms:created>
  <dcterms:modified xsi:type="dcterms:W3CDTF">2026-10-08T14:51:01Z</dcterms:modified>
</cp:coreProperties>
</file>