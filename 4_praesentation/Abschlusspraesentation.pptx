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9" r:id="rId3"/>
    <p:sldId id="258" r:id="rId4"/>
    <p:sldId id="259" r:id="rId5"/>
    <p:sldId id="274" r:id="rId6"/>
    <p:sldId id="276" r:id="rId7"/>
    <p:sldId id="265" r:id="rId8"/>
    <p:sldId id="280" r:id="rId9"/>
    <p:sldId id="262" r:id="rId10"/>
    <p:sldId id="263" r:id="rId11"/>
    <p:sldId id="264" r:id="rId12"/>
    <p:sldId id="266" r:id="rId13"/>
    <p:sldId id="267" r:id="rId14"/>
    <p:sldId id="269" r:id="rId15"/>
    <p:sldId id="270" r:id="rId16"/>
    <p:sldId id="268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256"/>
            <p14:sldId id="279"/>
            <p14:sldId id="258"/>
            <p14:sldId id="259"/>
          </p14:sldIdLst>
        </p14:section>
        <p14:section name="Kilian" id="{1139A1D9-944E-3441-9BD8-35E9CEF6D225}">
          <p14:sldIdLst>
            <p14:sldId id="274"/>
          </p14:sldIdLst>
        </p14:section>
        <p14:section name="Maximilian" id="{0B64C47C-C681-8643-8A72-028DC518B57D}">
          <p14:sldIdLst>
            <p14:sldId id="276"/>
            <p14:sldId id="265"/>
            <p14:sldId id="280"/>
          </p14:sldIdLst>
        </p14:section>
        <p14:section name="Adrian" id="{C59C4432-FF7E-A14B-8A5D-46FD719FCE68}">
          <p14:sldIdLst>
            <p14:sldId id="262"/>
            <p14:sldId id="263"/>
            <p14:sldId id="264"/>
          </p14:sldIdLst>
        </p14:section>
        <p14:section name="Kilian" id="{2F11BAA1-0B73-6D4F-B882-B2353546D24B}">
          <p14:sldIdLst>
            <p14:sldId id="266"/>
            <p14:sldId id="267"/>
          </p14:sldIdLst>
        </p14:section>
        <p14:section name="Jakob" id="{7DC776A1-7D7D-F548-992F-CA5AB6B455F2}">
          <p14:sldIdLst>
            <p14:sldId id="269"/>
            <p14:sldId id="270"/>
          </p14:sldIdLst>
        </p14:section>
        <p14:section name="Nina" id="{0D502D7A-3C1B-1F4A-BB67-E47EF2FFD626}">
          <p14:sldIdLst>
            <p14:sldId id="268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E3E4"/>
    <a:srgbClr val="009FA0"/>
    <a:srgbClr val="0E5E5E"/>
    <a:srgbClr val="C6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20"/>
    <p:restoredTop sz="86018"/>
  </p:normalViewPr>
  <p:slideViewPr>
    <p:cSldViewPr snapToGrid="0" snapToObjects="1">
      <p:cViewPr>
        <p:scale>
          <a:sx n="159" d="100"/>
          <a:sy n="159" d="100"/>
        </p:scale>
        <p:origin x="600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modSld sldOrd modSection">
      <pc:chgData name="Kilian Platter" userId="c49eb2881fa751ca" providerId="LiveId" clId="{FDA102BF-EFD5-549B-81DE-49FC5087B7E9}" dt="2026-10-24T10:30:11.968" v="53" actId="20577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modNotesTx">
        <pc:chgData name="Kilian Platter" userId="c49eb2881fa751ca" providerId="LiveId" clId="{FDA102BF-EFD5-549B-81DE-49FC5087B7E9}" dt="2026-10-24T10:24:46.532" v="15" actId="20577"/>
        <pc:sldMkLst>
          <pc:docMk/>
          <pc:sldMk cId="0" sldId="258"/>
        </pc:sldMkLst>
      </pc:sldChg>
      <pc:sldChg chg="modNotesTx">
        <pc:chgData name="Kilian Platter" userId="c49eb2881fa751ca" providerId="LiveId" clId="{FDA102BF-EFD5-549B-81DE-49FC5087B7E9}" dt="2026-10-24T10:24:51.620" v="16" actId="20577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modNotesTx">
        <pc:chgData name="Kilian Platter" userId="c49eb2881fa751ca" providerId="LiveId" clId="{FDA102BF-EFD5-549B-81DE-49FC5087B7E9}" dt="2026-10-24T10:25:49.504" v="24" actId="20577"/>
        <pc:sldMkLst>
          <pc:docMk/>
          <pc:sldMk cId="0" sldId="266"/>
        </pc:sldMkLst>
      </pc:sldChg>
      <pc:sldChg chg="modNotesTx">
        <pc:chgData name="Kilian Platter" userId="c49eb2881fa751ca" providerId="LiveId" clId="{FDA102BF-EFD5-549B-81DE-49FC5087B7E9}" dt="2026-10-24T10:25:55.597" v="25" actId="20577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modNotesTx">
        <pc:chgData name="Kilian Platter" userId="c49eb2881fa751ca" providerId="LiveId" clId="{FDA102BF-EFD5-549B-81DE-49FC5087B7E9}" dt="2026-10-24T10:26:00.512" v="26" actId="20577"/>
        <pc:sldMkLst>
          <pc:docMk/>
          <pc:sldMk cId="0" sldId="269"/>
        </pc:sldMkLst>
      </pc:sldChg>
      <pc:sldChg chg="modNotesTx">
        <pc:chgData name="Kilian Platter" userId="c49eb2881fa751ca" providerId="LiveId" clId="{FDA102BF-EFD5-549B-81DE-49FC5087B7E9}" dt="2026-10-24T10:26:07.444" v="27" actId="20577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modNotesTx">
        <pc:chgData name="Kilian Platter" userId="c49eb2881fa751ca" providerId="LiveId" clId="{FDA102BF-EFD5-549B-81DE-49FC5087B7E9}" dt="2026-10-24T10:29:55.216" v="43" actId="20577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</pc:docChg>
  </pc:docChgLst>
  <pc:docChgLst>
    <pc:chgData name="Sattler, Nina" userId="04d6e414-20a5-485e-92aa-4fd14f41d5e1" providerId="ADAL" clId="{BC5D85B1-D290-5D73-812C-F297645A1FDB}"/>
    <pc:docChg chg="undo redo custSel modSld">
      <pc:chgData name="Sattler, Nina" userId="04d6e414-20a5-485e-92aa-4fd14f41d5e1" providerId="ADAL" clId="{BC5D85B1-D290-5D73-812C-F297645A1FDB}" dt="2026-10-24T12:26:50.149" v="1138" actId="1037"/>
      <pc:docMkLst>
        <pc:docMk/>
      </pc:docMkLst>
      <pc:sldChg chg="addSp delSp modSp mod">
        <pc:chgData name="Sattler, Nina" userId="04d6e414-20a5-485e-92aa-4fd14f41d5e1" providerId="ADAL" clId="{BC5D85B1-D290-5D73-812C-F297645A1FDB}" dt="2026-10-24T12:26:50.149" v="1138" actId="1037"/>
        <pc:sldMkLst>
          <pc:docMk/>
          <pc:sldMk cId="1220583403" sldId="268"/>
        </pc:sldMkLst>
        <pc:spChg chg="mod">
          <ac:chgData name="Sattler, Nina" userId="04d6e414-20a5-485e-92aa-4fd14f41d5e1" providerId="ADAL" clId="{BC5D85B1-D290-5D73-812C-F297645A1FDB}" dt="2026-10-24T11:39:14.287" v="252" actId="14100"/>
          <ac:spMkLst>
            <pc:docMk/>
            <pc:sldMk cId="1220583403" sldId="268"/>
            <ac:spMk id="4" creationId="{2C0787A9-216C-94CE-3263-8D50558F9397}"/>
          </ac:spMkLst>
        </pc:spChg>
        <pc:spChg chg="mod">
          <ac:chgData name="Sattler, Nina" userId="04d6e414-20a5-485e-92aa-4fd14f41d5e1" providerId="ADAL" clId="{BC5D85B1-D290-5D73-812C-F297645A1FDB}" dt="2026-10-24T11:34:43.306" v="224" actId="1076"/>
          <ac:spMkLst>
            <pc:docMk/>
            <pc:sldMk cId="1220583403" sldId="268"/>
            <ac:spMk id="11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1:36:52.274" v="242" actId="255"/>
          <ac:spMkLst>
            <pc:docMk/>
            <pc:sldMk cId="1220583403" sldId="268"/>
            <ac:spMk id="18" creationId="{DF1FC351-A162-1CE2-2625-5A26763F931E}"/>
          </ac:spMkLst>
        </pc:spChg>
        <pc:spChg chg="mod">
          <ac:chgData name="Sattler, Nina" userId="04d6e414-20a5-485e-92aa-4fd14f41d5e1" providerId="ADAL" clId="{BC5D85B1-D290-5D73-812C-F297645A1FDB}" dt="2026-10-24T11:26:51.515" v="179" actId="2710"/>
          <ac:spMkLst>
            <pc:docMk/>
            <pc:sldMk cId="1220583403" sldId="268"/>
            <ac:spMk id="22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1:39:33.553" v="255" actId="14100"/>
          <ac:spMkLst>
            <pc:docMk/>
            <pc:sldMk cId="1220583403" sldId="268"/>
            <ac:spMk id="23" creationId="{49F3AF6E-AD82-1FE1-EC62-D5685F5D75DD}"/>
          </ac:spMkLst>
        </pc:spChg>
        <pc:spChg chg="mod">
          <ac:chgData name="Sattler, Nina" userId="04d6e414-20a5-485e-92aa-4fd14f41d5e1" providerId="ADAL" clId="{BC5D85B1-D290-5D73-812C-F297645A1FDB}" dt="2026-10-24T11:46:36.585" v="600" actId="1076"/>
          <ac:spMkLst>
            <pc:docMk/>
            <pc:sldMk cId="1220583403" sldId="268"/>
            <ac:spMk id="27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1:37:04.566" v="243" actId="255"/>
          <ac:spMkLst>
            <pc:docMk/>
            <pc:sldMk cId="1220583403" sldId="268"/>
            <ac:spMk id="28" creationId="{33F88C3C-21DF-3455-F6F6-DACDF95A291A}"/>
          </ac:spMkLst>
        </pc:spChg>
        <pc:spChg chg="mod">
          <ac:chgData name="Sattler, Nina" userId="04d6e414-20a5-485e-92aa-4fd14f41d5e1" providerId="ADAL" clId="{BC5D85B1-D290-5D73-812C-F297645A1FDB}" dt="2026-10-24T11:46:36.765" v="601" actId="1076"/>
          <ac:spMkLst>
            <pc:docMk/>
            <pc:sldMk cId="1220583403" sldId="268"/>
            <ac:spMk id="29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1:46:36.765" v="601" actId="1076"/>
          <ac:spMkLst>
            <pc:docMk/>
            <pc:sldMk cId="1220583403" sldId="268"/>
            <ac:spMk id="31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1:49:23.409" v="654" actId="120"/>
          <ac:spMkLst>
            <pc:docMk/>
            <pc:sldMk cId="1220583403" sldId="268"/>
            <ac:spMk id="32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1:39:46.888" v="257" actId="14100"/>
          <ac:spMkLst>
            <pc:docMk/>
            <pc:sldMk cId="1220583403" sldId="268"/>
            <ac:spMk id="33" creationId="{A977E975-4F81-3CC4-5C42-653FD75B1708}"/>
          </ac:spMkLst>
        </pc:spChg>
        <pc:spChg chg="mod">
          <ac:chgData name="Sattler, Nina" userId="04d6e414-20a5-485e-92aa-4fd14f41d5e1" providerId="ADAL" clId="{BC5D85B1-D290-5D73-812C-F297645A1FDB}" dt="2026-10-24T11:37:11.244" v="244" actId="255"/>
          <ac:spMkLst>
            <pc:docMk/>
            <pc:sldMk cId="1220583403" sldId="268"/>
            <ac:spMk id="34" creationId="{4F0C57EC-56A2-E910-2718-6415E887C44A}"/>
          </ac:spMkLst>
        </pc:spChg>
        <pc:spChg chg="mod">
          <ac:chgData name="Sattler, Nina" userId="04d6e414-20a5-485e-92aa-4fd14f41d5e1" providerId="ADAL" clId="{BC5D85B1-D290-5D73-812C-F297645A1FDB}" dt="2026-10-24T11:40:00.852" v="259" actId="14100"/>
          <ac:spMkLst>
            <pc:docMk/>
            <pc:sldMk cId="1220583403" sldId="268"/>
            <ac:spMk id="35" creationId="{57C67BEC-858B-E7E9-1DF2-D8E9CDFFA722}"/>
          </ac:spMkLst>
        </pc:spChg>
        <pc:spChg chg="mod">
          <ac:chgData name="Sattler, Nina" userId="04d6e414-20a5-485e-92aa-4fd14f41d5e1" providerId="ADAL" clId="{BC5D85B1-D290-5D73-812C-F297645A1FDB}" dt="2026-10-24T11:46:38.760" v="614" actId="20577"/>
          <ac:spMkLst>
            <pc:docMk/>
            <pc:sldMk cId="1220583403" sldId="268"/>
            <ac:spMk id="36" creationId="{9B403364-AB09-19AC-11E3-EBAC6FA70182}"/>
          </ac:spMkLst>
        </pc:spChg>
        <pc:spChg chg="mod">
          <ac:chgData name="Sattler, Nina" userId="04d6e414-20a5-485e-92aa-4fd14f41d5e1" providerId="ADAL" clId="{BC5D85B1-D290-5D73-812C-F297645A1FDB}" dt="2026-10-24T11:46:39.815" v="615" actId="14100"/>
          <ac:spMkLst>
            <pc:docMk/>
            <pc:sldMk cId="1220583403" sldId="268"/>
            <ac:spMk id="37" creationId="{B51D884D-9FD1-7CCB-01C7-A7BE71BA9988}"/>
          </ac:spMkLst>
        </pc:spChg>
        <pc:spChg chg="mod">
          <ac:chgData name="Sattler, Nina" userId="04d6e414-20a5-485e-92aa-4fd14f41d5e1" providerId="ADAL" clId="{BC5D85B1-D290-5D73-812C-F297645A1FDB}" dt="2026-10-24T11:37:31.289" v="246" actId="255"/>
          <ac:spMkLst>
            <pc:docMk/>
            <pc:sldMk cId="1220583403" sldId="268"/>
            <ac:spMk id="38" creationId="{6702BF52-F988-38A6-76AC-44CF058DC8BB}"/>
          </ac:spMkLst>
        </pc:spChg>
        <pc:spChg chg="add mod">
          <ac:chgData name="Sattler, Nina" userId="04d6e414-20a5-485e-92aa-4fd14f41d5e1" providerId="ADAL" clId="{BC5D85B1-D290-5D73-812C-F297645A1FDB}" dt="2026-10-24T12:26:50.149" v="1138" actId="1037"/>
          <ac:spMkLst>
            <pc:docMk/>
            <pc:sldMk cId="1220583403" sldId="268"/>
            <ac:spMk id="39" creationId="{A6A1168F-654D-11F8-4D91-E84C31E62200}"/>
          </ac:spMkLst>
        </pc:spChg>
        <pc:spChg chg="add del mod">
          <ac:chgData name="Sattler, Nina" userId="04d6e414-20a5-485e-92aa-4fd14f41d5e1" providerId="ADAL" clId="{BC5D85B1-D290-5D73-812C-F297645A1FDB}" dt="2026-10-24T11:48:50.306" v="649" actId="478"/>
          <ac:spMkLst>
            <pc:docMk/>
            <pc:sldMk cId="1220583403" sldId="268"/>
            <ac:spMk id="42" creationId="{B2C1BED4-8D92-88BA-C134-5F02A8CC80CA}"/>
          </ac:spMkLst>
        </pc:spChg>
        <pc:spChg chg="add mod">
          <ac:chgData name="Sattler, Nina" userId="04d6e414-20a5-485e-92aa-4fd14f41d5e1" providerId="ADAL" clId="{BC5D85B1-D290-5D73-812C-F297645A1FDB}" dt="2026-10-24T11:50:33.042" v="664" actId="2085"/>
          <ac:spMkLst>
            <pc:docMk/>
            <pc:sldMk cId="1220583403" sldId="268"/>
            <ac:spMk id="45" creationId="{4BBBE87F-A70C-F555-3910-800950D0BB76}"/>
          </ac:spMkLst>
        </pc:spChg>
        <pc:spChg chg="add mod">
          <ac:chgData name="Sattler, Nina" userId="04d6e414-20a5-485e-92aa-4fd14f41d5e1" providerId="ADAL" clId="{BC5D85B1-D290-5D73-812C-F297645A1FDB}" dt="2026-10-24T11:51:28.778" v="673" actId="2085"/>
          <ac:spMkLst>
            <pc:docMk/>
            <pc:sldMk cId="1220583403" sldId="268"/>
            <ac:spMk id="46" creationId="{C6E837AC-AC21-E082-56C8-A0ACEDE18382}"/>
          </ac:spMkLst>
        </pc:spChg>
        <pc:grpChg chg="mod">
          <ac:chgData name="Sattler, Nina" userId="04d6e414-20a5-485e-92aa-4fd14f41d5e1" providerId="ADAL" clId="{BC5D85B1-D290-5D73-812C-F297645A1FDB}" dt="2026-10-24T11:46:43.461" v="616" actId="1076"/>
          <ac:grpSpMkLst>
            <pc:docMk/>
            <pc:sldMk cId="1220583403" sldId="268"/>
            <ac:grpSpMk id="3" creationId="{88EB0964-0305-A01B-35AF-736CA8AC6232}"/>
          </ac:grpSpMkLst>
        </pc:grpChg>
        <pc:graphicFrameChg chg="add mod modGraphic">
          <ac:chgData name="Sattler, Nina" userId="04d6e414-20a5-485e-92aa-4fd14f41d5e1" providerId="ADAL" clId="{BC5D85B1-D290-5D73-812C-F297645A1FDB}" dt="2026-10-24T11:35:52.356" v="234" actId="20577"/>
          <ac:graphicFrameMkLst>
            <pc:docMk/>
            <pc:sldMk cId="1220583403" sldId="268"/>
            <ac:graphicFrameMk id="2" creationId="{8F8F0FAD-5675-F8D0-9F77-CC15520FB12C}"/>
          </ac:graphicFrameMkLst>
        </pc:graphicFrameChg>
        <pc:picChg chg="mod">
          <ac:chgData name="Sattler, Nina" userId="04d6e414-20a5-485e-92aa-4fd14f41d5e1" providerId="ADAL" clId="{BC5D85B1-D290-5D73-812C-F297645A1FDB}" dt="2026-10-24T11:46:36.765" v="601" actId="1076"/>
          <ac:picMkLst>
            <pc:docMk/>
            <pc:sldMk cId="1220583403" sldId="268"/>
            <ac:picMk id="30" creationId="{00000000-0000-0000-0000-000000000000}"/>
          </ac:picMkLst>
        </pc:picChg>
        <pc:cxnChg chg="add del mod">
          <ac:chgData name="Sattler, Nina" userId="04d6e414-20a5-485e-92aa-4fd14f41d5e1" providerId="ADAL" clId="{BC5D85B1-D290-5D73-812C-F297645A1FDB}" dt="2026-10-24T11:48:01.406" v="642" actId="478"/>
          <ac:cxnSpMkLst>
            <pc:docMk/>
            <pc:sldMk cId="1220583403" sldId="268"/>
            <ac:cxnSpMk id="41" creationId="{9C2D7425-C76B-B39E-B91D-7A4663724C60}"/>
          </ac:cxnSpMkLst>
        </pc:cxnChg>
        <pc:cxnChg chg="add del">
          <ac:chgData name="Sattler, Nina" userId="04d6e414-20a5-485e-92aa-4fd14f41d5e1" providerId="ADAL" clId="{BC5D85B1-D290-5D73-812C-F297645A1FDB}" dt="2026-10-24T11:49:44.661" v="656" actId="11529"/>
          <ac:cxnSpMkLst>
            <pc:docMk/>
            <pc:sldMk cId="1220583403" sldId="268"/>
            <ac:cxnSpMk id="44" creationId="{10FCA559-7071-43DF-D52E-C1B9049BCCBC}"/>
          </ac:cxnSpMkLst>
        </pc:cxnChg>
      </pc:sldChg>
      <pc:sldChg chg="modSp mod">
        <pc:chgData name="Sattler, Nina" userId="04d6e414-20a5-485e-92aa-4fd14f41d5e1" providerId="ADAL" clId="{BC5D85B1-D290-5D73-812C-F297645A1FDB}" dt="2026-10-24T12:11:41.610" v="819" actId="20577"/>
        <pc:sldMkLst>
          <pc:docMk/>
          <pc:sldMk cId="0" sldId="271"/>
        </pc:sldMkLst>
        <pc:spChg chg="mod">
          <ac:chgData name="Sattler, Nina" userId="04d6e414-20a5-485e-92aa-4fd14f41d5e1" providerId="ADAL" clId="{BC5D85B1-D290-5D73-812C-F297645A1FDB}" dt="2026-10-24T11:58:31.615" v="703" actId="1076"/>
          <ac:spMkLst>
            <pc:docMk/>
            <pc:sldMk cId="0" sldId="271"/>
            <ac:spMk id="10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1:59:31.796" v="709" actId="1037"/>
          <ac:spMkLst>
            <pc:docMk/>
            <pc:sldMk cId="0" sldId="271"/>
            <ac:spMk id="15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00:26.781" v="764" actId="1076"/>
          <ac:spMkLst>
            <pc:docMk/>
            <pc:sldMk cId="0" sldId="271"/>
            <ac:spMk id="16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11:41.610" v="819" actId="20577"/>
          <ac:spMkLst>
            <pc:docMk/>
            <pc:sldMk cId="0" sldId="271"/>
            <ac:spMk id="20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00:07.983" v="763" actId="1035"/>
          <ac:spMkLst>
            <pc:docMk/>
            <pc:sldMk cId="0" sldId="271"/>
            <ac:spMk id="21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00:07.983" v="763" actId="1035"/>
          <ac:spMkLst>
            <pc:docMk/>
            <pc:sldMk cId="0" sldId="271"/>
            <ac:spMk id="25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02:49.068" v="798" actId="20577"/>
          <ac:spMkLst>
            <pc:docMk/>
            <pc:sldMk cId="0" sldId="271"/>
            <ac:spMk id="26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00:07.983" v="763" actId="1035"/>
          <ac:spMkLst>
            <pc:docMk/>
            <pc:sldMk cId="0" sldId="271"/>
            <ac:spMk id="30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00:07.983" v="763" actId="1035"/>
          <ac:spMkLst>
            <pc:docMk/>
            <pc:sldMk cId="0" sldId="271"/>
            <ac:spMk id="31" creationId="{00000000-0000-0000-0000-000000000000}"/>
          </ac:spMkLst>
        </pc:spChg>
      </pc:sldChg>
      <pc:sldChg chg="addSp delSp modSp mod">
        <pc:chgData name="Sattler, Nina" userId="04d6e414-20a5-485e-92aa-4fd14f41d5e1" providerId="ADAL" clId="{BC5D85B1-D290-5D73-812C-F297645A1FDB}" dt="2026-10-24T12:26:13.021" v="1132" actId="20577"/>
        <pc:sldMkLst>
          <pc:docMk/>
          <pc:sldMk cId="0" sldId="272"/>
        </pc:sldMkLst>
        <pc:spChg chg="add mod">
          <ac:chgData name="Sattler, Nina" userId="04d6e414-20a5-485e-92aa-4fd14f41d5e1" providerId="ADAL" clId="{BC5D85B1-D290-5D73-812C-F297645A1FDB}" dt="2026-10-24T12:24:30.215" v="1126" actId="1038"/>
          <ac:spMkLst>
            <pc:docMk/>
            <pc:sldMk cId="0" sldId="272"/>
            <ac:spMk id="3" creationId="{007F1B65-7970-A249-925F-4FA6D8429FC7}"/>
          </ac:spMkLst>
        </pc:spChg>
        <pc:spChg chg="mod">
          <ac:chgData name="Sattler, Nina" userId="04d6e414-20a5-485e-92aa-4fd14f41d5e1" providerId="ADAL" clId="{BC5D85B1-D290-5D73-812C-F297645A1FDB}" dt="2026-10-24T12:24:30.215" v="1126" actId="1038"/>
          <ac:spMkLst>
            <pc:docMk/>
            <pc:sldMk cId="0" sldId="272"/>
            <ac:spMk id="6" creationId="{00000000-0000-0000-0000-000000000000}"/>
          </ac:spMkLst>
        </pc:spChg>
        <pc:spChg chg="del mod">
          <ac:chgData name="Sattler, Nina" userId="04d6e414-20a5-485e-92aa-4fd14f41d5e1" providerId="ADAL" clId="{BC5D85B1-D290-5D73-812C-F297645A1FDB}" dt="2026-10-24T12:19:21.533" v="870" actId="478"/>
          <ac:spMkLst>
            <pc:docMk/>
            <pc:sldMk cId="0" sldId="272"/>
            <ac:spMk id="7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23:01.065" v="911" actId="207"/>
          <ac:spMkLst>
            <pc:docMk/>
            <pc:sldMk cId="0" sldId="272"/>
            <ac:spMk id="8" creationId="{00000000-0000-0000-0000-000000000000}"/>
          </ac:spMkLst>
        </pc:spChg>
        <pc:spChg chg="mod">
          <ac:chgData name="Sattler, Nina" userId="04d6e414-20a5-485e-92aa-4fd14f41d5e1" providerId="ADAL" clId="{BC5D85B1-D290-5D73-812C-F297645A1FDB}" dt="2026-10-24T12:26:13.021" v="1132" actId="20577"/>
          <ac:spMkLst>
            <pc:docMk/>
            <pc:sldMk cId="0" sldId="272"/>
            <ac:spMk id="9" creationId="{00000000-0000-0000-0000-000000000000}"/>
          </ac:spMkLst>
        </pc:spChg>
        <pc:spChg chg="add mod">
          <ac:chgData name="Sattler, Nina" userId="04d6e414-20a5-485e-92aa-4fd14f41d5e1" providerId="ADAL" clId="{BC5D85B1-D290-5D73-812C-F297645A1FDB}" dt="2026-10-24T12:24:30.215" v="1126" actId="1038"/>
          <ac:spMkLst>
            <pc:docMk/>
            <pc:sldMk cId="0" sldId="272"/>
            <ac:spMk id="10" creationId="{DDAE9F36-83AC-9A26-DFEF-6E0099E320FA}"/>
          </ac:spMkLst>
        </pc:spChg>
        <pc:spChg chg="add mod">
          <ac:chgData name="Sattler, Nina" userId="04d6e414-20a5-485e-92aa-4fd14f41d5e1" providerId="ADAL" clId="{BC5D85B1-D290-5D73-812C-F297645A1FDB}" dt="2026-10-24T12:25:55.365" v="1130"/>
          <ac:spMkLst>
            <pc:docMk/>
            <pc:sldMk cId="0" sldId="272"/>
            <ac:spMk id="11" creationId="{2FE49841-DCDB-19FD-29F8-8133C3B12D6A}"/>
          </ac:spMkLst>
        </pc:spChg>
        <pc:picChg chg="add mod">
          <ac:chgData name="Sattler, Nina" userId="04d6e414-20a5-485e-92aa-4fd14f41d5e1" providerId="ADAL" clId="{BC5D85B1-D290-5D73-812C-F297645A1FDB}" dt="2026-10-24T12:24:30.215" v="1126" actId="1038"/>
          <ac:picMkLst>
            <pc:docMk/>
            <pc:sldMk cId="0" sldId="272"/>
            <ac:picMk id="4" creationId="{36B0525E-5102-41BA-C2F6-A669257DF652}"/>
          </ac:picMkLst>
        </pc:picChg>
        <pc:picChg chg="add mod">
          <ac:chgData name="Sattler, Nina" userId="04d6e414-20a5-485e-92aa-4fd14f41d5e1" providerId="ADAL" clId="{BC5D85B1-D290-5D73-812C-F297645A1FDB}" dt="2026-10-24T12:24:30.215" v="1126" actId="1038"/>
          <ac:picMkLst>
            <pc:docMk/>
            <pc:sldMk cId="0" sldId="272"/>
            <ac:picMk id="5" creationId="{9F4723C5-26F7-16F8-B106-A411DB46989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r>
              <a:rPr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1F59D-253A-3924-605E-21120D21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EF0349-F106-C4E8-17E5-ED0C64CB6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A4233D-DF4D-D00D-C65C-262A8E253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609AC-3073-AD42-66E5-3FF4BB1E7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067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Adrian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043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548640" y="9742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1: der Pitch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1294262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 txBox="1"/>
          <p:nvPr/>
        </p:nvSpPr>
        <p:spPr>
          <a:xfrm>
            <a:off x="1097280" y="129426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Problem: Werkstätten heute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4461" y="129426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172403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 txBox="1"/>
          <p:nvPr/>
        </p:nvSpPr>
        <p:spPr>
          <a:xfrm>
            <a:off x="1097280" y="172403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Lösung, Nutzen, Auftragsreise, KI-Sofortdiagnose mit Live-Demo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14461" y="172403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David, Kilian, Maximilian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3235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2: was dahintersteckt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48640" y="2616127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 txBox="1"/>
          <p:nvPr/>
        </p:nvSpPr>
        <p:spPr>
          <a:xfrm>
            <a:off x="1097280" y="2616127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zehn Geschäftsprozesse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14461" y="2616127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045895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 txBox="1"/>
          <p:nvPr/>
        </p:nvSpPr>
        <p:spPr>
          <a:xfrm>
            <a:off x="1097280" y="3045895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Rollen, Use Cases und Datenmodell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514461" y="3045895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47814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 txBox="1"/>
          <p:nvPr/>
        </p:nvSpPr>
        <p:spPr>
          <a:xfrm>
            <a:off x="1097280" y="34781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Lernerfahrungen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Projektmanagement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514461" y="34781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3899363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1"/>
          <p:cNvSpPr txBox="1"/>
          <p:nvPr/>
        </p:nvSpPr>
        <p:spPr>
          <a:xfrm>
            <a:off x="1097280" y="3899363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Geschäftsmodell, Ausblick und Fazit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514461" y="3899363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</a:t>
            </a:r>
            <a:endParaRPr lang="en-US" sz="1200" dirty="0"/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20CE692E-F865-BE81-16AB-382C01B4A47B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7" name="Grafik 36" descr="Zukunft mit einfarbiger Füllung">
            <a:extLst>
              <a:ext uri="{FF2B5EF4-FFF2-40B4-BE49-F238E27FC236}">
                <a16:creationId xmlns:a16="http://schemas.microsoft.com/office/drawing/2014/main" id="{1BFD9E94-99C0-84C0-52AE-EA6A5FD7D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529" y="3911387"/>
            <a:ext cx="360000" cy="360000"/>
          </a:xfrm>
          <a:prstGeom prst="rect">
            <a:avLst/>
          </a:prstGeom>
        </p:spPr>
      </p:pic>
      <p:pic>
        <p:nvPicPr>
          <p:cNvPr id="39" name="Grafik 38" descr="Stern mit einfarbiger Füllung">
            <a:extLst>
              <a:ext uri="{FF2B5EF4-FFF2-40B4-BE49-F238E27FC236}">
                <a16:creationId xmlns:a16="http://schemas.microsoft.com/office/drawing/2014/main" id="{927C4290-BCF6-8A19-DCBC-758F4B691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29" y="3490673"/>
            <a:ext cx="360000" cy="360000"/>
          </a:xfrm>
          <a:prstGeom prst="rect">
            <a:avLst/>
          </a:prstGeom>
        </p:spPr>
      </p:pic>
      <p:pic>
        <p:nvPicPr>
          <p:cNvPr id="43" name="Grafik 42" descr="Benutzer mit einfarbiger Füllung">
            <a:extLst>
              <a:ext uri="{FF2B5EF4-FFF2-40B4-BE49-F238E27FC236}">
                <a16:creationId xmlns:a16="http://schemas.microsoft.com/office/drawing/2014/main" id="{DB491CEB-F48C-8B4B-C1EC-C069BE698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529" y="3059981"/>
            <a:ext cx="360000" cy="360000"/>
          </a:xfrm>
          <a:prstGeom prst="rect">
            <a:avLst/>
          </a:prstGeom>
        </p:spPr>
      </p:pic>
      <p:pic>
        <p:nvPicPr>
          <p:cNvPr id="45" name="Grafik 44" descr="Liste mit einfarbiger Füllung">
            <a:extLst>
              <a:ext uri="{FF2B5EF4-FFF2-40B4-BE49-F238E27FC236}">
                <a16:creationId xmlns:a16="http://schemas.microsoft.com/office/drawing/2014/main" id="{96972706-3AAB-1AE8-6ED5-CB2564544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983" y="2645590"/>
            <a:ext cx="324000" cy="324000"/>
          </a:xfrm>
          <a:prstGeom prst="rect">
            <a:avLst/>
          </a:prstGeom>
        </p:spPr>
      </p:pic>
      <p:pic>
        <p:nvPicPr>
          <p:cNvPr id="47" name="Grafik 46" descr="Kreis mit Pfeil nach links mit einfarbiger Füllung">
            <a:extLst>
              <a:ext uri="{FF2B5EF4-FFF2-40B4-BE49-F238E27FC236}">
                <a16:creationId xmlns:a16="http://schemas.microsoft.com/office/drawing/2014/main" id="{189E8E0A-64C9-65CB-10AC-7C2B1A8DE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664" y="1736054"/>
            <a:ext cx="360000" cy="360000"/>
          </a:xfrm>
          <a:prstGeom prst="rect">
            <a:avLst/>
          </a:prstGeom>
        </p:spPr>
      </p:pic>
      <p:pic>
        <p:nvPicPr>
          <p:cNvPr id="49" name="Grafik 48" descr="Fragezeichen mit einfarbiger Füllung">
            <a:extLst>
              <a:ext uri="{FF2B5EF4-FFF2-40B4-BE49-F238E27FC236}">
                <a16:creationId xmlns:a16="http://schemas.microsoft.com/office/drawing/2014/main" id="{A91F061B-2487-A946-DBEE-FFF7EAAC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64" y="1306286"/>
            <a:ext cx="360000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Szenario: Die Werkstattkette FixWerk GmbH (vier Filialen, Fahrrad, E-Bike und Elektronik) arbeitet mit Papier, Excel-Listen und Telefon. Daraus folgen vier Probleme:</a:t>
            </a:r>
            <a:endParaRPr lang="en-US" sz="13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 hören nichts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Auftragsstatus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wissen will, wo ein Gerät steht, fragt in der Werkstatt nach. Papierzettel und Excel-Listen laufen auseinander.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doppelt bestellt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 Filiale bestellt für sich, obwohl das Teil in der Nachbarfiliale liegt. Das kostet Lieferzeit und Geld.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 unsichtbar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Termine werden nach Gefühl zugesagt, die Kapazität der Techniker kennt niemand genau.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Cloud-Plattform für den gesamten Reparatur-Lebenszyklus: von der Anfrage per App bis zur Abholung und Reklamation. Wir sind das Software-Startup, FixWerk ist unser Pilotkunde.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2174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084832"/>
            <a:ext cx="11658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4008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App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Freigabe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Statusmeldungen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74320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22174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274320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Auftragsstatus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Diagnose</a:t>
            </a: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Reparaturschritte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Endkontrolle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84632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221742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484632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aller</a:t>
            </a: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Filialen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Umlagerung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Bestellung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Retoure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694944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221742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4380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Abrechnung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6949440" y="2651760"/>
            <a:ext cx="186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Rechnung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Zahlung</a:t>
            </a:r>
            <a:endParaRPr lang="en-US" sz="10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Übergabe</a:t>
            </a: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an die Buchhaltung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Zielkunden: unabhängige Werkstätten und kleine Ketten mit 2 bis 10 Filialen im DACH-Raum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Außerhalb der Plattform: physische Reparatur, Lieferantensysteme, Buchhaltung (nur Schnittstellen)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Nutzenversprechen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Werkstätten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profitieren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weniger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Telefonaten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weniger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Standzeit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Lager,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sichtbare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 Die Kunden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profitieren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schnelleren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Antworten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mit einer Kundenbasis und einem gemeinsamen Ersatzteillager. Ein Auftragsstatus für alle.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Bestände, Reservierungen und Umlagerungen über alle Standorte. Bestellt wird nur, was nirgends liegt.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aus der App, Diagnosevorschlag, vorläufiger Kostenvoranschlag und Termin, bevor der Kunde die Werkstatt betritt.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3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01346-0FA1-B61E-4F34-A4548C1C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279FC891-62A7-4EE5-8538-437115166C1E}"/>
              </a:ext>
            </a:extLst>
          </p:cNvPr>
          <p:cNvGrpSpPr/>
          <p:nvPr/>
        </p:nvGrpSpPr>
        <p:grpSpPr>
          <a:xfrm>
            <a:off x="457199" y="1557128"/>
            <a:ext cx="8329602" cy="2654169"/>
            <a:chOff x="457200" y="1557129"/>
            <a:chExt cx="8366760" cy="2666012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322EE97-5F33-9296-546E-68E2B1AACF27}"/>
                </a:ext>
              </a:extLst>
            </p:cNvPr>
            <p:cNvSpPr/>
            <p:nvPr/>
          </p:nvSpPr>
          <p:spPr>
            <a:xfrm>
              <a:off x="45720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F30AE3AF-64A6-BF7C-108A-5CDBBB9BB59A}"/>
                </a:ext>
              </a:extLst>
            </p:cNvPr>
            <p:cNvSpPr txBox="1"/>
            <p:nvPr/>
          </p:nvSpPr>
          <p:spPr>
            <a:xfrm>
              <a:off x="64008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6E197140-AD58-EEF3-FC07-CB88B860C7D5}"/>
                </a:ext>
              </a:extLst>
            </p:cNvPr>
            <p:cNvSpPr txBox="1"/>
            <p:nvPr/>
          </p:nvSpPr>
          <p:spPr>
            <a:xfrm>
              <a:off x="50292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02B60CF3-6FF0-7166-6A49-DB42132E4ACB}"/>
                </a:ext>
              </a:extLst>
            </p:cNvPr>
            <p:cNvSpPr txBox="1"/>
            <p:nvPr/>
          </p:nvSpPr>
          <p:spPr>
            <a:xfrm>
              <a:off x="53949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KI-Vorschlag, Vorab-KVA, Termin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C110B1A6-4BF1-9DF3-FA85-39D1F50ABE9D}"/>
                </a:ext>
              </a:extLst>
            </p:cNvPr>
            <p:cNvSpPr/>
            <p:nvPr/>
          </p:nvSpPr>
          <p:spPr>
            <a:xfrm>
              <a:off x="1847088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6030758-50AD-8892-C859-C498CA27ED01}"/>
                </a:ext>
              </a:extLst>
            </p:cNvPr>
            <p:cNvSpPr txBox="1"/>
            <p:nvPr/>
          </p:nvSpPr>
          <p:spPr>
            <a:xfrm>
              <a:off x="2029968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BE4AB8A3-EF0C-A300-509D-CF14A6E2B2B8}"/>
                </a:ext>
              </a:extLst>
            </p:cNvPr>
            <p:cNvSpPr txBox="1"/>
            <p:nvPr/>
          </p:nvSpPr>
          <p:spPr>
            <a:xfrm>
              <a:off x="1892808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18AF9CD0-7D7C-490A-15A1-BD992FBAA389}"/>
                </a:ext>
              </a:extLst>
            </p:cNvPr>
            <p:cNvSpPr txBox="1"/>
            <p:nvPr/>
          </p:nvSpPr>
          <p:spPr>
            <a:xfrm>
              <a:off x="1929384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Gerät registriert, Auftrag angelegt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857DA967-D85F-A858-8489-6E47952A1591}"/>
                </a:ext>
              </a:extLst>
            </p:cNvPr>
            <p:cNvSpPr/>
            <p:nvPr/>
          </p:nvSpPr>
          <p:spPr>
            <a:xfrm>
              <a:off x="3236976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18511DC0-1226-332B-0BC0-E75682C3A187}"/>
                </a:ext>
              </a:extLst>
            </p:cNvPr>
            <p:cNvSpPr txBox="1"/>
            <p:nvPr/>
          </p:nvSpPr>
          <p:spPr>
            <a:xfrm>
              <a:off x="3419856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EE2A20AE-03AC-6529-CA2C-E7313D9114E4}"/>
                </a:ext>
              </a:extLst>
            </p:cNvPr>
            <p:cNvSpPr txBox="1"/>
            <p:nvPr/>
          </p:nvSpPr>
          <p:spPr>
            <a:xfrm>
              <a:off x="3282696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" name="Text 20">
              <a:extLst>
                <a:ext uri="{FF2B5EF4-FFF2-40B4-BE49-F238E27FC236}">
                  <a16:creationId xmlns:a16="http://schemas.microsoft.com/office/drawing/2014/main" id="{13AB6925-A77E-04C4-68B0-1402EC07585B}"/>
                </a:ext>
              </a:extLst>
            </p:cNvPr>
            <p:cNvSpPr txBox="1"/>
            <p:nvPr/>
          </p:nvSpPr>
          <p:spPr>
            <a:xfrm>
              <a:off x="3319272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Techniker prüft, Kunde gibt frei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BDAE9F2B-91A9-49A6-51E7-0D9B34EFF536}"/>
                </a:ext>
              </a:extLst>
            </p:cNvPr>
            <p:cNvSpPr/>
            <p:nvPr/>
          </p:nvSpPr>
          <p:spPr>
            <a:xfrm>
              <a:off x="4626864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61CB2146-0AD4-BAA1-8021-5AC92639F443}"/>
                </a:ext>
              </a:extLst>
            </p:cNvPr>
            <p:cNvSpPr txBox="1"/>
            <p:nvPr/>
          </p:nvSpPr>
          <p:spPr>
            <a:xfrm>
              <a:off x="4809744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52752689-8AEF-ACC1-53C1-3E3917F660D0}"/>
                </a:ext>
              </a:extLst>
            </p:cNvPr>
            <p:cNvSpPr txBox="1"/>
            <p:nvPr/>
          </p:nvSpPr>
          <p:spPr>
            <a:xfrm>
              <a:off x="4672584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Text 26">
              <a:extLst>
                <a:ext uri="{FF2B5EF4-FFF2-40B4-BE49-F238E27FC236}">
                  <a16:creationId xmlns:a16="http://schemas.microsoft.com/office/drawing/2014/main" id="{C8B761B2-20C6-18B5-5714-E715BAFC0759}"/>
                </a:ext>
              </a:extLst>
            </p:cNvPr>
            <p:cNvSpPr txBox="1"/>
            <p:nvPr/>
          </p:nvSpPr>
          <p:spPr>
            <a:xfrm>
              <a:off x="4709160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alle Filialen, Fehlteile bestellen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74D8CB0B-5B7F-4674-84E6-609A60376742}"/>
                </a:ext>
              </a:extLst>
            </p:cNvPr>
            <p:cNvSpPr/>
            <p:nvPr/>
          </p:nvSpPr>
          <p:spPr>
            <a:xfrm>
              <a:off x="6016752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C8127221-8A4C-D5BE-97F3-35C168CFA7E9}"/>
                </a:ext>
              </a:extLst>
            </p:cNvPr>
            <p:cNvSpPr txBox="1"/>
            <p:nvPr/>
          </p:nvSpPr>
          <p:spPr>
            <a:xfrm>
              <a:off x="6199632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8C3D5FEF-7383-A38B-3CB2-0BB6EDAD636C}"/>
                </a:ext>
              </a:extLst>
            </p:cNvPr>
            <p:cNvSpPr txBox="1"/>
            <p:nvPr/>
          </p:nvSpPr>
          <p:spPr>
            <a:xfrm>
              <a:off x="6062472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Text 32">
              <a:extLst>
                <a:ext uri="{FF2B5EF4-FFF2-40B4-BE49-F238E27FC236}">
                  <a16:creationId xmlns:a16="http://schemas.microsoft.com/office/drawing/2014/main" id="{91E9EAC8-EAC8-8A8E-12BE-68225B5DF61A}"/>
                </a:ext>
              </a:extLst>
            </p:cNvPr>
            <p:cNvSpPr txBox="1"/>
            <p:nvPr/>
          </p:nvSpPr>
          <p:spPr>
            <a:xfrm>
              <a:off x="6099048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Schritte, Arbeitszeit, Endkontrolle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5958EE4-81F2-3D7D-F523-179850BF6474}"/>
                </a:ext>
              </a:extLst>
            </p:cNvPr>
            <p:cNvSpPr/>
            <p:nvPr/>
          </p:nvSpPr>
          <p:spPr>
            <a:xfrm>
              <a:off x="740664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984422EA-8EA9-0057-7CE3-C31E50BAC40F}"/>
                </a:ext>
              </a:extLst>
            </p:cNvPr>
            <p:cNvSpPr txBox="1"/>
            <p:nvPr/>
          </p:nvSpPr>
          <p:spPr>
            <a:xfrm>
              <a:off x="758952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9E6036D2-CA77-79F5-AD32-1E1090F78AC9}"/>
                </a:ext>
              </a:extLst>
            </p:cNvPr>
            <p:cNvSpPr txBox="1"/>
            <p:nvPr/>
          </p:nvSpPr>
          <p:spPr>
            <a:xfrm>
              <a:off x="745236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7" name="Text 38">
              <a:extLst>
                <a:ext uri="{FF2B5EF4-FFF2-40B4-BE49-F238E27FC236}">
                  <a16:creationId xmlns:a16="http://schemas.microsoft.com/office/drawing/2014/main" id="{6A81179B-0E6D-4261-2C86-E82B9E5AFD73}"/>
                </a:ext>
              </a:extLst>
            </p:cNvPr>
            <p:cNvSpPr txBox="1"/>
            <p:nvPr/>
          </p:nvSpPr>
          <p:spPr>
            <a:xfrm>
              <a:off x="748893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Benachrichtigung, Rechnung, Zahlung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4BD734DC-6D43-0678-E2C9-B18A97D258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55300" y="2157288"/>
              <a:ext cx="720000" cy="720000"/>
            </a:xfrm>
            <a:prstGeom prst="rect">
              <a:avLst/>
            </a:prstGeom>
          </p:spPr>
        </p:pic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FD9B80FD-F6BB-1DBA-9C78-8FE2943610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05976" y="2157288"/>
              <a:ext cx="720000" cy="720000"/>
            </a:xfrm>
            <a:prstGeom prst="rect">
              <a:avLst/>
            </a:prstGeom>
          </p:spPr>
        </p:pic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E146D0C-5CE4-C481-0A7D-8604D99718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82592" y="2153270"/>
              <a:ext cx="720000" cy="720000"/>
            </a:xfrm>
            <a:prstGeom prst="rect">
              <a:avLst/>
            </a:prstGeom>
          </p:spPr>
        </p:pic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149AB788-B0A0-27E4-E44B-FB854DF58C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76251" y="2153270"/>
              <a:ext cx="720000" cy="720000"/>
            </a:xfrm>
            <a:prstGeom prst="rect">
              <a:avLst/>
            </a:prstGeom>
          </p:spPr>
        </p:pic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BE44C8A4-075B-5AB0-8CD3-8C836D862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83228" y="2147510"/>
              <a:ext cx="720000" cy="720000"/>
            </a:xfrm>
            <a:prstGeom prst="rect">
              <a:avLst/>
            </a:prstGeom>
          </p:spPr>
        </p:pic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CCCE62BC-BA7E-B8B1-0386-CFA5D2F0C7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3546" y="2157288"/>
              <a:ext cx="720000" cy="720000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F6A1B6E3-88D8-142F-94E7-CD776DB106B3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führt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Reparaturaufträge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sechs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Phasen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der App-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Anfrage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bis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Abholung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35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Prozess-Highlights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640079" y="192689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 dem Versand wartet ein ereignisbasiertes Gateway auf Freigabe, Ablehnung oder drei Tage Frist.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 Fristablauf erinnert RepairFlow, höchstens zweimal. Nach dem dritten Fristablauf ohne Antwort gilt der KVA als abgelehnt, das Gerät geht mit Diagnosepauschale zur Abholung.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 bleibt liegen.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342899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 Teil läuft parallel eine Prüfung: erst das eigene Lager, dann die anderen Filialen.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Lokal vorhanden: reservieren. Anderswo vorhanden: umlagern. Nirgends: als Fehlteil markieren und erst dann bestellen (P06).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Meldebestand unterschritten: Nachbestellvorschlag.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621791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 prüft den Mangel, eine Geschäftsregel entscheidet über Gewährleistung.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Gewährleistung: Die Werkstattleitung gibt die kostenfreie Nacharbeit frei, der Auftrag läuft durch die normale Auftragsreise. Sonst: kostenpflichtiges Angebot.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Modell bleibt schlank, weil die Reklamation keine eigene Reparaturlogik braucht.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010833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077889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077889"/>
            <a:ext cx="914400" cy="914400"/>
          </a:xfrm>
          <a:prstGeom prst="rect">
            <a:avLst/>
          </a:prstGeom>
        </p:spPr>
      </p:pic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7948C548-1A23-5D56-8228-CBC2E77D3897}"/>
              </a:ext>
            </a:extLst>
          </p:cNvPr>
          <p:cNvCxnSpPr>
            <a:cxnSpLocks/>
          </p:cNvCxnSpPr>
          <p:nvPr/>
        </p:nvCxnSpPr>
        <p:spPr>
          <a:xfrm>
            <a:off x="307155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EF51E887-D57F-2501-C720-EF36F9A1AD5C}"/>
              </a:ext>
            </a:extLst>
          </p:cNvPr>
          <p:cNvCxnSpPr>
            <a:cxnSpLocks/>
          </p:cNvCxnSpPr>
          <p:nvPr/>
        </p:nvCxnSpPr>
        <p:spPr>
          <a:xfrm>
            <a:off x="587571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Aufnehmen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lädt Foto, Video oder Ton in der App hoch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2139696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Erkennen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KI-Dienst nennt Gerätetyp, Ursache und Ersatzteile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3822192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Kalkulieren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 berechnet einen vorläufigen KVA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ext 17"/>
          <p:cNvSpPr txBox="1"/>
          <p:nvPr/>
        </p:nvSpPr>
        <p:spPr>
          <a:xfrm>
            <a:off x="5504688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Prüfen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in allen Filialen geprüft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Text 21"/>
          <p:cNvSpPr txBox="1"/>
          <p:nvPr/>
        </p:nvSpPr>
        <p:spPr>
          <a:xfrm>
            <a:off x="7187184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bestätigt Termin, Teile vorreserviert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Heute machbar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Sichtbare Schäden per Bildanalyse: gebrochenes Display, gerissene Kette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Vorab-KVA aus Teilepreisen und Aufwandsrichtwerten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Verfügbarkeitsprüfung und Vorreservierung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Vision und Absicherung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Geräuschanalyse von E-Bike-Motoren, Aufwand aus Video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Vorschlag bleibt vorläufig, der Techniker bestätigt oder korrigiert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Medien nur mit Einwilligung, Löschung nach Abschluss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5" name="Grafik 34" descr="Tageskalender mit einfarbiger Füllung">
            <a:extLst>
              <a:ext uri="{FF2B5EF4-FFF2-40B4-BE49-F238E27FC236}">
                <a16:creationId xmlns:a16="http://schemas.microsoft.com/office/drawing/2014/main" id="{02F94359-EFD3-0187-6F0B-1BADC1C1C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288628"/>
            <a:ext cx="648000" cy="648000"/>
          </a:xfrm>
          <a:prstGeom prst="rect">
            <a:avLst/>
          </a:prstGeom>
        </p:spPr>
      </p:pic>
      <p:pic>
        <p:nvPicPr>
          <p:cNvPr id="37" name="Grafik 36" descr="Marke mit einfarbiger Füllung">
            <a:extLst>
              <a:ext uri="{FF2B5EF4-FFF2-40B4-BE49-F238E27FC236}">
                <a16:creationId xmlns:a16="http://schemas.microsoft.com/office/drawing/2014/main" id="{5C8F8888-A908-9FE9-76AC-9817079D2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288628"/>
            <a:ext cx="648000" cy="648000"/>
          </a:xfrm>
          <a:prstGeom prst="rect">
            <a:avLst/>
          </a:prstGeom>
        </p:spPr>
      </p:pic>
      <p:pic>
        <p:nvPicPr>
          <p:cNvPr id="39" name="Grafik 38" descr="Münzen mit einfarbiger Füllung">
            <a:extLst>
              <a:ext uri="{FF2B5EF4-FFF2-40B4-BE49-F238E27FC236}">
                <a16:creationId xmlns:a16="http://schemas.microsoft.com/office/drawing/2014/main" id="{9C064899-7FF6-F1FA-094D-A2C1BE09F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260594"/>
            <a:ext cx="648000" cy="648000"/>
          </a:xfrm>
          <a:prstGeom prst="rect">
            <a:avLst/>
          </a:prstGeom>
        </p:spPr>
      </p:pic>
      <p:pic>
        <p:nvPicPr>
          <p:cNvPr id="41" name="Grafik 40" descr="Künstliche Intelligenz mit einfarbiger Füllung">
            <a:extLst>
              <a:ext uri="{FF2B5EF4-FFF2-40B4-BE49-F238E27FC236}">
                <a16:creationId xmlns:a16="http://schemas.microsoft.com/office/drawing/2014/main" id="{6DB060CD-45E9-4F32-6C01-D01512FAF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238897"/>
            <a:ext cx="648000" cy="648000"/>
          </a:xfrm>
          <a:prstGeom prst="rect">
            <a:avLst/>
          </a:prstGeom>
        </p:spPr>
      </p:pic>
      <p:pic>
        <p:nvPicPr>
          <p:cNvPr id="43" name="Grafik 42" descr="Kamera mit einfarbiger Füllung">
            <a:extLst>
              <a:ext uri="{FF2B5EF4-FFF2-40B4-BE49-F238E27FC236}">
                <a16:creationId xmlns:a16="http://schemas.microsoft.com/office/drawing/2014/main" id="{E41885DE-76B5-3C01-90F4-637E7069C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300251"/>
            <a:ext cx="648000" cy="648000"/>
          </a:xfrm>
          <a:prstGeom prst="rect">
            <a:avLst/>
          </a:prstGeom>
        </p:spPr>
      </p:pic>
      <p:cxnSp>
        <p:nvCxnSpPr>
          <p:cNvPr id="3" name="Gerade Verbindung 2">
            <a:extLst>
              <a:ext uri="{FF2B5EF4-FFF2-40B4-BE49-F238E27FC236}">
                <a16:creationId xmlns:a16="http://schemas.microsoft.com/office/drawing/2014/main" id="{2472465D-9E73-998C-EB3F-FD9359C82543}"/>
              </a:ext>
            </a:extLst>
          </p:cNvPr>
          <p:cNvCxnSpPr>
            <a:cxnSpLocks/>
          </p:cNvCxnSpPr>
          <p:nvPr/>
        </p:nvCxnSpPr>
        <p:spPr>
          <a:xfrm>
            <a:off x="487680" y="3017521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ED6C3867-136C-1D68-02B8-139A62EA700B}"/>
              </a:ext>
            </a:extLst>
          </p:cNvPr>
          <p:cNvCxnSpPr>
            <a:cxnSpLocks/>
          </p:cNvCxnSpPr>
          <p:nvPr/>
        </p:nvCxnSpPr>
        <p:spPr>
          <a:xfrm>
            <a:off x="4501343" y="3192087"/>
            <a:ext cx="0" cy="121920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10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BPMN-Kollaborationsdiagramme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 Aktivitäten im Werkstatt-Pool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Use Cases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17 Rollen und Akteure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Klassen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40 Assoziationen, 7 Aufzählungen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Sequenzdiagramme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3"/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Geschäftsprozesse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4"/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Camunda Modeler, BPMN 2.0, angereichert für Camunda 8. Zehn Prozesse vom ersten Foto bis zur Retoure. 45 Nachrichtenflüsse, 53 Datenobjekte, 12 Datenspeicher.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7"/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Objektorientierte Analyse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Text 18"/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Visual Paradigm: Use-Case-Diagramm, ein vollständiges Klassendiagramm, sechs Sequenzdiagramme als Unterdiagramme der Use Cases.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Dokumentation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Rund 20 Seiten: Projekt, Vorgehen, Projektmanagement, alle Artefakte, Konsistenz der Modelle, Herausforderungen und Feedback.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8C573E46-BC93-A9B9-D7EC-17E4C6DFE18A}"/>
              </a:ext>
            </a:extLst>
          </p:cNvPr>
          <p:cNvCxnSpPr>
            <a:cxnSpLocks/>
          </p:cNvCxnSpPr>
          <p:nvPr/>
        </p:nvCxnSpPr>
        <p:spPr>
          <a:xfrm>
            <a:off x="297180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3E59AA9-5ABB-7007-6AC1-BF09D49F26D7}"/>
              </a:ext>
            </a:extLst>
          </p:cNvPr>
          <p:cNvCxnSpPr>
            <a:cxnSpLocks/>
          </p:cNvCxnSpPr>
          <p:nvPr/>
        </p:nvCxnSpPr>
        <p:spPr>
          <a:xfrm>
            <a:off x="592074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FA1FCB79-1404-2061-8A83-0CC66FC7B823}"/>
              </a:ext>
            </a:extLst>
          </p:cNvPr>
          <p:cNvCxnSpPr>
            <a:cxnSpLocks/>
          </p:cNvCxnSpPr>
          <p:nvPr/>
        </p:nvCxnSpPr>
        <p:spPr>
          <a:xfrm>
            <a:off x="487680" y="2709949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09380"/>
              </p:ext>
            </p:extLst>
          </p:nvPr>
        </p:nvGraphicFramePr>
        <p:xfrm>
          <a:off x="457200" y="1228475"/>
          <a:ext cx="5120640" cy="301752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943600" y="13199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5943600" y="20514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Aktivitäten im Werkstatt-Pool, im </a:t>
            </a:r>
            <a:r>
              <a:rPr lang="en-US" sz="11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Schnitt</a:t>
            </a: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13,6 je Diagramm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5943600" y="26915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62 %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6"/>
          <p:cNvSpPr txBox="1"/>
          <p:nvPr/>
        </p:nvSpPr>
        <p:spPr>
          <a:xfrm>
            <a:off x="5943600" y="34230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davon führt RepairFlow ohne manuelle Arbeit aus: Status, Benachrichtigung, Prüfung, Berechnung, Regel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System: Rollen und Use Cases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962035"/>
            <a:ext cx="1600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 Cases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Sofortdiagnose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KVA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freigeben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ablehnen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extern: KI-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Diagnosedienst</a:t>
            </a:r>
            <a:endParaRPr lang="en-US" sz="1200" dirty="0"/>
          </a:p>
          <a:p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74320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743200" y="2962035"/>
            <a:ext cx="174788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Use Cases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Serviceannahme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Diagnoseprüfer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Diagnostiker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Kalkulator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Werkstattplaner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Reparateur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Endkontrolleur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Geräteausgabe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Reklamationsbearbeiter</a:t>
            </a:r>
            <a:endParaRPr lang="en-US" sz="1200" dirty="0"/>
          </a:p>
          <a:p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84632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846319" y="2962035"/>
            <a:ext cx="182879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Teiledisponent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Bestandsplaner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Einkäufer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Wareneingang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Retourenbearbeiter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Lieferant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Black Box,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Akteur</a:t>
            </a:r>
            <a:endParaRPr lang="en-US" sz="1200" dirty="0"/>
          </a:p>
          <a:p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949440" y="2395107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6949439" y="2962035"/>
            <a:ext cx="18686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 Case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Betriebsadministrator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verwalten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Mandant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 →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Mitarbeitertyp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Lane: </a:t>
            </a:r>
            <a:r>
              <a:rPr lang="en-US" sz="12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</a:t>
            </a: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der Doku</a:t>
            </a:r>
            <a:endParaRPr lang="en-US" sz="1200" dirty="0"/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D84854F3-6298-35F4-4F2A-D9CF1A4F06B3}"/>
              </a:ext>
            </a:extLst>
          </p:cNvPr>
          <p:cNvCxnSpPr>
            <a:cxnSpLocks/>
          </p:cNvCxnSpPr>
          <p:nvPr/>
        </p:nvCxnSpPr>
        <p:spPr>
          <a:xfrm>
            <a:off x="2379094" y="1341225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B032C663-F11A-99DD-08FB-4E51CB2900F4}"/>
              </a:ext>
            </a:extLst>
          </p:cNvPr>
          <p:cNvCxnSpPr>
            <a:cxnSpLocks/>
          </p:cNvCxnSpPr>
          <p:nvPr/>
        </p:nvCxnSpPr>
        <p:spPr>
          <a:xfrm>
            <a:off x="4616390" y="1327478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313F0858-83F7-921A-5704-5A11E9DD8AF9}"/>
              </a:ext>
            </a:extLst>
          </p:cNvPr>
          <p:cNvCxnSpPr>
            <a:cxnSpLocks/>
          </p:cNvCxnSpPr>
          <p:nvPr/>
        </p:nvCxnSpPr>
        <p:spPr>
          <a:xfrm>
            <a:off x="6800418" y="1313731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Entwurfsentscheidungen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als Aggregatwurzel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sind Kompositionen; KVA und Gerät nur zugeordnet, weil der Vorab-KVA vor dem Auftrag entsteht.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Eigene Klasse zwischen Ersatzteil und Filiale. Nur so lässt sich die Verfügbarkeit über alle Filialen prüfen.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vorreserviert, reserviert, entnommen, storniert: eine Beziehung mit eigenen Daten wird zur Klasse.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Mandant und Mitarbeitertypen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Mandant und Sammelstelle; vier Mitarbeitertypen passend zu Lanes und Rollen; KundenApp und Werkstattoberfläche als Zugang.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 und KIDiagnosevorschlag tragen das Alleinstellungsmerkmal im Modell.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4753550" y="3563414"/>
            <a:ext cx="3657600" cy="102581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892040" y="3536866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Botschaft = Operation: Die sechs Sequenzdiagramme verwenden ausschließlich Operationen dieser Klassen. Der Reparaturauftrag führt den Status als Attribut und wechselt ihn über wechsleStatus().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Konventionen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Datenobjekte tragen Klassennamen. Aktivität = Verb + Objekt, Ereignis im Partizip Perfekt. Jede Rolle gehört zu genau einer Lane und einer Klasse. Statuswerte in allen Modellen identisch.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BPMN-Dateien angereichert für Camunda 8: Task-Definitionen, Subscriptions, Timer, FEEL-Bedingungen. Camunda-Linter und bpmnlint: 0 Befunde.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im Zweierteam geprüft, Abstimmung in den Gruppenterminen. Jeder Pull Request wird gegen die QA-Checkliste geprüft, bevor er gemergt wird.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Als die Nacharbeit in Prozess 07 auf zwei Durchläufe begrenzt wurde, musste Sequenzdiagramm SD4 nachziehen (loop 0..2, danach Status abgelehnt). Genau solche Stellen findet die Checkliste: Botschaft = Operation, Akteur → Oberfläche → Objekt, Zustand = AuftragStatus.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070184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0">
            <a:extLst>
              <a:ext uri="{FF2B5EF4-FFF2-40B4-BE49-F238E27FC236}">
                <a16:creationId xmlns:a16="http://schemas.microsoft.com/office/drawing/2014/main" id="{765C87F5-EDD7-8E6E-8D51-45DBABBB98F3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: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Konventionen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Linter,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Konsistenz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0" name="Gerade Verbindung 29">
            <a:extLst>
              <a:ext uri="{FF2B5EF4-FFF2-40B4-BE49-F238E27FC236}">
                <a16:creationId xmlns:a16="http://schemas.microsoft.com/office/drawing/2014/main" id="{D4E11CBB-82A1-CE3E-2590-D1ACD5DB8951}"/>
              </a:ext>
            </a:extLst>
          </p:cNvPr>
          <p:cNvCxnSpPr>
            <a:cxnSpLocks/>
          </p:cNvCxnSpPr>
          <p:nvPr/>
        </p:nvCxnSpPr>
        <p:spPr>
          <a:xfrm>
            <a:off x="5861285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Gemeinsame Namensregeln und ein Abgleich nach jeder Änderung halten die Modelle zusammen.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Linter keine Befunde mehr meldete.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Hinweise von außen nutzen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KI-Vision glaubwürdig halten (heute machbar vs. Vision), nach den Coachings eine Rolle je Use Case und Oberflächen in den Sequenzdiagrammen: Das hat die Arbeit deutlich besser gemacht.</a:t>
            </a:r>
            <a:endParaRPr lang="en-US" sz="1150" dirty="0"/>
          </a:p>
        </p:txBody>
      </p:sp>
      <p:sp>
        <p:nvSpPr>
          <p:cNvPr id="26" name="Text 0">
            <a:extLst>
              <a:ext uri="{FF2B5EF4-FFF2-40B4-BE49-F238E27FC236}">
                <a16:creationId xmlns:a16="http://schemas.microsoft.com/office/drawing/2014/main" id="{A48CE5FD-F9CC-24CB-FA2B-923ED5921C61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Lernerfahrungen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3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4572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669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Themenwahl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8288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005434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Konzept + Feedback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2004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217920" y="468351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Prozessanalyse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5720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46817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9436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60533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OOA (UML)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3152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7516403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 + Präsentation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4008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Rollen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8"/>
          <p:cNvSpPr txBox="1"/>
          <p:nvPr/>
        </p:nvSpPr>
        <p:spPr>
          <a:xfrm>
            <a:off x="64008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Nina: </a:t>
            </a:r>
            <a:r>
              <a:rPr lang="en-US" sz="11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Projektleitung</a:t>
            </a:r>
            <a:endParaRPr lang="en-US" sz="11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David: </a:t>
            </a:r>
            <a:r>
              <a:rPr lang="en-US" sz="11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Stellvertretung</a:t>
            </a: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UML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Adrian: </a:t>
            </a: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Product Owner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Kilian: </a:t>
            </a: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Scrum Master und UML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Maximilian: </a:t>
            </a: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Jakob: </a:t>
            </a:r>
            <a:r>
              <a:rPr lang="en-US" sz="11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</a:t>
            </a:r>
            <a:endParaRPr lang="en-US" sz="11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342900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219177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Zusammenarbeit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2"/>
          <p:cNvSpPr txBox="1"/>
          <p:nvPr/>
        </p:nvSpPr>
        <p:spPr>
          <a:xfrm>
            <a:off x="342900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Scrum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Trello-Board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Prüfung</a:t>
            </a:r>
            <a:endParaRPr lang="en-US" sz="1150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GitHub Repo</a:t>
            </a: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21792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Ablauf</a:t>
            </a: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je </a:t>
            </a: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Diagramm</a:t>
            </a:r>
            <a:endParaRPr lang="en-US" sz="1400" b="1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32" name="Text 26"/>
          <p:cNvSpPr txBox="1"/>
          <p:nvPr/>
        </p:nvSpPr>
        <p:spPr>
          <a:xfrm>
            <a:off x="621792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R="0" lvl="0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Entwurf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</a:p>
          <a:p>
            <a:pPr marR="0" lvl="0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</a:t>
            </a:r>
          </a:p>
          <a:p>
            <a:pPr marR="0" lvl="0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Abstimmung </a:t>
            </a:r>
          </a:p>
          <a:p>
            <a:pPr marR="0" lvl="0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Pull Request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Review.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Entscheidungslog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EF3F177-BCC2-B7E8-4C79-2BAC6028859E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Projektmanagement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8EB0964-0305-A01B-35AF-736CA8AC6232}"/>
              </a:ext>
            </a:extLst>
          </p:cNvPr>
          <p:cNvGrpSpPr/>
          <p:nvPr/>
        </p:nvGrpSpPr>
        <p:grpSpPr>
          <a:xfrm>
            <a:off x="7680960" y="6668619"/>
            <a:ext cx="1336209" cy="3375584"/>
            <a:chOff x="5202343" y="4096869"/>
            <a:chExt cx="1336209" cy="3375584"/>
          </a:xfrm>
        </p:grpSpPr>
        <p:sp>
          <p:nvSpPr>
            <p:cNvPr id="4" name="Circular Arrow 3">
              <a:extLst>
                <a:ext uri="{FF2B5EF4-FFF2-40B4-BE49-F238E27FC236}">
                  <a16:creationId xmlns:a16="http://schemas.microsoft.com/office/drawing/2014/main" id="{2C0787A9-216C-94CE-3263-8D50558F9397}"/>
                </a:ext>
              </a:extLst>
            </p:cNvPr>
            <p:cNvSpPr/>
            <p:nvPr/>
          </p:nvSpPr>
          <p:spPr>
            <a:xfrm>
              <a:off x="5492849" y="4096869"/>
              <a:ext cx="1045703" cy="1045756"/>
            </a:xfrm>
            <a:prstGeom prst="circularArrow">
              <a:avLst>
                <a:gd name="adj1" fmla="val 2789"/>
                <a:gd name="adj2" fmla="val 1142322"/>
                <a:gd name="adj3" fmla="val 4454320"/>
                <a:gd name="adj4" fmla="val 10800000"/>
                <a:gd name="adj5" fmla="val 7357"/>
              </a:avLst>
            </a:prstGeom>
            <a:solidFill>
              <a:srgbClr val="C65A11"/>
            </a:solidFill>
            <a:ln w="0"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DE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F1FC351-A162-1CE2-2625-5A26763F931E}"/>
                </a:ext>
              </a:extLst>
            </p:cNvPr>
            <p:cNvSpPr/>
            <p:nvPr/>
          </p:nvSpPr>
          <p:spPr>
            <a:xfrm>
              <a:off x="5723723" y="4473601"/>
              <a:ext cx="583561" cy="295666"/>
            </a:xfrm>
            <a:custGeom>
              <a:avLst/>
              <a:gdLst>
                <a:gd name="csX0" fmla="*/ 0 w 583561"/>
                <a:gd name="csY0" fmla="*/ 0 h 295666"/>
                <a:gd name="csX1" fmla="*/ 583561 w 583561"/>
                <a:gd name="csY1" fmla="*/ 0 h 295666"/>
                <a:gd name="csX2" fmla="*/ 583561 w 583561"/>
                <a:gd name="csY2" fmla="*/ 295666 h 295666"/>
                <a:gd name="csX3" fmla="*/ 0 w 583561"/>
                <a:gd name="csY3" fmla="*/ 295666 h 295666"/>
                <a:gd name="csX4" fmla="*/ 0 w 583561"/>
                <a:gd name="csY4" fmla="*/ 0 h 295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3561" h="295666">
                  <a:moveTo>
                    <a:pt x="0" y="0"/>
                  </a:moveTo>
                  <a:lnTo>
                    <a:pt x="583561" y="0"/>
                  </a:lnTo>
                  <a:lnTo>
                    <a:pt x="583561" y="295666"/>
                  </a:lnTo>
                  <a:lnTo>
                    <a:pt x="0" y="295666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620" tIns="7620" rIns="7620" bIns="7620" numCol="1" spcCol="1270" anchor="ctr" anchorCtr="0">
              <a:noAutofit/>
            </a:bodyPr>
            <a:lstStyle/>
            <a:p>
              <a:pPr marL="0" lvl="0" indent="0" algn="ctr" defTabSz="51117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</a:pPr>
              <a:r>
                <a:rPr kumimoji="0" lang="en-US" sz="11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Entwurf</a:t>
              </a:r>
              <a:r>
                <a:rPr kumimoji="0" lang="en-US" sz="1150" b="0" i="0" u="none" strike="noStrike" kern="1200" cap="none" spc="0" normalizeH="0" baseline="0" noProof="0" dirty="0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</a:t>
              </a:r>
              <a:endParaRPr lang="en-GB" sz="1150" kern="1200" dirty="0"/>
            </a:p>
          </p:txBody>
        </p:sp>
        <p:sp>
          <p:nvSpPr>
            <p:cNvPr id="23" name="Shape 22">
              <a:extLst>
                <a:ext uri="{FF2B5EF4-FFF2-40B4-BE49-F238E27FC236}">
                  <a16:creationId xmlns:a16="http://schemas.microsoft.com/office/drawing/2014/main" id="{49F3AF6E-AD82-1FE1-EC62-D5685F5D75DD}"/>
                </a:ext>
              </a:extLst>
            </p:cNvPr>
            <p:cNvSpPr/>
            <p:nvPr/>
          </p:nvSpPr>
          <p:spPr>
            <a:xfrm>
              <a:off x="5202343" y="4697723"/>
              <a:ext cx="1045703" cy="1045756"/>
            </a:xfrm>
            <a:prstGeom prst="leftCircularArrow">
              <a:avLst>
                <a:gd name="adj1" fmla="val 2789"/>
                <a:gd name="adj2" fmla="val 1142322"/>
                <a:gd name="adj3" fmla="val 6345682"/>
                <a:gd name="adj4" fmla="val 19293191"/>
                <a:gd name="adj5" fmla="val 7553"/>
              </a:avLst>
            </a:prstGeom>
            <a:solidFill>
              <a:srgbClr val="C65A11"/>
            </a:solidFill>
            <a:ln w="0"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DE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33F88C3C-21DF-3455-F6F6-DACDF95A291A}"/>
                </a:ext>
              </a:extLst>
            </p:cNvPr>
            <p:cNvSpPr/>
            <p:nvPr/>
          </p:nvSpPr>
          <p:spPr>
            <a:xfrm>
              <a:off x="5432041" y="5077814"/>
              <a:ext cx="583561" cy="291650"/>
            </a:xfrm>
            <a:custGeom>
              <a:avLst/>
              <a:gdLst>
                <a:gd name="csX0" fmla="*/ 0 w 583561"/>
                <a:gd name="csY0" fmla="*/ 0 h 291650"/>
                <a:gd name="csX1" fmla="*/ 583561 w 583561"/>
                <a:gd name="csY1" fmla="*/ 0 h 291650"/>
                <a:gd name="csX2" fmla="*/ 583561 w 583561"/>
                <a:gd name="csY2" fmla="*/ 291650 h 291650"/>
                <a:gd name="csX3" fmla="*/ 0 w 583561"/>
                <a:gd name="csY3" fmla="*/ 291650 h 291650"/>
                <a:gd name="csX4" fmla="*/ 0 w 583561"/>
                <a:gd name="csY4" fmla="*/ 0 h 291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3561" h="291650">
                  <a:moveTo>
                    <a:pt x="0" y="0"/>
                  </a:moveTo>
                  <a:lnTo>
                    <a:pt x="583561" y="0"/>
                  </a:lnTo>
                  <a:lnTo>
                    <a:pt x="583561" y="291650"/>
                  </a:lnTo>
                  <a:lnTo>
                    <a:pt x="0" y="29165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175" tIns="3175" rIns="3175" bIns="3175" numCol="1" spcCol="1270" anchor="ctr" anchorCtr="0">
              <a:noAutofit/>
            </a:bodyPr>
            <a:lstStyle/>
            <a:p>
              <a:pPr marL="0" lvl="0" indent="0"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kumimoji="0" lang="en-US" sz="1150" b="0" i="0" u="none" strike="noStrike" kern="1200" cap="none" spc="0" normalizeH="0" baseline="0" noProof="0" dirty="0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Review</a:t>
              </a:r>
            </a:p>
          </p:txBody>
        </p:sp>
        <p:sp>
          <p:nvSpPr>
            <p:cNvPr id="33" name="Circular Arrow 32">
              <a:extLst>
                <a:ext uri="{FF2B5EF4-FFF2-40B4-BE49-F238E27FC236}">
                  <a16:creationId xmlns:a16="http://schemas.microsoft.com/office/drawing/2014/main" id="{A977E975-4F81-3CC4-5C42-653FD75B1708}"/>
                </a:ext>
              </a:extLst>
            </p:cNvPr>
            <p:cNvSpPr/>
            <p:nvPr/>
          </p:nvSpPr>
          <p:spPr>
            <a:xfrm>
              <a:off x="5492849" y="5301277"/>
              <a:ext cx="1045703" cy="1045756"/>
            </a:xfrm>
            <a:prstGeom prst="circularArrow">
              <a:avLst>
                <a:gd name="adj1" fmla="val 2451"/>
                <a:gd name="adj2" fmla="val 1142322"/>
                <a:gd name="adj3" fmla="val 4381270"/>
                <a:gd name="adj4" fmla="val 13500000"/>
                <a:gd name="adj5" fmla="val 8598"/>
              </a:avLst>
            </a:prstGeom>
            <a:solidFill>
              <a:srgbClr val="C65A11"/>
            </a:solidFill>
            <a:ln w="0"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4F0C57EC-56A2-E910-2718-6415E887C44A}"/>
                </a:ext>
              </a:extLst>
            </p:cNvPr>
            <p:cNvSpPr/>
            <p:nvPr/>
          </p:nvSpPr>
          <p:spPr>
            <a:xfrm>
              <a:off x="5723723" y="5679680"/>
              <a:ext cx="583561" cy="291650"/>
            </a:xfrm>
            <a:custGeom>
              <a:avLst/>
              <a:gdLst>
                <a:gd name="csX0" fmla="*/ 0 w 583561"/>
                <a:gd name="csY0" fmla="*/ 0 h 291650"/>
                <a:gd name="csX1" fmla="*/ 583561 w 583561"/>
                <a:gd name="csY1" fmla="*/ 0 h 291650"/>
                <a:gd name="csX2" fmla="*/ 583561 w 583561"/>
                <a:gd name="csY2" fmla="*/ 291650 h 291650"/>
                <a:gd name="csX3" fmla="*/ 0 w 583561"/>
                <a:gd name="csY3" fmla="*/ 291650 h 291650"/>
                <a:gd name="csX4" fmla="*/ 0 w 583561"/>
                <a:gd name="csY4" fmla="*/ 0 h 291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3561" h="291650">
                  <a:moveTo>
                    <a:pt x="0" y="0"/>
                  </a:moveTo>
                  <a:lnTo>
                    <a:pt x="583561" y="0"/>
                  </a:lnTo>
                  <a:lnTo>
                    <a:pt x="583561" y="291650"/>
                  </a:lnTo>
                  <a:lnTo>
                    <a:pt x="0" y="29165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175" tIns="3175" rIns="3175" bIns="3175" numCol="1" spcCol="1270" anchor="ctr" anchorCtr="0">
              <a:noAutofit/>
            </a:bodyPr>
            <a:lstStyle/>
            <a:p>
              <a:pPr marL="0" lvl="0" indent="0"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kumimoji="0" lang="en-US" sz="1150" b="0" i="0" u="none" strike="noStrike" kern="1200" cap="none" spc="0" normalizeH="0" baseline="0" noProof="0" dirty="0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Abstimmung</a:t>
              </a:r>
              <a:r>
                <a:rPr kumimoji="0" lang="en-US" sz="500" b="0" i="0" u="none" strike="noStrike" kern="1200" cap="none" spc="0" normalizeH="0" baseline="0" noProof="0" dirty="0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</a:t>
              </a:r>
            </a:p>
          </p:txBody>
        </p:sp>
        <p:sp>
          <p:nvSpPr>
            <p:cNvPr id="35" name="Shape 34">
              <a:extLst>
                <a:ext uri="{FF2B5EF4-FFF2-40B4-BE49-F238E27FC236}">
                  <a16:creationId xmlns:a16="http://schemas.microsoft.com/office/drawing/2014/main" id="{57C67BEC-858B-E7E9-1DF2-D8E9CDFFA722}"/>
                </a:ext>
              </a:extLst>
            </p:cNvPr>
            <p:cNvSpPr/>
            <p:nvPr/>
          </p:nvSpPr>
          <p:spPr>
            <a:xfrm>
              <a:off x="5202343" y="5903144"/>
              <a:ext cx="1045703" cy="1045756"/>
            </a:xfrm>
            <a:prstGeom prst="leftCircularArrow">
              <a:avLst>
                <a:gd name="adj1" fmla="val 2229"/>
                <a:gd name="adj2" fmla="val 1142322"/>
                <a:gd name="adj3" fmla="val 6381172"/>
                <a:gd name="adj4" fmla="val 18900000"/>
                <a:gd name="adj5" fmla="val 10745"/>
              </a:avLst>
            </a:prstGeom>
            <a:solidFill>
              <a:srgbClr val="C65A11"/>
            </a:solidFill>
            <a:ln w="0"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9B403364-AB09-19AC-11E3-EBAC6FA70182}"/>
                </a:ext>
              </a:extLst>
            </p:cNvPr>
            <p:cNvSpPr/>
            <p:nvPr/>
          </p:nvSpPr>
          <p:spPr>
            <a:xfrm>
              <a:off x="5432041" y="6281885"/>
              <a:ext cx="583561" cy="291650"/>
            </a:xfrm>
            <a:custGeom>
              <a:avLst/>
              <a:gdLst>
                <a:gd name="csX0" fmla="*/ 0 w 583561"/>
                <a:gd name="csY0" fmla="*/ 0 h 291650"/>
                <a:gd name="csX1" fmla="*/ 583561 w 583561"/>
                <a:gd name="csY1" fmla="*/ 0 h 291650"/>
                <a:gd name="csX2" fmla="*/ 583561 w 583561"/>
                <a:gd name="csY2" fmla="*/ 291650 h 291650"/>
                <a:gd name="csX3" fmla="*/ 0 w 583561"/>
                <a:gd name="csY3" fmla="*/ 291650 h 291650"/>
                <a:gd name="csX4" fmla="*/ 0 w 583561"/>
                <a:gd name="csY4" fmla="*/ 0 h 291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3561" h="291650">
                  <a:moveTo>
                    <a:pt x="0" y="0"/>
                  </a:moveTo>
                  <a:lnTo>
                    <a:pt x="583561" y="0"/>
                  </a:lnTo>
                  <a:lnTo>
                    <a:pt x="583561" y="291650"/>
                  </a:lnTo>
                  <a:lnTo>
                    <a:pt x="0" y="29165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175" tIns="3175" rIns="3175" bIns="3175" numCol="1" spcCol="1270" anchor="ctr" anchorCtr="0">
              <a:noAutofit/>
            </a:bodyPr>
            <a:lstStyle/>
            <a:p>
              <a:pPr marL="0" lvl="0" indent="0"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kumimoji="0" lang="en-US" sz="1150" b="0" i="0" u="none" strike="noStrike" kern="1200" cap="none" spc="0" normalizeH="0" baseline="0" noProof="0" dirty="0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Pull Request </a:t>
              </a:r>
              <a:r>
                <a:rPr kumimoji="0" lang="en-US" sz="11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mit</a:t>
              </a:r>
              <a:r>
                <a:rPr kumimoji="0" lang="en-US" sz="1150" b="0" i="0" u="none" strike="noStrike" kern="1200" cap="none" spc="0" normalizeH="0" baseline="0" noProof="0" dirty="0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Review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7" name="Block Arc 36">
              <a:extLst>
                <a:ext uri="{FF2B5EF4-FFF2-40B4-BE49-F238E27FC236}">
                  <a16:creationId xmlns:a16="http://schemas.microsoft.com/office/drawing/2014/main" id="{B51D884D-9FD1-7CCB-01C7-A7BE71BA9988}"/>
                </a:ext>
              </a:extLst>
            </p:cNvPr>
            <p:cNvSpPr/>
            <p:nvPr/>
          </p:nvSpPr>
          <p:spPr>
            <a:xfrm>
              <a:off x="5567191" y="6573535"/>
              <a:ext cx="898391" cy="898918"/>
            </a:xfrm>
            <a:prstGeom prst="blockArc">
              <a:avLst>
                <a:gd name="adj1" fmla="val 13370330"/>
                <a:gd name="adj2" fmla="val 10800000"/>
                <a:gd name="adj3" fmla="val 12740"/>
              </a:avLst>
            </a:prstGeom>
            <a:solidFill>
              <a:srgbClr val="C65A1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6702BF52-F988-38A6-76AC-44CF058DC8BB}"/>
                </a:ext>
              </a:extLst>
            </p:cNvPr>
            <p:cNvSpPr/>
            <p:nvPr/>
          </p:nvSpPr>
          <p:spPr>
            <a:xfrm>
              <a:off x="5723723" y="6884089"/>
              <a:ext cx="583561" cy="291650"/>
            </a:xfrm>
            <a:custGeom>
              <a:avLst/>
              <a:gdLst>
                <a:gd name="csX0" fmla="*/ 0 w 583561"/>
                <a:gd name="csY0" fmla="*/ 0 h 291650"/>
                <a:gd name="csX1" fmla="*/ 583561 w 583561"/>
                <a:gd name="csY1" fmla="*/ 0 h 291650"/>
                <a:gd name="csX2" fmla="*/ 583561 w 583561"/>
                <a:gd name="csY2" fmla="*/ 291650 h 291650"/>
                <a:gd name="csX3" fmla="*/ 0 w 583561"/>
                <a:gd name="csY3" fmla="*/ 291650 h 291650"/>
                <a:gd name="csX4" fmla="*/ 0 w 583561"/>
                <a:gd name="csY4" fmla="*/ 0 h 291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83561" h="291650">
                  <a:moveTo>
                    <a:pt x="0" y="0"/>
                  </a:moveTo>
                  <a:lnTo>
                    <a:pt x="583561" y="0"/>
                  </a:lnTo>
                  <a:lnTo>
                    <a:pt x="583561" y="291650"/>
                  </a:lnTo>
                  <a:lnTo>
                    <a:pt x="0" y="29165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3175" tIns="3175" rIns="3175" bIns="3175" numCol="1" spcCol="1270" anchor="ctr" anchorCtr="0">
              <a:noAutofit/>
            </a:bodyPr>
            <a:lstStyle/>
            <a:p>
              <a:pPr marL="0" lvl="0" indent="0" algn="ctr" defTabSz="222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kumimoji="0" lang="en-US" sz="500" b="0" i="0" u="none" strike="noStrike" kern="1200" cap="none" spc="0" normalizeH="0" baseline="0" noProof="0" dirty="0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 </a:t>
              </a:r>
              <a:r>
                <a:rPr kumimoji="0" lang="en-US" sz="11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B2430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Entscheidungslog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9" name="Text 6">
            <a:extLst>
              <a:ext uri="{FF2B5EF4-FFF2-40B4-BE49-F238E27FC236}">
                <a16:creationId xmlns:a16="http://schemas.microsoft.com/office/drawing/2014/main" id="{A6A1168F-654D-11F8-4D91-E84C31E62200}"/>
              </a:ext>
            </a:extLst>
          </p:cNvPr>
          <p:cNvSpPr txBox="1"/>
          <p:nvPr/>
        </p:nvSpPr>
        <p:spPr>
          <a:xfrm>
            <a:off x="3347741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Prozessanalyse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5" name="Down Arrow 44">
            <a:extLst>
              <a:ext uri="{FF2B5EF4-FFF2-40B4-BE49-F238E27FC236}">
                <a16:creationId xmlns:a16="http://schemas.microsoft.com/office/drawing/2014/main" id="{4BBBE87F-A70C-F555-3910-800950D0BB76}"/>
              </a:ext>
            </a:extLst>
          </p:cNvPr>
          <p:cNvSpPr/>
          <p:nvPr/>
        </p:nvSpPr>
        <p:spPr>
          <a:xfrm>
            <a:off x="6053328" y="2726421"/>
            <a:ext cx="45719" cy="1152000"/>
          </a:xfrm>
          <a:prstGeom prst="downArrow">
            <a:avLst/>
          </a:prstGeom>
          <a:solidFill>
            <a:srgbClr val="C6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riangle 45">
            <a:extLst>
              <a:ext uri="{FF2B5EF4-FFF2-40B4-BE49-F238E27FC236}">
                <a16:creationId xmlns:a16="http://schemas.microsoft.com/office/drawing/2014/main" id="{C6E837AC-AC21-E082-56C8-A0ACEDE18382}"/>
              </a:ext>
            </a:extLst>
          </p:cNvPr>
          <p:cNvSpPr/>
          <p:nvPr/>
        </p:nvSpPr>
        <p:spPr>
          <a:xfrm rot="10643287">
            <a:off x="6047271" y="3844517"/>
            <a:ext cx="63291" cy="59030"/>
          </a:xfrm>
          <a:prstGeom prst="triangle">
            <a:avLst/>
          </a:prstGeom>
          <a:solidFill>
            <a:srgbClr val="C6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20583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Abo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1134177" y="2271884"/>
            <a:ext cx="17092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Basis und Pro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482457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44128" y="2271884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Unabhängige Werkstätten und </a:t>
            </a:r>
            <a:r>
              <a:rPr lang="en-US" sz="11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kleine</a:t>
            </a: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Ketten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57200" y="2993549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Ausblick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57200" y="344082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</a:t>
            </a:r>
            <a:r>
              <a:rPr lang="en-US" sz="1400" b="1" dirty="0" err="1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gestütze</a:t>
            </a: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57200" y="383907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Bedarfsprognose je Filiale und Saison, damit Teile vor der Nachfrage im Lager liegen.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3429000" y="344082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Techniker-Copilot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3429000" y="383907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Schritt-für-Schritt-</a:t>
            </a:r>
            <a:r>
              <a:rPr lang="en-US" sz="105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Empfehlung</a:t>
            </a: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Aufwand aus der Historie ähnlicher Aufträge vorschlagen.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288941" y="344082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Digitale Geräteakte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6288941" y="383907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Gerät behält seine Reparaturgeschichte über alle Filialen und Besitzer.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Geld mit einfarbiger Füllung">
            <a:extLst>
              <a:ext uri="{FF2B5EF4-FFF2-40B4-BE49-F238E27FC236}">
                <a16:creationId xmlns:a16="http://schemas.microsoft.com/office/drawing/2014/main" id="{642898C4-E097-D67C-490C-E84451008C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5"/>
            <a:ext cx="914400" cy="914400"/>
          </a:xfrm>
          <a:prstGeom prst="rect">
            <a:avLst/>
          </a:prstGeom>
        </p:spPr>
      </p:pic>
      <p:pic>
        <p:nvPicPr>
          <p:cNvPr id="32" name="Grafik 31" descr="Laden mit einfarbiger Füllung">
            <a:extLst>
              <a:ext uri="{FF2B5EF4-FFF2-40B4-BE49-F238E27FC236}">
                <a16:creationId xmlns:a16="http://schemas.microsoft.com/office/drawing/2014/main" id="{7E835EF6-A092-A989-138F-B59E682C2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90" y="99598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DAE9F36-83AC-9A26-DFEF-6E0099E320FA}"/>
              </a:ext>
            </a:extLst>
          </p:cNvPr>
          <p:cNvSpPr txBox="1"/>
          <p:nvPr/>
        </p:nvSpPr>
        <p:spPr>
          <a:xfrm>
            <a:off x="352927" y="1379621"/>
            <a:ext cx="4178968" cy="1607415"/>
          </a:xfrm>
          <a:prstGeom prst="rect">
            <a:avLst/>
          </a:prstGeom>
          <a:solidFill>
            <a:srgbClr val="D0E3E4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E49841-DCDB-19FD-29F8-8133C3B12D6A}"/>
              </a:ext>
            </a:extLst>
          </p:cNvPr>
          <p:cNvSpPr txBox="1"/>
          <p:nvPr/>
        </p:nvSpPr>
        <p:spPr>
          <a:xfrm>
            <a:off x="4658627" y="1379621"/>
            <a:ext cx="4178968" cy="1607415"/>
          </a:xfrm>
          <a:prstGeom prst="rect">
            <a:avLst/>
          </a:prstGeom>
          <a:solidFill>
            <a:srgbClr val="D0E3E4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en-DE" dirty="0"/>
          </a:p>
        </p:txBody>
      </p:sp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3975231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3E3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Frag</a:t>
            </a:r>
            <a:r>
              <a:rPr lang="en-US" sz="2200" dirty="0">
                <a:solidFill>
                  <a:srgbClr val="D0E3E4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</a:t>
            </a:r>
            <a:r>
              <a:rPr lang="en-US" sz="2200" dirty="0">
                <a:solidFill>
                  <a:srgbClr val="CFE3E3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?</a:t>
            </a:r>
            <a:endParaRPr lang="en-US" sz="2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548640" y="4523871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Gruppe 1 · WWI25B4 · </a:t>
            </a:r>
            <a:r>
              <a:rPr lang="en-US" sz="1200" dirty="0" err="1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2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007F1B65-7970-A249-925F-4FA6D8429FC7}"/>
              </a:ext>
            </a:extLst>
          </p:cNvPr>
          <p:cNvSpPr txBox="1"/>
          <p:nvPr/>
        </p:nvSpPr>
        <p:spPr>
          <a:xfrm>
            <a:off x="4807819" y="2528232"/>
            <a:ext cx="3774708" cy="458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DE" dirty="0">
                <a:solidFill>
                  <a:schemeClr val="bg1"/>
                </a:solidFill>
              </a:rPr>
              <a:t>Disposition + KI-Sofortdiagnose als Kern</a:t>
            </a:r>
          </a:p>
          <a:p>
            <a:endParaRPr lang="en-DE" dirty="0">
              <a:solidFill>
                <a:schemeClr val="bg1"/>
              </a:solidFill>
            </a:endParaRPr>
          </a:p>
          <a:p>
            <a:endParaRPr lang="en-DE" dirty="0"/>
          </a:p>
        </p:txBody>
      </p:sp>
      <p:sp>
        <p:nvSpPr>
          <p:cNvPr id="6" name="Text 3"/>
          <p:cNvSpPr txBox="1"/>
          <p:nvPr/>
        </p:nvSpPr>
        <p:spPr>
          <a:xfrm>
            <a:off x="444367" y="2528232"/>
            <a:ext cx="4215865" cy="458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DE" dirty="0">
                <a:solidFill>
                  <a:schemeClr val="bg1"/>
                </a:solidFill>
              </a:rPr>
              <a:t>Medienbruch → digitaler Zustandsautomat</a:t>
            </a:r>
          </a:p>
          <a:p>
            <a:endParaRPr lang="en-DE" dirty="0">
              <a:solidFill>
                <a:schemeClr val="bg1"/>
              </a:solidFill>
            </a:endParaRPr>
          </a:p>
          <a:p>
            <a:endParaRPr lang="en-DE" dirty="0"/>
          </a:p>
        </p:txBody>
      </p:sp>
      <p:pic>
        <p:nvPicPr>
          <p:cNvPr id="4" name="Grafik 30" descr="Smartphone mit einfarbiger Füllung">
            <a:extLst>
              <a:ext uri="{FF2B5EF4-FFF2-40B4-BE49-F238E27FC236}">
                <a16:creationId xmlns:a16="http://schemas.microsoft.com/office/drawing/2014/main" id="{36B0525E-5102-41BA-C2F6-A669257DF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099" y="1615436"/>
            <a:ext cx="821356" cy="821356"/>
          </a:xfrm>
          <a:prstGeom prst="rect">
            <a:avLst/>
          </a:prstGeom>
        </p:spPr>
      </p:pic>
      <p:pic>
        <p:nvPicPr>
          <p:cNvPr id="5" name="Grafik 40" descr="Künstliche Intelligenz mit einfarbiger Füllung">
            <a:extLst>
              <a:ext uri="{FF2B5EF4-FFF2-40B4-BE49-F238E27FC236}">
                <a16:creationId xmlns:a16="http://schemas.microsoft.com/office/drawing/2014/main" id="{9F4723C5-26F7-16F8-B106-A411DB4698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5" y="1615436"/>
            <a:ext cx="821355" cy="8213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668167"/>
              </p:ext>
            </p:extLst>
          </p:nvPr>
        </p:nvGraphicFramePr>
        <p:xfrm>
          <a:off x="457200" y="1244376"/>
          <a:ext cx="8229600" cy="3200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16–18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Vorgehen und Projektmanagement, Geschäftsmodell und Ausblick, Fazit, Moderation der Fragerunde; Projektleitung, Redaktion der Dokumentation, Abgabe-Archiv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Problem, Lösung, Nutzenversprechen; Use-Case-Diagramm und Sequenzdiagramme SD5 und SD6 in Visual Paradigm, stellvertretende Projektleitung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Ergebnisse in Zahlen, Prozesslandkarte; Product Owner, Fachkonzept und Entscheidungslog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Prozess-Highlights, Live-Demo, KI-Sofortdiagnose; BPMN-Modellierung der zehn Prozesse im Camunda Modeler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 12–13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Auftragsreise, Rollen und Use Cases, Datenmodell; Klassendiagramm, SD1 bis SD4 und VP-Projekt, Scrum Master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Qualität, Herausforderungen und Lernerfahrungen; Qualitätssicherung, Reviews und Konsistenz der Modelle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F066B39A-F881-C371-A34D-09F0A6E891EC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1831</Words>
  <Application>Microsoft Macintosh PowerPoint</Application>
  <PresentationFormat>On-screen Show (16:9)</PresentationFormat>
  <Paragraphs>349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Sattler, Nina</cp:lastModifiedBy>
  <cp:revision>14</cp:revision>
  <dcterms:created xsi:type="dcterms:W3CDTF">2026-10-15T07:59:30Z</dcterms:created>
  <dcterms:modified xsi:type="dcterms:W3CDTF">2026-10-24T12:26:51Z</dcterms:modified>
</cp:coreProperties>
</file>