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4.svg" ContentType="image/svg+xml"/>
  <Override PartName="/ppt/media/image2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4.svg" ContentType="image/svg+xml"/>
  <Override PartName="/ppt/media/image5.svg" ContentType="image/svg+xml"/>
  <Override PartName="/ppt/media/image50.svg" ContentType="image/svg+xml"/>
  <Override PartName="/ppt/media/image51.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79" r:id="rId3"/>
    <p:sldId id="258" r:id="rId4"/>
    <p:sldId id="259" r:id="rId5"/>
    <p:sldId id="274" r:id="rId6"/>
    <p:sldId id="276" r:id="rId7"/>
    <p:sldId id="265" r:id="rId8"/>
    <p:sldId id="280" r:id="rId9"/>
    <p:sldId id="262" r:id="rId10"/>
    <p:sldId id="263" r:id="rId11"/>
    <p:sldId id="264" r:id="rId12"/>
    <p:sldId id="266" r:id="rId13"/>
    <p:sldId id="267" r:id="rId14"/>
    <p:sldId id="269" r:id="rId15"/>
    <p:sldId id="270" r:id="rId16"/>
    <p:sldId id="268" r:id="rId17"/>
    <p:sldId id="271" r:id="rId18"/>
    <p:sldId id="272" r:id="rId19"/>
    <p:sldId id="273"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256"/>
            <p14:sldId id="279"/>
            <p14:sldId id="258"/>
            <p14:sldId id="259"/>
          </p14:sldIdLst>
        </p14:section>
        <p14:section name="Kilian" id="{1139A1D9-944E-3441-9BD8-35E9CEF6D225}">
          <p14:sldIdLst>
            <p14:sldId id="274"/>
          </p14:sldIdLst>
        </p14:section>
        <p14:section name="Maximilian" id="{0B64C47C-C681-8643-8A72-028DC518B57D}">
          <p14:sldIdLst>
            <p14:sldId id="276"/>
            <p14:sldId id="265"/>
            <p14:sldId id="280"/>
            <p14:sldId id="262"/>
          </p14:sldIdLst>
        </p14:section>
        <p14:section name="Adrian" id="{C59C4432-FF7E-A14B-8A5D-46FD719FCE68}">
          <p14:sldIdLst>
            <p14:sldId id="263"/>
            <p14:sldId id="264"/>
          </p14:sldIdLst>
        </p14:section>
        <p14:section name="Kilian" id="{2F11BAA1-0B73-6D4F-B882-B2353546D24B}">
          <p14:sldIdLst>
            <p14:sldId id="266"/>
            <p14:sldId id="267"/>
          </p14:sldIdLst>
        </p14:section>
        <p14:section name="Jakob" id="{7DC776A1-7D7D-F548-992F-CA5AB6B455F2}">
          <p14:sldIdLst>
            <p14:sldId id="269"/>
            <p14:sldId id="270"/>
          </p14:sldIdLst>
        </p14:section>
        <p14:section name="Nina" id="{0D502D7A-3C1B-1F4A-BB67-E47EF2FFD626}">
          <p14:sldIdLst>
            <p14:sldId id="268"/>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534"/>
    <p:restoredTop sz="94610"/>
  </p:normalViewPr>
  <p:slideViewPr>
    <p:cSldViewPr snapToGrid="0" snapToObjects="1">
      <p:cViewPr>
        <p:scale>
          <a:sx n="179" d="100"/>
          <a:sy n="179" d="100"/>
        </p:scale>
        <p:origin x="256"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Guten Morgen zusammen. Wir sind Gruppe 1 und stellen Ihnen RepairFlow vor: eine Plattform, mit der Reparaturwerkstätten ihre Aufträge, Ersatzteile und Kunden an einer Stelle steuern. David beginnt mit dem Problem und unserer Lösung, Kilian und Maximilian zeigen, wie ein Auftrag durch RepairFlow läuft. Danach stellen Adrian, Kilian und Jakob vor, was wir dafür modelliert haben, und ich schließe mit Vorgehen,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(40 s)</a:t>
            </a:r>
          </a:p>
          <a:p/>
          <a:p>
            <a:r>
              <a:t>Unsere Präsentation hat zwei Hälften. In der ersten erzählen wir RepairFlow so, wie wir es einer Werkstatt vorstellen würden: Problem, Lösung, Nutzen, die Reparatur aus Kundensicht mit drei Prozess-Highlights und unser Alleinstellungsmerkmal, die KI-Sofortdiagnose, mit einer kurzen Demo der Kunden-App. In der zweiten Hälfte zeigen wir, was dahintersteckt: zehn Geschäftsprozesse, Rollen und Use Cases, das Datenmodell, die Qualitätssicherung und unser Vorgehen.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(75 s)</a:t>
            </a:r>
          </a:p>
          <a:p/>
          <a:p>
            <a:r>
              <a:t>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David (65 s)</a:t>
            </a:r>
          </a:p>
          <a:p/>
          <a:p>
            <a:r>
              <a:t>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Die physische Reparatur, die Lieferantensysteme und die Buchhaltung bleiben außerhalb; dorthin gibt es nur Schnittstellen.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t>Vortragende(r): Kilian (65 s)</a:t>
            </a:r>
          </a:p>
          <a:p/>
          <a:p>
            <a:r>
              <a:t>So sieht eine Reparatur mit RepairFlow aus.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Welche Abläufe dahinterstecken, zeigt Maximilian an drei Beispielen.</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(80 s)</a:t>
            </a:r>
          </a:p>
          <a:p/>
          <a:p>
            <a:r>
              <a:t>Hinter jedem dieser Schritte steht ein Geschäftsprozess.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Wie sich das für den Kunden anfühlt, zeige ich Ihnen jetzt in der App.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Maximilian (70 s)</a:t>
            </a:r>
          </a:p>
          <a:p/>
          <a:p>
            <a:r>
              <a:t>Was Sie gerade in der App gesehen haben, ist unser Alleinstellungsmerkmal, die KI-Sofortdiagnose.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Die Medien werden nur mit Einwilligung verarbeitet und nach Abschluss gelöscht. Was hinter all dem steckt, zeigt Adrian.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(50 s)</a:t>
            </a:r>
          </a:p>
          <a:p/>
          <a:p>
            <a:r>
              <a:t>Damit zur zweiten Hälfte: Was steckt hinter dieser Geschichte? Wir haben drei Modelle erstellt, die zusammenpassen. Zehn BPMN-Kollaborationsdiagramme mit 133 Aktivitäten im Werkstatt-Pool, dazu die Abläufe des Kunden. Ein Use-Case-Diagramm mit 19 Use Cases und 17 Rollen und Akteuren. Ein vollständiges Klassendiagramm mit 29 Klassen und 40 Assoziationen. Sechs Sequenzdiagramme, gefordert waren fünf, dazu ein Zustandsdiagramm für den Reparaturauftrag. Alle Modelle liegen im Camunda Modeler und in Visual Paradigm und werden mit der Dokumentation abgegeben.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Adrian (60 s)</a:t>
            </a:r>
          </a:p>
          <a:p/>
          <a:p>
            <a:r>
              <a:t>Die zehn Prozesse decken den gesamten Lebenszyklus ab. Prozesse 01 bis 08 sind die durchgehende Auftragsreise, 09 und 10 die Folgeprozesse Reklamation und Retoure; drei Highlights daraus hat Maximilian schon gezeigt.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Prüfungen, Berechnungen und Regeln. Was Handwerk ist, bleibt Handwerk: Diagnose, Reparatur und Endkontrolle macht der Techniker mit Unterstützung durch das System. Wer im System welche Aufgaben hat, zeigt Kilian.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(70 s)</a:t>
            </a:r>
          </a:p>
          <a:p/>
          <a:p>
            <a:r>
              <a:t>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Diagnoseprüfer, Diagnostiker, Kalkulator, Reparateur und Endkontrolleur. Welche Person welche Rolle ausfüllt, regelt die Werkstatt selbst; im Datenmodell sind die Rollen den Mitarbeitertypen zugeordnet. Dazu kommen der Kunde und der KI-Diagnosedienst als externes System. Der Lieferant ist bewusst kein Akteur: Er hat keinen Zugang zu RepairFlow und bleibt eine Black Box.</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Kilian (100 s)</a:t>
            </a:r>
          </a:p>
          <a:p/>
          <a:p>
            <a:r>
              <a:t>Das Klassendiagramm ist ein einziges, vollständiges Modell mit 29 Klassen. Fünf Entscheidungen prägen es. Erstens: Der Reparaturauftrag ist die Aggregatwurzel. Befund und Reparaturschritte sind Kompositionen, Kostenvoranschlag und Gerät nur zugeordnet, weil der Vorab-KVA schon vor dem Auftrag entsteht. Zweitens: Der Lagerbestand ist eine eigene Klasse zwischen Ersatzteil und Filiale; nur so lässt sich die Verfügbarkeit über alle Filialen prüfen. Drittens: Die Reservierung ist eine eigene Klasse mit Lebenszyklus. Viertens: Der Werkstattbetrieb ist Mandant und Sammelstelle. Er kennt alle Aufträge, Bestellungen und Reklamationen und findet sie über ihre Nummer. Die Mitarbeiter sind nach Typ spezialisiert, passend zu Lanes und Rollen, und arbeiten wie der Kunde nie direkt mit den Fachobjekten, sondern über zwei Oberflächenklassen, die Werkstattoberfläche und die KundenApp. Fünftens: Voranmeldung, Medienanhang und KI-Diagnosevorschlag tragen die Sofortdiagnose. Ein Beispiel aus den Sequenzdiagrammen ist SD4, die Fertigmeldung: Der Endkontrolleur gibt die Auftragsnummer ein, die Werkstattoberfläche sucht den Auftrag und arbeitet mit diesem Objekt; nach jeder Nacharbeit sucht sie ihn neu. Besteht er auch nach der zweiten Nacharbeit die Endkontrolle nicht, ruft sie wechsleStatus mit dem Wert ABGELEHNT auf, genau die Operation, die der Reparaturauftrag im Klassendiagramm anbietet.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Drei Modelle, die sich auf dieselben Dinge beziehen, laufen schnell auseinander. Dagegen hatten wir drei Mittel. Erstens Konventionen: Datenobjekte in BPMN tragen die Klassennamen, Aktivitäten heißen Verb plus Objekt, jede Rolle ist genau einer Lane und einer Klasse zugeordnet, die Statuswerte sind in allen Modellen identisch, und in jedem Sequenzdiagramm geht der Weg vom Akteur über die Oberfläche zum Objekt. Zweitens Werkzeuge: Die BPMN-Dateien sind für Camunda 8 angereichert, mit Task-Definitionen, Timern und Bedingungen; der Camunda-Linter und bpmnlint melden null Befunde. Drittens Prüfrunden: Jedes Diagramm wurde im Zweierteam geprüft, und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Jakob (65 s)</a:t>
            </a:r>
          </a:p>
          <a:p/>
          <a:p>
            <a:r>
              <a:t>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Gelernt haben wir, dass Konsistenz keine Prüfung am Ende ist, sondern eine Regel bei jeder Änderung, und dass klare Hinweise von außen, etwa zum Use-Case-Diagramm und zu den Oberflächen in den Sequenzdiagrammen, ein Modell deutlich besser machen. Wie wir zusammengearbeitet haben, zeigt Nina.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(65 s)</a:t>
            </a:r>
          </a:p>
          <a:p/>
          <a:p>
            <a:r>
              <a:t>Gearbeitet haben wir in Sprints im Takt der vier Gruppentermine, mit Review, Retrospektive und Planning je Termin. Ich habe die Projektleitung, David die Stellvertretung und die Sicherungen, Adrian ist Product Owner, Kilian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Entscheidungen, die mehrere betreffen, stehen mit Begründung und Datum im Entscheidungslog; so konnten wir bei jeder Korrektur nachvollziehen, warum ein Modell so aussieht.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38043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(60 s)</a:t>
            </a:r>
          </a:p>
          <a:p/>
          <a:p>
            <a:r>
              <a:t>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also genau die Betriebe mit den vier Problemen vom Anfang. Der Ausblick geht in drei Richtungen: Predictive Disposition, also eine Bedarfsprognose je Filiale und Saison.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Vortragende(r): Nina (30 s)</a:t>
            </a:r>
          </a:p>
          <a:p/>
          <a:p>
            <a:r>
              <a:t>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David (55 s)</a:t>
            </a:r>
          </a:p>
          <a:p/>
          <a:p>
            <a:r>
              <a:t>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Drittens: Der Kunde bekommt Klarheit, bevor er die Werkstatt betritt, mit Diagnosevorschlag, vorläufigem Kostenvoranschlag und Termin. Für die Werkstatt heißt das weniger Telefon, weniger Standzeit im Lager und eine Auslastung, die sie wirklich sieht. Wie das für einen einzelnen Auftrag aussieht, zeigt Kilian.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Vortragende(r): Maximilian (70 s)</a:t>
            </a:r>
          </a:p>
          <a:p/>
          <a:p>
            <a:r>
              <a:t>Wir starten mit der Sofortdiagnose aus Kundensicht. Der Kunde wählt sein Gerät, beschreibt das Problem und lädt ein Foto hoch; im Modell ist das die Voranmeldung mit dem Medienanhang. Der KI-Dienst antwortet mit Ursache, benötigten Teilen und einer Konfidenz, das ist der KIDiagnosevorschlag. RepairFlow rechnet daraus das Angebot, deutlich als vorläufig markiert, und schlägt Filiale und Termin vor. Bestätigt der Kunde, sind die Teile vorreserviert und die Voranmeldung steht. Der eigentliche Reparaturauftrag entsteht erst, wenn das Gerät in der Filiale abgegeben wird. Zum Schluss sieht der Kunde den Status seines Auftrags entlang derselben Zustände, die Kilian in der Auftragsreise gezeigt hat. Die KI-Antwort ist in der Demo simuliert; Ablauf und Begriffe sind genau die aus unseren Modellen.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svg"/><Relationship Id="rId4" Type="http://schemas.openxmlformats.org/officeDocument/2006/relationships/image" Target="../media/image3.svg"/><Relationship Id="rId5" Type="http://schemas.openxmlformats.org/officeDocument/2006/relationships/image" Target="../media/image4.svg"/><Relationship Id="rId6" Type="http://schemas.openxmlformats.org/officeDocument/2006/relationships/image" Target="../media/image5.svg"/><Relationship Id="rId7" Type="http://schemas.openxmlformats.org/officeDocument/2006/relationships/image" Target="../media/image6.svg"/><Relationship Id="rId8" Type="http://schemas.openxmlformats.org/officeDocument/2006/relationships/image" Target="../media/image7.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svg"/><Relationship Id="rId3" Type="http://schemas.openxmlformats.org/officeDocument/2006/relationships/image" Target="../media/image16.svg"/><Relationship Id="rId4" Type="http://schemas.openxmlformats.org/officeDocument/2006/relationships/image" Target="../media/image17.svg"/><Relationship Id="rId5" Type="http://schemas.openxmlformats.org/officeDocument/2006/relationships/notesSlide" Target="../notesSlides/notesSlide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8.svg"/><Relationship Id="rId4" Type="http://schemas.openxmlformats.org/officeDocument/2006/relationships/image" Target="../media/image19.svg"/><Relationship Id="rId5" Type="http://schemas.openxmlformats.org/officeDocument/2006/relationships/image" Target="../media/image20.svg"/><Relationship Id="rId6" Type="http://schemas.openxmlformats.org/officeDocument/2006/relationships/image" Target="../media/image21.svg"/><Relationship Id="rId7" Type="http://schemas.openxmlformats.org/officeDocument/2006/relationships/image" Target="../media/image22.svg"/><Relationship Id="rId8"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4.svg"/><Relationship Id="rId4" Type="http://schemas.openxmlformats.org/officeDocument/2006/relationships/image" Target="../media/image25.svg"/><Relationship Id="rId5" Type="http://schemas.openxmlformats.org/officeDocument/2006/relationships/image" Target="../media/image26.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7.svg"/><Relationship Id="rId4" Type="http://schemas.openxmlformats.org/officeDocument/2006/relationships/image" Target="../media/image28.svg"/><Relationship Id="rId5" Type="http://schemas.openxmlformats.org/officeDocument/2006/relationships/image" Target="../media/image29.svg"/><Relationship Id="rId6" Type="http://schemas.openxmlformats.org/officeDocument/2006/relationships/image" Target="../media/image30.svg"/><Relationship Id="rId7" Type="http://schemas.openxmlformats.org/officeDocument/2006/relationships/image" Target="../media/image31.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2.svg"/><Relationship Id="rId4" Type="http://schemas.openxmlformats.org/officeDocument/2006/relationships/image" Target="../media/image33.svg"/><Relationship Id="rId5" Type="http://schemas.openxmlformats.org/officeDocument/2006/relationships/image" Target="../media/image34.svg"/><Relationship Id="rId6" Type="http://schemas.openxmlformats.org/officeDocument/2006/relationships/image" Target="../media/image35.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9.png"/><Relationship Id="rId4" Type="http://schemas.openxmlformats.org/officeDocument/2006/relationships/image" Target="../media/image48.png"/><Relationship Id="rId5" Type="http://schemas.openxmlformats.org/officeDocument/2006/relationships/image" Target="../media/image4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50.svg"/><Relationship Id="rId4" Type="http://schemas.openxmlformats.org/officeDocument/2006/relationships/image" Target="../media/image5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1: der Pitch</a:t>
            </a:r>
            <a:endParaRPr lang="en-US" sz="1100" dirty="0">
              <a:solidFill>
                <a:schemeClr val="accent2">
                  <a:lumMod val="75000"/>
                </a:schemeClr>
              </a:solidFill>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p>
        </p:txBody>
      </p:sp>
      <p:sp>
        <p:nvSpPr>
          <p:cNvPr id="9" name="Text 6"/>
          <p:cNvSpPr txBox="1"/>
          <p:nvPr/>
        </p:nvSpPr>
        <p:spPr>
          <a:xfrm>
            <a:off x="1097280" y="129426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514461" y="129426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p>
        </p:txBody>
      </p:sp>
      <p:sp>
        <p:nvSpPr>
          <p:cNvPr id="13" name="Text 10"/>
          <p:cNvSpPr txBox="1"/>
          <p:nvPr/>
        </p:nvSpPr>
        <p:spPr>
          <a:xfrm>
            <a:off x="1097280" y="172403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 mit Live-Demo</a:t>
            </a:r>
            <a:endParaRPr lang="en-US" sz="1500" dirty="0"/>
          </a:p>
        </p:txBody>
      </p:sp>
      <p:sp>
        <p:nvSpPr>
          <p:cNvPr id="14" name="Text 11"/>
          <p:cNvSpPr txBox="1"/>
          <p:nvPr/>
        </p:nvSpPr>
        <p:spPr>
          <a:xfrm>
            <a:off x="6514461" y="172403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 Maximilian</a:t>
            </a:r>
            <a:endParaRPr lang="en-US" sz="1200" dirty="0"/>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100" b="1" dirty="0">
                <a:solidFill>
                  <a:schemeClr val="accent2">
                    <a:lumMod val="75000"/>
                  </a:schemeClr>
                </a:solidFill>
                <a:latin typeface="Calibri" pitchFamily="34" charset="0"/>
                <a:ea typeface="Calibri" pitchFamily="34" charset="-122"/>
                <a:cs typeface="Calibri" pitchFamily="34" charset="-120"/>
              </a:rPr>
              <a:t>Teil 2: was dahintersteckt</a:t>
            </a:r>
            <a:endParaRPr lang="en-US" sz="1100" dirty="0">
              <a:solidFill>
                <a:schemeClr val="accent2">
                  <a:lumMod val="75000"/>
                </a:schemeClr>
              </a:solidFill>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p>
        </p:txBody>
      </p:sp>
      <p:sp>
        <p:nvSpPr>
          <p:cNvPr id="18" name="Text 15"/>
          <p:cNvSpPr txBox="1"/>
          <p:nvPr/>
        </p:nvSpPr>
        <p:spPr>
          <a:xfrm>
            <a:off x="1097280" y="2616127"/>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514461" y="2616127"/>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 Adrian</a:t>
            </a:r>
            <a:endParaRPr lang="en-US" sz="1200" dirty="0"/>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p>
        </p:txBody>
      </p:sp>
      <p:sp>
        <p:nvSpPr>
          <p:cNvPr id="22" name="Text 19"/>
          <p:cNvSpPr txBox="1"/>
          <p:nvPr/>
        </p:nvSpPr>
        <p:spPr>
          <a:xfrm>
            <a:off x="1097280" y="3045895"/>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514461" y="3045895"/>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p>
        </p:txBody>
      </p:sp>
      <p:sp>
        <p:nvSpPr>
          <p:cNvPr id="30" name="Text 27"/>
          <p:cNvSpPr txBox="1"/>
          <p:nvPr/>
        </p:nvSpPr>
        <p:spPr>
          <a:xfrm>
            <a:off x="1097280" y="34781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a:t>
            </a:r>
            <a:r>
              <a:rPr lang="en-US" sz="1500" dirty="0" err="1">
                <a:solidFill>
                  <a:srgbClr val="1B2430"/>
                </a:solidFill>
                <a:latin typeface="Calibri" pitchFamily="34" charset="0"/>
                <a:ea typeface="Calibri" pitchFamily="34" charset="-122"/>
                <a:cs typeface="Calibri" pitchFamily="34" charset="-120"/>
              </a:rPr>
              <a:t>Herausforderungen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Lernerfahrungen</a:t>
            </a:r>
            <a:r>
              <a:rPr lang="en-US" sz="1500" dirty="0">
                <a:solidFill>
                  <a:srgbClr val="1B2430"/>
                </a:solidFill>
                <a:latin typeface="Calibri" pitchFamily="34" charset="0"/>
                <a:ea typeface="Calibri" pitchFamily="34" charset="-122"/>
                <a:cs typeface="Calibri" pitchFamily="34" charset="-120"/>
              </a:rPr>
              <a:t>, </a:t>
            </a:r>
            <a:r>
              <a:rPr lang="en-US" sz="1500" dirty="0" err="1">
                <a:solidFill>
                  <a:srgbClr val="1B2430"/>
                </a:solidFill>
                <a:latin typeface="Calibri" pitchFamily="34" charset="0"/>
                <a:ea typeface="Calibri" pitchFamily="34" charset="-122"/>
                <a:cs typeface="Calibri" pitchFamily="34" charset="-120"/>
              </a:rPr>
              <a:t>Projektmanagement</a:t>
            </a:r>
            <a:endParaRPr lang="en-US" sz="1500" dirty="0"/>
          </a:p>
        </p:txBody>
      </p:sp>
      <p:sp>
        <p:nvSpPr>
          <p:cNvPr id="31" name="Text 28"/>
          <p:cNvSpPr txBox="1"/>
          <p:nvPr/>
        </p:nvSpPr>
        <p:spPr>
          <a:xfrm>
            <a:off x="6514461" y="34781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 Nina</a:t>
            </a:r>
            <a:endParaRPr lang="en-US" sz="1200" dirty="0"/>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p>
        </p:txBody>
      </p:sp>
      <p:sp>
        <p:nvSpPr>
          <p:cNvPr id="34" name="Text 31"/>
          <p:cNvSpPr txBox="1"/>
          <p:nvPr/>
        </p:nvSpPr>
        <p:spPr>
          <a:xfrm>
            <a:off x="1097280" y="3899363"/>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514461" y="3899363"/>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5" name="Text 0">
            <a:extLst>
              <a:ext uri="{FF2B5EF4-FFF2-40B4-BE49-F238E27FC236}">
                <a16:creationId xmlns:a16="http://schemas.microsoft.com/office/drawing/2014/main" id="{20CE692E-F865-BE81-16AB-382C01B4A47B}"/>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GmbH (vier Filialen, Fahrrad, E-Bike und Elektronik) arbeitet mit Papier, Excel-Listen und Telefon. Daraus folgen vier Probleme:</a:t>
            </a:r>
            <a:endParaRPr lang="en-US" sz="1300" dirty="0">
              <a:latin typeface="Segoe UI" panose="020B0502040204020203" pitchFamily="34" charset="0"/>
              <a:cs typeface="Segoe UI" panose="020B0502040204020203" pitchFamily="34" charset="0"/>
            </a:endParaRPr>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Keine zuverlässige Info, wann ein Kostenvoranschlag freizugeben oder das Gerät abholbereit ist. Rückfragen per Telefon, Geräte stehen wochenlang im Lager.</a:t>
            </a:r>
            <a:endParaRPr lang="en-US" sz="1150" dirty="0">
              <a:latin typeface="Segoe UI" panose="020B0502040204020203" pitchFamily="34" charset="0"/>
              <a:cs typeface="Segoe UI" panose="020B0502040204020203" pitchFamily="34" charset="0"/>
            </a:endParaRPr>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Wer wissen will, wo ein Gerät steht, fragt in der Werkstatt nach. Papierzettel und Excel-Listen laufen auseinander.</a:t>
            </a:r>
            <a:endParaRPr lang="en-US" sz="1150" dirty="0">
              <a:latin typeface="Segoe UI" panose="020B0502040204020203" pitchFamily="34" charset="0"/>
              <a:cs typeface="Segoe UI" panose="020B0502040204020203" pitchFamily="34" charset="0"/>
            </a:endParaRPr>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Jede Filiale bestellt für sich, obwohl das Teil in der Nachbarfiliale liegt. Das kostet Lieferzeit und Geld.</a:t>
            </a:r>
            <a:endParaRPr lang="en-US" sz="1150" dirty="0">
              <a:latin typeface="Segoe UI" panose="020B0502040204020203" pitchFamily="34" charset="0"/>
              <a:cs typeface="Segoe UI" panose="020B0502040204020203" pitchFamily="34" charset="0"/>
            </a:endParaRPr>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 die Kapazität der Techniker kennt niemand genau.</a:t>
            </a:r>
            <a:endParaRPr lang="en-US" sz="115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 die Lösung</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Segoe UI" panose="020B0502040204020203" pitchFamily="34" charset="0"/>
                <a:ea typeface="Calibri" pitchFamily="34" charset="-122"/>
                <a:cs typeface="Segoe UI" panose="020B0502040204020203" pitchFamily="34" charset="0"/>
              </a:rPr>
              <a:t>Eine Cloud-Plattform für den gesamten Reparatur-Lebenszyklus: von der Anfrage per App bis zur Abholung und Reklamation. Wir sind das Software-Startup, FixWerk ist unser Pilotkunde.</a:t>
            </a:r>
            <a:endParaRPr lang="en-US" sz="1400" dirty="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1658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App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mit</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Sofortdiagnose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Voranmeldung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KVA-</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Freigabe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Statusmeldungen</a:t>
            </a:r>
            <a:endParaRPr lang="en-US" sz="1050" dirty="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Auftragsstatus</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Diagnose</a:t>
            </a: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Kostenvoranschlag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Reparaturschritte</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Endkontrolle</a:t>
            </a:r>
            <a:endParaRPr lang="en-US" sz="1050" dirty="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Bestände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aller</a:t>
            </a:r>
            <a:r>
              <a:rPr lang="en-US" sz="1050" dirty="0">
                <a:solidFill>
                  <a:srgbClr val="1B2430"/>
                </a:solidFill>
                <a:latin typeface="Segoe UI" panose="020B0502040204020203" pitchFamily="34" charset="0"/>
                <a:ea typeface="Calibri" pitchFamily="34" charset="-122"/>
                <a:cs typeface="Segoe UI" panose="020B0502040204020203" pitchFamily="34" charset="0"/>
              </a:rPr>
              <a:t> </a:t>
            </a:r>
            <a:r>
              <a:rPr lang="en-US" sz="1050" dirty="0" err="1">
                <a:solidFill>
                  <a:srgbClr val="1B2430"/>
                </a:solidFill>
                <a:latin typeface="Segoe UI" panose="020B0502040204020203" pitchFamily="34" charset="0"/>
                <a:ea typeface="Calibri" pitchFamily="34" charset="-122"/>
                <a:cs typeface="Segoe UI" panose="020B0502040204020203" pitchFamily="34" charset="0"/>
              </a:rPr>
              <a:t>Filialen</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Reservierung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Umlagerung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Bestellung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Retoure</a:t>
            </a:r>
            <a:endParaRPr lang="en-US" sz="1050" dirty="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Rechnung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Zahlung</a:t>
            </a:r>
            <a:endParaRPr lang="en-US" sz="1050" dirty="0">
              <a:solidFill>
                <a:srgbClr val="1B2430"/>
              </a:solidFill>
              <a:latin typeface="Segoe UI" panose="020B0502040204020203" pitchFamily="34" charset="0"/>
              <a:ea typeface="Calibri" pitchFamily="34" charset="-122"/>
              <a:cs typeface="Segoe UI" panose="020B0502040204020203" pitchFamily="34" charset="0"/>
            </a:endParaRPr>
          </a:p>
          <a:p>
            <a:pPr marL="0" indent="0">
              <a:buNone/>
            </a:pPr>
            <a:r>
              <a:rPr lang="en-US" sz="1050" dirty="0" err="1">
                <a:solidFill>
                  <a:srgbClr val="1B2430"/>
                </a:solidFill>
                <a:latin typeface="Segoe UI" panose="020B0502040204020203" pitchFamily="34" charset="0"/>
                <a:ea typeface="Calibri" pitchFamily="34" charset="-122"/>
                <a:cs typeface="Segoe UI" panose="020B0502040204020203" pitchFamily="34" charset="0"/>
              </a:rPr>
              <a:t>Übergabe</a:t>
            </a:r>
            <a:r>
              <a:rPr lang="en-US" sz="1050" dirty="0">
                <a:solidFill>
                  <a:srgbClr val="1B2430"/>
                </a:solidFill>
                <a:latin typeface="Segoe UI" panose="020B0502040204020203" pitchFamily="34" charset="0"/>
                <a:ea typeface="Calibri" pitchFamily="34" charset="-122"/>
                <a:cs typeface="Segoe UI" panose="020B0502040204020203" pitchFamily="34" charset="0"/>
              </a:rPr>
              <a:t> an die Buchhaltung</a:t>
            </a:r>
            <a:endParaRPr lang="en-US" sz="1050" dirty="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Zielkunden: unabhängige Werkstätten und kleine Ketten mit 2 bis 10 Filialen im DACH-Raum</a:t>
            </a:r>
            <a:endParaRPr lang="en-US" sz="1200" dirty="0">
              <a:latin typeface="Segoe UI" panose="020B0502040204020203" pitchFamily="34" charset="0"/>
              <a:cs typeface="Segoe UI" panose="020B0502040204020203" pitchFamily="34" charset="0"/>
            </a:endParaRPr>
          </a:p>
          <a:p>
            <a:pPr marL="342900" indent="-342900">
              <a:spcAft>
                <a:spcPts val="600"/>
              </a:spcAft>
              <a:buSzPct val="100000"/>
              <a:buChar char="•"/>
            </a:pPr>
            <a:r>
              <a:rPr lang="en-US" sz="1200" dirty="0">
                <a:solidFill>
                  <a:srgbClr val="1B2430"/>
                </a:solidFill>
                <a:latin typeface="Segoe UI" panose="020B0502040204020203" pitchFamily="34" charset="0"/>
                <a:ea typeface="Calibri" pitchFamily="34" charset="-122"/>
                <a:cs typeface="Segoe UI" panose="020B0502040204020203" pitchFamily="34" charset="0"/>
              </a:rPr>
              <a:t>Außerhalb der Plattform: physische Reparatur, Lieferantensysteme, Buchhaltung (nur Schnittstellen)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Fahrrad, E-Bike und Elektronik mit einer Kundenbasis und einem gemeinsamen Ersatzteillager. Ein Auftragsstatus für alle.</a:t>
            </a:r>
            <a:endParaRPr lang="en-US" sz="1150" dirty="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Bestände, Reservierungen und Umlagerungen über alle Standorte. Bestellt wird nur, was nirgends liegt.</a:t>
            </a:r>
            <a:endParaRPr lang="en-US" sz="1150" dirty="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Foto aus der App, Diagnosevorschlag, vorläufiger Kostenvoranschlag und Termin, bevor der Kunde die Werkstatt betritt.</a:t>
            </a:r>
            <a:endParaRPr lang="en-US" sz="115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457199" y="1557128"/>
            <a:ext cx="8329602" cy="2654169"/>
            <a:chOff x="457200" y="1557129"/>
            <a:chExt cx="8366760" cy="2666012"/>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600"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6E197140-AD58-EEF3-FC07-CB88B860C7D5}"/>
                </a:ext>
              </a:extLst>
            </p:cNvPr>
            <p:cNvSpPr txBox="1"/>
            <p:nvPr/>
          </p:nvSpPr>
          <p:spPr>
            <a:xfrm>
              <a:off x="50292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KI-Vorschlag, Vorab-KVA, Termin</a:t>
              </a:r>
              <a:endParaRPr lang="en-US" sz="1050" dirty="0">
                <a:latin typeface="Segoe UI" panose="020B0502040204020203" pitchFamily="34" charset="0"/>
                <a:cs typeface="Segoe UI" panose="020B0502040204020203" pitchFamily="34" charset="0"/>
              </a:endParaRPr>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600"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BE4AB8A3-EF0C-A300-509D-CF14A6E2B2B8}"/>
                </a:ext>
              </a:extLst>
            </p:cNvPr>
            <p:cNvSpPr txBox="1"/>
            <p:nvPr/>
          </p:nvSpPr>
          <p:spPr>
            <a:xfrm>
              <a:off x="1892808"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Gerät registriert, Auftrag angelegt</a:t>
              </a:r>
              <a:endParaRPr lang="en-US" sz="1050" dirty="0">
                <a:latin typeface="Segoe UI" panose="020B0502040204020203" pitchFamily="34" charset="0"/>
                <a:cs typeface="Segoe UI" panose="020B0502040204020203" pitchFamily="34" charset="0"/>
              </a:endParaRPr>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600"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EE2A20AE-03AC-6529-CA2C-E7313D9114E4}"/>
                </a:ext>
              </a:extLst>
            </p:cNvPr>
            <p:cNvSpPr txBox="1"/>
            <p:nvPr/>
          </p:nvSpPr>
          <p:spPr>
            <a:xfrm>
              <a:off x="3282696"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Techniker prüft, Kunde gibt frei</a:t>
              </a:r>
              <a:endParaRPr lang="en-US" sz="1050" dirty="0">
                <a:latin typeface="Segoe UI" panose="020B0502040204020203" pitchFamily="34" charset="0"/>
                <a:cs typeface="Segoe UI" panose="020B0502040204020203" pitchFamily="34" charset="0"/>
              </a:endParaRPr>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600"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52752689-8AEF-ACC1-53C1-3E3917F660D0}"/>
                </a:ext>
              </a:extLst>
            </p:cNvPr>
            <p:cNvSpPr txBox="1"/>
            <p:nvPr/>
          </p:nvSpPr>
          <p:spPr>
            <a:xfrm>
              <a:off x="4672584"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alle Filialen, Fehlteile bestellen</a:t>
              </a:r>
              <a:endParaRPr lang="en-US" sz="1050" dirty="0">
                <a:latin typeface="Segoe UI" panose="020B0502040204020203" pitchFamily="34" charset="0"/>
                <a:cs typeface="Segoe UI" panose="020B0502040204020203" pitchFamily="34" charset="0"/>
              </a:endParaRPr>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600"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8C3D5FEF-7383-A38B-3CB2-0BB6EDAD636C}"/>
                </a:ext>
              </a:extLst>
            </p:cNvPr>
            <p:cNvSpPr txBox="1"/>
            <p:nvPr/>
          </p:nvSpPr>
          <p:spPr>
            <a:xfrm>
              <a:off x="6062472"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Schritte, Arbeitszeit, Endkontrolle</a:t>
              </a:r>
              <a:endParaRPr lang="en-US" sz="1050" dirty="0">
                <a:latin typeface="Segoe UI" panose="020B0502040204020203" pitchFamily="34" charset="0"/>
                <a:cs typeface="Segoe UI" panose="020B0502040204020203" pitchFamily="34" charset="0"/>
              </a:endParaRPr>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600"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9E6036D2-CA77-79F5-AD32-1E1090F78AC9}"/>
                </a:ext>
              </a:extLst>
            </p:cNvPr>
            <p:cNvSpPr txBox="1"/>
            <p:nvPr/>
          </p:nvSpPr>
          <p:spPr>
            <a:xfrm>
              <a:off x="7452360" y="2954568"/>
              <a:ext cx="1207008" cy="36576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491621"/>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Benachrichtigung, Rechnung, Zahlung</a:t>
              </a:r>
              <a:endParaRPr lang="en-US" sz="1050" dirty="0">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Prozess-Highlights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640079" y="192689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Nach dem Versand wartet ein ereignisbasiertes Gateway auf Freigabe, Ablehnung oder drei Tage Frist.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Bei Fristablauf erinnert RepairFlow, höchstens zweimal. Nach dem dritten Fristablauf ohne Antwort gilt der KVA als abgelehnt, das Gerät geht mit Diagnosepauschale zur Abholung.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Kein Auftrag bleibt liegen.</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342899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Je Teil läuft parallel eine Prüfung: erst das eigene Lager, dann die anderen Filialen.</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Lokal vorhanden: reservieren. Anderswo vorhanden: umlagern. Nirgends: als Fehlteil markieren und erst dann bestellen (P06).</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Meldebestand unterschritten: Nachbestellvorschlag.</a:t>
            </a:r>
            <a:endParaRPr lang="en-US" sz="1150" dirty="0">
              <a:latin typeface="Segoe UI" panose="020B0502040204020203" pitchFamily="34" charset="0"/>
              <a:cs typeface="Segoe UI" panose="020B0502040204020203" pitchFamily="34" charset="0"/>
            </a:endParaRPr>
          </a:p>
        </p:txBody>
      </p:sp>
      <p:sp>
        <p:nvSpPr>
          <p:cNvPr id="19" name="Text 13"/>
          <p:cNvSpPr txBox="1"/>
          <p:nvPr/>
        </p:nvSpPr>
        <p:spPr>
          <a:xfrm>
            <a:off x="6217919" y="1925233"/>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2394067"/>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Techniker prüft den Mangel, eine Geschäftsregel entscheidet über Gewährleistung.</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Gewährleistung: kostenfreier Nacharbeitsauftrag, der durch die normale Auftragsreise läuft. Sonst: kostenpflichtiges Angebot.</a:t>
            </a:r>
            <a:endParaRPr lang="en-US" sz="1150" dirty="0">
              <a:latin typeface="Segoe UI" panose="020B0502040204020203" pitchFamily="34" charset="0"/>
              <a:cs typeface="Segoe UI" panose="020B0502040204020203" pitchFamily="34" charset="0"/>
            </a:endParaRPr>
          </a:p>
          <a:p>
            <a:pPr marL="0" indent="0">
              <a:buNone/>
            </a:pPr>
            <a:endParaRPr lang="en-US" sz="1150" dirty="0">
              <a:latin typeface="Segoe UI" panose="020B0502040204020203" pitchFamily="34" charset="0"/>
              <a:cs typeface="Segoe UI" panose="020B0502040204020203" pitchFamily="34" charset="0"/>
            </a:endParaRPr>
          </a:p>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Das Modell bleibt schlank, weil die Reklamation keine eigene Reparaturlogik braucht.</a:t>
            </a:r>
            <a:endParaRPr lang="en-US" sz="1150" dirty="0">
              <a:latin typeface="Segoe UI" panose="020B0502040204020203" pitchFamily="34" charset="0"/>
              <a:cs typeface="Segoe UI" panose="020B0502040204020203" pitchFamily="34" charset="0"/>
            </a:endParaRP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010833"/>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077889"/>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077889"/>
            <a:ext cx="914400" cy="914400"/>
          </a:xfrm>
          <a:prstGeom prst="rect">
            <a:avLst/>
          </a:prstGeom>
        </p:spPr>
      </p:pic>
      <p:cxnSp>
        <p:nvCxnSpPr>
          <p:cNvPr id="24" name="Gerade Verbindung 23">
            <a:extLst>
              <a:ext uri="{FF2B5EF4-FFF2-40B4-BE49-F238E27FC236}">
                <a16:creationId xmlns:a16="http://schemas.microsoft.com/office/drawing/2014/main" id="{7948C548-1A23-5D56-8228-CBC2E77D3897}"/>
              </a:ext>
            </a:extLst>
          </p:cNvPr>
          <p:cNvCxnSpPr>
            <a:cxnSpLocks/>
          </p:cNvCxnSpPr>
          <p:nvPr/>
        </p:nvCxnSpPr>
        <p:spPr>
          <a:xfrm>
            <a:off x="307155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7" name="Gerade Verbindung 26">
            <a:extLst>
              <a:ext uri="{FF2B5EF4-FFF2-40B4-BE49-F238E27FC236}">
                <a16:creationId xmlns:a16="http://schemas.microsoft.com/office/drawing/2014/main" id="{EF51E887-D57F-2501-C720-EF36F9A1AD5C}"/>
              </a:ext>
            </a:extLst>
          </p:cNvPr>
          <p:cNvCxnSpPr>
            <a:cxnSpLocks/>
          </p:cNvCxnSpPr>
          <p:nvPr/>
        </p:nvCxnSpPr>
        <p:spPr>
          <a:xfrm>
            <a:off x="5875713" y="1261323"/>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KI-Sofortdiagnose: KVA in 60 Sekunden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Aufnehmen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Kunde lädt Foto, Video oder Ton in der App hoch</a:t>
            </a:r>
            <a:endParaRPr lang="en-US" sz="1000" dirty="0">
              <a:latin typeface="Segoe UI" panose="020B0502040204020203" pitchFamily="34" charset="0"/>
              <a:cs typeface="Segoe UI" panose="020B0502040204020203" pitchFamily="34" charset="0"/>
            </a:endParaRPr>
          </a:p>
        </p:txBody>
      </p:sp>
      <p:sp>
        <p:nvSpPr>
          <p:cNvPr id="14" name="Text 9"/>
          <p:cNvSpPr txBox="1"/>
          <p:nvPr/>
        </p:nvSpPr>
        <p:spPr>
          <a:xfrm>
            <a:off x="2139696"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Erkennen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KI-Dienst nennt Gerätetyp, Ursache und Ersatzteile</a:t>
            </a:r>
            <a:endParaRPr lang="en-US" sz="1000" dirty="0">
              <a:latin typeface="Segoe UI" panose="020B0502040204020203" pitchFamily="34" charset="0"/>
              <a:cs typeface="Segoe UI" panose="020B0502040204020203" pitchFamily="34" charset="0"/>
            </a:endParaRPr>
          </a:p>
        </p:txBody>
      </p:sp>
      <p:sp>
        <p:nvSpPr>
          <p:cNvPr id="19" name="Text 13"/>
          <p:cNvSpPr txBox="1"/>
          <p:nvPr/>
        </p:nvSpPr>
        <p:spPr>
          <a:xfrm>
            <a:off x="3822192"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Kalkulieren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RepairFlow berechnet einen vorläufigen KVA</a:t>
            </a:r>
            <a:endParaRPr lang="en-US" sz="1000" dirty="0">
              <a:latin typeface="Segoe UI" panose="020B0502040204020203" pitchFamily="34" charset="0"/>
              <a:cs typeface="Segoe UI" panose="020B0502040204020203" pitchFamily="34" charset="0"/>
            </a:endParaRPr>
          </a:p>
        </p:txBody>
      </p:sp>
      <p:sp>
        <p:nvSpPr>
          <p:cNvPr id="24" name="Text 17"/>
          <p:cNvSpPr txBox="1"/>
          <p:nvPr/>
        </p:nvSpPr>
        <p:spPr>
          <a:xfrm>
            <a:off x="5504688"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Reservieren</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Verfügbarkeit in allen Filialen, Teile vorreserviert</a:t>
            </a:r>
            <a:endParaRPr lang="en-US" sz="1000" dirty="0">
              <a:latin typeface="Segoe UI" panose="020B0502040204020203" pitchFamily="34" charset="0"/>
              <a:cs typeface="Segoe UI" panose="020B0502040204020203" pitchFamily="34" charset="0"/>
            </a:endParaRPr>
          </a:p>
        </p:txBody>
      </p:sp>
      <p:sp>
        <p:nvSpPr>
          <p:cNvPr id="29" name="Text 21"/>
          <p:cNvSpPr txBox="1"/>
          <p:nvPr/>
        </p:nvSpPr>
        <p:spPr>
          <a:xfrm>
            <a:off x="7187184" y="1907181"/>
            <a:ext cx="1554480" cy="320040"/>
          </a:xfrm>
          <a:prstGeom prst="rect">
            <a:avLst/>
          </a:prstGeom>
          <a:noFill/>
          <a:ln/>
        </p:spPr>
        <p:txBody>
          <a:bodyPr wrap="square" lIns="0" tIns="0" rIns="0" bIns="0" rtlCol="0" anchor="ctr"/>
          <a:lstStyle/>
          <a:p>
            <a:pPr marL="0" indent="0" algn="ctr">
              <a:buNone/>
            </a:pPr>
            <a:r>
              <a:rPr lang="en-US" sz="13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Termin</a:t>
            </a:r>
            <a:endParaRPr lang="en-US" sz="13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Filiale und Termin vorgeschlagen, Kunde bestätigt</a:t>
            </a:r>
            <a:endParaRPr lang="en-US" sz="1000" dirty="0">
              <a:latin typeface="Segoe UI" panose="020B0502040204020203" pitchFamily="34" charset="0"/>
              <a:cs typeface="Segoe UI" panose="020B0502040204020203" pitchFamily="34" charset="0"/>
            </a:endParaRPr>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Heute machbar</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Sichtbare Schäden per Bildanalyse: gebrochenes Display, gerissene Kette</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Vorab-KVA aus Teilepreisen und Aufwandsrichtwerten</a:t>
            </a:r>
            <a:endParaRPr lang="en-US" sz="1100" dirty="0">
              <a:latin typeface="Segoe UI" panose="020B0502040204020203" pitchFamily="34" charset="0"/>
              <a:cs typeface="Segoe UI" panose="020B0502040204020203" pitchFamily="34" charset="0"/>
            </a:endParaRPr>
          </a:p>
          <a:p>
            <a:pPr marL="342900" indent="-34290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Verfügbarkeitsprüfung und Vorreservierung</a:t>
            </a:r>
            <a:endParaRPr lang="en-US" sz="1100" dirty="0">
              <a:latin typeface="Segoe UI" panose="020B0502040204020203" pitchFamily="34" charset="0"/>
              <a:cs typeface="Segoe UI" panose="020B0502040204020203" pitchFamily="34" charset="0"/>
            </a:endParaRPr>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Vision und Absicherung</a:t>
            </a:r>
            <a:endParaRPr lang="en-US" sz="1300" dirty="0">
              <a:solidFill>
                <a:schemeClr val="accent2">
                  <a:lumMod val="75000"/>
                </a:schemeClr>
              </a:solidFill>
              <a:latin typeface="Segoe UI" panose="020B0502040204020203" pitchFamily="34" charset="0"/>
              <a:cs typeface="Segoe UI" panose="020B0502040204020203" pitchFamily="34" charset="0"/>
            </a:endParaRPr>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Geräuschanalyse von E-Bike-Motoren, Aufwand aus Video</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Vorschlag bleibt vorläufig, der Techniker bestätigt oder korrigiert</a:t>
            </a:r>
            <a:endParaRPr lang="en-US" sz="1100" dirty="0">
              <a:latin typeface="Segoe UI" panose="020B0502040204020203" pitchFamily="34" charset="0"/>
              <a:cs typeface="Segoe UI" panose="020B0502040204020203" pitchFamily="34" charset="0"/>
            </a:endParaRPr>
          </a:p>
          <a:p>
            <a:pPr marL="171450" indent="-171450">
              <a:spcAft>
                <a:spcPts val="600"/>
              </a:spcAft>
              <a:buSzPct val="100000"/>
              <a:buFont typeface="Wingdings" pitchFamily="2" charset="2"/>
              <a:buChar char="§"/>
            </a:pPr>
            <a:r>
              <a:rPr lang="en-US" sz="1100" dirty="0">
                <a:solidFill>
                  <a:srgbClr val="1B2430"/>
                </a:solidFill>
                <a:latin typeface="Segoe UI" panose="020B0502040204020203" pitchFamily="34" charset="0"/>
                <a:ea typeface="Calibri" pitchFamily="34" charset="-122"/>
                <a:cs typeface="Segoe UI" panose="020B0502040204020203" pitchFamily="34" charset="0"/>
              </a:rPr>
              <a:t>Medien nur mit Einwilligung, Löschung nach Abschluss</a:t>
            </a:r>
            <a:endParaRPr lang="en-US" sz="1100" dirty="0">
              <a:latin typeface="Segoe UI" panose="020B0502040204020203" pitchFamily="34" charset="0"/>
              <a:cs typeface="Segoe UI" panose="020B0502040204020203" pitchFamily="34" charset="0"/>
            </a:endParaRPr>
          </a:p>
        </p:txBody>
      </p:sp>
      <p:pic>
        <p:nvPicPr>
          <p:cNvPr id="35" name="Grafik 34" descr="Tageskalender mit einfarbiger Füllung">
            <a:extLst>
              <a:ext uri="{FF2B5EF4-FFF2-40B4-BE49-F238E27FC236}">
                <a16:creationId xmlns:a16="http://schemas.microsoft.com/office/drawing/2014/main" id="{02F94359-EFD3-0187-6F0B-1BADC1C1C8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288628"/>
            <a:ext cx="648000" cy="648000"/>
          </a:xfrm>
          <a:prstGeom prst="rect">
            <a:avLst/>
          </a:prstGeom>
        </p:spPr>
      </p:pic>
      <p:pic>
        <p:nvPicPr>
          <p:cNvPr id="37" name="Grafik 36" descr="Marke mit einfarbiger Füllung">
            <a:extLst>
              <a:ext uri="{FF2B5EF4-FFF2-40B4-BE49-F238E27FC236}">
                <a16:creationId xmlns:a16="http://schemas.microsoft.com/office/drawing/2014/main" id="{5C8F8888-A908-9FE9-76AC-9817079D207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288628"/>
            <a:ext cx="648000" cy="648000"/>
          </a:xfrm>
          <a:prstGeom prst="rect">
            <a:avLst/>
          </a:prstGeom>
        </p:spPr>
      </p:pic>
      <p:pic>
        <p:nvPicPr>
          <p:cNvPr id="39" name="Grafik 38" descr="Münzen mit einfarbiger Füllung">
            <a:extLst>
              <a:ext uri="{FF2B5EF4-FFF2-40B4-BE49-F238E27FC236}">
                <a16:creationId xmlns:a16="http://schemas.microsoft.com/office/drawing/2014/main" id="{9C064899-7FF6-F1FA-094D-A2C1BE09F6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260594"/>
            <a:ext cx="648000" cy="648000"/>
          </a:xfrm>
          <a:prstGeom prst="rect">
            <a:avLst/>
          </a:prstGeom>
        </p:spPr>
      </p:pic>
      <p:pic>
        <p:nvPicPr>
          <p:cNvPr id="41" name="Grafik 40" descr="Künstliche Intelligenz mit einfarbiger Füllung">
            <a:extLst>
              <a:ext uri="{FF2B5EF4-FFF2-40B4-BE49-F238E27FC236}">
                <a16:creationId xmlns:a16="http://schemas.microsoft.com/office/drawing/2014/main" id="{6DB060CD-45E9-4F32-6C01-D01512FAF1C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238897"/>
            <a:ext cx="648000" cy="648000"/>
          </a:xfrm>
          <a:prstGeom prst="rect">
            <a:avLst/>
          </a:prstGeom>
        </p:spPr>
      </p:pic>
      <p:pic>
        <p:nvPicPr>
          <p:cNvPr id="43" name="Grafik 42" descr="Kamera mit einfarbiger Füllung">
            <a:extLst>
              <a:ext uri="{FF2B5EF4-FFF2-40B4-BE49-F238E27FC236}">
                <a16:creationId xmlns:a16="http://schemas.microsoft.com/office/drawing/2014/main" id="{E41885DE-76B5-3C01-90F4-637E7069CE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300251"/>
            <a:ext cx="648000" cy="648000"/>
          </a:xfrm>
          <a:prstGeom prst="rect">
            <a:avLst/>
          </a:prstGeom>
        </p:spPr>
      </p:pic>
      <p:cxnSp>
        <p:nvCxnSpPr>
          <p:cNvPr id="3" name="Gerade Verbindung 2">
            <a:extLst>
              <a:ext uri="{FF2B5EF4-FFF2-40B4-BE49-F238E27FC236}">
                <a16:creationId xmlns:a16="http://schemas.microsoft.com/office/drawing/2014/main" id="{2472465D-9E73-998C-EB3F-FD9359C82543}"/>
              </a:ext>
            </a:extLst>
          </p:cNvPr>
          <p:cNvCxnSpPr>
            <a:cxnSpLocks/>
          </p:cNvCxnSpPr>
          <p:nvPr/>
        </p:nvCxnSpPr>
        <p:spPr>
          <a:xfrm>
            <a:off x="487680" y="3017521"/>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 name="Gerade Verbindung 3">
            <a:extLst>
              <a:ext uri="{FF2B5EF4-FFF2-40B4-BE49-F238E27FC236}">
                <a16:creationId xmlns:a16="http://schemas.microsoft.com/office/drawing/2014/main" id="{ED6C3867-136C-1D68-02B8-139A62EA700B}"/>
              </a:ext>
            </a:extLst>
          </p:cNvPr>
          <p:cNvCxnSpPr>
            <a:cxnSpLocks/>
          </p:cNvCxnSpPr>
          <p:nvPr/>
        </p:nvCxnSpPr>
        <p:spPr>
          <a:xfrm>
            <a:off x="4501343" y="3192087"/>
            <a:ext cx="0" cy="121920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10</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7" name="Text 4"/>
          <p:cNvSpPr txBox="1"/>
          <p:nvPr/>
        </p:nvSpPr>
        <p:spPr>
          <a:xfrm>
            <a:off x="457200" y="1828800"/>
            <a:ext cx="219456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BPMN-Kollaborationsdiagramme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133 Aktivitäten im Werkstatt-Pool</a:t>
            </a:r>
            <a:endParaRPr lang="en-US" sz="1100" dirty="0">
              <a:latin typeface="Segoe UI" panose="020B0502040204020203" pitchFamily="34" charset="0"/>
              <a:cs typeface="Segoe UI" panose="020B0502040204020203" pitchFamily="34" charset="0"/>
            </a:endParaRPr>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Use Cases</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17 Rollen und Akteure</a:t>
            </a:r>
            <a:endParaRPr lang="en-US" sz="1100" dirty="0">
              <a:latin typeface="Segoe UI" panose="020B0502040204020203" pitchFamily="34" charset="0"/>
              <a:cs typeface="Segoe UI" panose="020B0502040204020203" pitchFamily="34" charset="0"/>
            </a:endParaRPr>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29</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Klassen</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40 Assoziationen, 7 Aufzählungen</a:t>
            </a:r>
            <a:endParaRPr lang="en-US" sz="1100" dirty="0">
              <a:latin typeface="Segoe UI" panose="020B0502040204020203" pitchFamily="34" charset="0"/>
              <a:cs typeface="Segoe UI" panose="020B0502040204020203" pitchFamily="34" charset="0"/>
            </a:endParaRPr>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Sequenzdiagramme</a:t>
            </a:r>
            <a:endParaRPr lang="en-US" sz="1100" dirty="0">
              <a:latin typeface="Segoe UI" panose="020B0502040204020203" pitchFamily="34" charset="0"/>
              <a:cs typeface="Segoe UI" panose="020B0502040204020203" pitchFamily="34" charset="0"/>
            </a:endParaRPr>
          </a:p>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 Zustandsdiagramm</a:t>
            </a:r>
            <a:endParaRPr lang="en-US" sz="1100" dirty="0">
              <a:latin typeface="Segoe UI" panose="020B0502040204020203" pitchFamily="34" charset="0"/>
              <a:cs typeface="Segoe UI" panose="020B0502040204020203" pitchFamily="34" charset="0"/>
            </a:endParaRPr>
          </a:p>
        </p:txBody>
      </p:sp>
      <p:sp>
        <p:nvSpPr>
          <p:cNvPr id="17" name="Text 13"/>
          <p:cNvSpPr txBox="1"/>
          <p:nvPr/>
        </p:nvSpPr>
        <p:spPr>
          <a:xfrm>
            <a:off x="64008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Geschäftsprozesse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Camunda Modeler, BPMN 2.0, angereichert für Camunda 8. Zehn Prozesse vom ersten Foto bis zur Retoure. 42 Nachrichtenflüsse, 51 Datenobjekte, 12 Datenspeicher.</a:t>
            </a:r>
            <a:endParaRPr lang="en-US" sz="1050" dirty="0">
              <a:latin typeface="Segoe UI" panose="020B0502040204020203" pitchFamily="34" charset="0"/>
              <a:cs typeface="Segoe UI" panose="020B0502040204020203" pitchFamily="34" charset="0"/>
            </a:endParaRPr>
          </a:p>
        </p:txBody>
      </p:sp>
      <p:sp>
        <p:nvSpPr>
          <p:cNvPr id="22" name="Text 17"/>
          <p:cNvSpPr txBox="1"/>
          <p:nvPr/>
        </p:nvSpPr>
        <p:spPr>
          <a:xfrm>
            <a:off x="342900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Objektorientierte Analyse</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Visual Paradigm: Use-Case-Diagramm, ein vollständiges Klassendiagramm, sechs Sequenzdiagramme als Unterdiagramme der Use Cases.</a:t>
            </a:r>
            <a:endParaRPr lang="en-US" sz="1050" dirty="0">
              <a:latin typeface="Segoe UI" panose="020B0502040204020203" pitchFamily="34" charset="0"/>
              <a:cs typeface="Segoe UI" panose="020B0502040204020203" pitchFamily="34" charset="0"/>
            </a:endParaRPr>
          </a:p>
        </p:txBody>
      </p:sp>
      <p:sp>
        <p:nvSpPr>
          <p:cNvPr id="27" name="Text 21"/>
          <p:cNvSpPr txBox="1"/>
          <p:nvPr/>
        </p:nvSpPr>
        <p:spPr>
          <a:xfrm>
            <a:off x="6217920" y="2862072"/>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Dokumentation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Rund 20 Seiten: Projekt, Vorgehen, Projektmanagement, alle Artefakte, Konsistenz der Modelle, Herausforderungen und Feedback.</a:t>
            </a:r>
            <a:endParaRPr lang="en-US" sz="1050" dirty="0">
              <a:latin typeface="Segoe UI" panose="020B0502040204020203" pitchFamily="34" charset="0"/>
              <a:cs typeface="Segoe UI" panose="020B0502040204020203" pitchFamily="34" charset="0"/>
            </a:endParaRPr>
          </a:p>
        </p:txBody>
      </p:sp>
      <p:cxnSp>
        <p:nvCxnSpPr>
          <p:cNvPr id="4" name="Gerade Verbindung 3">
            <a:extLst>
              <a:ext uri="{FF2B5EF4-FFF2-40B4-BE49-F238E27FC236}">
                <a16:creationId xmlns:a16="http://schemas.microsoft.com/office/drawing/2014/main" id="{8C573E46-BC93-A9B9-D7EC-17E4C6DFE18A}"/>
              </a:ext>
            </a:extLst>
          </p:cNvPr>
          <p:cNvCxnSpPr>
            <a:cxnSpLocks/>
          </p:cNvCxnSpPr>
          <p:nvPr/>
        </p:nvCxnSpPr>
        <p:spPr>
          <a:xfrm>
            <a:off x="297180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5" name="Gerade Verbindung 4">
            <a:extLst>
              <a:ext uri="{FF2B5EF4-FFF2-40B4-BE49-F238E27FC236}">
                <a16:creationId xmlns:a16="http://schemas.microsoft.com/office/drawing/2014/main" id="{73E59AA9-5ABB-7007-6AC1-BF09D49F26D7}"/>
              </a:ext>
            </a:extLst>
          </p:cNvPr>
          <p:cNvCxnSpPr>
            <a:cxnSpLocks/>
          </p:cNvCxnSpPr>
          <p:nvPr/>
        </p:nvCxnSpPr>
        <p:spPr>
          <a:xfrm>
            <a:off x="5920740" y="2968752"/>
            <a:ext cx="0" cy="1450848"/>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4" name="Gerade Verbindung 13">
            <a:extLst>
              <a:ext uri="{FF2B5EF4-FFF2-40B4-BE49-F238E27FC236}">
                <a16:creationId xmlns:a16="http://schemas.microsoft.com/office/drawing/2014/main" id="{FA1FCB79-1404-2061-8A83-0CC66FC7B823}"/>
              </a:ext>
            </a:extLst>
          </p:cNvPr>
          <p:cNvCxnSpPr>
            <a:cxnSpLocks/>
          </p:cNvCxnSpPr>
          <p:nvPr/>
        </p:nvCxnSpPr>
        <p:spPr>
          <a:xfrm>
            <a:off x="487680" y="2709949"/>
            <a:ext cx="8265622" cy="0"/>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61 Prozent automatisiert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graphicFrame>
        <p:nvGraphicFramePr>
          <p:cNvPr id="10" name="Table 0"/>
          <p:cNvGraphicFramePr>
            <a:graphicFrameLocks noGrp="1"/>
          </p:cNvGraphicFramePr>
          <p:nvPr>
            <p:extLst>
              <p:ext uri="{D42A27DB-BD31-4B8C-83A1-F6EECF244321}">
                <p14:modId xmlns:p14="http://schemas.microsoft.com/office/powerpoint/2010/main" val="2719609380"/>
              </p:ext>
            </p:extLst>
          </p:nvPr>
        </p:nvGraphicFramePr>
        <p:xfrm>
          <a:off x="457200" y="1228475"/>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3199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133</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8" name="Text 4"/>
          <p:cNvSpPr txBox="1"/>
          <p:nvPr/>
        </p:nvSpPr>
        <p:spPr>
          <a:xfrm>
            <a:off x="5943600" y="20514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Aktivitäten im Werkstatt-Pool, im </a:t>
            </a:r>
            <a:r>
              <a:rPr lang="en-US" sz="1100" dirty="0" err="1">
                <a:solidFill>
                  <a:srgbClr val="1B2430"/>
                </a:solidFill>
                <a:latin typeface="Segoe UI" panose="020B0502040204020203" pitchFamily="34" charset="0"/>
                <a:ea typeface="Calibri" pitchFamily="34" charset="-122"/>
                <a:cs typeface="Segoe UI" panose="020B0502040204020203" pitchFamily="34" charset="0"/>
              </a:rPr>
              <a:t>Schnitt</a:t>
            </a:r>
            <a:r>
              <a:rPr lang="en-US" sz="1100" dirty="0">
                <a:solidFill>
                  <a:srgbClr val="1B2430"/>
                </a:solidFill>
                <a:latin typeface="Segoe UI" panose="020B0502040204020203" pitchFamily="34" charset="0"/>
                <a:ea typeface="Calibri" pitchFamily="34" charset="-122"/>
                <a:cs typeface="Segoe UI" panose="020B0502040204020203" pitchFamily="34" charset="0"/>
              </a:rPr>
              <a:t> 13,3 je Diagramm</a:t>
            </a:r>
            <a:endParaRPr lang="en-US" sz="1100" dirty="0">
              <a:latin typeface="Segoe UI" panose="020B0502040204020203" pitchFamily="34" charset="0"/>
              <a:cs typeface="Segoe UI" panose="020B0502040204020203" pitchFamily="34" charset="0"/>
            </a:endParaRPr>
          </a:p>
        </p:txBody>
      </p:sp>
      <p:sp>
        <p:nvSpPr>
          <p:cNvPr id="9" name="Text 5"/>
          <p:cNvSpPr txBox="1"/>
          <p:nvPr/>
        </p:nvSpPr>
        <p:spPr>
          <a:xfrm>
            <a:off x="5943600" y="2691515"/>
            <a:ext cx="2743200" cy="731520"/>
          </a:xfrm>
          <a:prstGeom prst="rect">
            <a:avLst/>
          </a:prstGeom>
          <a:noFill/>
          <a:ln/>
        </p:spPr>
        <p:txBody>
          <a:bodyPr wrap="square" lIns="0" tIns="0" rIns="0" bIns="0" rtlCol="0" anchor="ctr"/>
          <a:lstStyle/>
          <a:p>
            <a:pPr marL="0" indent="0" algn="ctr">
              <a:buNone/>
            </a:pPr>
            <a:r>
              <a:rPr lang="en-US" sz="40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61 %</a:t>
            </a:r>
            <a:endParaRPr lang="en-US" sz="4000" dirty="0">
              <a:solidFill>
                <a:schemeClr val="accent2">
                  <a:lumMod val="50000"/>
                </a:schemeClr>
              </a:solidFill>
              <a:latin typeface="Segoe UI" panose="020B0502040204020203" pitchFamily="34" charset="0"/>
              <a:cs typeface="Segoe UI" panose="020B0502040204020203" pitchFamily="34" charset="0"/>
            </a:endParaRPr>
          </a:p>
        </p:txBody>
      </p:sp>
      <p:sp>
        <p:nvSpPr>
          <p:cNvPr id="5" name="Text 6"/>
          <p:cNvSpPr txBox="1"/>
          <p:nvPr/>
        </p:nvSpPr>
        <p:spPr>
          <a:xfrm>
            <a:off x="5943600" y="3423035"/>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Segoe UI" panose="020B0502040204020203" pitchFamily="34" charset="0"/>
                <a:ea typeface="Calibri" pitchFamily="34" charset="-122"/>
                <a:cs typeface="Segoe UI" panose="020B0502040204020203" pitchFamily="34" charset="0"/>
              </a:rPr>
              <a:t>davon führt RepairFlow ohne manuelle Arbeit aus: Status, Benachrichtigung, Prüfung, Berechnung, Regel</a:t>
            </a:r>
            <a:endParaRPr lang="en-US" sz="1100" dirty="0">
              <a:latin typeface="Segoe UI" panose="020B0502040204020203" pitchFamily="34" charset="0"/>
              <a:cs typeface="Segoe UI" panose="020B05020402040202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 Rollen und Use Cases</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962035"/>
            <a:ext cx="1600200"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3 Use Cases</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Kunde: </a:t>
            </a:r>
            <a:r>
              <a:rPr lang="en-US" sz="1200" dirty="0" err="1">
                <a:solidFill>
                  <a:srgbClr val="1B2430"/>
                </a:solidFill>
                <a:latin typeface="Calibri" pitchFamily="34" charset="0"/>
                <a:ea typeface="Calibri" pitchFamily="34" charset="-122"/>
                <a:cs typeface="Calibri" pitchFamily="34" charset="-120"/>
              </a:rPr>
              <a:t>Sofortdiagnose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anfordern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Voranmeldung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bestätigen</a:t>
            </a:r>
            <a:r>
              <a:rPr lang="en-US" sz="1200" dirty="0">
                <a:solidFill>
                  <a:srgbClr val="1B2430"/>
                </a:solidFill>
                <a:latin typeface="Calibri" pitchFamily="34" charset="0"/>
                <a:ea typeface="Calibri" pitchFamily="34" charset="-122"/>
                <a:cs typeface="Calibri" pitchFamily="34" charset="-120"/>
              </a:rPr>
              <a:t>, KVA </a:t>
            </a:r>
            <a:r>
              <a:rPr lang="en-US" sz="1200" dirty="0" err="1">
                <a:solidFill>
                  <a:srgbClr val="1B2430"/>
                </a:solidFill>
                <a:latin typeface="Calibri" pitchFamily="34" charset="0"/>
                <a:ea typeface="Calibri" pitchFamily="34" charset="-122"/>
                <a:cs typeface="Calibri" pitchFamily="34" charset="-120"/>
              </a:rPr>
              <a:t>freigeben</a:t>
            </a:r>
            <a:r>
              <a:rPr lang="en-US" sz="1200" dirty="0">
                <a:solidFill>
                  <a:srgbClr val="1B2430"/>
                </a:solidFill>
                <a:latin typeface="Calibri" pitchFamily="34" charset="0"/>
                <a:ea typeface="Calibri" pitchFamily="34" charset="-122"/>
                <a:cs typeface="Calibri" pitchFamily="34" charset="-120"/>
              </a:rPr>
              <a:t> / </a:t>
            </a:r>
            <a:r>
              <a:rPr lang="en-US" sz="1200" dirty="0" err="1">
                <a:solidFill>
                  <a:srgbClr val="1B2430"/>
                </a:solidFill>
                <a:latin typeface="Calibri" pitchFamily="34" charset="0"/>
                <a:ea typeface="Calibri" pitchFamily="34" charset="-122"/>
                <a:cs typeface="Calibri" pitchFamily="34" charset="-120"/>
              </a:rPr>
              <a:t>ablehnen</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extern: KI-</a:t>
            </a:r>
            <a:r>
              <a:rPr lang="en-US" sz="1200" dirty="0" err="1">
                <a:solidFill>
                  <a:srgbClr val="1B2430"/>
                </a:solidFill>
                <a:latin typeface="Calibri" pitchFamily="34" charset="0"/>
                <a:ea typeface="Calibri" pitchFamily="34" charset="-122"/>
                <a:cs typeface="Calibri" pitchFamily="34" charset="-120"/>
              </a:rPr>
              <a:t>Diagnosedienst</a:t>
            </a:r>
            <a:endParaRPr lang="en-US" sz="1200" dirty="0"/>
          </a:p>
          <a:p>
            <a:endParaRPr lang="en-US" sz="1150" dirty="0">
              <a:latin typeface="Segoe UI" panose="020B0502040204020203" pitchFamily="34" charset="0"/>
              <a:cs typeface="Segoe UI" panose="020B0502040204020203" pitchFamily="34" charset="0"/>
            </a:endParaRPr>
          </a:p>
        </p:txBody>
      </p:sp>
      <p:sp>
        <p:nvSpPr>
          <p:cNvPr id="15" name="Text 10"/>
          <p:cNvSpPr txBox="1"/>
          <p:nvPr/>
        </p:nvSpPr>
        <p:spPr>
          <a:xfrm>
            <a:off x="274320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743200" y="2962035"/>
            <a:ext cx="1747886"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9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Serviceannahme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Diagnoseprüfer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Diagnostiker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Kalkulator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Reparateur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Endkontrolleur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Geräteausgabe</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Reklamationsbearbeiter</a:t>
            </a:r>
            <a:endParaRPr lang="en-US" sz="1200" dirty="0"/>
          </a:p>
          <a:p>
            <a:endParaRPr lang="en-US" sz="1150" dirty="0">
              <a:latin typeface="Segoe UI" panose="020B0502040204020203" pitchFamily="34" charset="0"/>
              <a:cs typeface="Segoe UI" panose="020B0502040204020203" pitchFamily="34" charset="0"/>
            </a:endParaRPr>
          </a:p>
        </p:txBody>
      </p:sp>
      <p:sp>
        <p:nvSpPr>
          <p:cNvPr id="20" name="Text 14"/>
          <p:cNvSpPr txBox="1"/>
          <p:nvPr/>
        </p:nvSpPr>
        <p:spPr>
          <a:xfrm>
            <a:off x="4846320" y="2395107"/>
            <a:ext cx="1645920" cy="457200"/>
          </a:xfrm>
          <a:prstGeom prst="rect">
            <a:avLst/>
          </a:prstGeom>
          <a:noFill/>
          <a:ln/>
        </p:spPr>
        <p:txBody>
          <a:bodyPr wrap="square" lIns="0" tIns="0" rIns="0" bIns="0" rtlCol="0" anchor="ctr"/>
          <a:lstStyle/>
          <a:p>
            <a:pPr marL="0" indent="0" algn="ctr">
              <a:buNone/>
            </a:pPr>
            <a:r>
              <a:rPr lang="en-US" sz="12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2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846319" y="2962035"/>
            <a:ext cx="1828797"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6 Use Cases</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Teiledisponent</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Bestandsplaner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Einkäufer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Wareneingang</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Retourenbearbeiter</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Lieferant</a:t>
            </a:r>
            <a:r>
              <a:rPr lang="en-US" sz="1200" dirty="0">
                <a:solidFill>
                  <a:srgbClr val="1B2430"/>
                </a:solidFill>
                <a:latin typeface="Calibri" pitchFamily="34" charset="0"/>
                <a:ea typeface="Calibri" pitchFamily="34" charset="-122"/>
                <a:cs typeface="Calibri" pitchFamily="34" charset="-120"/>
              </a:rPr>
              <a:t>: Black Box, </a:t>
            </a:r>
            <a:r>
              <a:rPr lang="en-US" sz="1200" dirty="0" err="1">
                <a:solidFill>
                  <a:srgbClr val="1B2430"/>
                </a:solidFill>
                <a:latin typeface="Calibri" pitchFamily="34" charset="0"/>
                <a:ea typeface="Calibri" pitchFamily="34" charset="-122"/>
                <a:cs typeface="Calibri" pitchFamily="34" charset="-120"/>
              </a:rPr>
              <a:t>kein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Akteur</a:t>
            </a:r>
            <a:endParaRPr lang="en-US" sz="1200" dirty="0"/>
          </a:p>
          <a:p>
            <a:endParaRPr lang="en-US" sz="1150" dirty="0">
              <a:latin typeface="Segoe UI" panose="020B0502040204020203" pitchFamily="34" charset="0"/>
              <a:cs typeface="Segoe UI" panose="020B0502040204020203" pitchFamily="34" charset="0"/>
            </a:endParaRPr>
          </a:p>
        </p:txBody>
      </p:sp>
      <p:sp>
        <p:nvSpPr>
          <p:cNvPr id="25" name="Text 18"/>
          <p:cNvSpPr txBox="1"/>
          <p:nvPr/>
        </p:nvSpPr>
        <p:spPr>
          <a:xfrm>
            <a:off x="6949440" y="2395107"/>
            <a:ext cx="1600200" cy="457200"/>
          </a:xfrm>
          <a:prstGeom prst="rect">
            <a:avLst/>
          </a:prstGeom>
          <a:noFill/>
          <a:ln/>
        </p:spPr>
        <p:txBody>
          <a:bodyPr wrap="square" lIns="0" tIns="0" rIns="0" bIns="0" rtlCol="0" anchor="ctr"/>
          <a:lstStyle/>
          <a:p>
            <a:pPr marL="0" indent="0" algn="ctr">
              <a:buNone/>
            </a:pPr>
            <a:r>
              <a:rPr lang="en-US" sz="12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2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6949439" y="2962035"/>
            <a:ext cx="1868629" cy="2103120"/>
          </a:xfrm>
          <a:prstGeom prst="rect">
            <a:avLst/>
          </a:prstGeom>
          <a:noFill/>
          <a:ln/>
        </p:spPr>
        <p:txBody>
          <a:bodyPr wrap="square" lIns="0" tIns="0" rIns="0" bIns="0" rtlCol="0" anchor="t"/>
          <a:lstStyle/>
          <a:p>
            <a:r>
              <a:rPr lang="en-US" sz="1200" dirty="0">
                <a:solidFill>
                  <a:srgbClr val="1B2430"/>
                </a:solidFill>
                <a:latin typeface="Calibri" pitchFamily="34" charset="0"/>
                <a:ea typeface="Calibri" pitchFamily="34" charset="-122"/>
                <a:cs typeface="Calibri" pitchFamily="34" charset="-120"/>
              </a:rPr>
              <a:t>1 Use Case</a:t>
            </a:r>
            <a:endParaRPr lang="en-US" sz="1200" dirty="0"/>
          </a:p>
          <a:p>
            <a:endParaRPr lang="en-US" sz="1200" dirty="0"/>
          </a:p>
          <a:p>
            <a:r>
              <a:rPr lang="en-US" sz="1200" dirty="0" err="1">
                <a:solidFill>
                  <a:srgbClr val="1B2430"/>
                </a:solidFill>
                <a:latin typeface="Calibri" pitchFamily="34" charset="0"/>
                <a:ea typeface="Calibri" pitchFamily="34" charset="-122"/>
                <a:cs typeface="Calibri" pitchFamily="34" charset="-120"/>
              </a:rPr>
              <a:t>Betriebsadministrator</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Werkstattbetrieb</a:t>
            </a:r>
            <a:r>
              <a:rPr lang="en-US" sz="1200" dirty="0">
                <a:solidFill>
                  <a:srgbClr val="1B2430"/>
                </a:solidFill>
                <a:latin typeface="Calibri" pitchFamily="34" charset="0"/>
                <a:ea typeface="Calibri" pitchFamily="34" charset="-122"/>
                <a:cs typeface="Calibri" pitchFamily="34" charset="-120"/>
              </a:rPr>
              <a:t> und </a:t>
            </a:r>
            <a:r>
              <a:rPr lang="en-US" sz="1200" dirty="0" err="1">
                <a:solidFill>
                  <a:srgbClr val="1B2430"/>
                </a:solidFill>
                <a:latin typeface="Calibri" pitchFamily="34" charset="0"/>
                <a:ea typeface="Calibri" pitchFamily="34" charset="-122"/>
                <a:cs typeface="Calibri" pitchFamily="34" charset="-120"/>
              </a:rPr>
              <a:t>Filialen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verwalten</a:t>
            </a:r>
            <a:r>
              <a:rPr lang="en-US" sz="1200" dirty="0">
                <a:solidFill>
                  <a:srgbClr val="1B2430"/>
                </a:solidFill>
                <a:latin typeface="Calibri" pitchFamily="34" charset="0"/>
                <a:ea typeface="Calibri" pitchFamily="34" charset="-122"/>
                <a:cs typeface="Calibri" pitchFamily="34" charset="-120"/>
              </a:rPr>
              <a:t> (</a:t>
            </a:r>
            <a:r>
              <a:rPr lang="en-US" sz="1200" dirty="0" err="1">
                <a:solidFill>
                  <a:srgbClr val="1B2430"/>
                </a:solidFill>
                <a:latin typeface="Calibri" pitchFamily="34" charset="0"/>
                <a:ea typeface="Calibri" pitchFamily="34" charset="-122"/>
                <a:cs typeface="Calibri" pitchFamily="34" charset="-120"/>
              </a:rPr>
              <a:t>Mandant</a:t>
            </a:r>
            <a:r>
              <a:rPr lang="en-US" sz="1200" dirty="0">
                <a:solidFill>
                  <a:srgbClr val="1B2430"/>
                </a:solidFill>
                <a:latin typeface="Calibri" pitchFamily="34" charset="0"/>
                <a:ea typeface="Calibri" pitchFamily="34" charset="-122"/>
                <a:cs typeface="Calibri" pitchFamily="34" charset="-120"/>
              </a:rPr>
              <a:t>)</a:t>
            </a:r>
            <a:endParaRPr lang="en-US" sz="1200" dirty="0"/>
          </a:p>
          <a:p>
            <a:endParaRPr lang="en-US" sz="1200" dirty="0"/>
          </a:p>
          <a:p>
            <a:r>
              <a:rPr lang="en-US" sz="1200" dirty="0">
                <a:solidFill>
                  <a:srgbClr val="1B2430"/>
                </a:solidFill>
                <a:latin typeface="Calibri" pitchFamily="34" charset="0"/>
                <a:ea typeface="Calibri" pitchFamily="34" charset="-122"/>
                <a:cs typeface="Calibri" pitchFamily="34" charset="-120"/>
              </a:rPr>
              <a:t>Rolle → </a:t>
            </a:r>
            <a:r>
              <a:rPr lang="en-US" sz="1200" dirty="0" err="1">
                <a:solidFill>
                  <a:srgbClr val="1B2430"/>
                </a:solidFill>
                <a:latin typeface="Calibri" pitchFamily="34" charset="0"/>
                <a:ea typeface="Calibri" pitchFamily="34" charset="-122"/>
                <a:cs typeface="Calibri" pitchFamily="34" charset="-120"/>
              </a:rPr>
              <a:t>Mitarbeitertyp</a:t>
            </a:r>
            <a:r>
              <a:rPr lang="en-US" sz="1200" dirty="0">
                <a:solidFill>
                  <a:srgbClr val="1B2430"/>
                </a:solidFill>
                <a:latin typeface="Calibri" pitchFamily="34" charset="0"/>
                <a:ea typeface="Calibri" pitchFamily="34" charset="-122"/>
                <a:cs typeface="Calibri" pitchFamily="34" charset="-120"/>
              </a:rPr>
              <a:t> → Lane: </a:t>
            </a:r>
            <a:r>
              <a:rPr lang="en-US" sz="1200" dirty="0" err="1">
                <a:solidFill>
                  <a:srgbClr val="1B2430"/>
                </a:solidFill>
                <a:latin typeface="Calibri" pitchFamily="34" charset="0"/>
                <a:ea typeface="Calibri" pitchFamily="34" charset="-122"/>
                <a:cs typeface="Calibri" pitchFamily="34" charset="-120"/>
              </a:rPr>
              <a:t>Tabelle</a:t>
            </a:r>
            <a:r>
              <a:rPr lang="en-US" sz="1200" dirty="0">
                <a:solidFill>
                  <a:srgbClr val="1B2430"/>
                </a:solidFill>
                <a:latin typeface="Calibri" pitchFamily="34" charset="0"/>
                <a:ea typeface="Calibri" pitchFamily="34" charset="-122"/>
                <a:cs typeface="Calibri" pitchFamily="34" charset="-120"/>
              </a:rPr>
              <a:t> 7 der Doku</a:t>
            </a:r>
            <a:endParaRPr lang="en-US" sz="1200" dirty="0"/>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cxnSp>
        <p:nvCxnSpPr>
          <p:cNvPr id="32" name="Gerade Verbindung 31">
            <a:extLst>
              <a:ext uri="{FF2B5EF4-FFF2-40B4-BE49-F238E27FC236}">
                <a16:creationId xmlns:a16="http://schemas.microsoft.com/office/drawing/2014/main" id="{D84854F3-6298-35F4-4F2A-D9CF1A4F06B3}"/>
              </a:ext>
            </a:extLst>
          </p:cNvPr>
          <p:cNvCxnSpPr>
            <a:cxnSpLocks/>
          </p:cNvCxnSpPr>
          <p:nvPr/>
        </p:nvCxnSpPr>
        <p:spPr>
          <a:xfrm>
            <a:off x="2379094" y="1341225"/>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 Verbindung 32">
            <a:extLst>
              <a:ext uri="{FF2B5EF4-FFF2-40B4-BE49-F238E27FC236}">
                <a16:creationId xmlns:a16="http://schemas.microsoft.com/office/drawing/2014/main" id="{B032C663-F11A-99DD-08FB-4E51CB2900F4}"/>
              </a:ext>
            </a:extLst>
          </p:cNvPr>
          <p:cNvCxnSpPr>
            <a:cxnSpLocks/>
          </p:cNvCxnSpPr>
          <p:nvPr/>
        </p:nvCxnSpPr>
        <p:spPr>
          <a:xfrm>
            <a:off x="4616390" y="1327478"/>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 Verbindung 33">
            <a:extLst>
              <a:ext uri="{FF2B5EF4-FFF2-40B4-BE49-F238E27FC236}">
                <a16:creationId xmlns:a16="http://schemas.microsoft.com/office/drawing/2014/main" id="{313F0858-83F7-921A-5704-5A11E9DD8AF9}"/>
              </a:ext>
            </a:extLst>
          </p:cNvPr>
          <p:cNvCxnSpPr>
            <a:cxnSpLocks/>
          </p:cNvCxnSpPr>
          <p:nvPr/>
        </p:nvCxnSpPr>
        <p:spPr>
          <a:xfrm>
            <a:off x="6800418" y="1313731"/>
            <a:ext cx="0" cy="3269113"/>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Entwurfsentscheidungen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als Aggregatwurzel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Befund und Reparaturschritte sind Kompositionen; KVA und Gerät nur zugeordnet, weil der Vorab-KVA vor dem Auftrag entsteht.</a:t>
            </a:r>
            <a:endParaRPr lang="en-US" sz="1000" dirty="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Eigene Klasse zwischen Ersatzteil und Filiale. Nur so lässt sich die Verfügbarkeit über alle Filialen prüfen.</a:t>
            </a:r>
            <a:endParaRPr lang="en-US" sz="1000" dirty="0">
              <a:latin typeface="Segoe UI" panose="020B0502040204020203" pitchFamily="34" charset="0"/>
              <a:cs typeface="Segoe UI" panose="020B0502040204020203" pitchFamily="34" charset="0"/>
            </a:endParaRPr>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vorreserviert, reserviert, entnommen, storniert: eine Beziehung mit eigenen Daten wird zur Klasse.</a:t>
            </a:r>
            <a:endParaRPr lang="en-US" sz="1000" dirty="0">
              <a:latin typeface="Segoe UI" panose="020B0502040204020203" pitchFamily="34" charset="0"/>
              <a:cs typeface="Segoe UI" panose="020B0502040204020203" pitchFamily="34" charset="0"/>
            </a:endParaRPr>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Mandant und Mitarbeitertypen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Werkstattbetrieb als Mandant und Sammelstelle; vier Mitarbeitertypen passend zu Lanes und Rollen; KundenApp und Werkstattoberfläche als Zugang.</a:t>
            </a:r>
            <a:endParaRPr lang="en-US" sz="1000" dirty="0">
              <a:latin typeface="Segoe UI" panose="020B0502040204020203" pitchFamily="34" charset="0"/>
              <a:cs typeface="Segoe UI" panose="020B0502040204020203" pitchFamily="34" charset="0"/>
            </a:endParaRPr>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Segoe UI" panose="020B0502040204020203" pitchFamily="34" charset="0"/>
                <a:ea typeface="Calibri" pitchFamily="34" charset="-122"/>
                <a:cs typeface="Segoe UI" panose="020B0502040204020203" pitchFamily="34" charset="0"/>
              </a:rPr>
              <a:t>Voranmeldung, Medienanhang und KIDiagnosevorschlag tragen das Alleinstellungsmerkmal im Modell.</a:t>
            </a:r>
            <a:endParaRPr lang="en-US" sz="1000" dirty="0">
              <a:latin typeface="Segoe UI" panose="020B0502040204020203" pitchFamily="34" charset="0"/>
              <a:cs typeface="Segoe UI" panose="020B0502040204020203" pitchFamily="34" charset="0"/>
            </a:endParaRPr>
          </a:p>
        </p:txBody>
      </p:sp>
      <p:sp>
        <p:nvSpPr>
          <p:cNvPr id="31" name="Shape 23"/>
          <p:cNvSpPr/>
          <p:nvPr/>
        </p:nvSpPr>
        <p:spPr>
          <a:xfrm>
            <a:off x="4753550" y="3563414"/>
            <a:ext cx="3657600" cy="102581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892040" y="3536866"/>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Segoe UI" panose="020B0502040204020203" pitchFamily="34" charset="0"/>
                <a:ea typeface="Calibri" pitchFamily="34" charset="-122"/>
                <a:cs typeface="Segoe UI" panose="020B0502040204020203" pitchFamily="34" charset="0"/>
              </a:rPr>
              <a:t>29 Klassen · 40 Assoziationen · 7 Aufzählungen</a:t>
            </a:r>
            <a:endParaRPr lang="en-US" sz="1050" dirty="0">
              <a:latin typeface="Segoe UI" panose="020B0502040204020203" pitchFamily="34" charset="0"/>
              <a:cs typeface="Segoe UI" panose="020B0502040204020203" pitchFamily="34" charset="0"/>
            </a:endParaRPr>
          </a:p>
          <a:p>
            <a:pPr marL="0" indent="0">
              <a:buNone/>
            </a:pPr>
            <a:r>
              <a:rPr lang="en-US" sz="1050" dirty="0">
                <a:solidFill>
                  <a:srgbClr val="FFFFFF"/>
                </a:solidFill>
                <a:latin typeface="Segoe UI" panose="020B0502040204020203" pitchFamily="34" charset="0"/>
                <a:ea typeface="Calibri" pitchFamily="34" charset="-122"/>
                <a:cs typeface="Segoe UI" panose="020B0502040204020203" pitchFamily="34" charset="0"/>
              </a:rPr>
              <a:t>Botschaft = Operation: Die sechs Sequenzdiagramme verwenden ausschließlich Operationen dieser Klassen. Der Reparaturauftrag führt den Status als Attribut, das Zustandsdiagramm beschreibt seine Übergänge.</a:t>
            </a:r>
            <a:endParaRPr lang="en-US" sz="1050" dirty="0">
              <a:latin typeface="Segoe UI" panose="020B0502040204020203" pitchFamily="34" charset="0"/>
              <a:cs typeface="Segoe UI" panose="020B05020402040202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Konventionen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Datenobjekte tragen Klassennamen. Aktivität = Verb + Objekt, Ereignis im Partizip Perfekt. Jede Rolle gehört zu genau einer Lane und einer Klasse. Statuswerte in allen Modellen identisch.</a:t>
            </a:r>
            <a:endParaRPr lang="en-US" sz="1050" dirty="0">
              <a:latin typeface="Segoe UI" panose="020B0502040204020203" pitchFamily="34" charset="0"/>
              <a:cs typeface="Segoe UI" panose="020B0502040204020203" pitchFamily="34" charset="0"/>
            </a:endParaRPr>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BPMN-Dateien angereichert für Camunda 8: Task-Definitionen, Subscriptions, Timer, FEEL-Bedingungen. Camunda-Linter und bpmnlint: 0 Befunde.</a:t>
            </a:r>
            <a:endParaRPr lang="en-US" sz="1050" dirty="0">
              <a:latin typeface="Segoe UI" panose="020B0502040204020203" pitchFamily="34" charset="0"/>
              <a:cs typeface="Segoe UI" panose="020B0502040204020203" pitchFamily="34" charset="0"/>
            </a:endParaRPr>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Prüfrunden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Gesamtprüfung 26.09., Komplettcheck 05.10. (39 Befunde), QA-Abgleich 08.10. Jeder Pull Request wird gegen die QA-Checkliste geprüft, bevor er gemergt wird.</a:t>
            </a:r>
            <a:endParaRPr lang="en-US" sz="1050" dirty="0">
              <a:latin typeface="Segoe UI" panose="020B0502040204020203" pitchFamily="34" charset="0"/>
              <a:cs typeface="Segoe UI" panose="020B0502040204020203" pitchFamily="34" charset="0"/>
            </a:endParaRPr>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Segoe UI" panose="020B0502040204020203" pitchFamily="34" charset="0"/>
                <a:ea typeface="Calibri" pitchFamily="34" charset="-122"/>
                <a:cs typeface="Segoe UI" panose="020B0502040204020203" pitchFamily="34" charset="0"/>
              </a:rPr>
              <a:t>Beispiel: </a:t>
            </a:r>
            <a:r>
              <a:rPr lang="en-US" sz="1100" dirty="0">
                <a:solidFill>
                  <a:srgbClr val="1B2430"/>
                </a:solidFill>
                <a:latin typeface="Segoe UI" panose="020B0502040204020203" pitchFamily="34" charset="0"/>
                <a:ea typeface="Calibri" pitchFamily="34" charset="-122"/>
                <a:cs typeface="Segoe UI" panose="020B0502040204020203" pitchFamily="34" charset="0"/>
              </a:rPr>
              <a:t>Als die Nacharbeit in Prozess 07 auf zwei Durchläufe begrenzt wurde, musste Sequenzdiagramm SD4 nachziehen (loop 0..2, danach Status abgelehnt). Genau solche Stellen findet die Checkliste: Botschaft = Operation, Akteur → Oberfläche → Objekt, Zustand = AuftragStatus.</a:t>
            </a:r>
            <a:endParaRPr lang="en-US" sz="1100" dirty="0">
              <a:latin typeface="Segoe UI" panose="020B0502040204020203" pitchFamily="34" charset="0"/>
              <a:cs typeface="Segoe UI" panose="020B0502040204020203" pitchFamily="34" charset="0"/>
            </a:endParaRPr>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070184"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27" name="Text 0">
            <a:extLst>
              <a:ext uri="{FF2B5EF4-FFF2-40B4-BE49-F238E27FC236}">
                <a16:creationId xmlns:a16="http://schemas.microsoft.com/office/drawing/2014/main" id="{765C87F5-EDD7-8E6E-8D51-45DBABBB98F3}"/>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Qualität</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Konventionen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Linter,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Konsistenz</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cxnSp>
        <p:nvCxnSpPr>
          <p:cNvPr id="30" name="Gerade Verbindung 29">
            <a:extLst>
              <a:ext uri="{FF2B5EF4-FFF2-40B4-BE49-F238E27FC236}">
                <a16:creationId xmlns:a16="http://schemas.microsoft.com/office/drawing/2014/main" id="{D4E11CBB-82A1-CE3E-2590-D1ACD5DB8951}"/>
              </a:ext>
            </a:extLst>
          </p:cNvPr>
          <p:cNvCxnSpPr>
            <a:cxnSpLocks/>
          </p:cNvCxnSpPr>
          <p:nvPr/>
        </p:nvCxnSpPr>
        <p:spPr>
          <a:xfrm>
            <a:off x="5861285" y="1255555"/>
            <a:ext cx="0" cy="1763271"/>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Perspektive klären</a:t>
            </a:r>
            <a:endParaRPr lang="en-US" sz="1400" dirty="0">
              <a:solidFill>
                <a:schemeClr val="accent2">
                  <a:lumMod val="50000"/>
                </a:schemeClr>
              </a:solidFill>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Drei Modelle, ein Vokabular</a:t>
            </a:r>
            <a:endParaRPr lang="en-US" sz="1400" dirty="0">
              <a:solidFill>
                <a:schemeClr val="accent2">
                  <a:lumMod val="75000"/>
                </a:schemeClr>
              </a:solidFill>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Calibri" pitchFamily="34" charset="0"/>
                <a:ea typeface="Calibri" pitchFamily="34" charset="-122"/>
                <a:cs typeface="Calibri" pitchFamily="34" charset="-120"/>
              </a:rPr>
              <a:t>Engine-ready statt Fehlerliste</a:t>
            </a:r>
            <a:endParaRPr lang="en-US" sz="1400" dirty="0">
              <a:solidFill>
                <a:schemeClr val="accent2">
                  <a:lumMod val="75000"/>
                </a:schemeClr>
              </a:solidFill>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Calibri" pitchFamily="34" charset="0"/>
                <a:ea typeface="Calibri" pitchFamily="34" charset="-122"/>
                <a:cs typeface="Calibri" pitchFamily="34" charset="-120"/>
              </a:rPr>
              <a:t>Hinweise von außen nutzen</a:t>
            </a:r>
            <a:endParaRPr lang="en-US" sz="1400" dirty="0">
              <a:solidFill>
                <a:schemeClr val="accent2">
                  <a:lumMod val="50000"/>
                </a:schemeClr>
              </a:solidFill>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
        <p:nvSpPr>
          <p:cNvPr id="26" name="Text 0">
            <a:extLst>
              <a:ext uri="{FF2B5EF4-FFF2-40B4-BE49-F238E27FC236}">
                <a16:creationId xmlns:a16="http://schemas.microsoft.com/office/drawing/2014/main" id="{A48CE5FD-F9CC-24CB-FA2B-923ED5921C61}"/>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Lernerfahrungen</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9337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7" name="Text 4"/>
          <p:cNvSpPr txBox="1"/>
          <p:nvPr/>
        </p:nvSpPr>
        <p:spPr>
          <a:xfrm>
            <a:off x="5669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Themenwahl</a:t>
            </a:r>
            <a:endParaRPr lang="en-US" sz="800" dirty="0">
              <a:latin typeface="Segoe UI" panose="020B0502040204020203" pitchFamily="34" charset="0"/>
              <a:cs typeface="Segoe UI" panose="020B0502040204020203" pitchFamily="34" charset="0"/>
            </a:endParaRPr>
          </a:p>
        </p:txBody>
      </p:sp>
      <p:sp>
        <p:nvSpPr>
          <p:cNvPr id="8" name="Shape 5"/>
          <p:cNvSpPr/>
          <p:nvPr/>
        </p:nvSpPr>
        <p:spPr>
          <a:xfrm>
            <a:off x="18288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9" name="Text 6"/>
          <p:cNvSpPr txBox="1"/>
          <p:nvPr/>
        </p:nvSpPr>
        <p:spPr>
          <a:xfrm>
            <a:off x="2005434"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Konzept + Feedback</a:t>
            </a:r>
            <a:endParaRPr lang="en-US" sz="800" dirty="0">
              <a:latin typeface="Segoe UI" panose="020B0502040204020203" pitchFamily="34" charset="0"/>
              <a:cs typeface="Segoe UI" panose="020B0502040204020203" pitchFamily="34" charset="0"/>
            </a:endParaRPr>
          </a:p>
        </p:txBody>
      </p:sp>
      <p:sp>
        <p:nvSpPr>
          <p:cNvPr id="10" name="Shape 7"/>
          <p:cNvSpPr/>
          <p:nvPr/>
        </p:nvSpPr>
        <p:spPr>
          <a:xfrm>
            <a:off x="32004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1" name="Text 8"/>
          <p:cNvSpPr txBox="1"/>
          <p:nvPr/>
        </p:nvSpPr>
        <p:spPr>
          <a:xfrm>
            <a:off x="33101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Prozessanalyse</a:t>
            </a:r>
            <a:endParaRPr lang="en-US" sz="800" dirty="0">
              <a:latin typeface="Segoe UI" panose="020B0502040204020203" pitchFamily="34" charset="0"/>
              <a:cs typeface="Segoe UI" panose="020B0502040204020203" pitchFamily="34" charset="0"/>
            </a:endParaRPr>
          </a:p>
        </p:txBody>
      </p:sp>
      <p:sp>
        <p:nvSpPr>
          <p:cNvPr id="12" name="Shape 9"/>
          <p:cNvSpPr/>
          <p:nvPr/>
        </p:nvSpPr>
        <p:spPr>
          <a:xfrm>
            <a:off x="45720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3" name="Text 10"/>
          <p:cNvSpPr txBox="1"/>
          <p:nvPr/>
        </p:nvSpPr>
        <p:spPr>
          <a:xfrm>
            <a:off x="46817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BPMN</a:t>
            </a:r>
            <a:endParaRPr lang="en-US" sz="800" dirty="0">
              <a:latin typeface="Segoe UI" panose="020B0502040204020203" pitchFamily="34" charset="0"/>
              <a:cs typeface="Segoe UI" panose="020B0502040204020203" pitchFamily="34" charset="0"/>
            </a:endParaRPr>
          </a:p>
        </p:txBody>
      </p:sp>
      <p:sp>
        <p:nvSpPr>
          <p:cNvPr id="14" name="Shape 11"/>
          <p:cNvSpPr/>
          <p:nvPr/>
        </p:nvSpPr>
        <p:spPr>
          <a:xfrm>
            <a:off x="5943600" y="1117350"/>
            <a:ext cx="1371600" cy="548640"/>
          </a:xfrm>
          <a:prstGeom prst="chevron">
            <a:avLst/>
          </a:prstGeom>
          <a:solidFill>
            <a:schemeClr val="accent2">
              <a:lumMod val="50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5" name="Text 12"/>
          <p:cNvSpPr txBox="1"/>
          <p:nvPr/>
        </p:nvSpPr>
        <p:spPr>
          <a:xfrm>
            <a:off x="6053328"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OOA (UML)</a:t>
            </a:r>
            <a:endParaRPr lang="en-US" sz="800" dirty="0">
              <a:latin typeface="Segoe UI" panose="020B0502040204020203" pitchFamily="34" charset="0"/>
              <a:cs typeface="Segoe UI" panose="020B0502040204020203" pitchFamily="34" charset="0"/>
            </a:endParaRPr>
          </a:p>
        </p:txBody>
      </p:sp>
      <p:sp>
        <p:nvSpPr>
          <p:cNvPr id="16" name="Shape 13"/>
          <p:cNvSpPr/>
          <p:nvPr/>
        </p:nvSpPr>
        <p:spPr>
          <a:xfrm>
            <a:off x="7315200" y="1117350"/>
            <a:ext cx="1371600" cy="548640"/>
          </a:xfrm>
          <a:prstGeom prst="chevron">
            <a:avLst/>
          </a:prstGeom>
          <a:solidFill>
            <a:schemeClr val="accent2">
              <a:lumMod val="75000"/>
            </a:schemeClr>
          </a:solidFill>
          <a:ln w="12700">
            <a:solidFill>
              <a:srgbClr val="FFFFFF"/>
            </a:solidFill>
            <a:prstDash val="solid"/>
          </a:ln>
        </p:spPr>
        <p:txBody>
          <a:bodyPr/>
          <a:lstStyle/>
          <a:p>
            <a:endParaRPr lang="de-DE" sz="1600">
              <a:latin typeface="Segoe UI" panose="020B0502040204020203" pitchFamily="34" charset="0"/>
              <a:cs typeface="Segoe UI" panose="020B0502040204020203" pitchFamily="34" charset="0"/>
            </a:endParaRPr>
          </a:p>
        </p:txBody>
      </p:sp>
      <p:sp>
        <p:nvSpPr>
          <p:cNvPr id="17" name="Text 14"/>
          <p:cNvSpPr txBox="1"/>
          <p:nvPr/>
        </p:nvSpPr>
        <p:spPr>
          <a:xfrm>
            <a:off x="7516403" y="1117350"/>
            <a:ext cx="1188720" cy="548640"/>
          </a:xfrm>
          <a:prstGeom prst="rect">
            <a:avLst/>
          </a:prstGeom>
          <a:noFill/>
          <a:ln/>
        </p:spPr>
        <p:txBody>
          <a:bodyPr wrap="square" lIns="0" tIns="0" rIns="0" bIns="0" rtlCol="0" anchor="ctr"/>
          <a:lstStyle/>
          <a:p>
            <a:pPr marL="0" indent="0" algn="ctr">
              <a:buNone/>
            </a:pPr>
            <a:r>
              <a:rPr lang="en-US" sz="800" b="1" dirty="0">
                <a:solidFill>
                  <a:srgbClr val="FFFFFF"/>
                </a:solidFill>
                <a:latin typeface="Segoe UI" panose="020B0502040204020203" pitchFamily="34" charset="0"/>
                <a:ea typeface="Calibri" pitchFamily="34" charset="-122"/>
                <a:cs typeface="Segoe UI" panose="020B0502040204020203" pitchFamily="34" charset="0"/>
              </a:rPr>
              <a:t>Doku + Präsentation</a:t>
            </a:r>
            <a:endParaRPr lang="en-US" sz="800" dirty="0">
              <a:latin typeface="Segoe UI" panose="020B0502040204020203" pitchFamily="34" charset="0"/>
              <a:cs typeface="Segoe UI" panose="020B0502040204020203" pitchFamily="34" charset="0"/>
            </a:endParaRPr>
          </a:p>
        </p:txBody>
      </p:sp>
      <p:sp>
        <p:nvSpPr>
          <p:cNvPr id="19" name="Shape 16"/>
          <p:cNvSpPr/>
          <p:nvPr/>
        </p:nvSpPr>
        <p:spPr>
          <a:xfrm>
            <a:off x="64008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0" descr="preencoded.png"/>
          <p:cNvPicPr>
            <a:picLocks noChangeAspect="1"/>
          </p:cNvPicPr>
          <p:nvPr/>
        </p:nvPicPr>
        <p:blipFill>
          <a:blip r:embed="rId3"/>
          <a:stretch>
            <a:fillRect/>
          </a:stretch>
        </p:blipFill>
        <p:spPr>
          <a:xfrm>
            <a:off x="754380" y="2191770"/>
            <a:ext cx="228600" cy="228600"/>
          </a:xfrm>
          <a:prstGeom prst="rect">
            <a:avLst/>
          </a:prstGeom>
        </p:spPr>
      </p:pic>
      <p:sp>
        <p:nvSpPr>
          <p:cNvPr id="21" name="Text 17"/>
          <p:cNvSpPr txBox="1"/>
          <p:nvPr/>
        </p:nvSpPr>
        <p:spPr>
          <a:xfrm>
            <a:off x="123444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Rollen</a:t>
            </a:r>
            <a:endParaRPr lang="en-US" sz="1400" dirty="0">
              <a:latin typeface="Segoe UI" panose="020B0502040204020203" pitchFamily="34" charset="0"/>
              <a:cs typeface="Segoe UI" panose="020B0502040204020203" pitchFamily="34" charset="0"/>
            </a:endParaRPr>
          </a:p>
        </p:txBody>
      </p:sp>
      <p:sp>
        <p:nvSpPr>
          <p:cNvPr id="22" name="Text 18"/>
          <p:cNvSpPr txBox="1"/>
          <p:nvPr/>
        </p:nvSpPr>
        <p:spPr>
          <a:xfrm>
            <a:off x="64008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Projektleitung Nina (Stellvertretung und Backups David), Product Owner Adrian, Scrum Master Kilian, UML Kilian und David, BPMN Maximilian, Qualität Jakob.</a:t>
            </a:r>
            <a:endParaRPr lang="en-US" sz="1150" dirty="0">
              <a:latin typeface="Segoe UI" panose="020B0502040204020203" pitchFamily="34" charset="0"/>
              <a:cs typeface="Segoe UI" panose="020B0502040204020203" pitchFamily="34" charset="0"/>
            </a:endParaRPr>
          </a:p>
        </p:txBody>
      </p:sp>
      <p:sp>
        <p:nvSpPr>
          <p:cNvPr id="24" name="Shape 20"/>
          <p:cNvSpPr/>
          <p:nvPr/>
        </p:nvSpPr>
        <p:spPr>
          <a:xfrm>
            <a:off x="342900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1" descr="preencoded.png"/>
          <p:cNvPicPr>
            <a:picLocks noChangeAspect="1"/>
          </p:cNvPicPr>
          <p:nvPr/>
        </p:nvPicPr>
        <p:blipFill>
          <a:blip r:embed="rId4"/>
          <a:stretch>
            <a:fillRect/>
          </a:stretch>
        </p:blipFill>
        <p:spPr>
          <a:xfrm>
            <a:off x="3543300" y="2191770"/>
            <a:ext cx="228600" cy="228600"/>
          </a:xfrm>
          <a:prstGeom prst="rect">
            <a:avLst/>
          </a:prstGeom>
        </p:spPr>
      </p:pic>
      <p:sp>
        <p:nvSpPr>
          <p:cNvPr id="26" name="Text 21"/>
          <p:cNvSpPr txBox="1"/>
          <p:nvPr/>
        </p:nvSpPr>
        <p:spPr>
          <a:xfrm>
            <a:off x="4023360" y="205918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Zusammenarbeit</a:t>
            </a:r>
            <a:endParaRPr lang="en-US" sz="1400" dirty="0">
              <a:latin typeface="Segoe UI" panose="020B0502040204020203" pitchFamily="34" charset="0"/>
              <a:cs typeface="Segoe UI" panose="020B0502040204020203" pitchFamily="34" charset="0"/>
            </a:endParaRPr>
          </a:p>
        </p:txBody>
      </p:sp>
      <p:sp>
        <p:nvSpPr>
          <p:cNvPr id="27" name="Text 22"/>
          <p:cNvSpPr txBox="1"/>
          <p:nvPr/>
        </p:nvSpPr>
        <p:spPr>
          <a:xfrm>
            <a:off x="3429000" y="262611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Scrum im Takt der vier Gruppentermine, Trello-Board mit einer Liste je Termin und einer Karte je Person und Aufgabe, Prüfung jedes Diagramms im Zweierteam, GitHub mit Branches, Pull Requests und Review.</a:t>
            </a:r>
            <a:endParaRPr lang="en-US" sz="1150" dirty="0">
              <a:latin typeface="Segoe UI" panose="020B0502040204020203" pitchFamily="34" charset="0"/>
              <a:cs typeface="Segoe UI" panose="020B0502040204020203" pitchFamily="34" charset="0"/>
            </a:endParaRPr>
          </a:p>
        </p:txBody>
      </p:sp>
      <p:sp>
        <p:nvSpPr>
          <p:cNvPr id="29" name="Shape 24"/>
          <p:cNvSpPr/>
          <p:nvPr/>
        </p:nvSpPr>
        <p:spPr>
          <a:xfrm>
            <a:off x="6217920" y="207747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30" name="Image 2" descr="preencoded.png"/>
          <p:cNvPicPr>
            <a:picLocks noChangeAspect="1"/>
          </p:cNvPicPr>
          <p:nvPr/>
        </p:nvPicPr>
        <p:blipFill>
          <a:blip r:embed="rId5"/>
          <a:stretch>
            <a:fillRect/>
          </a:stretch>
        </p:blipFill>
        <p:spPr>
          <a:xfrm>
            <a:off x="6332220" y="2191770"/>
            <a:ext cx="228600" cy="228600"/>
          </a:xfrm>
          <a:prstGeom prst="rect">
            <a:avLst/>
          </a:prstGeom>
        </p:spPr>
      </p:pic>
      <p:sp>
        <p:nvSpPr>
          <p:cNvPr id="31" name="Text 25"/>
          <p:cNvSpPr txBox="1"/>
          <p:nvPr/>
        </p:nvSpPr>
        <p:spPr>
          <a:xfrm>
            <a:off x="6812280" y="2059182"/>
            <a:ext cx="1737360" cy="457200"/>
          </a:xfrm>
          <a:prstGeom prst="rect">
            <a:avLst/>
          </a:prstGeom>
          <a:noFill/>
          <a:ln/>
        </p:spPr>
        <p:txBody>
          <a:bodyPr wrap="square" lIns="0" tIns="0" rIns="0" bIns="0" rtlCol="0" anchor="ctr"/>
          <a:lstStyle/>
          <a:p>
            <a:pPr marL="0" indent="0">
              <a:buNone/>
            </a:pPr>
            <a:r>
              <a:rPr lang="en-US" sz="1400" b="1" dirty="0" err="1">
                <a:solidFill>
                  <a:srgbClr val="1B2430"/>
                </a:solidFill>
                <a:latin typeface="Segoe UI" panose="020B0502040204020203" pitchFamily="34" charset="0"/>
                <a:ea typeface="Calibri" pitchFamily="34" charset="-122"/>
                <a:cs typeface="Segoe UI" panose="020B0502040204020203" pitchFamily="34" charset="0"/>
              </a:rPr>
              <a:t>Ablauf</a:t>
            </a:r>
            <a:r>
              <a:rPr lang="en-US" sz="1400" b="1" dirty="0">
                <a:solidFill>
                  <a:srgbClr val="1B2430"/>
                </a:solidFill>
                <a:latin typeface="Segoe UI" panose="020B0502040204020203" pitchFamily="34" charset="0"/>
                <a:ea typeface="Calibri" pitchFamily="34" charset="-122"/>
                <a:cs typeface="Segoe UI" panose="020B0502040204020203" pitchFamily="34" charset="0"/>
              </a:rPr>
              <a:t> je </a:t>
            </a:r>
            <a:r>
              <a:rPr lang="en-US" sz="1400" b="1" dirty="0" err="1">
                <a:solidFill>
                  <a:srgbClr val="1B2430"/>
                </a:solidFill>
                <a:latin typeface="Segoe UI" panose="020B0502040204020203" pitchFamily="34" charset="0"/>
                <a:ea typeface="Calibri" pitchFamily="34" charset="-122"/>
                <a:cs typeface="Segoe UI" panose="020B0502040204020203" pitchFamily="34" charset="0"/>
              </a:rPr>
              <a:t>Diagramm</a:t>
            </a:r>
            <a:endParaRPr lang="en-US" sz="1400" b="1" dirty="0">
              <a:solidFill>
                <a:srgbClr val="1B2430"/>
              </a:solidFill>
              <a:latin typeface="Segoe UI" panose="020B0502040204020203" pitchFamily="34" charset="0"/>
              <a:ea typeface="Calibri" pitchFamily="34" charset="-122"/>
              <a:cs typeface="Segoe UI" panose="020B0502040204020203" pitchFamily="34" charset="0"/>
            </a:endParaRPr>
          </a:p>
        </p:txBody>
      </p:sp>
      <p:sp>
        <p:nvSpPr>
          <p:cNvPr id="32" name="Text 26"/>
          <p:cNvSpPr txBox="1"/>
          <p:nvPr/>
        </p:nvSpPr>
        <p:spPr>
          <a:xfrm>
            <a:off x="6217920" y="2626110"/>
            <a:ext cx="2286000" cy="1965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Entwurf</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Zweierteam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gegenseitiges</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Abstimmung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Gruppentermin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Umsetzung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über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Pull Request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Review.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Entscheidungen</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Begründung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im</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Entscheidungslog</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damit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jede</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Korrektur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nachvollziehbar</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 </a:t>
            </a:r>
            <a:r>
              <a:rPr kumimoji="0" lang="en-US" sz="1150" b="0" i="0" u="none" strike="noStrike" kern="1200" cap="none" spc="0" normalizeH="0" baseline="0" noProof="0" dirty="0" err="1">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bleibt</a:t>
            </a:r>
            <a:r>
              <a:rPr kumimoji="0" lang="en-US" sz="1150" b="0" i="0" u="none" strike="noStrike" kern="1200" cap="none" spc="0" normalizeH="0" baseline="0" noProof="0" dirty="0">
                <a:ln>
                  <a:noFill/>
                </a:ln>
                <a:solidFill>
                  <a:srgbClr val="1B2430"/>
                </a:solidFill>
                <a:effectLst/>
                <a:uLnTx/>
                <a:uFillTx/>
                <a:latin typeface="Segoe UI" panose="020B0502040204020203" pitchFamily="34" charset="0"/>
                <a:ea typeface="Calibri" pitchFamily="34" charset="-122"/>
                <a:cs typeface="Segoe UI" panose="020B0502040204020203" pitchFamily="34" charset="0"/>
              </a:rPr>
              <a:t>.</a:t>
            </a:r>
            <a:endParaRPr kumimoji="0" lang="en-US" sz="1150" b="0" i="0" u="none" strike="noStrike" kern="1200" cap="none" spc="0" normalizeH="0" baseline="0" noProof="0" dirty="0">
              <a:ln>
                <a:noFill/>
              </a:ln>
              <a:solidFill>
                <a:prstClr val="black"/>
              </a:solidFill>
              <a:effectLst/>
              <a:uLnTx/>
              <a:uFillTx/>
              <a:latin typeface="Segoe UI" panose="020B0502040204020203" pitchFamily="34" charset="0"/>
              <a:cs typeface="Segoe UI" panose="020B0502040204020203" pitchFamily="34" charset="0"/>
            </a:endParaRPr>
          </a:p>
        </p:txBody>
      </p:sp>
      <p:sp>
        <p:nvSpPr>
          <p:cNvPr id="5" name="Text 0">
            <a:extLst>
              <a:ext uri="{FF2B5EF4-FFF2-40B4-BE49-F238E27FC236}">
                <a16:creationId xmlns:a16="http://schemas.microsoft.com/office/drawing/2014/main" id="{5EF3F177-BCC2-B7E8-4C79-2BAC6028859E}"/>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Vorgehen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und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Projektmanagement</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205834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
        <p:nvSpPr>
          <p:cNvPr id="9" name="Text 5"/>
          <p:cNvSpPr txBox="1"/>
          <p:nvPr/>
        </p:nvSpPr>
        <p:spPr>
          <a:xfrm>
            <a:off x="45720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Abo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45720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Basis: Auftrags- und Kundenverwaltung mit Kundenportal. Pro: zusätzlich filialübergreifende Disposition und KI-Sofortdiagnose.</a:t>
            </a:r>
            <a:endParaRPr lang="en-US" sz="1150" dirty="0">
              <a:latin typeface="Segoe UI" panose="020B0502040204020203" pitchFamily="34" charset="0"/>
              <a:cs typeface="Segoe UI" panose="020B0502040204020203" pitchFamily="34" charset="0"/>
            </a:endParaRPr>
          </a:p>
        </p:txBody>
      </p:sp>
      <p:sp>
        <p:nvSpPr>
          <p:cNvPr id="14" name="Text 9"/>
          <p:cNvSpPr txBox="1"/>
          <p:nvPr/>
        </p:nvSpPr>
        <p:spPr>
          <a:xfrm>
            <a:off x="4824570" y="1837322"/>
            <a:ext cx="3063240"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Zielkunden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24570" y="2271884"/>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Segoe UI" panose="020B0502040204020203" pitchFamily="34" charset="0"/>
                <a:ea typeface="Calibri" pitchFamily="34" charset="-122"/>
                <a:cs typeface="Segoe UI" panose="020B0502040204020203" pitchFamily="34" charset="0"/>
              </a:rPr>
              <a:t>Unabhängige Werkstätten und kleine Ketten mit 2 bis 10 Filialen im DACH-Raum, für die ein großes Werkstattsystem zu schwer ist.</a:t>
            </a:r>
            <a:endParaRPr lang="en-US" sz="1150" dirty="0">
              <a:latin typeface="Segoe UI" panose="020B0502040204020203" pitchFamily="34" charset="0"/>
              <a:cs typeface="Segoe UI" panose="020B0502040204020203" pitchFamily="34" charset="0"/>
            </a:endParaRPr>
          </a:p>
        </p:txBody>
      </p:sp>
      <p:sp>
        <p:nvSpPr>
          <p:cNvPr id="16" name="Text 11"/>
          <p:cNvSpPr txBox="1"/>
          <p:nvPr/>
        </p:nvSpPr>
        <p:spPr>
          <a:xfrm>
            <a:off x="457200" y="3355760"/>
            <a:ext cx="8229600" cy="274320"/>
          </a:xfrm>
          <a:prstGeom prst="rect">
            <a:avLst/>
          </a:prstGeom>
          <a:noFill/>
          <a:ln/>
        </p:spPr>
        <p:txBody>
          <a:bodyPr wrap="square" lIns="0" tIns="0" rIns="0" bIns="0" rtlCol="0" anchor="ctr"/>
          <a:lstStyle/>
          <a:p>
            <a:pPr marL="0" indent="0">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Ausblick (Vision, nicht modelliert)</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4572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Predictive 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572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Bedarfsprognose je Filiale und Saison, damit Teile vor der Nachfrage im Lager liegen.</a:t>
            </a:r>
            <a:endParaRPr lang="en-US" sz="1050" dirty="0">
              <a:latin typeface="Segoe UI" panose="020B0502040204020203" pitchFamily="34" charset="0"/>
              <a:cs typeface="Segoe UI" panose="020B0502040204020203" pitchFamily="34" charset="0"/>
            </a:endParaRPr>
          </a:p>
        </p:txBody>
      </p:sp>
      <p:sp>
        <p:nvSpPr>
          <p:cNvPr id="25" name="Text 18"/>
          <p:cNvSpPr txBox="1"/>
          <p:nvPr/>
        </p:nvSpPr>
        <p:spPr>
          <a:xfrm>
            <a:off x="3429000"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Techniker-Copilot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3429000"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Reparaturschritte und Aufwand aus der Historie ähnlicher Aufträge vorschlagen.</a:t>
            </a:r>
            <a:endParaRPr lang="en-US" sz="1050" dirty="0">
              <a:latin typeface="Segoe UI" panose="020B0502040204020203" pitchFamily="34" charset="0"/>
              <a:cs typeface="Segoe UI" panose="020B0502040204020203" pitchFamily="34" charset="0"/>
            </a:endParaRPr>
          </a:p>
        </p:txBody>
      </p:sp>
      <p:sp>
        <p:nvSpPr>
          <p:cNvPr id="30" name="Text 22"/>
          <p:cNvSpPr txBox="1"/>
          <p:nvPr/>
        </p:nvSpPr>
        <p:spPr>
          <a:xfrm>
            <a:off x="6288941" y="3689473"/>
            <a:ext cx="233172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Digitale Geräteakte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1" name="Text 23"/>
          <p:cNvSpPr txBox="1"/>
          <p:nvPr/>
        </p:nvSpPr>
        <p:spPr>
          <a:xfrm>
            <a:off x="6288941" y="4087723"/>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Segoe UI" panose="020B0502040204020203" pitchFamily="34" charset="0"/>
                <a:ea typeface="Calibri" pitchFamily="34" charset="-122"/>
                <a:cs typeface="Segoe UI" panose="020B0502040204020203" pitchFamily="34" charset="0"/>
              </a:rPr>
              <a:t>Jedes Gerät behält seine Reparaturgeschichte über alle Filialen und Besitzer.</a:t>
            </a:r>
            <a:endParaRPr lang="en-US" sz="1050" dirty="0">
              <a:latin typeface="Segoe UI" panose="020B0502040204020203" pitchFamily="34" charset="0"/>
              <a:cs typeface="Segoe UI" panose="020B0502040204020203" pitchFamily="34" charset="0"/>
            </a:endParaRPr>
          </a:p>
        </p:txBody>
      </p:sp>
      <p:pic>
        <p:nvPicPr>
          <p:cNvPr id="4" name="Grafik 3" descr="Geld mit einfarbiger Füllung">
            <a:extLst>
              <a:ext uri="{FF2B5EF4-FFF2-40B4-BE49-F238E27FC236}">
                <a16:creationId xmlns:a16="http://schemas.microsoft.com/office/drawing/2014/main" id="{642898C4-E097-D67C-490C-E84451008C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5"/>
            <a:ext cx="914400" cy="914400"/>
          </a:xfrm>
          <a:prstGeom prst="rect">
            <a:avLst/>
          </a:prstGeom>
        </p:spPr>
      </p:pic>
      <p:pic>
        <p:nvPicPr>
          <p:cNvPr id="32" name="Grafik 31" descr="Laden mit einfarbiger Füllung">
            <a:extLst>
              <a:ext uri="{FF2B5EF4-FFF2-40B4-BE49-F238E27FC236}">
                <a16:creationId xmlns:a16="http://schemas.microsoft.com/office/drawing/2014/main" id="{7E835EF6-A092-A989-138F-B59E682C21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90" y="995985"/>
            <a:ext cx="914400" cy="914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Segoe UI" panose="020B0502040204020203" pitchFamily="34" charset="0"/>
                <a:ea typeface="Calibri" pitchFamily="34" charset="-122"/>
                <a:cs typeface="Segoe UI" panose="020B0502040204020203" pitchFamily="34" charset="0"/>
              </a:rPr>
              <a:t>Fazit</a:t>
            </a:r>
            <a:endParaRPr lang="en-US" sz="2800" dirty="0">
              <a:latin typeface="Segoe UI" panose="020B0502040204020203" pitchFamily="34" charset="0"/>
              <a:cs typeface="Segoe UI" panose="020B0502040204020203" pitchFamily="34" charset="0"/>
            </a:endParaRPr>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RepairFlow löst den Medienbruch aus Papier, Excel und Telefon und macht den Reparaturauftrag zum zentralen Zustandsautomaten.</a:t>
            </a:r>
            <a:endParaRPr lang="en-US" sz="1600" dirty="0">
              <a:latin typeface="Segoe UI" panose="020B0502040204020203" pitchFamily="34" charset="0"/>
              <a:cs typeface="Segoe UI" panose="020B0502040204020203" pitchFamily="34" charset="0"/>
            </a:endParaRPr>
          </a:p>
          <a:p>
            <a:pPr marL="0" indent="0">
              <a:spcAft>
                <a:spcPts val="1000"/>
              </a:spcAft>
              <a:buNone/>
            </a:pPr>
            <a:r>
              <a:rPr lang="en-US" sz="1600" dirty="0">
                <a:solidFill>
                  <a:srgbClr val="FFFFFF"/>
                </a:solidFill>
                <a:latin typeface="Segoe UI" panose="020B0502040204020203" pitchFamily="34" charset="0"/>
                <a:ea typeface="Calibri" pitchFamily="34" charset="-122"/>
                <a:cs typeface="Segoe UI" panose="020B0502040204020203" pitchFamily="34" charset="0"/>
              </a:rPr>
              <a:t>Der fachliche Mehrwert liegt in der filialübergreifenden Disposition und in der KI-Sofortdiagnose, die dem Kunden Klarheit gibt, bevor er die Werkstatt betritt.</a:t>
            </a:r>
            <a:endParaRPr lang="en-US" sz="1600" dirty="0">
              <a:latin typeface="Segoe UI" panose="020B0502040204020203" pitchFamily="34" charset="0"/>
              <a:cs typeface="Segoe UI" panose="020B0502040204020203" pitchFamily="34" charset="0"/>
            </a:endParaRPr>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Segoe UI" panose="020B0502040204020203" pitchFamily="34" charset="0"/>
                <a:ea typeface="Calibri" pitchFamily="34" charset="-122"/>
                <a:cs typeface="Segoe UI" panose="020B0502040204020203" pitchFamily="34" charset="0"/>
              </a:rPr>
              <a:t>Vielen Dank</a:t>
            </a:r>
            <a:endParaRPr lang="en-US" sz="4000" dirty="0">
              <a:latin typeface="Segoe UI" panose="020B0502040204020203" pitchFamily="34" charset="0"/>
              <a:cs typeface="Segoe UI" panose="020B0502040204020203" pitchFamily="34" charset="0"/>
            </a:endParaRPr>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Segoe UI" panose="020B0502040204020203" pitchFamily="34" charset="0"/>
                <a:ea typeface="Calibri" pitchFamily="34" charset="-122"/>
                <a:cs typeface="Segoe UI" panose="020B0502040204020203" pitchFamily="34" charset="0"/>
              </a:rPr>
              <a:t>Fragen?</a:t>
            </a:r>
            <a:endParaRPr lang="en-US" sz="2200" dirty="0">
              <a:latin typeface="Segoe UI" panose="020B0502040204020203" pitchFamily="34" charset="0"/>
              <a:cs typeface="Segoe UI" panose="020B0502040204020203" pitchFamily="34" charset="0"/>
            </a:endParaRPr>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Segoe UI" panose="020B0502040204020203" pitchFamily="34" charset="0"/>
                <a:ea typeface="Calibri" pitchFamily="34" charset="-122"/>
                <a:cs typeface="Segoe UI" panose="020B0502040204020203" pitchFamily="34" charset="0"/>
              </a:rPr>
              <a:t>Gruppe 1 · WWI25B4 · RepairFlow · Diagramme und Details in der Projektdokumentation</a:t>
            </a:r>
            <a:endParaRPr lang="en-US" sz="1200" dirty="0">
              <a:latin typeface="Segoe UI" panose="020B0502040204020203" pitchFamily="34" charset="0"/>
              <a:cs typeface="Segoe UI" panose="020B05020402040202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9" name="Table 0"/>
          <p:cNvGraphicFramePr>
            <a:graphicFrameLocks noGrp="1"/>
          </p:cNvGraphicFramePr>
          <p:nvPr>
            <p:extLst>
              <p:ext uri="{D42A27DB-BD31-4B8C-83A1-F6EECF244321}">
                <p14:modId xmlns:p14="http://schemas.microsoft.com/office/powerpoint/2010/main" val="1706668167"/>
              </p:ext>
            </p:extLst>
          </p:nvPr>
        </p:nvGraphicFramePr>
        <p:xfrm>
          <a:off x="457200" y="1244376"/>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chemeClr val="accent2">
                        <a:lumMod val="50000"/>
                      </a:schemeClr>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16–18</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Vorgehen und Projektmanagement,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Lösung, Nutzenversprechen; Use-Case-Diagramm und Sequenzdiagramme SD5 und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10–11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7–9</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Prozess-Highlights, Live-Demo, KI-Sofortdiagnose;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6, 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Auftragsreise, Rollen und Use Cases, Datenmodell; Klassendiagramm, SD1 bis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und Lernerfahrungen;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0">
            <a:extLst>
              <a:ext uri="{FF2B5EF4-FFF2-40B4-BE49-F238E27FC236}">
                <a16:creationId xmlns:a16="http://schemas.microsoft.com/office/drawing/2014/main" id="{F066B39A-F881-C371-A34D-09F0A6E891EC}"/>
              </a:ext>
            </a:extLst>
          </p:cNvPr>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Beiträge der Vortragenden</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4184</Words>
  <Application>Microsoft Macintosh PowerPoint</Application>
  <PresentationFormat>Bildschirmpräsentation (16:9)</PresentationFormat>
  <Paragraphs>333</Paragraphs>
  <Slides>19</Slides>
  <Notes>17</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19</vt:i4>
      </vt:variant>
    </vt:vector>
  </HeadingPairs>
  <TitlesOfParts>
    <vt:vector size="24" baseType="lpstr">
      <vt:lpstr>Arial</vt:lpstr>
      <vt:lpstr>Calibri</vt:lpstr>
      <vt:lpstr>Segoe UI</vt:lpstr>
      <vt:lpstr>Wingdings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14</cp:revision>
  <dcterms:created xsi:type="dcterms:W3CDTF">2026-10-15T07:59:30Z</dcterms:created>
  <dcterms:modified xsi:type="dcterms:W3CDTF">2026-10-22T09:33:46Z</dcterms:modified>
</cp:coreProperties>
</file>