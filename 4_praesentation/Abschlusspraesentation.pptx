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svg" ContentType="image/svg+xml"/>
  <Override PartName="/ppt/media/image20.svg" ContentType="image/svg+xml"/>
  <Override PartName="/ppt/media/image21.svg" ContentType="image/svg+xml"/>
  <Override PartName="/ppt/media/image22.svg" ContentType="image/svg+xml"/>
  <Override PartName="/ppt/media/image23.svg" ContentType="image/svg+xml"/>
  <Override PartName="/ppt/media/image24.svg" ContentType="image/svg+xml"/>
  <Override PartName="/ppt/media/image2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5.svg" ContentType="image/svg+xml"/>
  <Override PartName="/ppt/media/image4.svg" ContentType="image/svg+xml"/>
  <Override PartName="/ppt/media/image5.svg" ContentType="image/svg+xml"/>
  <Override PartName="/ppt/media/image50.svg" ContentType="image/svg+xml"/>
  <Override PartName="/ppt/media/image51.svg" ContentType="image/svg+xml"/>
  <Override PartName="/ppt/media/image6.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79" r:id="rId3"/>
    <p:sldId id="258" r:id="rId4"/>
    <p:sldId id="259" r:id="rId5"/>
    <p:sldId id="274" r:id="rId6"/>
    <p:sldId id="276" r:id="rId7"/>
    <p:sldId id="265" r:id="rId8"/>
    <p:sldId id="280" r:id="rId9"/>
    <p:sldId id="262" r:id="rId10"/>
    <p:sldId id="263" r:id="rId11"/>
    <p:sldId id="264" r:id="rId12"/>
    <p:sldId id="266" r:id="rId13"/>
    <p:sldId id="267" r:id="rId14"/>
    <p:sldId id="269" r:id="rId15"/>
    <p:sldId id="270" r:id="rId16"/>
    <p:sldId id="268" r:id="rId17"/>
    <p:sldId id="271" r:id="rId18"/>
    <p:sldId id="272" r:id="rId19"/>
    <p:sldId id="273"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avid" id="{88BB6C5F-BCA4-9943-807C-50A57D629305}">
          <p14:sldIdLst>
            <p14:sldId id="256"/>
            <p14:sldId id="279"/>
            <p14:sldId id="258"/>
            <p14:sldId id="259"/>
          </p14:sldIdLst>
        </p14:section>
        <p14:section name="Kilian" id="{1139A1D9-944E-3441-9BD8-35E9CEF6D225}">
          <p14:sldIdLst>
            <p14:sldId id="274"/>
          </p14:sldIdLst>
        </p14:section>
        <p14:section name="Maximilian" id="{0B64C47C-C681-8643-8A72-028DC518B57D}">
          <p14:sldIdLst>
            <p14:sldId id="276"/>
            <p14:sldId id="265"/>
            <p14:sldId id="280"/>
            <p14:sldId id="262"/>
          </p14:sldIdLst>
        </p14:section>
        <p14:section name="Adrian" id="{C59C4432-FF7E-A14B-8A5D-46FD719FCE68}">
          <p14:sldIdLst>
            <p14:sldId id="263"/>
            <p14:sldId id="264"/>
          </p14:sldIdLst>
        </p14:section>
        <p14:section name="Kilian" id="{2F11BAA1-0B73-6D4F-B882-B2353546D24B}">
          <p14:sldIdLst>
            <p14:sldId id="266"/>
            <p14:sldId id="267"/>
          </p14:sldIdLst>
        </p14:section>
        <p14:section name="Jakob" id="{7DC776A1-7D7D-F548-992F-CA5AB6B455F2}">
          <p14:sldIdLst>
            <p14:sldId id="269"/>
            <p14:sldId id="270"/>
          </p14:sldIdLst>
        </p14:section>
        <p14:section name="Nina" id="{0D502D7A-3C1B-1F4A-BB67-E47EF2FFD626}">
          <p14:sldIdLst>
            <p14:sldId id="268"/>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534"/>
    <p:restoredTop sz="94610"/>
  </p:normalViewPr>
  <p:slideViewPr>
    <p:cSldViewPr snapToGrid="0" snapToObjects="1">
      <p:cViewPr>
        <p:scale>
          <a:sx n="179" d="100"/>
          <a:sy n="179" d="100"/>
        </p:scale>
        <p:origin x="256"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52402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(30 s)</a:t>
            </a:r>
          </a:p>
          <a:p/>
          <a:p>
            <a:r>
              <a:t>Guten Morgen zusammen. Wir sind Gruppe 1 und stellen Ihnen RepairFlow vor: eine Plattform, mit der Reparaturwerkstätten ihre Aufträge, Ersatzteile und Kunden an einer Stelle steuern. David beginnt mit dem Problem und unserer Lösung, Kilian und Maximilian zeigen, wie ein Auftrag durch RepairFlow läuft. Danach stellen Adrian, Kilian und Jakob vor, was wir dafür modelliert haben, und ich schließe mit Vorgehen, Geschäftsmodell und Ausblick.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(40 s)</a:t>
            </a:r>
          </a:p>
          <a:p/>
          <a:p>
            <a:r>
              <a:t>Unsere Präsentation hat zwei Hälften. In der ersten erzählen wir RepairFlow so, wie wir es einer Werkstatt vorstellen würden: Problem, Lösung, Nutzen, die Reparatur aus Kundensicht mit drei Prozess-Highlights und unser Alleinstellungsmerkmal, die KI-Sofortdiagnose, mit einer kurzen Demo der Kunden-App. In der zweiten Hälfte zeigen wir, was dahintersteckt: zehn Geschäftsprozesse, Rollen und Use Cases, das Datenmodell, die Qualitätssicherung und unser Vorgehen. Die Diagramme selbst finden Sie in der Projektdokumentation und im Abgabepaket; hier konzentrieren wir uns auf die Ergebnisse. Fragen gern am Ende.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David (75 s)</a:t>
            </a:r>
          </a:p>
          <a:p/>
          <a:p>
            <a:r>
              <a:t>Stellen Sie sich eine Werkstattkette mit vier Filialen vor, die Fahrräder, E-Bikes und Elektronik repariert. In unserem Szenario heißt sie FixWerk. Der Alltag dort läuft über Papierzettel, Excel-Listen und Telefon. Das führt zu vier Problemen. Erstens: Der Kunde gibt sein Gerät ab und hört dann nichts mehr. Ob der Kostenvoranschlag freizugeben ist oder das Gerät fertig ist, erfährt er, wenn er anruft. Zweitens: Niemand weiß ohne Nachfrage, wo ein Auftrag gerade steht, weil Zettel und Listen auseinanderlaufen. Drittens: Jede Filiale bestellt Ersatzteile für sich, obwohl das Teil oft in der Nachbarfiliale liegt. Viertens: Termine werden nach Gefühl zugesagt, weil die Auslastung der Techniker nicht sichtbar ist. Die vier Punkte sind Annahmen unseres Szenarios, aber jeder, der schon einmal ein Gerät zur Reparatur gebracht hat, kennt mindestens eines davon.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David (65 s)</a:t>
            </a:r>
          </a:p>
          <a:p/>
          <a:p>
            <a:r>
              <a:t>RepairFlow ist unsere Antwort darauf. Wichtig für die Einordnung: Wir sind nicht die Werkstatt, wir sind das Software-Startup. FixWerk ist unser Pilotkunde, an dessen Abläufen wir die Plattform entworfen haben. RepairFlow ist eine Cloud-Plattform, die den ganzen Reparatur-Lebenszyklus abdeckt, von der ersten Anfrage bis zur Abholung und Reklamation. Sie besteht aus vier Modulen: dem Kundenportal mit App, dem Auftrags- und Werkstattmodul, dem Dispositionsmodul für Ersatzteile und der Abrechnung. Zielkunden sind unabhängige Werkstätten und kleine Ketten mit zwei bis zehn Filialen. Die physische Reparatur, die Lieferantensysteme und die Buchhaltung bleiben außerhalb; dorthin gibt es nur Schnittstellen.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1F59D-253A-3924-605E-21120D21DC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F0349-F106-C4E8-17E5-ED0C64CB6C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4233D-DF4D-D00D-C65C-262A8E253EC1}"/>
              </a:ext>
            </a:extLst>
          </p:cNvPr>
          <p:cNvSpPr>
            <a:spLocks noGrp="1"/>
          </p:cNvSpPr>
          <p:nvPr>
            <p:ph type="body" idx="1"/>
          </p:nvPr>
        </p:nvSpPr>
        <p:spPr/>
        <p:txBody>
          <a:bodyPr/>
          <a:lstStyle/>
          <a:p>
            <a:r>
              <a:t>Vortragende(r): Kilian (65 s)</a:t>
            </a:r>
          </a:p>
          <a:p/>
          <a:p>
            <a:r>
              <a:t>So sieht eine Reparatur mit RepairFlow aus. Der Kunde schickt per App ein Foto oder Video und bekommt innerhalb einer Minute Vorschlag, vorläufigen Kostenvoranschlag und Terminvorschlag. In der Filiale wird das Gerät registriert und der Auftrag angelegt. Der Techniker prüft den Vorschlag, stellt die Diagnose und erstellt den Kostenvoranschlag, den der Kunde in der App freigibt. Dann disponiert RepairFlow die Teile über alle Filialen und bestellt Fehlteile beim Lieferanten. Nach der Reparatur folgt die Endkontrolle, der Kunde wird benachrichtigt, holt ab und zahlt. Jeder dieser Schritte ist ein Status des Reparaturauftrags: angenommen, in Diagnose, KVA offen, freigegeben, Teile bestellt, in Reparatur, fertig, abgeholt. Dieser Zustandsautomat ist der rote Faden durch alle unsere Modelle. Welche Abläufe dahinterstecken, zeigt Maximilian an drei Beispielen.</a:t>
            </a:r>
          </a:p>
        </p:txBody>
      </p:sp>
      <p:sp>
        <p:nvSpPr>
          <p:cNvPr id="4" name="Slide Number Placeholder 3">
            <a:extLst>
              <a:ext uri="{FF2B5EF4-FFF2-40B4-BE49-F238E27FC236}">
                <a16:creationId xmlns:a16="http://schemas.microsoft.com/office/drawing/2014/main" id="{081609AC-3073-AD42-66E5-3FF4BB1E7ADF}"/>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6150676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Maximilian (80 s)</a:t>
            </a:r>
          </a:p>
          <a:p/>
          <a:p>
            <a:r>
              <a:t>Hinter jedem dieser Schritte steht ein Geschäftsprozess. Drei Stellen zeigen, was die Prozesse leisten. Erstens der Kostenvoranschlag in Prozess 04: Nach dem Versand wartet ein ereignisbasiertes Gateway auf Freigabe, Ablehnung oder den Ablauf von drei Tagen. Bei Fristablauf erinnert RepairFlow den Kunden, höchstens zweimal. Nach dem dritten Fristablauf ohne Antwort gilt der KVA als abgelehnt und das Gerät geht mit Diagnosepauschale zur Abholung. Kein Auftrag bleibt liegen. Zweitens die Disposition in Prozess 05: Für jedes benötigte Teil läuft parallel eine Prüfung, erst im eigenen Lager, dann in den anderen Filialen. Was lokal liegt, wird reserviert, was anderswo liegt, umgelagert, und nur Fehlteile werden bestellt. Drittens die Reklamation in Prozess 09: Der Techniker prüft den Mangel, RepairFlow entscheidet nach Regel über Gewährleistung, und im Gewährleistungsfall entsteht ein kostenfreier Nacharbeitsauftrag, der wieder durch die normale Auftragsreise läuft. Wie sich das für den Kunden anfühlt, zeige ich Ihnen jetzt in der App.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Maximilian (70 s)</a:t>
            </a:r>
          </a:p>
          <a:p/>
          <a:p>
            <a:r>
              <a:t>Was Sie gerade in der App gesehen haben, ist unser Alleinstellungsmerkmal, die KI-Sofortdiagnose. Fünf Schritte: Der Kunde nimmt Foto, Video oder Ton auf. Ein KI-Dienst erkennt Gerätetyp, wahrscheinliche Ursache und benötigte Teile. RepairFlow rechnet daraus einen vorläufigen Kostenvoranschlag, prüft die Verfügbarkeit in allen Filialen und reserviert vor. Zum Schluss schlägt es Filiale und Termin vor, und der Kunde bestätigt. Heute machbar ist die Erkennung sichtbarer Schäden per Bildanalyse, etwa ein gebrochenes Display oder eine gerissene Kette, dazu ein Vorab-KVA aus Teilepreisen und Aufwandsrichtwerten. Vision sind Geräuschanalyse bei E-Bike-Motoren und eine Aufwandsschätzung aus Video. Deshalb bleibt der Vorschlag immer vorläufig: Der Techniker bestätigt oder korrigiert ihn. Die Medien werden nur mit Einwilligung verarbeitet und nach Abschluss gelöscht. Was hinter all dem steckt, zeigt Adrian.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Adrian (50 s)</a:t>
            </a:r>
          </a:p>
          <a:p/>
          <a:p>
            <a:r>
              <a:t>Damit zur zweiten Hälfte: Was steckt hinter dieser Geschichte? Wir haben drei Modelle erstellt, die zusammenpassen. Zehn BPMN-Kollaborationsdiagramme mit 134 Aktivitäten im Werkstatt-Pool, dazu die Abläufe des Kunden. Ein Use-Case-Diagramm mit 19 Use Cases und 17 Rollen und Akteuren. Ein vollständiges Klassendiagramm mit 29 Klassen und 40 Assoziationen. Sechs Sequenzdiagramme, gefordert waren fünf. Alle Modelle liegen im Camunda Modeler und in Visual Paradigm und werden mit der Dokumentation abgegeben.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Adrian (60 s)</a:t>
            </a:r>
          </a:p>
          <a:p/>
          <a:p>
            <a:r>
              <a:t>Die zehn Prozesse decken den gesamten Lebenszyklus ab. Prozesse 01 bis 08 sind die durchgehende Auftragsreise, 09 und 10 die Folgeprozesse Reklamation und Retoure; drei Highlights daraus hat Maximilian schon gezeigt. Jedes Diagramm ist eine Kollaboration: Der Werkstattbetrieb ist der ausführbare Pool mit den Lanes Service, Techniker, Werkstattleitung und Disposition, der Kunde hat seinen eigenen Ablauf, der Lieferant bleibt eine Black Box. Die wichtigste Zahl: 61 Prozent der Aktivitäten führt RepairFlow ohne manuelle Arbeit aus, also Statuswechsel, Benachrichtigungen, Prüfungen, Berechnungen und Regeln. Was Handwerk ist, bleibt Handwerk: Diagnose, Reparatur und Endkontrolle macht der Techniker mit Unterstützung durch das System. Wer im System welche Aufgaben hat, zeigt Kilian.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Kilian (70 s)</a:t>
            </a:r>
          </a:p>
          <a:p/>
          <a:p>
            <a:r>
              <a:t>Das Use-Case-Diagramm beschreibt, was RepairFlow für seine Benutzer leistet. 19 Use Cases in vier Bereichen: das Kundenportal mit Sofortdiagnose, Voranmeldung und KVA-Freigabe; Auftrag und Werkstatt von der Annahme bis zur Reklamation; die Ersatzteil-Disposition von der Reservierung bis zur Retoure; und die Administration des Werkstattbetriebs. Eine Besonderheit geht auf das Coaching zurück: Jeder Use Case hat genau eine Rolle. Statt eines Technikers mit fünf Verbindungen gibt es Diagnoseprüfer, Diagnostiker, Kalkulator, Reparateur und Endkontrolleur. Welche Person welche Rolle ausfüllt, regelt die Werkstatt selbst; im Datenmodell sind die Rollen den Mitarbeitertypen zugeordnet. Dazu kommen der Kunde und der KI-Diagnosedienst als externes System. Der Lieferant ist bewusst kein Akteur: Er hat keinen Zugang zu RepairFlow und bleibt eine Black Box.</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Kilian (100 s)</a:t>
            </a:r>
          </a:p>
          <a:p/>
          <a:p>
            <a:r>
              <a:t>Das Klassendiagramm ist ein einziges, vollständiges Modell mit 29 Klassen. Fünf Entscheidungen prägen es. Erstens: Der Reparaturauftrag ist die Aggregatwurzel. Befund und Reparaturschritte sind Kompositionen, Kostenvoranschlag und Gerät nur zugeordnet, weil der Vorab-KVA schon vor dem Auftrag entsteht. Zweitens: Der Lagerbestand ist eine eigene Klasse zwischen Ersatzteil und Filiale; nur so lässt sich die Verfügbarkeit über alle Filialen prüfen. Drittens: Die Reservierung ist eine eigene Klasse mit Lebenszyklus. Viertens: Der Werkstattbetrieb ist Mandant und Sammelstelle. Er kennt alle Aufträge, Bestellungen und Reklamationen und findet sie über ihre Nummer. Die Mitarbeiter sind nach Typ spezialisiert, passend zu Lanes und Rollen, und arbeiten wie der Kunde nie direkt mit den Fachobjekten, sondern über zwei Oberflächenklassen, die Werkstattoberfläche und die KundenApp. Fünftens: Voranmeldung, Medienanhang und KI-Diagnosevorschlag tragen die Sofortdiagnose. Ein Beispiel aus den Sequenzdiagrammen ist SD4, die Fertigmeldung: Der Endkontrolleur gibt die Auftragsnummer ein, die Werkstattoberfläche sucht den Auftrag und arbeitet mit diesem Objekt; nach jeder Nacharbeit sucht sie ihn neu. Besteht er auch nach der zweiten Nacharbeit die Endkontrolle nicht, ruft sie wechsleStatus mit dem Wert ABGELEHNT auf, genau die Operation, die der Reparaturauftrag im Klassendiagramm anbietet.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Jakob (65 s)</a:t>
            </a:r>
          </a:p>
          <a:p/>
          <a:p>
            <a:r>
              <a:t>Drei Modelle, die sich auf dieselben Dinge beziehen, laufen schnell auseinander. Dagegen hatten wir drei Mittel. Erstens Konventionen: Datenobjekte in BPMN tragen die Klassennamen, Aktivitäten heißen Verb plus Objekt, jede Rolle ist genau einer Lane und einer Klasse zugeordnet, die Statuswerte sind in allen Modellen identisch, und in jedem Sequenzdiagramm geht der Weg vom Akteur über die Oberfläche zum Objekt. Zweitens Werkzeuge: Die BPMN-Dateien sind für Camunda 8 angereichert, mit Task-Definitionen, Timern und Bedingungen; der Camunda-Linter und bpmnlint melden null Befunde. Drittens Prüfrunden: Jedes Diagramm wurde im Zweierteam geprüft, und jede Änderung wird gegen unsere QA-Checkliste geprüft, bevor sie gemergt wird. Ein Beispiel: Als wir die Nacharbeit in Prozess 07 auf zwei Durchläufe begrenzt haben, musste das Sequenzdiagramm SD4 nachziehen. Genau solche Stellen findet die Checkliste.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Jakob (65 s)</a:t>
            </a:r>
          </a:p>
          <a:p/>
          <a:p>
            <a:r>
              <a:t>Vier Dinge haben uns am meisten beschäftigt. Die Perspektive: Werkstatt oder Softwareanbieter? Die Rückfrage des Dozenten hat uns zur klaren Entscheidung gezwungen, und danach mussten Texte und Klassenmodell nachziehen. Das Vokabular: Datenobjekte, Klassen, Lebenslinien und Statuswerte müssen wortgleich sein, sonst zerfällt die Analyse in drei Einzelmodelle. Die Werkzeuge: Der Camunda Modeler meldet für Camunda 8 fehlende technische Details als Fehler, und wir haben die Diagramme so lange angereichert, bis nichts mehr rot war. Und die Vision: Die KI-Sofortdiagnose soll beeindrucken, aber glaubwürdig bleiben. Gelernt haben wir, dass Konsistenz keine Prüfung am Ende ist, sondern eine Regel bei jeder Änderung, und dass klare Hinweise von außen, etwa zum Use-Case-Diagramm und zu den Oberflächen in den Sequenzdiagrammen, ein Modell deutlich besser machen. Wie wir zusammengearbeitet haben, zeigt Nina.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2854184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(65 s)</a:t>
            </a:r>
          </a:p>
          <a:p/>
          <a:p>
            <a:r>
              <a:t>Gearbeitet haben wir in Sprints im Takt der vier Gruppentermine, mit Review, Retrospektive und Planning je Termin. Ich habe die Projektleitung, David die Stellvertretung und die Sicherungen, Adrian ist Product Owner, Kilian Scrum Master, Maximilian verantwortet BPMN, Jakob die Qualität. Alles Schriftliche liegt in einem GitHub-Repository; jede Änderung geht über einen eigenen Branch, einen Pull Request und ein Review durch eine zweite Person. Das Trello-Board hat eine Liste je Termin und eine Karte je Person und Aufgabe. Jedes Diagramm ist denselben Weg gegangen: Entwurf im Zweierteam, gegenseitiges Review, Abstimmung im Gruppentermin und erst dann die Umsetzung über einen Pull Request. Entscheidungen, die mehrere betreffen, stehen mit Begründung und Datum im Entscheidungslog; so konnten wir bei jeder Korrektur nachvollziehen, warum ein Modell so aussieht.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738043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(60 s)</a:t>
            </a:r>
          </a:p>
          <a:p/>
          <a:p>
            <a:r>
              <a:t>Zum Schluss der Blick nach vorn. RepairFlow wird als Abo je Filiale angeboten, in zwei Stufen: Basis mit Auftrags- und Kundenverwaltung, Pro mit filialübergreifender Disposition und KI-Sofortdiagnose. Zielkunden sind unabhängige Werkstätten und kleine Ketten mit zwei bis zehn Filialen im deutschsprachigen Raum, also genau die Betriebe mit den vier Problemen vom Anfang. Der Ausblick geht in drei Richtungen: Predictive Disposition, also eine Bedarfsprognose je Filiale und Saison. Ein Techniker-Copilot, der Reparaturschritte aus der Historie vorschlägt. Und eine digitale Geräteakte, in der jedes Gerät seine Reparaturgeschichte behält. Nichts davon ist modelliert, aber alles baut auf dem Datenmodell auf, das wir heute vorgestellt haben.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(30 s)</a:t>
            </a:r>
          </a:p>
          <a:p/>
          <a:p>
            <a:r>
              <a:t>RepairFlow löst den Medienbruch aus Papier, Excel und Telefon und macht den Reparaturauftrag zum zentralen Zustandsautomaten. Der fachliche Mehrwert liegt in der filialübergreifenden Disposition und in der KI-Sofortdiagnose, die dem Kunden Klarheit gibt, bevor er die Werkstatt betritt. Vielen Dank für Ihre Aufmerksamkeit. Wir freuen uns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
Pflichtangabe für den PDF-Export laut Ablauf: welche/r Vortragende welchen Beitrag verantwortet.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Vortragende(r): David (55 s)</a:t>
            </a:r>
          </a:p>
          <a:p/>
          <a:p>
            <a:r>
              <a:t>Was hat die Werkstatt davon? Drei Dinge. Erstens: eine Plattform für alle drei Gerätearten, mit einer Kundenbasis und einem gemeinsamen Ersatzteillager. Zweitens: filialübergreifende Disposition. RepairFlow kennt die Bestände aller Standorte, reserviert dort, wo das Teil liegt, und bestellt nur, was nirgends vorhanden ist. Drittens: Der Kunde bekommt Klarheit, bevor er die Werkstatt betritt, mit Diagnosevorschlag, vorläufigem Kostenvoranschlag und Termin. Für die Werkstatt heißt das weniger Telefon, weniger Standzeit im Lager und eine Auslastung, die sie wirklich sieht. Wie das für einen einzelnen Auftrag aussieht, zeigt Kilian.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Vortragende(r): Maximilian (70 s)</a:t>
            </a:r>
          </a:p>
          <a:p/>
          <a:p>
            <a:r>
              <a:t>Wir starten mit der Sofortdiagnose aus Kundensicht. Der Kunde wählt sein Gerät, beschreibt das Problem und lädt ein Foto hoch; im Modell ist das die Voranmeldung mit dem Medienanhang. Der KI-Dienst antwortet mit Ursache, benötigten Teilen und einer Konfidenz, das ist der KIDiagnosevorschlag. RepairFlow rechnet daraus das Angebot, deutlich als vorläufig markiert, und schlägt Filiale und Termin vor. Bestätigt der Kunde, sind die Teile vorreserviert und die Voranmeldung steht. Der eigentliche Reparaturauftrag entsteht erst, wenn das Gerät in der Filiale abgegeben wird. Zum Schluss sieht der Kunde den Status seines Auftrags entlang derselben Zustände, die Kilian in der Auftragsreise gezeigt hat. Die KI-Antwort ist in der Demo simuliert; Ablauf und Begriffe sind genau die aus unseren Modellen.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svg"/><Relationship Id="rId4" Type="http://schemas.openxmlformats.org/officeDocument/2006/relationships/image" Target="../media/image3.svg"/><Relationship Id="rId5" Type="http://schemas.openxmlformats.org/officeDocument/2006/relationships/image" Target="../media/image4.svg"/><Relationship Id="rId6" Type="http://schemas.openxmlformats.org/officeDocument/2006/relationships/image" Target="../media/image5.svg"/><Relationship Id="rId7" Type="http://schemas.openxmlformats.org/officeDocument/2006/relationships/image" Target="../media/image6.svg"/><Relationship Id="rId8" Type="http://schemas.openxmlformats.org/officeDocument/2006/relationships/image" Target="../media/image7.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0.png"/><Relationship Id="rId6"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svg"/><Relationship Id="rId3" Type="http://schemas.openxmlformats.org/officeDocument/2006/relationships/image" Target="../media/image16.svg"/><Relationship Id="rId4" Type="http://schemas.openxmlformats.org/officeDocument/2006/relationships/image" Target="../media/image17.svg"/><Relationship Id="rId5" Type="http://schemas.openxmlformats.org/officeDocument/2006/relationships/notesSlide" Target="../notesSlides/notesSlide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8.svg"/><Relationship Id="rId4" Type="http://schemas.openxmlformats.org/officeDocument/2006/relationships/image" Target="../media/image19.svg"/><Relationship Id="rId5" Type="http://schemas.openxmlformats.org/officeDocument/2006/relationships/image" Target="../media/image20.svg"/><Relationship Id="rId6" Type="http://schemas.openxmlformats.org/officeDocument/2006/relationships/image" Target="../media/image21.svg"/><Relationship Id="rId7" Type="http://schemas.openxmlformats.org/officeDocument/2006/relationships/image" Target="../media/image22.svg"/><Relationship Id="rId8" Type="http://schemas.openxmlformats.org/officeDocument/2006/relationships/image" Target="../media/image23.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4.svg"/><Relationship Id="rId4" Type="http://schemas.openxmlformats.org/officeDocument/2006/relationships/image" Target="../media/image25.svg"/><Relationship Id="rId5" Type="http://schemas.openxmlformats.org/officeDocument/2006/relationships/image" Target="../media/image26.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7.svg"/><Relationship Id="rId4" Type="http://schemas.openxmlformats.org/officeDocument/2006/relationships/image" Target="../media/image28.svg"/><Relationship Id="rId5" Type="http://schemas.openxmlformats.org/officeDocument/2006/relationships/image" Target="../media/image29.svg"/><Relationship Id="rId6" Type="http://schemas.openxmlformats.org/officeDocument/2006/relationships/image" Target="../media/image30.svg"/><Relationship Id="rId7" Type="http://schemas.openxmlformats.org/officeDocument/2006/relationships/image" Target="../media/image31.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2.svg"/><Relationship Id="rId4" Type="http://schemas.openxmlformats.org/officeDocument/2006/relationships/image" Target="../media/image33.svg"/><Relationship Id="rId5" Type="http://schemas.openxmlformats.org/officeDocument/2006/relationships/image" Target="../media/image34.svg"/><Relationship Id="rId6" Type="http://schemas.openxmlformats.org/officeDocument/2006/relationships/image" Target="../media/image35.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9.png"/><Relationship Id="rId4" Type="http://schemas.openxmlformats.org/officeDocument/2006/relationships/image" Target="../media/image48.png"/><Relationship Id="rId5" Type="http://schemas.openxmlformats.org/officeDocument/2006/relationships/image" Target="../media/image4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0.svg"/><Relationship Id="rId4" Type="http://schemas.openxmlformats.org/officeDocument/2006/relationships/image" Target="../media/image51.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3"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a:t>
            </a:r>
            <a:endParaRPr lang="en-US" sz="900" dirty="0"/>
          </a:p>
        </p:txBody>
      </p:sp>
      <p:sp>
        <p:nvSpPr>
          <p:cNvPr id="5" name="Shape 2"/>
          <p:cNvSpPr/>
          <p:nvPr/>
        </p:nvSpPr>
        <p:spPr>
          <a:xfrm>
            <a:off x="6583680" y="-1097280"/>
            <a:ext cx="4114800" cy="4114800"/>
          </a:xfrm>
          <a:prstGeom prst="ellipse">
            <a:avLst/>
          </a:prstGeom>
          <a:solidFill>
            <a:srgbClr val="147A7A"/>
          </a:solidFill>
          <a:ln w="12700">
            <a:solidFill>
              <a:srgbClr val="147A7A"/>
            </a:solidFill>
            <a:prstDash val="solid"/>
          </a:ln>
        </p:spPr>
        <p:txBody>
          <a:bodyPr/>
          <a:lstStyle/>
          <a:p>
            <a:endParaRPr lang="de-DE"/>
          </a:p>
        </p:txBody>
      </p:sp>
      <p:sp>
        <p:nvSpPr>
          <p:cNvPr id="6" name="Text 3"/>
          <p:cNvSpPr txBox="1"/>
          <p:nvPr/>
        </p:nvSpPr>
        <p:spPr>
          <a:xfrm>
            <a:off x="548640" y="1188720"/>
            <a:ext cx="7315200" cy="100584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RepairFlow</a:t>
            </a:r>
            <a:endParaRPr lang="en-US" sz="5400" dirty="0"/>
          </a:p>
        </p:txBody>
      </p:sp>
      <p:sp>
        <p:nvSpPr>
          <p:cNvPr id="7" name="Text 4"/>
          <p:cNvSpPr txBox="1"/>
          <p:nvPr/>
        </p:nvSpPr>
        <p:spPr>
          <a:xfrm>
            <a:off x="548640" y="2194560"/>
            <a:ext cx="6858000" cy="548640"/>
          </a:xfrm>
          <a:prstGeom prst="rect">
            <a:avLst/>
          </a:prstGeom>
          <a:noFill/>
          <a:ln/>
        </p:spPr>
        <p:txBody>
          <a:bodyPr wrap="square" lIns="0" tIns="0" rIns="0" bIns="0" rtlCol="0" anchor="ctr"/>
          <a:lstStyle/>
          <a:p>
            <a:pPr marL="0" indent="0">
              <a:buNone/>
            </a:pPr>
            <a:r>
              <a:rPr lang="en-US" sz="2000" dirty="0">
                <a:solidFill>
                  <a:srgbClr val="CFE3E3"/>
                </a:solidFill>
                <a:latin typeface="Calibri" pitchFamily="34" charset="0"/>
                <a:ea typeface="Calibri" pitchFamily="34" charset="-122"/>
                <a:cs typeface="Calibri" pitchFamily="34" charset="-120"/>
              </a:rPr>
              <a:t>Werkstatt-Management als SaaS-Plattform mit KI-Sofortdiagnose</a:t>
            </a:r>
            <a:endParaRPr lang="en-US" sz="2000" dirty="0"/>
          </a:p>
        </p:txBody>
      </p:sp>
      <p:sp>
        <p:nvSpPr>
          <p:cNvPr id="8" name="Text 5"/>
          <p:cNvSpPr txBox="1"/>
          <p:nvPr/>
        </p:nvSpPr>
        <p:spPr>
          <a:xfrm>
            <a:off x="548640" y="3017520"/>
            <a:ext cx="7315200" cy="3657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Fallstudie Systemanalyse · Methoden der WI · DHBW Karlsruhe</a:t>
            </a:r>
            <a:endParaRPr lang="en-US" sz="1400" dirty="0"/>
          </a:p>
        </p:txBody>
      </p:sp>
      <p:sp>
        <p:nvSpPr>
          <p:cNvPr id="9" name="Text 6"/>
          <p:cNvSpPr txBox="1"/>
          <p:nvPr/>
        </p:nvSpPr>
        <p:spPr>
          <a:xfrm>
            <a:off x="548640" y="3429000"/>
            <a:ext cx="7863840" cy="548640"/>
          </a:xfrm>
          <a:prstGeom prst="rect">
            <a:avLst/>
          </a:prstGeom>
          <a:noFill/>
          <a:ln/>
        </p:spPr>
        <p:txBody>
          <a:bodyPr wrap="square" lIns="0" tIns="0" rIns="0" bIns="0" rtlCol="0" anchor="ctr"/>
          <a:lstStyle/>
          <a:p>
            <a:pPr marL="0" indent="0">
              <a:buNone/>
            </a:pPr>
            <a:r>
              <a:rPr lang="en-US" sz="1200" dirty="0">
                <a:solidFill>
                  <a:srgbClr val="CFE3E3"/>
                </a:solidFill>
                <a:latin typeface="Calibri" pitchFamily="34" charset="0"/>
                <a:ea typeface="Calibri" pitchFamily="34" charset="-122"/>
                <a:cs typeface="Calibri" pitchFamily="34" charset="-120"/>
              </a:rPr>
              <a:t>Kurs WWI25B4 · Gruppe 1: Maximilian Ewald, David Leismann, Kilian Platter, Nina Sattler, Jakob Schwan, Adrian Wenzler</a:t>
            </a:r>
            <a:endParaRPr lang="en-US" sz="1200" dirty="0"/>
          </a:p>
        </p:txBody>
      </p:sp>
      <p:sp>
        <p:nvSpPr>
          <p:cNvPr id="10" name="Text 7"/>
          <p:cNvSpPr txBox="1"/>
          <p:nvPr/>
        </p:nvSpPr>
        <p:spPr>
          <a:xfrm>
            <a:off x="548640" y="3977640"/>
            <a:ext cx="7863840" cy="365760"/>
          </a:xfrm>
          <a:prstGeom prst="rect">
            <a:avLst/>
          </a:prstGeom>
          <a:noFill/>
          <a:ln/>
        </p:spPr>
        <p:txBody>
          <a:bodyPr wrap="square" lIns="0" tIns="0" rIns="0" bIns="0" rtlCol="0" anchor="ctr"/>
          <a:lstStyle/>
          <a:p>
            <a:pPr marL="0" indent="0">
              <a:buNone/>
            </a:pPr>
            <a:r>
              <a:rPr lang="en-US" sz="1200" dirty="0">
                <a:solidFill>
                  <a:srgbClr val="F2A900"/>
                </a:solidFill>
                <a:latin typeface="Calibri" pitchFamily="34" charset="0"/>
                <a:ea typeface="Calibri" pitchFamily="34" charset="-122"/>
                <a:cs typeface="Calibri" pitchFamily="34" charset="-120"/>
              </a:rPr>
              <a:t>Abschlusspräsentation · 27.10.2026, 09:00 Uhr · Raum B458</a:t>
            </a:r>
            <a:endParaRPr lang="en-US" sz="1200" dirty="0"/>
          </a:p>
        </p:txBody>
      </p:sp>
      <p:sp>
        <p:nvSpPr>
          <p:cNvPr id="11" name="Shape 8"/>
          <p:cNvSpPr/>
          <p:nvPr/>
        </p:nvSpPr>
        <p:spPr>
          <a:xfrm>
            <a:off x="7315200" y="109728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2" name="Image 0" descr="preencoded.png"/>
          <p:cNvPicPr>
            <a:picLocks noChangeAspect="1"/>
          </p:cNvPicPr>
          <p:nvPr/>
        </p:nvPicPr>
        <p:blipFill>
          <a:blip r:embed="rId3"/>
          <a:stretch>
            <a:fillRect/>
          </a:stretch>
        </p:blipFill>
        <p:spPr>
          <a:xfrm>
            <a:off x="7543800" y="132588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3"/>
          <p:cNvSpPr txBox="1"/>
          <p:nvPr/>
        </p:nvSpPr>
        <p:spPr>
          <a:xfrm>
            <a:off x="548640" y="974222"/>
            <a:ext cx="3657600" cy="274320"/>
          </a:xfrm>
          <a:prstGeom prst="rect">
            <a:avLst/>
          </a:prstGeom>
          <a:noFill/>
          <a:ln/>
        </p:spPr>
        <p:txBody>
          <a:bodyPr wrap="square" lIns="0" tIns="0" rIns="0" bIns="0" rtlCol="0" anchor="ctr"/>
          <a:lstStyle/>
          <a:p>
            <a:pPr marL="0" indent="0">
              <a:buNone/>
            </a:pPr>
            <a:r>
              <a:rPr lang="en-US" sz="1100" b="1" dirty="0">
                <a:solidFill>
                  <a:schemeClr val="accent2">
                    <a:lumMod val="75000"/>
                  </a:schemeClr>
                </a:solidFill>
                <a:latin typeface="Calibri" pitchFamily="34" charset="0"/>
                <a:ea typeface="Calibri" pitchFamily="34" charset="-122"/>
                <a:cs typeface="Calibri" pitchFamily="34" charset="-120"/>
              </a:rPr>
              <a:t>Teil 1: der Pitch</a:t>
            </a:r>
            <a:endParaRPr lang="en-US" sz="1100" dirty="0">
              <a:solidFill>
                <a:schemeClr val="accent2">
                  <a:lumMod val="75000"/>
                </a:schemeClr>
              </a:solidFill>
            </a:endParaRPr>
          </a:p>
        </p:txBody>
      </p:sp>
      <p:sp>
        <p:nvSpPr>
          <p:cNvPr id="7" name="Shape 4"/>
          <p:cNvSpPr/>
          <p:nvPr/>
        </p:nvSpPr>
        <p:spPr>
          <a:xfrm>
            <a:off x="548640" y="1294262"/>
            <a:ext cx="384048" cy="384048"/>
          </a:xfrm>
          <a:prstGeom prst="ellipse">
            <a:avLst/>
          </a:prstGeom>
          <a:solidFill>
            <a:schemeClr val="accent2">
              <a:lumMod val="50000"/>
            </a:schemeClr>
          </a:solidFill>
          <a:ln w="12700">
            <a:noFill/>
            <a:prstDash val="solid"/>
          </a:ln>
        </p:spPr>
        <p:txBody>
          <a:bodyPr/>
          <a:lstStyle/>
          <a:p>
            <a:endParaRPr lang="de-DE"/>
          </a:p>
        </p:txBody>
      </p:sp>
      <p:sp>
        <p:nvSpPr>
          <p:cNvPr id="9" name="Text 6"/>
          <p:cNvSpPr txBox="1"/>
          <p:nvPr/>
        </p:nvSpPr>
        <p:spPr>
          <a:xfrm>
            <a:off x="1097280" y="1294262"/>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Das Problem: Werkstätten heute</a:t>
            </a:r>
            <a:endParaRPr lang="en-US" sz="1500" dirty="0"/>
          </a:p>
        </p:txBody>
      </p:sp>
      <p:sp>
        <p:nvSpPr>
          <p:cNvPr id="10" name="Text 7"/>
          <p:cNvSpPr txBox="1"/>
          <p:nvPr/>
        </p:nvSpPr>
        <p:spPr>
          <a:xfrm>
            <a:off x="6514461" y="1294262"/>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a:t>
            </a:r>
            <a:endParaRPr lang="en-US" sz="1200" dirty="0"/>
          </a:p>
        </p:txBody>
      </p:sp>
      <p:sp>
        <p:nvSpPr>
          <p:cNvPr id="11" name="Shape 8"/>
          <p:cNvSpPr/>
          <p:nvPr/>
        </p:nvSpPr>
        <p:spPr>
          <a:xfrm>
            <a:off x="548640" y="1724030"/>
            <a:ext cx="384048" cy="384048"/>
          </a:xfrm>
          <a:prstGeom prst="ellipse">
            <a:avLst/>
          </a:prstGeom>
          <a:solidFill>
            <a:schemeClr val="accent2">
              <a:lumMod val="50000"/>
            </a:schemeClr>
          </a:solidFill>
          <a:ln w="12700">
            <a:noFill/>
            <a:prstDash val="solid"/>
          </a:ln>
        </p:spPr>
        <p:txBody>
          <a:bodyPr/>
          <a:lstStyle/>
          <a:p>
            <a:endParaRPr lang="de-DE"/>
          </a:p>
        </p:txBody>
      </p:sp>
      <p:sp>
        <p:nvSpPr>
          <p:cNvPr id="13" name="Text 10"/>
          <p:cNvSpPr txBox="1"/>
          <p:nvPr/>
        </p:nvSpPr>
        <p:spPr>
          <a:xfrm>
            <a:off x="1097280" y="172403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RepairFlow: Lösung, Nutzen, Auftragsreise, KI-Sofortdiagnose mit Live-Demo</a:t>
            </a:r>
            <a:endParaRPr lang="en-US" sz="1500" dirty="0"/>
          </a:p>
        </p:txBody>
      </p:sp>
      <p:sp>
        <p:nvSpPr>
          <p:cNvPr id="14" name="Text 11"/>
          <p:cNvSpPr txBox="1"/>
          <p:nvPr/>
        </p:nvSpPr>
        <p:spPr>
          <a:xfrm>
            <a:off x="6514461" y="172403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 Kilian, Maximilian</a:t>
            </a:r>
            <a:endParaRPr lang="en-US" sz="1200" dirty="0"/>
          </a:p>
        </p:txBody>
      </p:sp>
      <p:sp>
        <p:nvSpPr>
          <p:cNvPr id="15" name="Text 12"/>
          <p:cNvSpPr txBox="1"/>
          <p:nvPr/>
        </p:nvSpPr>
        <p:spPr>
          <a:xfrm>
            <a:off x="548640" y="2323519"/>
            <a:ext cx="3657600" cy="274320"/>
          </a:xfrm>
          <a:prstGeom prst="rect">
            <a:avLst/>
          </a:prstGeom>
          <a:noFill/>
          <a:ln/>
        </p:spPr>
        <p:txBody>
          <a:bodyPr wrap="square" lIns="0" tIns="0" rIns="0" bIns="0" rtlCol="0" anchor="ctr"/>
          <a:lstStyle/>
          <a:p>
            <a:pPr marL="0" indent="0">
              <a:buNone/>
            </a:pPr>
            <a:r>
              <a:rPr lang="en-US" sz="1100" b="1" dirty="0">
                <a:solidFill>
                  <a:schemeClr val="accent2">
                    <a:lumMod val="75000"/>
                  </a:schemeClr>
                </a:solidFill>
                <a:latin typeface="Calibri" pitchFamily="34" charset="0"/>
                <a:ea typeface="Calibri" pitchFamily="34" charset="-122"/>
                <a:cs typeface="Calibri" pitchFamily="34" charset="-120"/>
              </a:rPr>
              <a:t>Teil 2: was dahintersteckt</a:t>
            </a:r>
            <a:endParaRPr lang="en-US" sz="1100" dirty="0">
              <a:solidFill>
                <a:schemeClr val="accent2">
                  <a:lumMod val="75000"/>
                </a:schemeClr>
              </a:solidFill>
            </a:endParaRPr>
          </a:p>
        </p:txBody>
      </p:sp>
      <p:sp>
        <p:nvSpPr>
          <p:cNvPr id="16" name="Shape 13"/>
          <p:cNvSpPr/>
          <p:nvPr/>
        </p:nvSpPr>
        <p:spPr>
          <a:xfrm>
            <a:off x="548640" y="2616127"/>
            <a:ext cx="384048" cy="384048"/>
          </a:xfrm>
          <a:prstGeom prst="ellipse">
            <a:avLst/>
          </a:prstGeom>
          <a:solidFill>
            <a:schemeClr val="accent2">
              <a:lumMod val="50000"/>
            </a:schemeClr>
          </a:solidFill>
          <a:ln w="12700">
            <a:noFill/>
            <a:prstDash val="solid"/>
          </a:ln>
        </p:spPr>
        <p:txBody>
          <a:bodyPr/>
          <a:lstStyle/>
          <a:p>
            <a:endParaRPr lang="de-DE"/>
          </a:p>
        </p:txBody>
      </p:sp>
      <p:sp>
        <p:nvSpPr>
          <p:cNvPr id="18" name="Text 15"/>
          <p:cNvSpPr txBox="1"/>
          <p:nvPr/>
        </p:nvSpPr>
        <p:spPr>
          <a:xfrm>
            <a:off x="1097280" y="2616127"/>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zehn Geschäftsprozesse</a:t>
            </a:r>
            <a:endParaRPr lang="en-US" sz="1500" dirty="0"/>
          </a:p>
        </p:txBody>
      </p:sp>
      <p:sp>
        <p:nvSpPr>
          <p:cNvPr id="19" name="Text 16"/>
          <p:cNvSpPr txBox="1"/>
          <p:nvPr/>
        </p:nvSpPr>
        <p:spPr>
          <a:xfrm>
            <a:off x="6514461" y="2616127"/>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Maximilian, Adrian</a:t>
            </a:r>
            <a:endParaRPr lang="en-US" sz="1200" dirty="0"/>
          </a:p>
        </p:txBody>
      </p:sp>
      <p:sp>
        <p:nvSpPr>
          <p:cNvPr id="20" name="Shape 17"/>
          <p:cNvSpPr/>
          <p:nvPr/>
        </p:nvSpPr>
        <p:spPr>
          <a:xfrm>
            <a:off x="548640" y="3045895"/>
            <a:ext cx="384048" cy="384048"/>
          </a:xfrm>
          <a:prstGeom prst="ellipse">
            <a:avLst/>
          </a:prstGeom>
          <a:solidFill>
            <a:schemeClr val="accent2">
              <a:lumMod val="50000"/>
            </a:schemeClr>
          </a:solidFill>
          <a:ln w="12700">
            <a:noFill/>
            <a:prstDash val="solid"/>
          </a:ln>
        </p:spPr>
        <p:txBody>
          <a:bodyPr/>
          <a:lstStyle/>
          <a:p>
            <a:endParaRPr lang="de-DE"/>
          </a:p>
        </p:txBody>
      </p:sp>
      <p:sp>
        <p:nvSpPr>
          <p:cNvPr id="22" name="Text 19"/>
          <p:cNvSpPr txBox="1"/>
          <p:nvPr/>
        </p:nvSpPr>
        <p:spPr>
          <a:xfrm>
            <a:off x="1097280" y="3045895"/>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Rollen, Use Cases und Datenmodell</a:t>
            </a:r>
            <a:endParaRPr lang="en-US" sz="1500" dirty="0"/>
          </a:p>
        </p:txBody>
      </p:sp>
      <p:sp>
        <p:nvSpPr>
          <p:cNvPr id="23" name="Text 20"/>
          <p:cNvSpPr txBox="1"/>
          <p:nvPr/>
        </p:nvSpPr>
        <p:spPr>
          <a:xfrm>
            <a:off x="6514461" y="3045895"/>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Kilian</a:t>
            </a:r>
            <a:endParaRPr lang="en-US" sz="1200" dirty="0"/>
          </a:p>
        </p:txBody>
      </p:sp>
      <p:sp>
        <p:nvSpPr>
          <p:cNvPr id="28" name="Shape 25"/>
          <p:cNvSpPr/>
          <p:nvPr/>
        </p:nvSpPr>
        <p:spPr>
          <a:xfrm>
            <a:off x="548640" y="3478140"/>
            <a:ext cx="384048" cy="384048"/>
          </a:xfrm>
          <a:prstGeom prst="ellipse">
            <a:avLst/>
          </a:prstGeom>
          <a:solidFill>
            <a:schemeClr val="accent2">
              <a:lumMod val="50000"/>
            </a:schemeClr>
          </a:solidFill>
          <a:ln w="12700">
            <a:noFill/>
            <a:prstDash val="solid"/>
          </a:ln>
        </p:spPr>
        <p:txBody>
          <a:bodyPr/>
          <a:lstStyle/>
          <a:p>
            <a:endParaRPr lang="de-DE"/>
          </a:p>
        </p:txBody>
      </p:sp>
      <p:sp>
        <p:nvSpPr>
          <p:cNvPr id="30" name="Text 27"/>
          <p:cNvSpPr txBox="1"/>
          <p:nvPr/>
        </p:nvSpPr>
        <p:spPr>
          <a:xfrm>
            <a:off x="1097280" y="347814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Qualität, </a:t>
            </a:r>
            <a:r>
              <a:rPr lang="en-US" sz="1500" dirty="0" err="1">
                <a:solidFill>
                  <a:srgbClr val="1B2430"/>
                </a:solidFill>
                <a:latin typeface="Calibri" pitchFamily="34" charset="0"/>
                <a:ea typeface="Calibri" pitchFamily="34" charset="-122"/>
                <a:cs typeface="Calibri" pitchFamily="34" charset="-120"/>
              </a:rPr>
              <a:t>Herausforderungen</a:t>
            </a:r>
            <a:r>
              <a:rPr lang="en-US" sz="1500" dirty="0">
                <a:solidFill>
                  <a:srgbClr val="1B2430"/>
                </a:solidFill>
                <a:latin typeface="Calibri" pitchFamily="34" charset="0"/>
                <a:ea typeface="Calibri" pitchFamily="34" charset="-122"/>
                <a:cs typeface="Calibri" pitchFamily="34" charset="-120"/>
              </a:rPr>
              <a:t>, </a:t>
            </a:r>
            <a:r>
              <a:rPr lang="en-US" sz="1500" dirty="0" err="1">
                <a:solidFill>
                  <a:srgbClr val="1B2430"/>
                </a:solidFill>
                <a:latin typeface="Calibri" pitchFamily="34" charset="0"/>
                <a:ea typeface="Calibri" pitchFamily="34" charset="-122"/>
                <a:cs typeface="Calibri" pitchFamily="34" charset="-120"/>
              </a:rPr>
              <a:t>Lernerfahrungen</a:t>
            </a:r>
            <a:r>
              <a:rPr lang="en-US" sz="1500" dirty="0">
                <a:solidFill>
                  <a:srgbClr val="1B2430"/>
                </a:solidFill>
                <a:latin typeface="Calibri" pitchFamily="34" charset="0"/>
                <a:ea typeface="Calibri" pitchFamily="34" charset="-122"/>
                <a:cs typeface="Calibri" pitchFamily="34" charset="-120"/>
              </a:rPr>
              <a:t>, </a:t>
            </a:r>
            <a:r>
              <a:rPr lang="en-US" sz="1500" dirty="0" err="1">
                <a:solidFill>
                  <a:srgbClr val="1B2430"/>
                </a:solidFill>
                <a:latin typeface="Calibri" pitchFamily="34" charset="0"/>
                <a:ea typeface="Calibri" pitchFamily="34" charset="-122"/>
                <a:cs typeface="Calibri" pitchFamily="34" charset="-120"/>
              </a:rPr>
              <a:t>Projektmanagement</a:t>
            </a:r>
            <a:endParaRPr lang="en-US" sz="1500" dirty="0"/>
          </a:p>
        </p:txBody>
      </p:sp>
      <p:sp>
        <p:nvSpPr>
          <p:cNvPr id="31" name="Text 28"/>
          <p:cNvSpPr txBox="1"/>
          <p:nvPr/>
        </p:nvSpPr>
        <p:spPr>
          <a:xfrm>
            <a:off x="6514461" y="347814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Jakob, Nina</a:t>
            </a:r>
            <a:endParaRPr lang="en-US" sz="1200" dirty="0"/>
          </a:p>
        </p:txBody>
      </p:sp>
      <p:sp>
        <p:nvSpPr>
          <p:cNvPr id="32" name="Shape 29"/>
          <p:cNvSpPr/>
          <p:nvPr/>
        </p:nvSpPr>
        <p:spPr>
          <a:xfrm>
            <a:off x="548640" y="3899363"/>
            <a:ext cx="384048" cy="384048"/>
          </a:xfrm>
          <a:prstGeom prst="ellipse">
            <a:avLst/>
          </a:prstGeom>
          <a:solidFill>
            <a:schemeClr val="accent2">
              <a:lumMod val="50000"/>
            </a:schemeClr>
          </a:solidFill>
          <a:ln w="12700">
            <a:noFill/>
            <a:prstDash val="solid"/>
          </a:ln>
        </p:spPr>
        <p:txBody>
          <a:bodyPr/>
          <a:lstStyle/>
          <a:p>
            <a:endParaRPr lang="de-DE"/>
          </a:p>
        </p:txBody>
      </p:sp>
      <p:sp>
        <p:nvSpPr>
          <p:cNvPr id="34" name="Text 31"/>
          <p:cNvSpPr txBox="1"/>
          <p:nvPr/>
        </p:nvSpPr>
        <p:spPr>
          <a:xfrm>
            <a:off x="1097280" y="3899363"/>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Geschäftsmodell, Ausblick und Fazit</a:t>
            </a:r>
            <a:endParaRPr lang="en-US" sz="1500" dirty="0"/>
          </a:p>
        </p:txBody>
      </p:sp>
      <p:sp>
        <p:nvSpPr>
          <p:cNvPr id="35" name="Text 32"/>
          <p:cNvSpPr txBox="1"/>
          <p:nvPr/>
        </p:nvSpPr>
        <p:spPr>
          <a:xfrm>
            <a:off x="6514461" y="3899363"/>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Nina</a:t>
            </a:r>
            <a:endParaRPr lang="en-US" sz="1200" dirty="0"/>
          </a:p>
        </p:txBody>
      </p:sp>
      <p:sp>
        <p:nvSpPr>
          <p:cNvPr id="5" name="Text 0">
            <a:extLst>
              <a:ext uri="{FF2B5EF4-FFF2-40B4-BE49-F238E27FC236}">
                <a16:creationId xmlns:a16="http://schemas.microsoft.com/office/drawing/2014/main" id="{20CE692E-F865-BE81-16AB-382C01B4A47B}"/>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Agenda</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pic>
        <p:nvPicPr>
          <p:cNvPr id="37" name="Grafik 36" descr="Zukunft mit einfarbiger Füllung">
            <a:extLst>
              <a:ext uri="{FF2B5EF4-FFF2-40B4-BE49-F238E27FC236}">
                <a16:creationId xmlns:a16="http://schemas.microsoft.com/office/drawing/2014/main" id="{1BFD9E94-99C0-84C0-52AE-EA6A5FD7D20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8529" y="3911387"/>
            <a:ext cx="360000" cy="360000"/>
          </a:xfrm>
          <a:prstGeom prst="rect">
            <a:avLst/>
          </a:prstGeom>
        </p:spPr>
      </p:pic>
      <p:pic>
        <p:nvPicPr>
          <p:cNvPr id="39" name="Grafik 38" descr="Stern mit einfarbiger Füllung">
            <a:extLst>
              <a:ext uri="{FF2B5EF4-FFF2-40B4-BE49-F238E27FC236}">
                <a16:creationId xmlns:a16="http://schemas.microsoft.com/office/drawing/2014/main" id="{927C4290-BCF6-8A19-DCBC-758F4B69175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8529" y="3490673"/>
            <a:ext cx="360000" cy="360000"/>
          </a:xfrm>
          <a:prstGeom prst="rect">
            <a:avLst/>
          </a:prstGeom>
        </p:spPr>
      </p:pic>
      <p:pic>
        <p:nvPicPr>
          <p:cNvPr id="43" name="Grafik 42" descr="Benutzer mit einfarbiger Füllung">
            <a:extLst>
              <a:ext uri="{FF2B5EF4-FFF2-40B4-BE49-F238E27FC236}">
                <a16:creationId xmlns:a16="http://schemas.microsoft.com/office/drawing/2014/main" id="{DB491CEB-F48C-8B4B-C1EC-C069BE69844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8529" y="3059981"/>
            <a:ext cx="360000" cy="360000"/>
          </a:xfrm>
          <a:prstGeom prst="rect">
            <a:avLst/>
          </a:prstGeom>
        </p:spPr>
      </p:pic>
      <p:pic>
        <p:nvPicPr>
          <p:cNvPr id="45" name="Grafik 44" descr="Liste mit einfarbiger Füllung">
            <a:extLst>
              <a:ext uri="{FF2B5EF4-FFF2-40B4-BE49-F238E27FC236}">
                <a16:creationId xmlns:a16="http://schemas.microsoft.com/office/drawing/2014/main" id="{96972706-3AAB-1AE8-6ED5-CB256454415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0983" y="2645590"/>
            <a:ext cx="324000" cy="324000"/>
          </a:xfrm>
          <a:prstGeom prst="rect">
            <a:avLst/>
          </a:prstGeom>
        </p:spPr>
      </p:pic>
      <p:pic>
        <p:nvPicPr>
          <p:cNvPr id="47" name="Grafik 46" descr="Kreis mit Pfeil nach links mit einfarbiger Füllung">
            <a:extLst>
              <a:ext uri="{FF2B5EF4-FFF2-40B4-BE49-F238E27FC236}">
                <a16:creationId xmlns:a16="http://schemas.microsoft.com/office/drawing/2014/main" id="{189E8E0A-64C9-65CB-10AC-7C2B1A8DE96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60664" y="1736054"/>
            <a:ext cx="360000" cy="360000"/>
          </a:xfrm>
          <a:prstGeom prst="rect">
            <a:avLst/>
          </a:prstGeom>
        </p:spPr>
      </p:pic>
      <p:pic>
        <p:nvPicPr>
          <p:cNvPr id="49" name="Grafik 48" descr="Fragezeichen mit einfarbiger Füllung">
            <a:extLst>
              <a:ext uri="{FF2B5EF4-FFF2-40B4-BE49-F238E27FC236}">
                <a16:creationId xmlns:a16="http://schemas.microsoft.com/office/drawing/2014/main" id="{A91F061B-2487-A946-DBEE-FFF7EAAC4C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0664" y="1306286"/>
            <a:ext cx="360000" cy="360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Das Problem: Werkstätten heute</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Text 3"/>
          <p:cNvSpPr txBox="1"/>
          <p:nvPr/>
        </p:nvSpPr>
        <p:spPr>
          <a:xfrm>
            <a:off x="457200" y="960120"/>
            <a:ext cx="8229600" cy="640080"/>
          </a:xfrm>
          <a:prstGeom prst="rect">
            <a:avLst/>
          </a:prstGeom>
          <a:noFill/>
          <a:ln/>
        </p:spPr>
        <p:txBody>
          <a:bodyPr wrap="square" lIns="0" tIns="0" rIns="0" bIns="0" rtlCol="0" anchor="ctr"/>
          <a:lstStyle/>
          <a:p>
            <a:pPr marL="0" indent="0">
              <a:buNone/>
            </a:pPr>
            <a:r>
              <a:rPr lang="en-US" sz="1300" dirty="0">
                <a:solidFill>
                  <a:srgbClr val="1B2430"/>
                </a:solidFill>
                <a:latin typeface="Segoe UI" panose="020B0502040204020203" pitchFamily="34" charset="0"/>
                <a:ea typeface="Calibri" pitchFamily="34" charset="-122"/>
                <a:cs typeface="Segoe UI" panose="020B0502040204020203" pitchFamily="34" charset="0"/>
              </a:rPr>
              <a:t>Unser Szenario: Die Werkstattkette FixWerk GmbH (vier Filialen, Fahrrad, E-Bike und Elektronik) arbeitet mit Papier, Excel-Listen und Telefon. Daraus folgen vier Probleme:</a:t>
            </a:r>
            <a:endParaRPr lang="en-US" sz="1300" dirty="0">
              <a:latin typeface="Segoe UI" panose="020B0502040204020203" pitchFamily="34" charset="0"/>
              <a:cs typeface="Segoe UI" panose="020B0502040204020203" pitchFamily="34" charset="0"/>
            </a:endParaRPr>
          </a:p>
        </p:txBody>
      </p:sp>
      <p:sp>
        <p:nvSpPr>
          <p:cNvPr id="8" name="Shape 5"/>
          <p:cNvSpPr/>
          <p:nvPr/>
        </p:nvSpPr>
        <p:spPr>
          <a:xfrm>
            <a:off x="640080" y="192024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9" name="Image 0" descr="preencoded.png"/>
          <p:cNvPicPr>
            <a:picLocks noChangeAspect="1"/>
          </p:cNvPicPr>
          <p:nvPr/>
        </p:nvPicPr>
        <p:blipFill>
          <a:blip r:embed="rId3"/>
          <a:stretch>
            <a:fillRect/>
          </a:stretch>
        </p:blipFill>
        <p:spPr>
          <a:xfrm>
            <a:off x="754380" y="2034540"/>
            <a:ext cx="228600" cy="228600"/>
          </a:xfrm>
          <a:prstGeom prst="rect">
            <a:avLst/>
          </a:prstGeom>
        </p:spPr>
      </p:pic>
      <p:sp>
        <p:nvSpPr>
          <p:cNvPr id="10" name="Text 6"/>
          <p:cNvSpPr txBox="1"/>
          <p:nvPr/>
        </p:nvSpPr>
        <p:spPr>
          <a:xfrm>
            <a:off x="1234440" y="1901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Kunden hören nichts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7"/>
          <p:cNvSpPr txBox="1"/>
          <p:nvPr/>
        </p:nvSpPr>
        <p:spPr>
          <a:xfrm>
            <a:off x="64008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Keine zuverlässige Info, wann ein Kostenvoranschlag freizugeben oder das Gerät abholbereit ist. Rückfragen per Telefon, Geräte stehen wochenlang im Lager.</a:t>
            </a:r>
            <a:endParaRPr lang="en-US" sz="1150" dirty="0">
              <a:latin typeface="Segoe UI" panose="020B0502040204020203" pitchFamily="34" charset="0"/>
              <a:cs typeface="Segoe UI" panose="020B0502040204020203" pitchFamily="34" charset="0"/>
            </a:endParaRPr>
          </a:p>
        </p:txBody>
      </p:sp>
      <p:sp>
        <p:nvSpPr>
          <p:cNvPr id="13" name="Shape 9"/>
          <p:cNvSpPr/>
          <p:nvPr/>
        </p:nvSpPr>
        <p:spPr>
          <a:xfrm>
            <a:off x="4892040" y="192024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4" name="Image 1" descr="preencoded.png"/>
          <p:cNvPicPr>
            <a:picLocks noChangeAspect="1"/>
          </p:cNvPicPr>
          <p:nvPr/>
        </p:nvPicPr>
        <p:blipFill>
          <a:blip r:embed="rId4"/>
          <a:stretch>
            <a:fillRect/>
          </a:stretch>
        </p:blipFill>
        <p:spPr>
          <a:xfrm>
            <a:off x="5006340" y="2034540"/>
            <a:ext cx="228600" cy="228600"/>
          </a:xfrm>
          <a:prstGeom prst="rect">
            <a:avLst/>
          </a:prstGeom>
        </p:spPr>
      </p:pic>
      <p:sp>
        <p:nvSpPr>
          <p:cNvPr id="15" name="Text 10"/>
          <p:cNvSpPr txBox="1"/>
          <p:nvPr/>
        </p:nvSpPr>
        <p:spPr>
          <a:xfrm>
            <a:off x="5486400" y="1901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Kein Auftragsstatus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6" name="Text 11"/>
          <p:cNvSpPr txBox="1"/>
          <p:nvPr/>
        </p:nvSpPr>
        <p:spPr>
          <a:xfrm>
            <a:off x="489204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Wer wissen will, wo ein Gerät steht, fragt in der Werkstatt nach. Papierzettel und Excel-Listen laufen auseinander.</a:t>
            </a:r>
            <a:endParaRPr lang="en-US" sz="1150" dirty="0">
              <a:latin typeface="Segoe UI" panose="020B0502040204020203" pitchFamily="34" charset="0"/>
              <a:cs typeface="Segoe UI" panose="020B0502040204020203" pitchFamily="34" charset="0"/>
            </a:endParaRPr>
          </a:p>
        </p:txBody>
      </p:sp>
      <p:sp>
        <p:nvSpPr>
          <p:cNvPr id="18" name="Shape 13"/>
          <p:cNvSpPr/>
          <p:nvPr/>
        </p:nvSpPr>
        <p:spPr>
          <a:xfrm>
            <a:off x="640080" y="338328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9" name="Image 2" descr="preencoded.png"/>
          <p:cNvPicPr>
            <a:picLocks noChangeAspect="1"/>
          </p:cNvPicPr>
          <p:nvPr/>
        </p:nvPicPr>
        <p:blipFill>
          <a:blip r:embed="rId5"/>
          <a:stretch>
            <a:fillRect/>
          </a:stretch>
        </p:blipFill>
        <p:spPr>
          <a:xfrm>
            <a:off x="754380" y="3497580"/>
            <a:ext cx="228600" cy="228600"/>
          </a:xfrm>
          <a:prstGeom prst="rect">
            <a:avLst/>
          </a:prstGeom>
        </p:spPr>
      </p:pic>
      <p:sp>
        <p:nvSpPr>
          <p:cNvPr id="20" name="Text 14"/>
          <p:cNvSpPr txBox="1"/>
          <p:nvPr/>
        </p:nvSpPr>
        <p:spPr>
          <a:xfrm>
            <a:off x="1234440" y="336499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Teile doppelt bestellt</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64008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Jede Filiale bestellt für sich, obwohl das Teil in der Nachbarfiliale liegt. Das kostet Lieferzeit und Geld.</a:t>
            </a:r>
            <a:endParaRPr lang="en-US" sz="1150" dirty="0">
              <a:latin typeface="Segoe UI" panose="020B0502040204020203" pitchFamily="34" charset="0"/>
              <a:cs typeface="Segoe UI" panose="020B0502040204020203" pitchFamily="34" charset="0"/>
            </a:endParaRPr>
          </a:p>
        </p:txBody>
      </p:sp>
      <p:sp>
        <p:nvSpPr>
          <p:cNvPr id="23" name="Shape 17"/>
          <p:cNvSpPr/>
          <p:nvPr/>
        </p:nvSpPr>
        <p:spPr>
          <a:xfrm>
            <a:off x="4892040" y="338328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4" name="Image 3" descr="preencoded.png"/>
          <p:cNvPicPr>
            <a:picLocks noChangeAspect="1"/>
          </p:cNvPicPr>
          <p:nvPr/>
        </p:nvPicPr>
        <p:blipFill>
          <a:blip r:embed="rId6"/>
          <a:stretch>
            <a:fillRect/>
          </a:stretch>
        </p:blipFill>
        <p:spPr>
          <a:xfrm>
            <a:off x="5006340" y="3497580"/>
            <a:ext cx="228600" cy="228600"/>
          </a:xfrm>
          <a:prstGeom prst="rect">
            <a:avLst/>
          </a:prstGeom>
        </p:spPr>
      </p:pic>
      <p:sp>
        <p:nvSpPr>
          <p:cNvPr id="25" name="Text 18"/>
          <p:cNvSpPr txBox="1"/>
          <p:nvPr/>
        </p:nvSpPr>
        <p:spPr>
          <a:xfrm>
            <a:off x="5486400" y="336499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Auslastung unsichtbar</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489204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Termine werden nach Gefühl zugesagt, die Kapazität der Techniker kennt niemand genau.</a:t>
            </a:r>
            <a:endParaRPr lang="en-US" sz="1150" dirty="0">
              <a:latin typeface="Segoe UI" panose="020B0502040204020203" pitchFamily="34" charset="0"/>
              <a:cs typeface="Segoe UI" panose="020B0502040204020203"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RepairFlow: die Lösung</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Shape 3"/>
          <p:cNvSpPr/>
          <p:nvPr/>
        </p:nvSpPr>
        <p:spPr>
          <a:xfrm>
            <a:off x="457200" y="960120"/>
            <a:ext cx="8229600" cy="777240"/>
          </a:xfrm>
          <a:prstGeom prst="roundRect">
            <a:avLst>
              <a:gd name="adj" fmla="val 0"/>
            </a:avLst>
          </a:prstGeom>
          <a:solidFill>
            <a:schemeClr val="bg1">
              <a:lumMod val="75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7" name="Text 4"/>
          <p:cNvSpPr txBox="1"/>
          <p:nvPr/>
        </p:nvSpPr>
        <p:spPr>
          <a:xfrm>
            <a:off x="640080" y="960120"/>
            <a:ext cx="7863840" cy="777240"/>
          </a:xfrm>
          <a:prstGeom prst="rect">
            <a:avLst/>
          </a:prstGeom>
          <a:noFill/>
          <a:ln/>
        </p:spPr>
        <p:txBody>
          <a:bodyPr wrap="square" lIns="0" tIns="0" rIns="0" bIns="0" rtlCol="0" anchor="ctr"/>
          <a:lstStyle/>
          <a:p>
            <a:pPr marL="0" indent="0">
              <a:buNone/>
            </a:pPr>
            <a:r>
              <a:rPr lang="en-US" sz="1400" b="1" dirty="0">
                <a:solidFill>
                  <a:srgbClr val="FFFFFF"/>
                </a:solidFill>
                <a:latin typeface="Segoe UI" panose="020B0502040204020203" pitchFamily="34" charset="0"/>
                <a:ea typeface="Calibri" pitchFamily="34" charset="-122"/>
                <a:cs typeface="Segoe UI" panose="020B0502040204020203" pitchFamily="34" charset="0"/>
              </a:rPr>
              <a:t>Eine Cloud-Plattform für den gesamten Reparatur-Lebenszyklus: von der Anfrage per App bis zur Abholung und Reklamation. Wir sind das Software-Startup, FixWerk ist unser Pilotkunde.</a:t>
            </a:r>
            <a:endParaRPr lang="en-US" sz="1400" dirty="0">
              <a:latin typeface="Segoe UI" panose="020B0502040204020203" pitchFamily="34" charset="0"/>
              <a:cs typeface="Segoe UI" panose="020B0502040204020203" pitchFamily="34" charset="0"/>
            </a:endParaRPr>
          </a:p>
        </p:txBody>
      </p:sp>
      <p:sp>
        <p:nvSpPr>
          <p:cNvPr id="9" name="Shape 6"/>
          <p:cNvSpPr/>
          <p:nvPr/>
        </p:nvSpPr>
        <p:spPr>
          <a:xfrm>
            <a:off x="64008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0" name="Image 0" descr="preencoded.png"/>
          <p:cNvPicPr>
            <a:picLocks noChangeAspect="1"/>
          </p:cNvPicPr>
          <p:nvPr/>
        </p:nvPicPr>
        <p:blipFill>
          <a:blip r:embed="rId3"/>
          <a:stretch>
            <a:fillRect/>
          </a:stretch>
        </p:blipFill>
        <p:spPr>
          <a:xfrm>
            <a:off x="754380" y="2217420"/>
            <a:ext cx="228600" cy="228600"/>
          </a:xfrm>
          <a:prstGeom prst="rect">
            <a:avLst/>
          </a:prstGeom>
        </p:spPr>
      </p:pic>
      <p:sp>
        <p:nvSpPr>
          <p:cNvPr id="11" name="Text 7"/>
          <p:cNvSpPr txBox="1"/>
          <p:nvPr/>
        </p:nvSpPr>
        <p:spPr>
          <a:xfrm>
            <a:off x="1234440" y="2084832"/>
            <a:ext cx="11658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Kundenportal</a:t>
            </a:r>
            <a:endParaRPr lang="en-US" sz="1400" dirty="0">
              <a:latin typeface="Segoe UI" panose="020B0502040204020203" pitchFamily="34" charset="0"/>
              <a:cs typeface="Segoe UI" panose="020B0502040204020203" pitchFamily="34" charset="0"/>
            </a:endParaRPr>
          </a:p>
        </p:txBody>
      </p:sp>
      <p:sp>
        <p:nvSpPr>
          <p:cNvPr id="12" name="Text 8"/>
          <p:cNvSpPr txBox="1"/>
          <p:nvPr/>
        </p:nvSpPr>
        <p:spPr>
          <a:xfrm>
            <a:off x="64008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App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mit</a:t>
            </a:r>
            <a:r>
              <a:rPr lang="en-US" sz="1050" dirty="0">
                <a:solidFill>
                  <a:srgbClr val="1B2430"/>
                </a:solidFill>
                <a:latin typeface="Segoe UI" panose="020B0502040204020203" pitchFamily="34" charset="0"/>
                <a:ea typeface="Calibri" pitchFamily="34" charset="-122"/>
                <a:cs typeface="Segoe UI" panose="020B0502040204020203" pitchFamily="34" charset="0"/>
              </a:rPr>
              <a:t>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Sofortdiagnose</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Voranmeldung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KVA-</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Freigabe</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Statusmeldungen</a:t>
            </a:r>
            <a:endParaRPr lang="en-US" sz="1050" dirty="0">
              <a:latin typeface="Segoe UI" panose="020B0502040204020203" pitchFamily="34" charset="0"/>
              <a:cs typeface="Segoe UI" panose="020B0502040204020203" pitchFamily="34" charset="0"/>
            </a:endParaRPr>
          </a:p>
        </p:txBody>
      </p:sp>
      <p:sp>
        <p:nvSpPr>
          <p:cNvPr id="14" name="Shape 10"/>
          <p:cNvSpPr/>
          <p:nvPr/>
        </p:nvSpPr>
        <p:spPr>
          <a:xfrm>
            <a:off x="274320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5" name="Image 1" descr="preencoded.png"/>
          <p:cNvPicPr>
            <a:picLocks noChangeAspect="1"/>
          </p:cNvPicPr>
          <p:nvPr/>
        </p:nvPicPr>
        <p:blipFill>
          <a:blip r:embed="rId4"/>
          <a:stretch>
            <a:fillRect/>
          </a:stretch>
        </p:blipFill>
        <p:spPr>
          <a:xfrm>
            <a:off x="2857500" y="2217420"/>
            <a:ext cx="228600" cy="228600"/>
          </a:xfrm>
          <a:prstGeom prst="rect">
            <a:avLst/>
          </a:prstGeom>
        </p:spPr>
      </p:pic>
      <p:sp>
        <p:nvSpPr>
          <p:cNvPr id="16" name="Text 11"/>
          <p:cNvSpPr txBox="1"/>
          <p:nvPr/>
        </p:nvSpPr>
        <p:spPr>
          <a:xfrm>
            <a:off x="333756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Auftrag und Werkstatt</a:t>
            </a:r>
            <a:endParaRPr lang="en-US" sz="1400" dirty="0">
              <a:latin typeface="Segoe UI" panose="020B0502040204020203" pitchFamily="34" charset="0"/>
              <a:cs typeface="Segoe UI" panose="020B0502040204020203" pitchFamily="34" charset="0"/>
            </a:endParaRPr>
          </a:p>
        </p:txBody>
      </p:sp>
      <p:sp>
        <p:nvSpPr>
          <p:cNvPr id="17" name="Text 12"/>
          <p:cNvSpPr txBox="1"/>
          <p:nvPr/>
        </p:nvSpPr>
        <p:spPr>
          <a:xfrm>
            <a:off x="2743200" y="2651760"/>
            <a:ext cx="1600200" cy="914400"/>
          </a:xfrm>
          <a:prstGeom prst="rect">
            <a:avLst/>
          </a:prstGeom>
          <a:noFill/>
          <a:ln/>
        </p:spPr>
        <p:txBody>
          <a:bodyPr wrap="square" lIns="0" tIns="0" rIns="0" bIns="0" rtlCol="0" anchor="t"/>
          <a:lstStyle/>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Auftragsstatus</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Diagnose</a:t>
            </a: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Kostenvoranschlag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Reparaturschritte</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Endkontrolle</a:t>
            </a:r>
            <a:endParaRPr lang="en-US" sz="1050" dirty="0">
              <a:latin typeface="Segoe UI" panose="020B0502040204020203" pitchFamily="34" charset="0"/>
              <a:cs typeface="Segoe UI" panose="020B0502040204020203" pitchFamily="34" charset="0"/>
            </a:endParaRPr>
          </a:p>
        </p:txBody>
      </p:sp>
      <p:sp>
        <p:nvSpPr>
          <p:cNvPr id="19" name="Shape 14"/>
          <p:cNvSpPr/>
          <p:nvPr/>
        </p:nvSpPr>
        <p:spPr>
          <a:xfrm>
            <a:off x="484632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0" name="Image 2" descr="preencoded.png"/>
          <p:cNvPicPr>
            <a:picLocks noChangeAspect="1"/>
          </p:cNvPicPr>
          <p:nvPr/>
        </p:nvPicPr>
        <p:blipFill>
          <a:blip r:embed="rId5"/>
          <a:stretch>
            <a:fillRect/>
          </a:stretch>
        </p:blipFill>
        <p:spPr>
          <a:xfrm>
            <a:off x="4960620" y="2217420"/>
            <a:ext cx="228600" cy="228600"/>
          </a:xfrm>
          <a:prstGeom prst="rect">
            <a:avLst/>
          </a:prstGeom>
        </p:spPr>
      </p:pic>
      <p:sp>
        <p:nvSpPr>
          <p:cNvPr id="21" name="Text 15"/>
          <p:cNvSpPr txBox="1"/>
          <p:nvPr/>
        </p:nvSpPr>
        <p:spPr>
          <a:xfrm>
            <a:off x="544068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Disposition</a:t>
            </a:r>
            <a:endParaRPr lang="en-US" sz="1400" dirty="0">
              <a:latin typeface="Segoe UI" panose="020B0502040204020203" pitchFamily="34" charset="0"/>
              <a:cs typeface="Segoe UI" panose="020B0502040204020203" pitchFamily="34" charset="0"/>
            </a:endParaRPr>
          </a:p>
        </p:txBody>
      </p:sp>
      <p:sp>
        <p:nvSpPr>
          <p:cNvPr id="22" name="Text 16"/>
          <p:cNvSpPr txBox="1"/>
          <p:nvPr/>
        </p:nvSpPr>
        <p:spPr>
          <a:xfrm>
            <a:off x="484632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Bestände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aller</a:t>
            </a:r>
            <a:r>
              <a:rPr lang="en-US" sz="1050" dirty="0">
                <a:solidFill>
                  <a:srgbClr val="1B2430"/>
                </a:solidFill>
                <a:latin typeface="Segoe UI" panose="020B0502040204020203" pitchFamily="34" charset="0"/>
                <a:ea typeface="Calibri" pitchFamily="34" charset="-122"/>
                <a:cs typeface="Segoe UI" panose="020B0502040204020203" pitchFamily="34" charset="0"/>
              </a:rPr>
              <a:t>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Filialen</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Reservierung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Umlagerung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Bestellung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Retoure</a:t>
            </a:r>
            <a:endParaRPr lang="en-US" sz="1050" dirty="0">
              <a:latin typeface="Segoe UI" panose="020B0502040204020203" pitchFamily="34" charset="0"/>
              <a:cs typeface="Segoe UI" panose="020B0502040204020203" pitchFamily="34" charset="0"/>
            </a:endParaRPr>
          </a:p>
        </p:txBody>
      </p:sp>
      <p:sp>
        <p:nvSpPr>
          <p:cNvPr id="24" name="Shape 18"/>
          <p:cNvSpPr/>
          <p:nvPr/>
        </p:nvSpPr>
        <p:spPr>
          <a:xfrm>
            <a:off x="694944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5" name="Image 3" descr="preencoded.png"/>
          <p:cNvPicPr>
            <a:picLocks noChangeAspect="1"/>
          </p:cNvPicPr>
          <p:nvPr/>
        </p:nvPicPr>
        <p:blipFill>
          <a:blip r:embed="rId6"/>
          <a:stretch>
            <a:fillRect/>
          </a:stretch>
        </p:blipFill>
        <p:spPr>
          <a:xfrm>
            <a:off x="7063740" y="2217420"/>
            <a:ext cx="228600" cy="228600"/>
          </a:xfrm>
          <a:prstGeom prst="rect">
            <a:avLst/>
          </a:prstGeom>
        </p:spPr>
      </p:pic>
      <p:sp>
        <p:nvSpPr>
          <p:cNvPr id="26" name="Text 19"/>
          <p:cNvSpPr txBox="1"/>
          <p:nvPr/>
        </p:nvSpPr>
        <p:spPr>
          <a:xfrm>
            <a:off x="754380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Abrechnung</a:t>
            </a:r>
            <a:endParaRPr lang="en-US" sz="1400" dirty="0">
              <a:latin typeface="Segoe UI" panose="020B0502040204020203" pitchFamily="34" charset="0"/>
              <a:cs typeface="Segoe UI" panose="020B0502040204020203" pitchFamily="34" charset="0"/>
            </a:endParaRPr>
          </a:p>
        </p:txBody>
      </p:sp>
      <p:sp>
        <p:nvSpPr>
          <p:cNvPr id="27" name="Text 20"/>
          <p:cNvSpPr txBox="1"/>
          <p:nvPr/>
        </p:nvSpPr>
        <p:spPr>
          <a:xfrm>
            <a:off x="6949440" y="2651760"/>
            <a:ext cx="1864360" cy="914400"/>
          </a:xfrm>
          <a:prstGeom prst="rect">
            <a:avLst/>
          </a:prstGeom>
          <a:noFill/>
          <a:ln/>
        </p:spPr>
        <p:txBody>
          <a:bodyPr wrap="square" lIns="0" tIns="0" rIns="0" bIns="0" rtlCol="0" anchor="t"/>
          <a:lstStyle/>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Rechnung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Zahlung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Übergabe</a:t>
            </a:r>
            <a:r>
              <a:rPr lang="en-US" sz="1050" dirty="0">
                <a:solidFill>
                  <a:srgbClr val="1B2430"/>
                </a:solidFill>
                <a:latin typeface="Segoe UI" panose="020B0502040204020203" pitchFamily="34" charset="0"/>
                <a:ea typeface="Calibri" pitchFamily="34" charset="-122"/>
                <a:cs typeface="Segoe UI" panose="020B0502040204020203" pitchFamily="34" charset="0"/>
              </a:rPr>
              <a:t> an die Buchhaltung</a:t>
            </a:r>
            <a:endParaRPr lang="en-US" sz="1050" dirty="0">
              <a:latin typeface="Segoe UI" panose="020B0502040204020203" pitchFamily="34" charset="0"/>
              <a:cs typeface="Segoe UI" panose="020B0502040204020203" pitchFamily="34" charset="0"/>
            </a:endParaRPr>
          </a:p>
        </p:txBody>
      </p:sp>
      <p:sp>
        <p:nvSpPr>
          <p:cNvPr id="28" name="Text 21"/>
          <p:cNvSpPr txBox="1"/>
          <p:nvPr/>
        </p:nvSpPr>
        <p:spPr>
          <a:xfrm>
            <a:off x="457200" y="3886200"/>
            <a:ext cx="8229600" cy="731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430"/>
                </a:solidFill>
                <a:latin typeface="Segoe UI" panose="020B0502040204020203" pitchFamily="34" charset="0"/>
                <a:ea typeface="Calibri" pitchFamily="34" charset="-122"/>
                <a:cs typeface="Segoe UI" panose="020B0502040204020203" pitchFamily="34" charset="0"/>
              </a:rPr>
              <a:t>Zielkunden: unabhängige Werkstätten und kleine Ketten mit 2 bis 10 Filialen im DACH-Raum</a:t>
            </a:r>
            <a:endParaRPr lang="en-US" sz="1200" dirty="0">
              <a:latin typeface="Segoe UI" panose="020B0502040204020203" pitchFamily="34" charset="0"/>
              <a:cs typeface="Segoe UI" panose="020B0502040204020203" pitchFamily="34" charset="0"/>
            </a:endParaRPr>
          </a:p>
          <a:p>
            <a:pPr marL="342900" indent="-342900">
              <a:spcAft>
                <a:spcPts val="600"/>
              </a:spcAft>
              <a:buSzPct val="100000"/>
              <a:buChar char="•"/>
            </a:pPr>
            <a:r>
              <a:rPr lang="en-US" sz="1200" dirty="0">
                <a:solidFill>
                  <a:srgbClr val="1B2430"/>
                </a:solidFill>
                <a:latin typeface="Segoe UI" panose="020B0502040204020203" pitchFamily="34" charset="0"/>
                <a:ea typeface="Calibri" pitchFamily="34" charset="-122"/>
                <a:cs typeface="Segoe UI" panose="020B0502040204020203" pitchFamily="34" charset="0"/>
              </a:rPr>
              <a:t>Außerhalb der Plattform: physische Reparatur, Lieferantensysteme, Buchhaltung (nur Schnittstellen)</a:t>
            </a:r>
            <a:endParaRPr lang="en-US" sz="1200" dirty="0">
              <a:latin typeface="Segoe UI" panose="020B0502040204020203" pitchFamily="34" charset="0"/>
              <a:cs typeface="Segoe UI" panose="020B0502040204020203"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descr="Übertragen mit einfarbiger Füllung">
            <a:extLst>
              <a:ext uri="{FF2B5EF4-FFF2-40B4-BE49-F238E27FC236}">
                <a16:creationId xmlns:a16="http://schemas.microsoft.com/office/drawing/2014/main" id="{868C1496-D83E-2D10-7F66-DA08FCFCA2C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14800" y="1948293"/>
            <a:ext cx="914400" cy="914400"/>
          </a:xfrm>
          <a:prstGeom prst="rect">
            <a:avLst/>
          </a:prstGeom>
        </p:spPr>
      </p:pic>
      <p:pic>
        <p:nvPicPr>
          <p:cNvPr id="5" name="Grafik 4" descr="Benutzer mit einfarbiger Füllung">
            <a:extLst>
              <a:ext uri="{FF2B5EF4-FFF2-40B4-BE49-F238E27FC236}">
                <a16:creationId xmlns:a16="http://schemas.microsoft.com/office/drawing/2014/main" id="{F8EF1F55-4B3B-B9BA-6361-929E65DBE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89866" y="1948293"/>
            <a:ext cx="914400" cy="914400"/>
          </a:xfrm>
          <a:prstGeom prst="rect">
            <a:avLst/>
          </a:prstGeom>
        </p:spPr>
      </p:pic>
      <p:pic>
        <p:nvPicPr>
          <p:cNvPr id="7" name="Grafik 6" descr="Tools mit einfarbiger Füllung">
            <a:extLst>
              <a:ext uri="{FF2B5EF4-FFF2-40B4-BE49-F238E27FC236}">
                <a16:creationId xmlns:a16="http://schemas.microsoft.com/office/drawing/2014/main" id="{D67B4893-0DCF-B0A8-560D-3ACD3C9887E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35900" y="1948293"/>
            <a:ext cx="914400" cy="914400"/>
          </a:xfrm>
          <a:prstGeom prst="rect">
            <a:avLst/>
          </a:prstGeom>
        </p:spPr>
      </p:pic>
      <p:sp>
        <p:nvSpPr>
          <p:cNvPr id="8" name="Text 6">
            <a:extLst>
              <a:ext uri="{FF2B5EF4-FFF2-40B4-BE49-F238E27FC236}">
                <a16:creationId xmlns:a16="http://schemas.microsoft.com/office/drawing/2014/main" id="{F891E01B-58C0-995B-B086-1E6CFB514490}"/>
              </a:ext>
            </a:extLst>
          </p:cNvPr>
          <p:cNvSpPr txBox="1"/>
          <p:nvPr/>
        </p:nvSpPr>
        <p:spPr>
          <a:xfrm>
            <a:off x="7117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Eine Plattform</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10">
            <a:extLst>
              <a:ext uri="{FF2B5EF4-FFF2-40B4-BE49-F238E27FC236}">
                <a16:creationId xmlns:a16="http://schemas.microsoft.com/office/drawing/2014/main" id="{3C8BF763-E02C-9EA3-7BBE-7E240B141903}"/>
              </a:ext>
            </a:extLst>
          </p:cNvPr>
          <p:cNvSpPr txBox="1"/>
          <p:nvPr/>
        </p:nvSpPr>
        <p:spPr>
          <a:xfrm>
            <a:off x="34906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Filialübergreifend</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11" name="Text 14">
            <a:extLst>
              <a:ext uri="{FF2B5EF4-FFF2-40B4-BE49-F238E27FC236}">
                <a16:creationId xmlns:a16="http://schemas.microsoft.com/office/drawing/2014/main" id="{57ACD45A-C4AF-3724-FC3A-2FD000A1D529}"/>
              </a:ext>
            </a:extLst>
          </p:cNvPr>
          <p:cNvSpPr txBox="1"/>
          <p:nvPr/>
        </p:nvSpPr>
        <p:spPr>
          <a:xfrm>
            <a:off x="6265718"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Klarheit vor dem Besuch</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0">
            <a:extLst>
              <a:ext uri="{FF2B5EF4-FFF2-40B4-BE49-F238E27FC236}">
                <a16:creationId xmlns:a16="http://schemas.microsoft.com/office/drawing/2014/main" id="{C6780E2C-0C97-BB2E-EE86-76A772FB7380}"/>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Nutzenversprechen</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Die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Werkstätten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Telefonaten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Standzeit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im</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Lager,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sichtbare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Auslastung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Die Kunden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schnelleren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Antworten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
        <p:nvSpPr>
          <p:cNvPr id="13" name="Text 7">
            <a:extLst>
              <a:ext uri="{FF2B5EF4-FFF2-40B4-BE49-F238E27FC236}">
                <a16:creationId xmlns:a16="http://schemas.microsoft.com/office/drawing/2014/main" id="{AE8BC7E0-7042-995C-22B8-CB1A0E89E2AA}"/>
              </a:ext>
            </a:extLst>
          </p:cNvPr>
          <p:cNvSpPr txBox="1"/>
          <p:nvPr/>
        </p:nvSpPr>
        <p:spPr>
          <a:xfrm>
            <a:off x="65393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Fahrrad, E-Bike und Elektronik mit einer Kundenbasis und einem gemeinsamen Ersatzteillager. Ein Auftragsstatus für alle.</a:t>
            </a:r>
            <a:endParaRPr lang="en-US" sz="1150" dirty="0">
              <a:latin typeface="Segoe UI" panose="020B0502040204020203" pitchFamily="34" charset="0"/>
              <a:cs typeface="Segoe UI" panose="020B0502040204020203" pitchFamily="34" charset="0"/>
            </a:endParaRPr>
          </a:p>
        </p:txBody>
      </p:sp>
      <p:sp>
        <p:nvSpPr>
          <p:cNvPr id="14" name="Text 11">
            <a:extLst>
              <a:ext uri="{FF2B5EF4-FFF2-40B4-BE49-F238E27FC236}">
                <a16:creationId xmlns:a16="http://schemas.microsoft.com/office/drawing/2014/main" id="{1DF8A319-71EB-1CC7-D87D-22C625301494}"/>
              </a:ext>
            </a:extLst>
          </p:cNvPr>
          <p:cNvSpPr txBox="1"/>
          <p:nvPr/>
        </p:nvSpPr>
        <p:spPr>
          <a:xfrm>
            <a:off x="3428999"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Bestände, Reservierungen und Umlagerungen über alle Standorte. Bestellt wird nur, was nirgends liegt.</a:t>
            </a:r>
            <a:endParaRPr lang="en-US" sz="1150" dirty="0">
              <a:latin typeface="Segoe UI" panose="020B0502040204020203" pitchFamily="34" charset="0"/>
              <a:cs typeface="Segoe UI" panose="020B0502040204020203" pitchFamily="34" charset="0"/>
            </a:endParaRPr>
          </a:p>
        </p:txBody>
      </p:sp>
      <p:sp>
        <p:nvSpPr>
          <p:cNvPr id="15" name="Text 15">
            <a:extLst>
              <a:ext uri="{FF2B5EF4-FFF2-40B4-BE49-F238E27FC236}">
                <a16:creationId xmlns:a16="http://schemas.microsoft.com/office/drawing/2014/main" id="{D5650E79-427B-9478-372E-604F8C03CE83}"/>
              </a:ext>
            </a:extLst>
          </p:cNvPr>
          <p:cNvSpPr txBox="1"/>
          <p:nvPr/>
        </p:nvSpPr>
        <p:spPr>
          <a:xfrm>
            <a:off x="620406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Foto aus der App, Diagnosevorschlag, vorläufiger Kostenvoranschlag und Termin, bevor der Kunde die Werkstatt betritt.</a:t>
            </a:r>
            <a:endParaRPr lang="en-US" sz="115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74639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3801346-0FA1-B61E-4F34-A4548C1CF9EB}"/>
            </a:ext>
          </a:extLst>
        </p:cNvPr>
        <p:cNvGrpSpPr/>
        <p:nvPr/>
      </p:nvGrpSpPr>
      <p:grpSpPr>
        <a:xfrm>
          <a:off x="0" y="0"/>
          <a:ext cx="0" cy="0"/>
          <a:chOff x="0" y="0"/>
          <a:chExt cx="0" cy="0"/>
        </a:xfrm>
      </p:grpSpPr>
      <p:grpSp>
        <p:nvGrpSpPr>
          <p:cNvPr id="79" name="Gruppieren 78">
            <a:extLst>
              <a:ext uri="{FF2B5EF4-FFF2-40B4-BE49-F238E27FC236}">
                <a16:creationId xmlns:a16="http://schemas.microsoft.com/office/drawing/2014/main" id="{279FC891-62A7-4EE5-8538-437115166C1E}"/>
              </a:ext>
            </a:extLst>
          </p:cNvPr>
          <p:cNvGrpSpPr/>
          <p:nvPr/>
        </p:nvGrpSpPr>
        <p:grpSpPr>
          <a:xfrm>
            <a:off x="457199" y="1557128"/>
            <a:ext cx="8329602" cy="2654169"/>
            <a:chOff x="457200" y="1557129"/>
            <a:chExt cx="8366760" cy="2666012"/>
          </a:xfrm>
        </p:grpSpPr>
        <p:sp>
          <p:nvSpPr>
            <p:cNvPr id="6" name="Shape 3">
              <a:extLst>
                <a:ext uri="{FF2B5EF4-FFF2-40B4-BE49-F238E27FC236}">
                  <a16:creationId xmlns:a16="http://schemas.microsoft.com/office/drawing/2014/main" id="{7322EE97-5F33-9296-546E-68E2B1AACF27}"/>
                </a:ext>
              </a:extLst>
            </p:cNvPr>
            <p:cNvSpPr/>
            <p:nvPr/>
          </p:nvSpPr>
          <p:spPr>
            <a:xfrm>
              <a:off x="45720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7" name="Text 4">
              <a:extLst>
                <a:ext uri="{FF2B5EF4-FFF2-40B4-BE49-F238E27FC236}">
                  <a16:creationId xmlns:a16="http://schemas.microsoft.com/office/drawing/2014/main" id="{F30AE3AF-64A6-BF7C-108A-5CDBBB9BB59A}"/>
                </a:ext>
              </a:extLst>
            </p:cNvPr>
            <p:cNvSpPr txBox="1"/>
            <p:nvPr/>
          </p:nvSpPr>
          <p:spPr>
            <a:xfrm>
              <a:off x="64008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P01</a:t>
              </a:r>
              <a:endParaRPr lang="en-US" sz="1600" dirty="0">
                <a:latin typeface="Segoe UI" panose="020B0502040204020203" pitchFamily="34" charset="0"/>
                <a:cs typeface="Segoe UI" panose="020B0502040204020203" pitchFamily="34" charset="0"/>
              </a:endParaRPr>
            </a:p>
          </p:txBody>
        </p:sp>
        <p:sp>
          <p:nvSpPr>
            <p:cNvPr id="11" name="Text 7">
              <a:extLst>
                <a:ext uri="{FF2B5EF4-FFF2-40B4-BE49-F238E27FC236}">
                  <a16:creationId xmlns:a16="http://schemas.microsoft.com/office/drawing/2014/main" id="{6E197140-AD58-EEF3-FC07-CB88B860C7D5}"/>
                </a:ext>
              </a:extLst>
            </p:cNvPr>
            <p:cNvSpPr txBox="1"/>
            <p:nvPr/>
          </p:nvSpPr>
          <p:spPr>
            <a:xfrm>
              <a:off x="50292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Anfrage per App</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8">
              <a:extLst>
                <a:ext uri="{FF2B5EF4-FFF2-40B4-BE49-F238E27FC236}">
                  <a16:creationId xmlns:a16="http://schemas.microsoft.com/office/drawing/2014/main" id="{02B60CF3-6FF0-7166-6A49-DB42132E4ACB}"/>
                </a:ext>
              </a:extLst>
            </p:cNvPr>
            <p:cNvSpPr txBox="1"/>
            <p:nvPr/>
          </p:nvSpPr>
          <p:spPr>
            <a:xfrm>
              <a:off x="539496"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KI-Vorschlag, Vorab-KVA, Termin</a:t>
              </a:r>
              <a:endParaRPr lang="en-US" sz="1050" dirty="0">
                <a:latin typeface="Segoe UI" panose="020B0502040204020203" pitchFamily="34" charset="0"/>
                <a:cs typeface="Segoe UI" panose="020B0502040204020203" pitchFamily="34" charset="0"/>
              </a:endParaRPr>
            </a:p>
          </p:txBody>
        </p:sp>
        <p:sp>
          <p:nvSpPr>
            <p:cNvPr id="13" name="Shape 9">
              <a:extLst>
                <a:ext uri="{FF2B5EF4-FFF2-40B4-BE49-F238E27FC236}">
                  <a16:creationId xmlns:a16="http://schemas.microsoft.com/office/drawing/2014/main" id="{C110B1A6-4BF1-9DF3-FA85-39D1F50ABE9D}"/>
                </a:ext>
              </a:extLst>
            </p:cNvPr>
            <p:cNvSpPr/>
            <p:nvPr/>
          </p:nvSpPr>
          <p:spPr>
            <a:xfrm>
              <a:off x="1847088"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14" name="Text 10">
              <a:extLst>
                <a:ext uri="{FF2B5EF4-FFF2-40B4-BE49-F238E27FC236}">
                  <a16:creationId xmlns:a16="http://schemas.microsoft.com/office/drawing/2014/main" id="{06030758-50AD-8892-C859-C498CA27ED01}"/>
                </a:ext>
              </a:extLst>
            </p:cNvPr>
            <p:cNvSpPr txBox="1"/>
            <p:nvPr/>
          </p:nvSpPr>
          <p:spPr>
            <a:xfrm>
              <a:off x="2029968"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P02</a:t>
              </a:r>
              <a:endParaRPr lang="en-US" sz="1600" dirty="0">
                <a:latin typeface="Segoe UI" panose="020B0502040204020203" pitchFamily="34" charset="0"/>
                <a:cs typeface="Segoe UI" panose="020B0502040204020203" pitchFamily="34" charset="0"/>
              </a:endParaRPr>
            </a:p>
          </p:txBody>
        </p:sp>
        <p:sp>
          <p:nvSpPr>
            <p:cNvPr id="18" name="Text 13">
              <a:extLst>
                <a:ext uri="{FF2B5EF4-FFF2-40B4-BE49-F238E27FC236}">
                  <a16:creationId xmlns:a16="http://schemas.microsoft.com/office/drawing/2014/main" id="{BE4AB8A3-EF0C-A300-509D-CF14A6E2B2B8}"/>
                </a:ext>
              </a:extLst>
            </p:cNvPr>
            <p:cNvSpPr txBox="1"/>
            <p:nvPr/>
          </p:nvSpPr>
          <p:spPr>
            <a:xfrm>
              <a:off x="1892808"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Annahme</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19" name="Text 14">
              <a:extLst>
                <a:ext uri="{FF2B5EF4-FFF2-40B4-BE49-F238E27FC236}">
                  <a16:creationId xmlns:a16="http://schemas.microsoft.com/office/drawing/2014/main" id="{18AF9CD0-7D7C-490A-15A1-BD992FBAA389}"/>
                </a:ext>
              </a:extLst>
            </p:cNvPr>
            <p:cNvSpPr txBox="1"/>
            <p:nvPr/>
          </p:nvSpPr>
          <p:spPr>
            <a:xfrm>
              <a:off x="1929384"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Gerät registriert, Auftrag angelegt</a:t>
              </a:r>
              <a:endParaRPr lang="en-US" sz="1050" dirty="0">
                <a:latin typeface="Segoe UI" panose="020B0502040204020203" pitchFamily="34" charset="0"/>
                <a:cs typeface="Segoe UI" panose="020B0502040204020203" pitchFamily="34" charset="0"/>
              </a:endParaRPr>
            </a:p>
          </p:txBody>
        </p:sp>
        <p:sp>
          <p:nvSpPr>
            <p:cNvPr id="20" name="Shape 15">
              <a:extLst>
                <a:ext uri="{FF2B5EF4-FFF2-40B4-BE49-F238E27FC236}">
                  <a16:creationId xmlns:a16="http://schemas.microsoft.com/office/drawing/2014/main" id="{857DA967-D85F-A858-8489-6E47952A1591}"/>
                </a:ext>
              </a:extLst>
            </p:cNvPr>
            <p:cNvSpPr/>
            <p:nvPr/>
          </p:nvSpPr>
          <p:spPr>
            <a:xfrm>
              <a:off x="3236976"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21" name="Text 16">
              <a:extLst>
                <a:ext uri="{FF2B5EF4-FFF2-40B4-BE49-F238E27FC236}">
                  <a16:creationId xmlns:a16="http://schemas.microsoft.com/office/drawing/2014/main" id="{18511DC0-1226-332B-0BC0-E75682C3A187}"/>
                </a:ext>
              </a:extLst>
            </p:cNvPr>
            <p:cNvSpPr txBox="1"/>
            <p:nvPr/>
          </p:nvSpPr>
          <p:spPr>
            <a:xfrm>
              <a:off x="3419856"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P03, P04</a:t>
              </a:r>
              <a:endParaRPr lang="en-US" sz="1600" dirty="0">
                <a:latin typeface="Segoe UI" panose="020B0502040204020203" pitchFamily="34" charset="0"/>
                <a:cs typeface="Segoe UI" panose="020B0502040204020203" pitchFamily="34" charset="0"/>
              </a:endParaRPr>
            </a:p>
          </p:txBody>
        </p:sp>
        <p:sp>
          <p:nvSpPr>
            <p:cNvPr id="25" name="Text 19">
              <a:extLst>
                <a:ext uri="{FF2B5EF4-FFF2-40B4-BE49-F238E27FC236}">
                  <a16:creationId xmlns:a16="http://schemas.microsoft.com/office/drawing/2014/main" id="{EE2A20AE-03AC-6529-CA2C-E7313D9114E4}"/>
                </a:ext>
              </a:extLst>
            </p:cNvPr>
            <p:cNvSpPr txBox="1"/>
            <p:nvPr/>
          </p:nvSpPr>
          <p:spPr>
            <a:xfrm>
              <a:off x="3282696"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Diagnose / KVA</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20">
              <a:extLst>
                <a:ext uri="{FF2B5EF4-FFF2-40B4-BE49-F238E27FC236}">
                  <a16:creationId xmlns:a16="http://schemas.microsoft.com/office/drawing/2014/main" id="{13AB6925-A77E-04C4-68B0-1402EC07585B}"/>
                </a:ext>
              </a:extLst>
            </p:cNvPr>
            <p:cNvSpPr txBox="1"/>
            <p:nvPr/>
          </p:nvSpPr>
          <p:spPr>
            <a:xfrm>
              <a:off x="3319272"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Techniker prüft, Kunde gibt frei</a:t>
              </a:r>
              <a:endParaRPr lang="en-US" sz="1050" dirty="0">
                <a:latin typeface="Segoe UI" panose="020B0502040204020203" pitchFamily="34" charset="0"/>
                <a:cs typeface="Segoe UI" panose="020B0502040204020203" pitchFamily="34" charset="0"/>
              </a:endParaRPr>
            </a:p>
          </p:txBody>
        </p:sp>
        <p:sp>
          <p:nvSpPr>
            <p:cNvPr id="27" name="Shape 21">
              <a:extLst>
                <a:ext uri="{FF2B5EF4-FFF2-40B4-BE49-F238E27FC236}">
                  <a16:creationId xmlns:a16="http://schemas.microsoft.com/office/drawing/2014/main" id="{BDAE9F2B-91A9-49A6-51E7-0D9B34EFF536}"/>
                </a:ext>
              </a:extLst>
            </p:cNvPr>
            <p:cNvSpPr/>
            <p:nvPr/>
          </p:nvSpPr>
          <p:spPr>
            <a:xfrm>
              <a:off x="4626864"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28" name="Text 22">
              <a:extLst>
                <a:ext uri="{FF2B5EF4-FFF2-40B4-BE49-F238E27FC236}">
                  <a16:creationId xmlns:a16="http://schemas.microsoft.com/office/drawing/2014/main" id="{61CB2146-0AD4-BAA1-8021-5AC92639F443}"/>
                </a:ext>
              </a:extLst>
            </p:cNvPr>
            <p:cNvSpPr txBox="1"/>
            <p:nvPr/>
          </p:nvSpPr>
          <p:spPr>
            <a:xfrm>
              <a:off x="4809744"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P05, P06</a:t>
              </a:r>
              <a:endParaRPr lang="en-US" sz="1600" dirty="0">
                <a:latin typeface="Segoe UI" panose="020B0502040204020203" pitchFamily="34" charset="0"/>
                <a:cs typeface="Segoe UI" panose="020B0502040204020203" pitchFamily="34" charset="0"/>
              </a:endParaRPr>
            </a:p>
          </p:txBody>
        </p:sp>
        <p:sp>
          <p:nvSpPr>
            <p:cNvPr id="32" name="Text 25">
              <a:extLst>
                <a:ext uri="{FF2B5EF4-FFF2-40B4-BE49-F238E27FC236}">
                  <a16:creationId xmlns:a16="http://schemas.microsoft.com/office/drawing/2014/main" id="{52752689-8AEF-ACC1-53C1-3E3917F660D0}"/>
                </a:ext>
              </a:extLst>
            </p:cNvPr>
            <p:cNvSpPr txBox="1"/>
            <p:nvPr/>
          </p:nvSpPr>
          <p:spPr>
            <a:xfrm>
              <a:off x="4672584"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Teile disponieren</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33" name="Text 26">
              <a:extLst>
                <a:ext uri="{FF2B5EF4-FFF2-40B4-BE49-F238E27FC236}">
                  <a16:creationId xmlns:a16="http://schemas.microsoft.com/office/drawing/2014/main" id="{C8B761B2-20C6-18B5-5714-E715BAFC0759}"/>
                </a:ext>
              </a:extLst>
            </p:cNvPr>
            <p:cNvSpPr txBox="1"/>
            <p:nvPr/>
          </p:nvSpPr>
          <p:spPr>
            <a:xfrm>
              <a:off x="4709160"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alle Filialen, Fehlteile bestellen</a:t>
              </a:r>
              <a:endParaRPr lang="en-US" sz="1050" dirty="0">
                <a:latin typeface="Segoe UI" panose="020B0502040204020203" pitchFamily="34" charset="0"/>
                <a:cs typeface="Segoe UI" panose="020B0502040204020203" pitchFamily="34" charset="0"/>
              </a:endParaRPr>
            </a:p>
          </p:txBody>
        </p:sp>
        <p:sp>
          <p:nvSpPr>
            <p:cNvPr id="34" name="Shape 27">
              <a:extLst>
                <a:ext uri="{FF2B5EF4-FFF2-40B4-BE49-F238E27FC236}">
                  <a16:creationId xmlns:a16="http://schemas.microsoft.com/office/drawing/2014/main" id="{74D8CB0B-5B7F-4674-84E6-609A60376742}"/>
                </a:ext>
              </a:extLst>
            </p:cNvPr>
            <p:cNvSpPr/>
            <p:nvPr/>
          </p:nvSpPr>
          <p:spPr>
            <a:xfrm>
              <a:off x="6016752"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35" name="Text 28">
              <a:extLst>
                <a:ext uri="{FF2B5EF4-FFF2-40B4-BE49-F238E27FC236}">
                  <a16:creationId xmlns:a16="http://schemas.microsoft.com/office/drawing/2014/main" id="{C8127221-8A4C-D5BE-97F3-35C168CFA7E9}"/>
                </a:ext>
              </a:extLst>
            </p:cNvPr>
            <p:cNvSpPr txBox="1"/>
            <p:nvPr/>
          </p:nvSpPr>
          <p:spPr>
            <a:xfrm>
              <a:off x="6199632"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P07</a:t>
              </a:r>
              <a:endParaRPr lang="en-US" sz="1600" dirty="0">
                <a:latin typeface="Segoe UI" panose="020B0502040204020203" pitchFamily="34" charset="0"/>
                <a:cs typeface="Segoe UI" panose="020B0502040204020203" pitchFamily="34" charset="0"/>
              </a:endParaRPr>
            </a:p>
          </p:txBody>
        </p:sp>
        <p:sp>
          <p:nvSpPr>
            <p:cNvPr id="39" name="Text 31">
              <a:extLst>
                <a:ext uri="{FF2B5EF4-FFF2-40B4-BE49-F238E27FC236}">
                  <a16:creationId xmlns:a16="http://schemas.microsoft.com/office/drawing/2014/main" id="{8C3D5FEF-7383-A38B-3CB2-0BB6EDAD636C}"/>
                </a:ext>
              </a:extLst>
            </p:cNvPr>
            <p:cNvSpPr txBox="1"/>
            <p:nvPr/>
          </p:nvSpPr>
          <p:spPr>
            <a:xfrm>
              <a:off x="6062472"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Reparatur</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40" name="Text 32">
              <a:extLst>
                <a:ext uri="{FF2B5EF4-FFF2-40B4-BE49-F238E27FC236}">
                  <a16:creationId xmlns:a16="http://schemas.microsoft.com/office/drawing/2014/main" id="{91E9EAC8-EAC8-8A8E-12BE-68225B5DF61A}"/>
                </a:ext>
              </a:extLst>
            </p:cNvPr>
            <p:cNvSpPr txBox="1"/>
            <p:nvPr/>
          </p:nvSpPr>
          <p:spPr>
            <a:xfrm>
              <a:off x="6099048"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Schritte, Arbeitszeit, Endkontrolle</a:t>
              </a:r>
              <a:endParaRPr lang="en-US" sz="1050" dirty="0">
                <a:latin typeface="Segoe UI" panose="020B0502040204020203" pitchFamily="34" charset="0"/>
                <a:cs typeface="Segoe UI" panose="020B0502040204020203" pitchFamily="34" charset="0"/>
              </a:endParaRPr>
            </a:p>
          </p:txBody>
        </p:sp>
        <p:sp>
          <p:nvSpPr>
            <p:cNvPr id="41" name="Shape 33">
              <a:extLst>
                <a:ext uri="{FF2B5EF4-FFF2-40B4-BE49-F238E27FC236}">
                  <a16:creationId xmlns:a16="http://schemas.microsoft.com/office/drawing/2014/main" id="{15958EE4-81F2-3D7D-F523-179850BF6474}"/>
                </a:ext>
              </a:extLst>
            </p:cNvPr>
            <p:cNvSpPr/>
            <p:nvPr/>
          </p:nvSpPr>
          <p:spPr>
            <a:xfrm>
              <a:off x="740664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dirty="0">
                <a:latin typeface="Segoe UI" panose="020B0502040204020203" pitchFamily="34" charset="0"/>
                <a:cs typeface="Segoe UI" panose="020B0502040204020203" pitchFamily="34" charset="0"/>
              </a:endParaRPr>
            </a:p>
          </p:txBody>
        </p:sp>
        <p:sp>
          <p:nvSpPr>
            <p:cNvPr id="42" name="Text 34">
              <a:extLst>
                <a:ext uri="{FF2B5EF4-FFF2-40B4-BE49-F238E27FC236}">
                  <a16:creationId xmlns:a16="http://schemas.microsoft.com/office/drawing/2014/main" id="{984422EA-8EA9-0057-7CE3-C31E50BAC40F}"/>
                </a:ext>
              </a:extLst>
            </p:cNvPr>
            <p:cNvSpPr txBox="1"/>
            <p:nvPr/>
          </p:nvSpPr>
          <p:spPr>
            <a:xfrm>
              <a:off x="758952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P08</a:t>
              </a:r>
              <a:endParaRPr lang="en-US" sz="1600" dirty="0">
                <a:latin typeface="Segoe UI" panose="020B0502040204020203" pitchFamily="34" charset="0"/>
                <a:cs typeface="Segoe UI" panose="020B0502040204020203" pitchFamily="34" charset="0"/>
              </a:endParaRPr>
            </a:p>
          </p:txBody>
        </p:sp>
        <p:sp>
          <p:nvSpPr>
            <p:cNvPr id="46" name="Text 37">
              <a:extLst>
                <a:ext uri="{FF2B5EF4-FFF2-40B4-BE49-F238E27FC236}">
                  <a16:creationId xmlns:a16="http://schemas.microsoft.com/office/drawing/2014/main" id="{9E6036D2-CA77-79F5-AD32-1E1090F78AC9}"/>
                </a:ext>
              </a:extLst>
            </p:cNvPr>
            <p:cNvSpPr txBox="1"/>
            <p:nvPr/>
          </p:nvSpPr>
          <p:spPr>
            <a:xfrm>
              <a:off x="745236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Abholung</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47" name="Text 38">
              <a:extLst>
                <a:ext uri="{FF2B5EF4-FFF2-40B4-BE49-F238E27FC236}">
                  <a16:creationId xmlns:a16="http://schemas.microsoft.com/office/drawing/2014/main" id="{6A81179B-0E6D-4261-2C86-E82B9E5AFD73}"/>
                </a:ext>
              </a:extLst>
            </p:cNvPr>
            <p:cNvSpPr txBox="1"/>
            <p:nvPr/>
          </p:nvSpPr>
          <p:spPr>
            <a:xfrm>
              <a:off x="7488936"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Benachrichtigung, Rechnung, Zahlung</a:t>
              </a:r>
              <a:endParaRPr lang="en-US" sz="1050" dirty="0">
                <a:latin typeface="Segoe UI" panose="020B0502040204020203" pitchFamily="34" charset="0"/>
                <a:cs typeface="Segoe UI" panose="020B0502040204020203" pitchFamily="34" charset="0"/>
              </a:endParaRPr>
            </a:p>
          </p:txBody>
        </p:sp>
        <p:pic>
          <p:nvPicPr>
            <p:cNvPr id="67" name="Grafik 66" descr="Abzeichen Tick1 mit einfarbiger Füllung">
              <a:extLst>
                <a:ext uri="{FF2B5EF4-FFF2-40B4-BE49-F238E27FC236}">
                  <a16:creationId xmlns:a16="http://schemas.microsoft.com/office/drawing/2014/main" id="{4BD734DC-6D43-0678-E2C9-B18A97D258E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55300" y="2157288"/>
              <a:ext cx="720000" cy="720000"/>
            </a:xfrm>
            <a:prstGeom prst="rect">
              <a:avLst/>
            </a:prstGeom>
          </p:spPr>
        </p:pic>
        <p:pic>
          <p:nvPicPr>
            <p:cNvPr id="69" name="Grafik 68" descr="Schraubenschlüssel mit einfarbiger Füllung">
              <a:extLst>
                <a:ext uri="{FF2B5EF4-FFF2-40B4-BE49-F238E27FC236}">
                  <a16:creationId xmlns:a16="http://schemas.microsoft.com/office/drawing/2014/main" id="{FD9B80FD-F6BB-1DBA-9C78-8FE2943610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05976" y="2157288"/>
              <a:ext cx="720000" cy="720000"/>
            </a:xfrm>
            <a:prstGeom prst="rect">
              <a:avLst/>
            </a:prstGeom>
          </p:spPr>
        </p:pic>
        <p:pic>
          <p:nvPicPr>
            <p:cNvPr id="71" name="Grafik 70" descr="Schachtel mit einfarbiger Füllung">
              <a:extLst>
                <a:ext uri="{FF2B5EF4-FFF2-40B4-BE49-F238E27FC236}">
                  <a16:creationId xmlns:a16="http://schemas.microsoft.com/office/drawing/2014/main" id="{1E146D0C-5CE4-C481-0A7D-8604D997182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82592" y="2153270"/>
              <a:ext cx="720000" cy="720000"/>
            </a:xfrm>
            <a:prstGeom prst="rect">
              <a:avLst/>
            </a:prstGeom>
          </p:spPr>
        </p:pic>
        <p:pic>
          <p:nvPicPr>
            <p:cNvPr id="73" name="Grafik 72" descr="Lupe mit einfarbiger Füllung">
              <a:extLst>
                <a:ext uri="{FF2B5EF4-FFF2-40B4-BE49-F238E27FC236}">
                  <a16:creationId xmlns:a16="http://schemas.microsoft.com/office/drawing/2014/main" id="{149AB788-B0A0-27E4-E44B-FB854DF58C2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576251" y="2153270"/>
              <a:ext cx="720000" cy="720000"/>
            </a:xfrm>
            <a:prstGeom prst="rect">
              <a:avLst/>
            </a:prstGeom>
          </p:spPr>
        </p:pic>
        <p:pic>
          <p:nvPicPr>
            <p:cNvPr id="75" name="Grafik 74" descr="Registrierkasse mit einfarbiger Füllung">
              <a:extLst>
                <a:ext uri="{FF2B5EF4-FFF2-40B4-BE49-F238E27FC236}">
                  <a16:creationId xmlns:a16="http://schemas.microsoft.com/office/drawing/2014/main" id="{BE44C8A4-075B-5AB0-8CD3-8C836D86280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83228" y="2147510"/>
              <a:ext cx="720000" cy="720000"/>
            </a:xfrm>
            <a:prstGeom prst="rect">
              <a:avLst/>
            </a:prstGeom>
          </p:spPr>
        </p:pic>
        <p:pic>
          <p:nvPicPr>
            <p:cNvPr id="77" name="Grafik 76" descr="Kamera mit einfarbiger Füllung">
              <a:extLst>
                <a:ext uri="{FF2B5EF4-FFF2-40B4-BE49-F238E27FC236}">
                  <a16:creationId xmlns:a16="http://schemas.microsoft.com/office/drawing/2014/main" id="{CCCE62BC-BA7E-B8B1-0386-CFA5D2F0C76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3546" y="2157288"/>
              <a:ext cx="720000" cy="720000"/>
            </a:xfrm>
            <a:prstGeom prst="rect">
              <a:avLst/>
            </a:prstGeom>
          </p:spPr>
        </p:pic>
      </p:grpSp>
      <p:sp>
        <p:nvSpPr>
          <p:cNvPr id="2" name="Text 0">
            <a:extLst>
              <a:ext uri="{FF2B5EF4-FFF2-40B4-BE49-F238E27FC236}">
                <a16:creationId xmlns:a16="http://schemas.microsoft.com/office/drawing/2014/main" id="{F6A1B6E3-88D8-142F-94E7-CD776DB106B3}"/>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Auftragsreise</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RepairFlow</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führt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Reparaturaufträge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in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sechs</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Phasen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der App-</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Anfrage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bis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zur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Abholung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670357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Prozess-Highlights</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640079" y="192689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KVA-Freigabe (P04)</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Nach dem Versand wartet ein ereignisbasiertes Gateway auf Freigabe, Ablehnung oder drei Tage Frist.</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Bei Fristablauf erinnert RepairFlow, höchstens zweimal. Nach dem dritten Fristablauf ohne Antwort gilt der KVA als abgelehnt, das Gerät geht mit Diagnosepauschale zur Abholung.</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Kein Auftrag bleibt liegen.</a:t>
            </a:r>
            <a:endParaRPr lang="en-US" sz="1150" dirty="0">
              <a:latin typeface="Segoe UI" panose="020B0502040204020203" pitchFamily="34" charset="0"/>
              <a:cs typeface="Segoe UI" panose="020B0502040204020203" pitchFamily="34" charset="0"/>
            </a:endParaRPr>
          </a:p>
        </p:txBody>
      </p:sp>
      <p:sp>
        <p:nvSpPr>
          <p:cNvPr id="14" name="Text 9"/>
          <p:cNvSpPr txBox="1"/>
          <p:nvPr/>
        </p:nvSpPr>
        <p:spPr>
          <a:xfrm>
            <a:off x="3428999" y="192523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Disposition (P05)</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342900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Je Teil läuft parallel eine Prüfung: erst das eigene Lager, dann die anderen Filialen.</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Lokal vorhanden: reservieren. Anderswo vorhanden: umlagern. Nirgends: als Fehlteil markieren und erst dann bestellen (P06).</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Meldebestand unterschritten: Nachbestellvorschlag.</a:t>
            </a:r>
            <a:endParaRPr lang="en-US" sz="1150" dirty="0">
              <a:latin typeface="Segoe UI" panose="020B0502040204020203" pitchFamily="34" charset="0"/>
              <a:cs typeface="Segoe UI" panose="020B0502040204020203" pitchFamily="34" charset="0"/>
            </a:endParaRPr>
          </a:p>
        </p:txBody>
      </p:sp>
      <p:sp>
        <p:nvSpPr>
          <p:cNvPr id="19" name="Text 13"/>
          <p:cNvSpPr txBox="1"/>
          <p:nvPr/>
        </p:nvSpPr>
        <p:spPr>
          <a:xfrm>
            <a:off x="6217919" y="192523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Reklamation (P09)</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21792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Techniker prüft den Mangel, eine Geschäftsregel entscheidet über Gewährleistung.</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Gewährleistung: kostenfreier Nacharbeitsauftrag, der durch die normale Auftragsreise läuft. Sonst: kostenpflichtiges Angebot.</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Das Modell bleibt schlank, weil die Reklamation keine eigene Reparaturlogik braucht.</a:t>
            </a:r>
            <a:endParaRPr lang="en-US" sz="1150" dirty="0">
              <a:latin typeface="Segoe UI" panose="020B0502040204020203" pitchFamily="34" charset="0"/>
              <a:cs typeface="Segoe UI" panose="020B0502040204020203" pitchFamily="34" charset="0"/>
            </a:endParaRPr>
          </a:p>
        </p:txBody>
      </p:sp>
      <p:pic>
        <p:nvPicPr>
          <p:cNvPr id="4" name="Grafik 3" descr="Pfeil mit einer Linie: Nach rechts drehen mit einfarbiger Füllung">
            <a:extLst>
              <a:ext uri="{FF2B5EF4-FFF2-40B4-BE49-F238E27FC236}">
                <a16:creationId xmlns:a16="http://schemas.microsoft.com/office/drawing/2014/main" id="{2236C7F1-96FB-9235-C733-AF4E79E5AA3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897" y="1010833"/>
            <a:ext cx="914400" cy="914400"/>
          </a:xfrm>
          <a:prstGeom prst="rect">
            <a:avLst/>
          </a:prstGeom>
        </p:spPr>
      </p:pic>
      <p:pic>
        <p:nvPicPr>
          <p:cNvPr id="21" name="Grafik 20" descr="Übertragen mit einfarbiger Füllung">
            <a:extLst>
              <a:ext uri="{FF2B5EF4-FFF2-40B4-BE49-F238E27FC236}">
                <a16:creationId xmlns:a16="http://schemas.microsoft.com/office/drawing/2014/main" id="{2DEF42FA-B355-BEFB-BA51-AE0F0BB5008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39984" y="1077889"/>
            <a:ext cx="914400" cy="914400"/>
          </a:xfrm>
          <a:prstGeom prst="rect">
            <a:avLst/>
          </a:prstGeom>
        </p:spPr>
      </p:pic>
      <p:pic>
        <p:nvPicPr>
          <p:cNvPr id="23" name="Grafik 22" descr="Stoppuhr mit einfarbiger Füllung">
            <a:extLst>
              <a:ext uri="{FF2B5EF4-FFF2-40B4-BE49-F238E27FC236}">
                <a16:creationId xmlns:a16="http://schemas.microsoft.com/office/drawing/2014/main" id="{573B0491-418A-3D20-5D3B-7E1CFC128B6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51064" y="1077889"/>
            <a:ext cx="914400" cy="914400"/>
          </a:xfrm>
          <a:prstGeom prst="rect">
            <a:avLst/>
          </a:prstGeom>
        </p:spPr>
      </p:pic>
      <p:cxnSp>
        <p:nvCxnSpPr>
          <p:cNvPr id="24" name="Gerade Verbindung 23">
            <a:extLst>
              <a:ext uri="{FF2B5EF4-FFF2-40B4-BE49-F238E27FC236}">
                <a16:creationId xmlns:a16="http://schemas.microsoft.com/office/drawing/2014/main" id="{7948C548-1A23-5D56-8228-CBC2E77D3897}"/>
              </a:ext>
            </a:extLst>
          </p:cNvPr>
          <p:cNvCxnSpPr>
            <a:cxnSpLocks/>
          </p:cNvCxnSpPr>
          <p:nvPr/>
        </p:nvCxnSpPr>
        <p:spPr>
          <a:xfrm>
            <a:off x="3071553" y="1261323"/>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7" name="Gerade Verbindung 26">
            <a:extLst>
              <a:ext uri="{FF2B5EF4-FFF2-40B4-BE49-F238E27FC236}">
                <a16:creationId xmlns:a16="http://schemas.microsoft.com/office/drawing/2014/main" id="{EF51E887-D57F-2501-C720-EF36F9A1AD5C}"/>
              </a:ext>
            </a:extLst>
          </p:cNvPr>
          <p:cNvCxnSpPr>
            <a:cxnSpLocks/>
          </p:cNvCxnSpPr>
          <p:nvPr/>
        </p:nvCxnSpPr>
        <p:spPr>
          <a:xfrm>
            <a:off x="5875713" y="1261323"/>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uppieren 4">
            <a:extLst>
              <a:ext uri="{FF2B5EF4-FFF2-40B4-BE49-F238E27FC236}">
                <a16:creationId xmlns:a16="http://schemas.microsoft.com/office/drawing/2014/main" id="{AAFE30E1-D5A7-6F38-0759-61E9FE05138A}"/>
              </a:ext>
            </a:extLst>
          </p:cNvPr>
          <p:cNvGrpSpPr/>
          <p:nvPr/>
        </p:nvGrpSpPr>
        <p:grpSpPr>
          <a:xfrm>
            <a:off x="1199260" y="1243858"/>
            <a:ext cx="6745480" cy="2655783"/>
            <a:chOff x="1563880" y="1811709"/>
            <a:chExt cx="6745480" cy="2655783"/>
          </a:xfrm>
        </p:grpSpPr>
        <p:sp>
          <p:nvSpPr>
            <p:cNvPr id="2" name="Rechteck 1">
              <a:extLst>
                <a:ext uri="{FF2B5EF4-FFF2-40B4-BE49-F238E27FC236}">
                  <a16:creationId xmlns:a16="http://schemas.microsoft.com/office/drawing/2014/main" id="{2AAAFF8A-B41F-23CA-A6E2-AEC2FB961C5D}"/>
                </a:ext>
              </a:extLst>
            </p:cNvPr>
            <p:cNvSpPr/>
            <p:nvPr/>
          </p:nvSpPr>
          <p:spPr>
            <a:xfrm>
              <a:off x="1747614" y="1973545"/>
              <a:ext cx="6383709" cy="230736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Rechteck 3">
              <a:extLst>
                <a:ext uri="{FF2B5EF4-FFF2-40B4-BE49-F238E27FC236}">
                  <a16:creationId xmlns:a16="http://schemas.microsoft.com/office/drawing/2014/main" id="{B445CD13-D547-B40F-7F4B-3F9299AC59C4}"/>
                </a:ext>
              </a:extLst>
            </p:cNvPr>
            <p:cNvSpPr/>
            <p:nvPr/>
          </p:nvSpPr>
          <p:spPr>
            <a:xfrm>
              <a:off x="1563880" y="1811709"/>
              <a:ext cx="6745480" cy="2655783"/>
            </a:xfrm>
            <a:prstGeom prst="rect">
              <a:avLst/>
            </a:prstGeom>
            <a:noFill/>
            <a:ln w="762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6" name="Text 0">
            <a:extLst>
              <a:ext uri="{FF2B5EF4-FFF2-40B4-BE49-F238E27FC236}">
                <a16:creationId xmlns:a16="http://schemas.microsoft.com/office/drawing/2014/main" id="{736C9D6E-8D14-F295-D33E-A78C972112E1}"/>
              </a:ext>
            </a:extLst>
          </p:cNvPr>
          <p:cNvSpPr txBox="1"/>
          <p:nvPr/>
        </p:nvSpPr>
        <p:spPr>
          <a:xfrm>
            <a:off x="457200" y="2018890"/>
            <a:ext cx="8229600" cy="1105718"/>
          </a:xfrm>
          <a:prstGeom prst="rect">
            <a:avLst/>
          </a:prstGeom>
          <a:noFill/>
          <a:ln/>
        </p:spPr>
        <p:txBody>
          <a:bodyPr wrap="square" lIns="0" tIns="0" rIns="0" bIns="0" rtlCol="0" anchor="ctr"/>
          <a:lstStyle/>
          <a:p>
            <a:pPr marL="0" indent="0" algn="ctr">
              <a:buNone/>
            </a:pPr>
            <a:r>
              <a:rPr lang="en-US" sz="40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Live-Demo </a:t>
            </a:r>
          </a:p>
          <a:p>
            <a:pPr marL="0" indent="0" algn="ctr">
              <a:buNone/>
            </a:pPr>
            <a:r>
              <a:rPr lang="en-US" sz="2800" dirty="0">
                <a:solidFill>
                  <a:schemeClr val="accent2">
                    <a:lumMod val="75000"/>
                  </a:schemeClr>
                </a:solidFill>
                <a:latin typeface="Segoe UI" panose="020B0502040204020203" pitchFamily="34" charset="0"/>
                <a:ea typeface="Calibri" pitchFamily="34" charset="-122"/>
                <a:cs typeface="Segoe UI" panose="020B0502040204020203" pitchFamily="34" charset="0"/>
              </a:rPr>
              <a:t>Die </a:t>
            </a:r>
            <a:r>
              <a:rPr lang="en-US" sz="2800"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Kundenapp</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0441694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KI-Sofortdiagnose: KVA in 60 Sekunden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457200"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Aufnehmen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548640"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Kunde lädt Foto, Video oder Ton in der App hoch</a:t>
            </a:r>
            <a:endParaRPr lang="en-US" sz="1000" dirty="0">
              <a:latin typeface="Segoe UI" panose="020B0502040204020203" pitchFamily="34" charset="0"/>
              <a:cs typeface="Segoe UI" panose="020B0502040204020203" pitchFamily="34" charset="0"/>
            </a:endParaRPr>
          </a:p>
        </p:txBody>
      </p:sp>
      <p:sp>
        <p:nvSpPr>
          <p:cNvPr id="14" name="Text 9"/>
          <p:cNvSpPr txBox="1"/>
          <p:nvPr/>
        </p:nvSpPr>
        <p:spPr>
          <a:xfrm>
            <a:off x="2139696"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Erkennen</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2231136"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KI-Dienst nennt Gerätetyp, Ursache und Ersatzteile</a:t>
            </a:r>
            <a:endParaRPr lang="en-US" sz="1000" dirty="0">
              <a:latin typeface="Segoe UI" panose="020B0502040204020203" pitchFamily="34" charset="0"/>
              <a:cs typeface="Segoe UI" panose="020B0502040204020203" pitchFamily="34" charset="0"/>
            </a:endParaRPr>
          </a:p>
        </p:txBody>
      </p:sp>
      <p:sp>
        <p:nvSpPr>
          <p:cNvPr id="19" name="Text 13"/>
          <p:cNvSpPr txBox="1"/>
          <p:nvPr/>
        </p:nvSpPr>
        <p:spPr>
          <a:xfrm>
            <a:off x="3822192"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Kalkulieren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3913632"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RepairFlow berechnet einen vorläufigen KVA</a:t>
            </a:r>
            <a:endParaRPr lang="en-US" sz="1000" dirty="0">
              <a:latin typeface="Segoe UI" panose="020B0502040204020203" pitchFamily="34" charset="0"/>
              <a:cs typeface="Segoe UI" panose="020B0502040204020203" pitchFamily="34" charset="0"/>
            </a:endParaRPr>
          </a:p>
        </p:txBody>
      </p:sp>
      <p:sp>
        <p:nvSpPr>
          <p:cNvPr id="24" name="Text 17"/>
          <p:cNvSpPr txBox="1"/>
          <p:nvPr/>
        </p:nvSpPr>
        <p:spPr>
          <a:xfrm>
            <a:off x="5504688"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Reservieren</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25" name="Text 18"/>
          <p:cNvSpPr txBox="1"/>
          <p:nvPr/>
        </p:nvSpPr>
        <p:spPr>
          <a:xfrm>
            <a:off x="5596128"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Verfügbarkeit in allen Filialen, Teile vorreserviert</a:t>
            </a:r>
            <a:endParaRPr lang="en-US" sz="1000" dirty="0">
              <a:latin typeface="Segoe UI" panose="020B0502040204020203" pitchFamily="34" charset="0"/>
              <a:cs typeface="Segoe UI" panose="020B0502040204020203" pitchFamily="34" charset="0"/>
            </a:endParaRPr>
          </a:p>
        </p:txBody>
      </p:sp>
      <p:sp>
        <p:nvSpPr>
          <p:cNvPr id="29" name="Text 21"/>
          <p:cNvSpPr txBox="1"/>
          <p:nvPr/>
        </p:nvSpPr>
        <p:spPr>
          <a:xfrm>
            <a:off x="7187184"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Termin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30" name="Text 22"/>
          <p:cNvSpPr txBox="1"/>
          <p:nvPr/>
        </p:nvSpPr>
        <p:spPr>
          <a:xfrm>
            <a:off x="7278624"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Filiale und Termin vorgeschlagen, Kunde bestätigt</a:t>
            </a:r>
            <a:endParaRPr lang="en-US" sz="1000" dirty="0">
              <a:latin typeface="Segoe UI" panose="020B0502040204020203" pitchFamily="34" charset="0"/>
              <a:cs typeface="Segoe UI" panose="020B0502040204020203" pitchFamily="34" charset="0"/>
            </a:endParaRPr>
          </a:p>
        </p:txBody>
      </p:sp>
      <p:sp>
        <p:nvSpPr>
          <p:cNvPr id="31" name="Text 23"/>
          <p:cNvSpPr txBox="1"/>
          <p:nvPr/>
        </p:nvSpPr>
        <p:spPr>
          <a:xfrm>
            <a:off x="457200" y="3200400"/>
            <a:ext cx="3931920" cy="274320"/>
          </a:xfrm>
          <a:prstGeom prst="rect">
            <a:avLst/>
          </a:prstGeom>
          <a:noFill/>
          <a:ln/>
        </p:spPr>
        <p:txBody>
          <a:bodyPr wrap="square" lIns="0" tIns="0" rIns="0" bIns="0" rtlCol="0" anchor="ctr"/>
          <a:lstStyle/>
          <a:p>
            <a:pPr marL="0" indent="0">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Heute machbar</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32" name="Text 24"/>
          <p:cNvSpPr txBox="1"/>
          <p:nvPr/>
        </p:nvSpPr>
        <p:spPr>
          <a:xfrm>
            <a:off x="457200" y="3520440"/>
            <a:ext cx="3931920" cy="1188720"/>
          </a:xfrm>
          <a:prstGeom prst="rect">
            <a:avLst/>
          </a:prstGeom>
          <a:noFill/>
          <a:ln/>
        </p:spPr>
        <p:txBody>
          <a:bodyPr wrap="square" lIns="0" tIns="0" rIns="0" bIns="0" rtlCol="0" anchor="t"/>
          <a:lstStyle/>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Sichtbare Schäden per Bildanalyse: gebrochenes Display, gerissene Kette</a:t>
            </a:r>
            <a:endParaRPr lang="en-US" sz="1100" dirty="0">
              <a:latin typeface="Segoe UI" panose="020B0502040204020203" pitchFamily="34" charset="0"/>
              <a:cs typeface="Segoe UI" panose="020B0502040204020203" pitchFamily="34" charset="0"/>
            </a:endParaRPr>
          </a:p>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Vorab-KVA aus Teilepreisen und Aufwandsrichtwerten</a:t>
            </a:r>
            <a:endParaRPr lang="en-US" sz="1100" dirty="0">
              <a:latin typeface="Segoe UI" panose="020B0502040204020203" pitchFamily="34" charset="0"/>
              <a:cs typeface="Segoe UI" panose="020B0502040204020203" pitchFamily="34" charset="0"/>
            </a:endParaRPr>
          </a:p>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Verfügbarkeitsprüfung und Vorreservierung</a:t>
            </a:r>
            <a:endParaRPr lang="en-US" sz="1100" dirty="0">
              <a:latin typeface="Segoe UI" panose="020B0502040204020203" pitchFamily="34" charset="0"/>
              <a:cs typeface="Segoe UI" panose="020B0502040204020203" pitchFamily="34" charset="0"/>
            </a:endParaRPr>
          </a:p>
        </p:txBody>
      </p:sp>
      <p:sp>
        <p:nvSpPr>
          <p:cNvPr id="33" name="Text 25"/>
          <p:cNvSpPr txBox="1"/>
          <p:nvPr/>
        </p:nvSpPr>
        <p:spPr>
          <a:xfrm>
            <a:off x="4754880" y="3200400"/>
            <a:ext cx="3931920" cy="274320"/>
          </a:xfrm>
          <a:prstGeom prst="rect">
            <a:avLst/>
          </a:prstGeom>
          <a:noFill/>
          <a:ln/>
        </p:spPr>
        <p:txBody>
          <a:bodyPr wrap="square" lIns="0" tIns="0" rIns="0" bIns="0" rtlCol="0" anchor="ctr"/>
          <a:lstStyle/>
          <a:p>
            <a:pPr marL="0" indent="0">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Vision und Absicherung</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34" name="Text 26"/>
          <p:cNvSpPr txBox="1"/>
          <p:nvPr/>
        </p:nvSpPr>
        <p:spPr>
          <a:xfrm>
            <a:off x="4754880" y="3520440"/>
            <a:ext cx="3931920" cy="1188720"/>
          </a:xfrm>
          <a:prstGeom prst="rect">
            <a:avLst/>
          </a:prstGeom>
          <a:noFill/>
          <a:ln/>
        </p:spPr>
        <p:txBody>
          <a:bodyPr wrap="square" lIns="0" tIns="0" rIns="0" bIns="0" rtlCol="0" anchor="t"/>
          <a:lstStyle/>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Geräuschanalyse von E-Bike-Motoren, Aufwand aus Video</a:t>
            </a:r>
            <a:endParaRPr lang="en-US" sz="1100" dirty="0">
              <a:latin typeface="Segoe UI" panose="020B0502040204020203" pitchFamily="34" charset="0"/>
              <a:cs typeface="Segoe UI" panose="020B0502040204020203" pitchFamily="34" charset="0"/>
            </a:endParaRPr>
          </a:p>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Vorschlag bleibt vorläufig, der Techniker bestätigt oder korrigiert</a:t>
            </a:r>
            <a:endParaRPr lang="en-US" sz="1100" dirty="0">
              <a:latin typeface="Segoe UI" panose="020B0502040204020203" pitchFamily="34" charset="0"/>
              <a:cs typeface="Segoe UI" panose="020B0502040204020203" pitchFamily="34" charset="0"/>
            </a:endParaRPr>
          </a:p>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Medien nur mit Einwilligung, Löschung nach Abschluss</a:t>
            </a:r>
            <a:endParaRPr lang="en-US" sz="1100" dirty="0">
              <a:latin typeface="Segoe UI" panose="020B0502040204020203" pitchFamily="34" charset="0"/>
              <a:cs typeface="Segoe UI" panose="020B0502040204020203" pitchFamily="34" charset="0"/>
            </a:endParaRPr>
          </a:p>
        </p:txBody>
      </p:sp>
      <p:pic>
        <p:nvPicPr>
          <p:cNvPr id="35" name="Grafik 34" descr="Tageskalender mit einfarbiger Füllung">
            <a:extLst>
              <a:ext uri="{FF2B5EF4-FFF2-40B4-BE49-F238E27FC236}">
                <a16:creationId xmlns:a16="http://schemas.microsoft.com/office/drawing/2014/main" id="{02F94359-EFD3-0187-6F0B-1BADC1C1C86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40424" y="1288628"/>
            <a:ext cx="648000" cy="648000"/>
          </a:xfrm>
          <a:prstGeom prst="rect">
            <a:avLst/>
          </a:prstGeom>
        </p:spPr>
      </p:pic>
      <p:pic>
        <p:nvPicPr>
          <p:cNvPr id="37" name="Grafik 36" descr="Marke mit einfarbiger Füllung">
            <a:extLst>
              <a:ext uri="{FF2B5EF4-FFF2-40B4-BE49-F238E27FC236}">
                <a16:creationId xmlns:a16="http://schemas.microsoft.com/office/drawing/2014/main" id="{5C8F8888-A908-9FE9-76AC-9817079D207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57928" y="1288628"/>
            <a:ext cx="648000" cy="648000"/>
          </a:xfrm>
          <a:prstGeom prst="rect">
            <a:avLst/>
          </a:prstGeom>
        </p:spPr>
      </p:pic>
      <p:pic>
        <p:nvPicPr>
          <p:cNvPr id="39" name="Grafik 38" descr="Münzen mit einfarbiger Füllung">
            <a:extLst>
              <a:ext uri="{FF2B5EF4-FFF2-40B4-BE49-F238E27FC236}">
                <a16:creationId xmlns:a16="http://schemas.microsoft.com/office/drawing/2014/main" id="{9C064899-7FF6-F1FA-094D-A2C1BE09F6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275432" y="1260594"/>
            <a:ext cx="648000" cy="648000"/>
          </a:xfrm>
          <a:prstGeom prst="rect">
            <a:avLst/>
          </a:prstGeom>
        </p:spPr>
      </p:pic>
      <p:pic>
        <p:nvPicPr>
          <p:cNvPr id="41" name="Grafik 40" descr="Künstliche Intelligenz mit einfarbiger Füllung">
            <a:extLst>
              <a:ext uri="{FF2B5EF4-FFF2-40B4-BE49-F238E27FC236}">
                <a16:creationId xmlns:a16="http://schemas.microsoft.com/office/drawing/2014/main" id="{6DB060CD-45E9-4F32-6C01-D01512FAF1C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592936" y="1238897"/>
            <a:ext cx="648000" cy="648000"/>
          </a:xfrm>
          <a:prstGeom prst="rect">
            <a:avLst/>
          </a:prstGeom>
        </p:spPr>
      </p:pic>
      <p:pic>
        <p:nvPicPr>
          <p:cNvPr id="43" name="Grafik 42" descr="Kamera mit einfarbiger Füllung">
            <a:extLst>
              <a:ext uri="{FF2B5EF4-FFF2-40B4-BE49-F238E27FC236}">
                <a16:creationId xmlns:a16="http://schemas.microsoft.com/office/drawing/2014/main" id="{E41885DE-76B5-3C01-90F4-637E7069CE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9135" y="1300251"/>
            <a:ext cx="648000" cy="648000"/>
          </a:xfrm>
          <a:prstGeom prst="rect">
            <a:avLst/>
          </a:prstGeom>
        </p:spPr>
      </p:pic>
      <p:cxnSp>
        <p:nvCxnSpPr>
          <p:cNvPr id="3" name="Gerade Verbindung 2">
            <a:extLst>
              <a:ext uri="{FF2B5EF4-FFF2-40B4-BE49-F238E27FC236}">
                <a16:creationId xmlns:a16="http://schemas.microsoft.com/office/drawing/2014/main" id="{2472465D-9E73-998C-EB3F-FD9359C82543}"/>
              </a:ext>
            </a:extLst>
          </p:cNvPr>
          <p:cNvCxnSpPr>
            <a:cxnSpLocks/>
          </p:cNvCxnSpPr>
          <p:nvPr/>
        </p:nvCxnSpPr>
        <p:spPr>
          <a:xfrm>
            <a:off x="487680" y="3017521"/>
            <a:ext cx="8265622" cy="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 name="Gerade Verbindung 3">
            <a:extLst>
              <a:ext uri="{FF2B5EF4-FFF2-40B4-BE49-F238E27FC236}">
                <a16:creationId xmlns:a16="http://schemas.microsoft.com/office/drawing/2014/main" id="{ED6C3867-136C-1D68-02B8-139A62EA700B}"/>
              </a:ext>
            </a:extLst>
          </p:cNvPr>
          <p:cNvCxnSpPr>
            <a:cxnSpLocks/>
          </p:cNvCxnSpPr>
          <p:nvPr/>
        </p:nvCxnSpPr>
        <p:spPr>
          <a:xfrm>
            <a:off x="4501343" y="3192087"/>
            <a:ext cx="0" cy="121920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Was wir gebaut haben: Ergebnisse in Zahlen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Text 3"/>
          <p:cNvSpPr txBox="1"/>
          <p:nvPr/>
        </p:nvSpPr>
        <p:spPr>
          <a:xfrm>
            <a:off x="45720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10</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7" name="Text 4"/>
          <p:cNvSpPr txBox="1"/>
          <p:nvPr/>
        </p:nvSpPr>
        <p:spPr>
          <a:xfrm>
            <a:off x="457200" y="1828800"/>
            <a:ext cx="219456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BPMN-Kollaborationsdiagramme</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134 Aktivitäten im Werkstatt-Pool</a:t>
            </a:r>
            <a:endParaRPr lang="en-US" sz="1100" dirty="0">
              <a:latin typeface="Segoe UI" panose="020B0502040204020203" pitchFamily="34" charset="0"/>
              <a:cs typeface="Segoe UI" panose="020B0502040204020203" pitchFamily="34" charset="0"/>
            </a:endParaRPr>
          </a:p>
        </p:txBody>
      </p:sp>
      <p:sp>
        <p:nvSpPr>
          <p:cNvPr id="8" name="Text 5"/>
          <p:cNvSpPr txBox="1"/>
          <p:nvPr/>
        </p:nvSpPr>
        <p:spPr>
          <a:xfrm>
            <a:off x="265176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19</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6"/>
          <p:cNvSpPr txBox="1"/>
          <p:nvPr/>
        </p:nvSpPr>
        <p:spPr>
          <a:xfrm>
            <a:off x="265176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Use Cases</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17 Rollen und Akteure</a:t>
            </a:r>
            <a:endParaRPr lang="en-US" sz="1100" dirty="0">
              <a:latin typeface="Segoe UI" panose="020B0502040204020203" pitchFamily="34" charset="0"/>
              <a:cs typeface="Segoe UI" panose="020B0502040204020203" pitchFamily="34" charset="0"/>
            </a:endParaRPr>
          </a:p>
        </p:txBody>
      </p:sp>
      <p:sp>
        <p:nvSpPr>
          <p:cNvPr id="10" name="Text 7"/>
          <p:cNvSpPr txBox="1"/>
          <p:nvPr/>
        </p:nvSpPr>
        <p:spPr>
          <a:xfrm>
            <a:off x="484632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29</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8"/>
          <p:cNvSpPr txBox="1"/>
          <p:nvPr/>
        </p:nvSpPr>
        <p:spPr>
          <a:xfrm>
            <a:off x="484632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Klassen</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40 Assoziationen, 7 Aufzählungen</a:t>
            </a:r>
            <a:endParaRPr lang="en-US" sz="1100" dirty="0">
              <a:latin typeface="Segoe UI" panose="020B0502040204020203" pitchFamily="34" charset="0"/>
              <a:cs typeface="Segoe UI" panose="020B0502040204020203" pitchFamily="34" charset="0"/>
            </a:endParaRPr>
          </a:p>
        </p:txBody>
      </p:sp>
      <p:sp>
        <p:nvSpPr>
          <p:cNvPr id="12" name="Text 9"/>
          <p:cNvSpPr txBox="1"/>
          <p:nvPr/>
        </p:nvSpPr>
        <p:spPr>
          <a:xfrm>
            <a:off x="704088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6</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13" name="Text 10"/>
          <p:cNvSpPr txBox="1"/>
          <p:nvPr/>
        </p:nvSpPr>
        <p:spPr>
          <a:xfrm>
            <a:off x="704088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Sequenzdiagramme</a:t>
            </a:r>
            <a:endParaRPr lang="en-US" sz="1100" dirty="0">
              <a:latin typeface="Segoe UI" panose="020B0502040204020203" pitchFamily="34" charset="0"/>
              <a:cs typeface="Segoe UI" panose="020B0502040204020203" pitchFamily="34" charset="0"/>
            </a:endParaRPr>
          </a:p>
        </p:txBody>
      </p:sp>
      <p:sp>
        <p:nvSpPr>
          <p:cNvPr id="17" name="Text 13"/>
          <p:cNvSpPr txBox="1"/>
          <p:nvPr/>
        </p:nvSpPr>
        <p:spPr>
          <a:xfrm>
            <a:off x="64008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Geschäftsprozesse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8" name="Text 14"/>
          <p:cNvSpPr txBox="1"/>
          <p:nvPr/>
        </p:nvSpPr>
        <p:spPr>
          <a:xfrm>
            <a:off x="64008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Camunda Modeler, BPMN 2.0, angereichert für Camunda 8. Zehn Prozesse vom ersten Foto bis zur Retoure. 44 Nachrichtenflüsse, 51 Datenobjekte, 12 Datenspeicher.</a:t>
            </a:r>
            <a:endParaRPr lang="en-US" sz="1050" dirty="0">
              <a:latin typeface="Segoe UI" panose="020B0502040204020203" pitchFamily="34" charset="0"/>
              <a:cs typeface="Segoe UI" panose="020B0502040204020203" pitchFamily="34" charset="0"/>
            </a:endParaRPr>
          </a:p>
        </p:txBody>
      </p:sp>
      <p:sp>
        <p:nvSpPr>
          <p:cNvPr id="22" name="Text 17"/>
          <p:cNvSpPr txBox="1"/>
          <p:nvPr/>
        </p:nvSpPr>
        <p:spPr>
          <a:xfrm>
            <a:off x="342900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Objektorientierte Analyse</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23" name="Text 18"/>
          <p:cNvSpPr txBox="1"/>
          <p:nvPr/>
        </p:nvSpPr>
        <p:spPr>
          <a:xfrm>
            <a:off x="342900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Visual Paradigm: Use-Case-Diagramm, ein vollständiges Klassendiagramm, sechs Sequenzdiagramme als Unterdiagramme der Use Cases.</a:t>
            </a:r>
            <a:endParaRPr lang="en-US" sz="1050" dirty="0">
              <a:latin typeface="Segoe UI" panose="020B0502040204020203" pitchFamily="34" charset="0"/>
              <a:cs typeface="Segoe UI" panose="020B0502040204020203" pitchFamily="34" charset="0"/>
            </a:endParaRPr>
          </a:p>
        </p:txBody>
      </p:sp>
      <p:sp>
        <p:nvSpPr>
          <p:cNvPr id="27" name="Text 21"/>
          <p:cNvSpPr txBox="1"/>
          <p:nvPr/>
        </p:nvSpPr>
        <p:spPr>
          <a:xfrm>
            <a:off x="621792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Dokumentation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8" name="Text 22"/>
          <p:cNvSpPr txBox="1"/>
          <p:nvPr/>
        </p:nvSpPr>
        <p:spPr>
          <a:xfrm>
            <a:off x="621792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Rund 20 Seiten: Projekt, Vorgehen, Projektmanagement, alle Artefakte, Konsistenz der Modelle, Herausforderungen und Feedback.</a:t>
            </a:r>
            <a:endParaRPr lang="en-US" sz="1050" dirty="0">
              <a:latin typeface="Segoe UI" panose="020B0502040204020203" pitchFamily="34" charset="0"/>
              <a:cs typeface="Segoe UI" panose="020B0502040204020203" pitchFamily="34" charset="0"/>
            </a:endParaRPr>
          </a:p>
        </p:txBody>
      </p:sp>
      <p:cxnSp>
        <p:nvCxnSpPr>
          <p:cNvPr id="4" name="Gerade Verbindung 3">
            <a:extLst>
              <a:ext uri="{FF2B5EF4-FFF2-40B4-BE49-F238E27FC236}">
                <a16:creationId xmlns:a16="http://schemas.microsoft.com/office/drawing/2014/main" id="{8C573E46-BC93-A9B9-D7EC-17E4C6DFE18A}"/>
              </a:ext>
            </a:extLst>
          </p:cNvPr>
          <p:cNvCxnSpPr>
            <a:cxnSpLocks/>
          </p:cNvCxnSpPr>
          <p:nvPr/>
        </p:nvCxnSpPr>
        <p:spPr>
          <a:xfrm>
            <a:off x="2971800" y="2968752"/>
            <a:ext cx="0" cy="1450848"/>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5" name="Gerade Verbindung 4">
            <a:extLst>
              <a:ext uri="{FF2B5EF4-FFF2-40B4-BE49-F238E27FC236}">
                <a16:creationId xmlns:a16="http://schemas.microsoft.com/office/drawing/2014/main" id="{73E59AA9-5ABB-7007-6AC1-BF09D49F26D7}"/>
              </a:ext>
            </a:extLst>
          </p:cNvPr>
          <p:cNvCxnSpPr>
            <a:cxnSpLocks/>
          </p:cNvCxnSpPr>
          <p:nvPr/>
        </p:nvCxnSpPr>
        <p:spPr>
          <a:xfrm>
            <a:off x="5920740" y="2968752"/>
            <a:ext cx="0" cy="1450848"/>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4" name="Gerade Verbindung 13">
            <a:extLst>
              <a:ext uri="{FF2B5EF4-FFF2-40B4-BE49-F238E27FC236}">
                <a16:creationId xmlns:a16="http://schemas.microsoft.com/office/drawing/2014/main" id="{FA1FCB79-1404-2061-8A83-0CC66FC7B823}"/>
              </a:ext>
            </a:extLst>
          </p:cNvPr>
          <p:cNvCxnSpPr>
            <a:cxnSpLocks/>
          </p:cNvCxnSpPr>
          <p:nvPr/>
        </p:nvCxnSpPr>
        <p:spPr>
          <a:xfrm>
            <a:off x="487680" y="2709949"/>
            <a:ext cx="8265622" cy="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Zehn Prozesse, 61 Prozent automatisiert</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graphicFrame>
        <p:nvGraphicFramePr>
          <p:cNvPr id="10" name="Table 0"/>
          <p:cNvGraphicFramePr>
            <a:graphicFrameLocks noGrp="1"/>
          </p:cNvGraphicFramePr>
          <p:nvPr>
            <p:extLst>
              <p:ext uri="{D42A27DB-BD31-4B8C-83A1-F6EECF244321}">
                <p14:modId xmlns:p14="http://schemas.microsoft.com/office/powerpoint/2010/main" val="2719609380"/>
              </p:ext>
            </p:extLst>
          </p:nvPr>
        </p:nvGraphicFramePr>
        <p:xfrm>
          <a:off x="457200" y="1228475"/>
          <a:ext cx="5120640" cy="3017520"/>
        </p:xfrm>
        <a:graphic>
          <a:graphicData uri="http://schemas.openxmlformats.org/drawingml/2006/table">
            <a:tbl>
              <a:tblPr/>
              <a:tblGrid>
                <a:gridCol w="4114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7432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Nr</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Prozess</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Akt.</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autom.</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extLst>
                  <a:ext uri="{0D108BD9-81ED-4DB2-BD59-A6C34878D82A}">
                    <a16:rowId xmlns:a16="http://schemas.microsoft.com/office/drawing/2014/main" val="10000"/>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KI-Sofortdiagnose und Voranmeldung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Auftragsannahme, Geräteregistrierung und Terminplanung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Fehlerdiagnose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42 %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Kostenvoranschlag und Kundenfreigabe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64 %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Ersatzteil-Verfügbarkeit und Reservierung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80 %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06</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Ersatzteil-Bestellung beim Lieferanten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Reparaturdurchführung und Arbeitszeiterfassung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46 %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7"/>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08</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Abholung, Rechnung und Zahlung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8"/>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09</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Reklamation und Gewährleistung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50 %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9"/>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Ersatzteil-Retoure und Lieferanten-Reklamation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9</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67 %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7" name="Text 3"/>
          <p:cNvSpPr txBox="1"/>
          <p:nvPr/>
        </p:nvSpPr>
        <p:spPr>
          <a:xfrm>
            <a:off x="5943600" y="1319915"/>
            <a:ext cx="274320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134</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8" name="Text 4"/>
          <p:cNvSpPr txBox="1"/>
          <p:nvPr/>
        </p:nvSpPr>
        <p:spPr>
          <a:xfrm>
            <a:off x="5943600" y="2051435"/>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Aktivitäten im Werkstatt-Pool, im </a:t>
            </a:r>
            <a:r>
              <a:rPr lang="en-US" sz="1100" dirty="0" err="1">
                <a:solidFill>
                  <a:srgbClr val="1B2430"/>
                </a:solidFill>
                <a:latin typeface="Segoe UI" panose="020B0502040204020203" pitchFamily="34" charset="0"/>
                <a:ea typeface="Calibri" pitchFamily="34" charset="-122"/>
                <a:cs typeface="Segoe UI" panose="020B0502040204020203" pitchFamily="34" charset="0"/>
              </a:rPr>
              <a:t>Schnitt</a:t>
            </a:r>
            <a:r>
              <a:rPr lang="en-US" sz="1100" dirty="0">
                <a:solidFill>
                  <a:srgbClr val="1B2430"/>
                </a:solidFill>
                <a:latin typeface="Segoe UI" panose="020B0502040204020203" pitchFamily="34" charset="0"/>
                <a:ea typeface="Calibri" pitchFamily="34" charset="-122"/>
                <a:cs typeface="Segoe UI" panose="020B0502040204020203" pitchFamily="34" charset="0"/>
              </a:rPr>
              <a:t> 13,4 je Diagramm</a:t>
            </a:r>
            <a:endParaRPr lang="en-US" sz="1100" dirty="0">
              <a:latin typeface="Segoe UI" panose="020B0502040204020203" pitchFamily="34" charset="0"/>
              <a:cs typeface="Segoe UI" panose="020B0502040204020203" pitchFamily="34" charset="0"/>
            </a:endParaRPr>
          </a:p>
        </p:txBody>
      </p:sp>
      <p:sp>
        <p:nvSpPr>
          <p:cNvPr id="9" name="Text 5"/>
          <p:cNvSpPr txBox="1"/>
          <p:nvPr/>
        </p:nvSpPr>
        <p:spPr>
          <a:xfrm>
            <a:off x="5943600" y="2691515"/>
            <a:ext cx="274320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61 %</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5" name="Text 6"/>
          <p:cNvSpPr txBox="1"/>
          <p:nvPr/>
        </p:nvSpPr>
        <p:spPr>
          <a:xfrm>
            <a:off x="5943600" y="3423035"/>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davon führt RepairFlow ohne manuelle Arbeit aus: Status, Benachrichtigung, Prüfung, Berechnung, Regel</a:t>
            </a:r>
            <a:endParaRPr lang="en-US" sz="1100" dirty="0">
              <a:latin typeface="Segoe UI" panose="020B0502040204020203" pitchFamily="34" charset="0"/>
              <a:cs typeface="Segoe UI" panose="020B0502040204020203"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Wer macht was im System: Rollen und Use Cases</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Kundenportal</a:t>
            </a:r>
            <a:endParaRPr lang="en-US" sz="12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7"/>
          <p:cNvSpPr txBox="1"/>
          <p:nvPr/>
        </p:nvSpPr>
        <p:spPr>
          <a:xfrm>
            <a:off x="640080" y="2962035"/>
            <a:ext cx="1600200"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3 Use Cases</a:t>
            </a:r>
            <a:endParaRPr lang="en-US" sz="1200" dirty="0"/>
          </a:p>
          <a:p>
            <a:endParaRPr lang="en-US" sz="1200" dirty="0"/>
          </a:p>
          <a:p>
            <a:r>
              <a:rPr lang="en-US" sz="1200" dirty="0">
                <a:solidFill>
                  <a:srgbClr val="1B2430"/>
                </a:solidFill>
                <a:latin typeface="Calibri" pitchFamily="34" charset="0"/>
                <a:ea typeface="Calibri" pitchFamily="34" charset="-122"/>
                <a:cs typeface="Calibri" pitchFamily="34" charset="-120"/>
              </a:rPr>
              <a:t>Kunde: </a:t>
            </a:r>
            <a:r>
              <a:rPr lang="en-US" sz="1200" dirty="0" err="1">
                <a:solidFill>
                  <a:srgbClr val="1B2430"/>
                </a:solidFill>
                <a:latin typeface="Calibri" pitchFamily="34" charset="0"/>
                <a:ea typeface="Calibri" pitchFamily="34" charset="-122"/>
                <a:cs typeface="Calibri" pitchFamily="34" charset="-120"/>
              </a:rPr>
              <a:t>Sofortdiagnose</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anfordern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Voranmeldung</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bestätigen</a:t>
            </a:r>
            <a:r>
              <a:rPr lang="en-US" sz="1200" dirty="0">
                <a:solidFill>
                  <a:srgbClr val="1B2430"/>
                </a:solidFill>
                <a:latin typeface="Calibri" pitchFamily="34" charset="0"/>
                <a:ea typeface="Calibri" pitchFamily="34" charset="-122"/>
                <a:cs typeface="Calibri" pitchFamily="34" charset="-120"/>
              </a:rPr>
              <a:t>, KVA </a:t>
            </a:r>
            <a:r>
              <a:rPr lang="en-US" sz="1200" dirty="0" err="1">
                <a:solidFill>
                  <a:srgbClr val="1B2430"/>
                </a:solidFill>
                <a:latin typeface="Calibri" pitchFamily="34" charset="0"/>
                <a:ea typeface="Calibri" pitchFamily="34" charset="-122"/>
                <a:cs typeface="Calibri" pitchFamily="34" charset="-120"/>
              </a:rPr>
              <a:t>freigeben</a:t>
            </a:r>
            <a:r>
              <a:rPr lang="en-US" sz="1200" dirty="0">
                <a:solidFill>
                  <a:srgbClr val="1B2430"/>
                </a:solidFill>
                <a:latin typeface="Calibri" pitchFamily="34" charset="0"/>
                <a:ea typeface="Calibri" pitchFamily="34" charset="-122"/>
                <a:cs typeface="Calibri" pitchFamily="34" charset="-120"/>
              </a:rPr>
              <a:t> / </a:t>
            </a:r>
            <a:r>
              <a:rPr lang="en-US" sz="1200" dirty="0" err="1">
                <a:solidFill>
                  <a:srgbClr val="1B2430"/>
                </a:solidFill>
                <a:latin typeface="Calibri" pitchFamily="34" charset="0"/>
                <a:ea typeface="Calibri" pitchFamily="34" charset="-122"/>
                <a:cs typeface="Calibri" pitchFamily="34" charset="-120"/>
              </a:rPr>
              <a:t>ablehnen</a:t>
            </a:r>
            <a:endParaRPr lang="en-US" sz="1200" dirty="0"/>
          </a:p>
          <a:p>
            <a:endParaRPr lang="en-US" sz="1200" dirty="0"/>
          </a:p>
          <a:p>
            <a:r>
              <a:rPr lang="en-US" sz="1200" dirty="0">
                <a:solidFill>
                  <a:srgbClr val="1B2430"/>
                </a:solidFill>
                <a:latin typeface="Calibri" pitchFamily="34" charset="0"/>
                <a:ea typeface="Calibri" pitchFamily="34" charset="-122"/>
                <a:cs typeface="Calibri" pitchFamily="34" charset="-120"/>
              </a:rPr>
              <a:t>extern: KI-</a:t>
            </a:r>
            <a:r>
              <a:rPr lang="en-US" sz="1200" dirty="0" err="1">
                <a:solidFill>
                  <a:srgbClr val="1B2430"/>
                </a:solidFill>
                <a:latin typeface="Calibri" pitchFamily="34" charset="0"/>
                <a:ea typeface="Calibri" pitchFamily="34" charset="-122"/>
                <a:cs typeface="Calibri" pitchFamily="34" charset="-120"/>
              </a:rPr>
              <a:t>Diagnosedienst</a:t>
            </a:r>
            <a:endParaRPr lang="en-US" sz="1200" dirty="0"/>
          </a:p>
          <a:p>
            <a:endParaRPr lang="en-US" sz="1150" dirty="0">
              <a:latin typeface="Segoe UI" panose="020B0502040204020203" pitchFamily="34" charset="0"/>
              <a:cs typeface="Segoe UI" panose="020B0502040204020203" pitchFamily="34" charset="0"/>
            </a:endParaRPr>
          </a:p>
        </p:txBody>
      </p:sp>
      <p:sp>
        <p:nvSpPr>
          <p:cNvPr id="15" name="Text 10"/>
          <p:cNvSpPr txBox="1"/>
          <p:nvPr/>
        </p:nvSpPr>
        <p:spPr>
          <a:xfrm>
            <a:off x="274320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Auftrag und Werkstatt</a:t>
            </a:r>
            <a:endParaRPr lang="en-US" sz="1200" dirty="0">
              <a:solidFill>
                <a:schemeClr val="accent2">
                  <a:lumMod val="75000"/>
                </a:schemeClr>
              </a:solidFill>
              <a:latin typeface="Segoe UI" panose="020B0502040204020203" pitchFamily="34" charset="0"/>
              <a:cs typeface="Segoe UI" panose="020B0502040204020203" pitchFamily="34" charset="0"/>
            </a:endParaRPr>
          </a:p>
        </p:txBody>
      </p:sp>
      <p:sp>
        <p:nvSpPr>
          <p:cNvPr id="16" name="Text 11"/>
          <p:cNvSpPr txBox="1"/>
          <p:nvPr/>
        </p:nvSpPr>
        <p:spPr>
          <a:xfrm>
            <a:off x="2743200" y="2962035"/>
            <a:ext cx="1747886"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9 Use Cases</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Serviceannahme</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Diagnoseprüfer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Diagnostiker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Kalkulator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Werkstattplaner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Reparateur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Endkontrolleur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Geräteausgabe</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Reklamationsbearbeiter</a:t>
            </a:r>
            <a:endParaRPr lang="en-US" sz="1200" dirty="0"/>
          </a:p>
          <a:p>
            <a:endParaRPr lang="en-US" sz="1150" dirty="0">
              <a:latin typeface="Segoe UI" panose="020B0502040204020203" pitchFamily="34" charset="0"/>
              <a:cs typeface="Segoe UI" panose="020B0502040204020203" pitchFamily="34" charset="0"/>
            </a:endParaRPr>
          </a:p>
        </p:txBody>
      </p:sp>
      <p:sp>
        <p:nvSpPr>
          <p:cNvPr id="20" name="Text 14"/>
          <p:cNvSpPr txBox="1"/>
          <p:nvPr/>
        </p:nvSpPr>
        <p:spPr>
          <a:xfrm>
            <a:off x="484632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Ersatzteil-Disposition</a:t>
            </a:r>
            <a:endParaRPr lang="en-US" sz="12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4846319" y="2962035"/>
            <a:ext cx="1828797"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6 Use Cases</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Teiledisponent</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Bestandsplaner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Einkäufer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Wareneingang</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Retourenbearbeiter</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Lieferant</a:t>
            </a:r>
            <a:r>
              <a:rPr lang="en-US" sz="1200" dirty="0">
                <a:solidFill>
                  <a:srgbClr val="1B2430"/>
                </a:solidFill>
                <a:latin typeface="Calibri" pitchFamily="34" charset="0"/>
                <a:ea typeface="Calibri" pitchFamily="34" charset="-122"/>
                <a:cs typeface="Calibri" pitchFamily="34" charset="-120"/>
              </a:rPr>
              <a:t>: Black Box, </a:t>
            </a:r>
            <a:r>
              <a:rPr lang="en-US" sz="1200" dirty="0" err="1">
                <a:solidFill>
                  <a:srgbClr val="1B2430"/>
                </a:solidFill>
                <a:latin typeface="Calibri" pitchFamily="34" charset="0"/>
                <a:ea typeface="Calibri" pitchFamily="34" charset="-122"/>
                <a:cs typeface="Calibri" pitchFamily="34" charset="-120"/>
              </a:rPr>
              <a:t>kein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Akteur</a:t>
            </a:r>
            <a:endParaRPr lang="en-US" sz="1200" dirty="0"/>
          </a:p>
          <a:p>
            <a:endParaRPr lang="en-US" sz="1150" dirty="0">
              <a:latin typeface="Segoe UI" panose="020B0502040204020203" pitchFamily="34" charset="0"/>
              <a:cs typeface="Segoe UI" panose="020B0502040204020203" pitchFamily="34" charset="0"/>
            </a:endParaRPr>
          </a:p>
        </p:txBody>
      </p:sp>
      <p:sp>
        <p:nvSpPr>
          <p:cNvPr id="25" name="Text 18"/>
          <p:cNvSpPr txBox="1"/>
          <p:nvPr/>
        </p:nvSpPr>
        <p:spPr>
          <a:xfrm>
            <a:off x="6949440" y="2395107"/>
            <a:ext cx="1600200" cy="457200"/>
          </a:xfrm>
          <a:prstGeom prst="rect">
            <a:avLst/>
          </a:prstGeom>
          <a:noFill/>
          <a:ln/>
        </p:spPr>
        <p:txBody>
          <a:bodyPr wrap="square" lIns="0" tIns="0" rIns="0" bIns="0" rtlCol="0" anchor="ctr"/>
          <a:lstStyle/>
          <a:p>
            <a:pPr marL="0" indent="0" algn="ctr">
              <a:buNone/>
            </a:pPr>
            <a:r>
              <a:rPr lang="en-US" sz="12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Administration</a:t>
            </a:r>
            <a:endParaRPr lang="en-US" sz="1200" dirty="0">
              <a:solidFill>
                <a:schemeClr val="accent2">
                  <a:lumMod val="75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6949439" y="2962035"/>
            <a:ext cx="1868629"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1 Use Case</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Betriebsadministrator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Werkstattbetrieb</a:t>
            </a:r>
            <a:r>
              <a:rPr lang="en-US" sz="1200" dirty="0">
                <a:solidFill>
                  <a:srgbClr val="1B2430"/>
                </a:solidFill>
                <a:latin typeface="Calibri" pitchFamily="34" charset="0"/>
                <a:ea typeface="Calibri" pitchFamily="34" charset="-122"/>
                <a:cs typeface="Calibri" pitchFamily="34" charset="-120"/>
              </a:rPr>
              <a:t> und </a:t>
            </a:r>
            <a:r>
              <a:rPr lang="en-US" sz="1200" dirty="0" err="1">
                <a:solidFill>
                  <a:srgbClr val="1B2430"/>
                </a:solidFill>
                <a:latin typeface="Calibri" pitchFamily="34" charset="0"/>
                <a:ea typeface="Calibri" pitchFamily="34" charset="-122"/>
                <a:cs typeface="Calibri" pitchFamily="34" charset="-120"/>
              </a:rPr>
              <a:t>Filialen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verwalten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Mandant</a:t>
            </a:r>
            <a:r>
              <a:rPr lang="en-US" sz="1200" dirty="0">
                <a:solidFill>
                  <a:srgbClr val="1B2430"/>
                </a:solidFill>
                <a:latin typeface="Calibri" pitchFamily="34" charset="0"/>
                <a:ea typeface="Calibri" pitchFamily="34" charset="-122"/>
                <a:cs typeface="Calibri" pitchFamily="34" charset="-120"/>
              </a:rPr>
              <a:t>)</a:t>
            </a:r>
            <a:endParaRPr lang="en-US" sz="1200" dirty="0"/>
          </a:p>
          <a:p>
            <a:endParaRPr lang="en-US" sz="1200" dirty="0"/>
          </a:p>
          <a:p>
            <a:r>
              <a:rPr lang="en-US" sz="1200" dirty="0">
                <a:solidFill>
                  <a:srgbClr val="1B2430"/>
                </a:solidFill>
                <a:latin typeface="Calibri" pitchFamily="34" charset="0"/>
                <a:ea typeface="Calibri" pitchFamily="34" charset="-122"/>
                <a:cs typeface="Calibri" pitchFamily="34" charset="-120"/>
              </a:rPr>
              <a:t>Rolle → </a:t>
            </a:r>
            <a:r>
              <a:rPr lang="en-US" sz="1200" dirty="0" err="1">
                <a:solidFill>
                  <a:srgbClr val="1B2430"/>
                </a:solidFill>
                <a:latin typeface="Calibri" pitchFamily="34" charset="0"/>
                <a:ea typeface="Calibri" pitchFamily="34" charset="-122"/>
                <a:cs typeface="Calibri" pitchFamily="34" charset="-120"/>
              </a:rPr>
              <a:t>Mitarbeitertyp</a:t>
            </a:r>
            <a:r>
              <a:rPr lang="en-US" sz="1200" dirty="0">
                <a:solidFill>
                  <a:srgbClr val="1B2430"/>
                </a:solidFill>
                <a:latin typeface="Calibri" pitchFamily="34" charset="0"/>
                <a:ea typeface="Calibri" pitchFamily="34" charset="-122"/>
                <a:cs typeface="Calibri" pitchFamily="34" charset="-120"/>
              </a:rPr>
              <a:t> → Lane: </a:t>
            </a:r>
            <a:r>
              <a:rPr lang="en-US" sz="1200" dirty="0" err="1">
                <a:solidFill>
                  <a:srgbClr val="1B2430"/>
                </a:solidFill>
                <a:latin typeface="Calibri" pitchFamily="34" charset="0"/>
                <a:ea typeface="Calibri" pitchFamily="34" charset="-122"/>
                <a:cs typeface="Calibri" pitchFamily="34" charset="-120"/>
              </a:rPr>
              <a:t>Tabelle</a:t>
            </a:r>
            <a:r>
              <a:rPr lang="en-US" sz="1200" dirty="0">
                <a:solidFill>
                  <a:srgbClr val="1B2430"/>
                </a:solidFill>
                <a:latin typeface="Calibri" pitchFamily="34" charset="0"/>
                <a:ea typeface="Calibri" pitchFamily="34" charset="-122"/>
                <a:cs typeface="Calibri" pitchFamily="34" charset="-120"/>
              </a:rPr>
              <a:t> 7 der Doku</a:t>
            </a:r>
            <a:endParaRPr lang="en-US" sz="1200" dirty="0"/>
          </a:p>
        </p:txBody>
      </p:sp>
      <p:pic>
        <p:nvPicPr>
          <p:cNvPr id="4" name="Grafik 3" descr="Person Krone männlich mit einfarbiger Füllung">
            <a:extLst>
              <a:ext uri="{FF2B5EF4-FFF2-40B4-BE49-F238E27FC236}">
                <a16:creationId xmlns:a16="http://schemas.microsoft.com/office/drawing/2014/main" id="{AEB1FA38-ACE7-12DC-E1D4-4EFD2D9C6A0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69480" y="1535571"/>
            <a:ext cx="914400" cy="914400"/>
          </a:xfrm>
          <a:prstGeom prst="rect">
            <a:avLst/>
          </a:prstGeom>
        </p:spPr>
      </p:pic>
      <p:pic>
        <p:nvPicPr>
          <p:cNvPr id="27" name="Grafik 26" descr="Lager mit einfarbiger Füllung">
            <a:extLst>
              <a:ext uri="{FF2B5EF4-FFF2-40B4-BE49-F238E27FC236}">
                <a16:creationId xmlns:a16="http://schemas.microsoft.com/office/drawing/2014/main" id="{04171E82-5001-6E17-E22E-4B20080B33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13536" y="1546017"/>
            <a:ext cx="914400" cy="914400"/>
          </a:xfrm>
          <a:prstGeom prst="rect">
            <a:avLst/>
          </a:prstGeom>
        </p:spPr>
      </p:pic>
      <p:pic>
        <p:nvPicPr>
          <p:cNvPr id="29" name="Grafik 28" descr="Schraubenschlüssel mit einfarbiger Füllung">
            <a:extLst>
              <a:ext uri="{FF2B5EF4-FFF2-40B4-BE49-F238E27FC236}">
                <a16:creationId xmlns:a16="http://schemas.microsoft.com/office/drawing/2014/main" id="{4CEC9887-B35A-7CCD-E8F0-D1EC0E17380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6100" y="1476915"/>
            <a:ext cx="914400" cy="914400"/>
          </a:xfrm>
          <a:prstGeom prst="rect">
            <a:avLst/>
          </a:prstGeom>
        </p:spPr>
      </p:pic>
      <p:pic>
        <p:nvPicPr>
          <p:cNvPr id="31" name="Grafik 30" descr="Smartphone mit einfarbiger Füllung">
            <a:extLst>
              <a:ext uri="{FF2B5EF4-FFF2-40B4-BE49-F238E27FC236}">
                <a16:creationId xmlns:a16="http://schemas.microsoft.com/office/drawing/2014/main" id="{D24E70FF-7867-2A73-D1DB-DE0A364255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5840" y="1476915"/>
            <a:ext cx="914400" cy="914400"/>
          </a:xfrm>
          <a:prstGeom prst="rect">
            <a:avLst/>
          </a:prstGeom>
        </p:spPr>
      </p:pic>
      <p:cxnSp>
        <p:nvCxnSpPr>
          <p:cNvPr id="32" name="Gerade Verbindung 31">
            <a:extLst>
              <a:ext uri="{FF2B5EF4-FFF2-40B4-BE49-F238E27FC236}">
                <a16:creationId xmlns:a16="http://schemas.microsoft.com/office/drawing/2014/main" id="{D84854F3-6298-35F4-4F2A-D9CF1A4F06B3}"/>
              </a:ext>
            </a:extLst>
          </p:cNvPr>
          <p:cNvCxnSpPr>
            <a:cxnSpLocks/>
          </p:cNvCxnSpPr>
          <p:nvPr/>
        </p:nvCxnSpPr>
        <p:spPr>
          <a:xfrm>
            <a:off x="2379094" y="1341225"/>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3" name="Gerade Verbindung 32">
            <a:extLst>
              <a:ext uri="{FF2B5EF4-FFF2-40B4-BE49-F238E27FC236}">
                <a16:creationId xmlns:a16="http://schemas.microsoft.com/office/drawing/2014/main" id="{B032C663-F11A-99DD-08FB-4E51CB2900F4}"/>
              </a:ext>
            </a:extLst>
          </p:cNvPr>
          <p:cNvCxnSpPr>
            <a:cxnSpLocks/>
          </p:cNvCxnSpPr>
          <p:nvPr/>
        </p:nvCxnSpPr>
        <p:spPr>
          <a:xfrm>
            <a:off x="4616390" y="1327478"/>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4" name="Gerade Verbindung 33">
            <a:extLst>
              <a:ext uri="{FF2B5EF4-FFF2-40B4-BE49-F238E27FC236}">
                <a16:creationId xmlns:a16="http://schemas.microsoft.com/office/drawing/2014/main" id="{313F0858-83F7-921A-5704-5A11E9DD8AF9}"/>
              </a:ext>
            </a:extLst>
          </p:cNvPr>
          <p:cNvCxnSpPr>
            <a:cxnSpLocks/>
          </p:cNvCxnSpPr>
          <p:nvPr/>
        </p:nvCxnSpPr>
        <p:spPr>
          <a:xfrm>
            <a:off x="6800418" y="1313731"/>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Das Datenmodell: fünf Entwurfsentscheidungen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7" name="Shape 4"/>
          <p:cNvSpPr/>
          <p:nvPr/>
        </p:nvSpPr>
        <p:spPr>
          <a:xfrm>
            <a:off x="640080" y="11887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Reparaturauftrag als Aggregatwurzel</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Befund und Reparaturschritte sind Kompositionen; KVA und Gerät nur zugeordnet, weil der Vorab-KVA vor dem Auftrag entsteht.</a:t>
            </a:r>
            <a:endParaRPr lang="en-US" sz="1000" dirty="0">
              <a:latin typeface="Segoe UI" panose="020B0502040204020203" pitchFamily="34" charset="0"/>
              <a:cs typeface="Segoe UI" panose="020B0502040204020203" pitchFamily="34" charset="0"/>
            </a:endParaRPr>
          </a:p>
        </p:txBody>
      </p:sp>
      <p:sp>
        <p:nvSpPr>
          <p:cNvPr id="12" name="Shape 8"/>
          <p:cNvSpPr/>
          <p:nvPr/>
        </p:nvSpPr>
        <p:spPr>
          <a:xfrm>
            <a:off x="4892040" y="11887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Lagerbestand je Filiale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489204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Eigene Klasse zwischen Ersatzteil und Filiale. Nur so lässt sich die Verfügbarkeit über alle Filialen prüfen.</a:t>
            </a:r>
            <a:endParaRPr lang="en-US" sz="1000" dirty="0">
              <a:latin typeface="Segoe UI" panose="020B0502040204020203" pitchFamily="34" charset="0"/>
              <a:cs typeface="Segoe UI" panose="020B0502040204020203" pitchFamily="34" charset="0"/>
            </a:endParaRPr>
          </a:p>
        </p:txBody>
      </p:sp>
      <p:sp>
        <p:nvSpPr>
          <p:cNvPr id="17" name="Shape 12"/>
          <p:cNvSpPr/>
          <p:nvPr/>
        </p:nvSpPr>
        <p:spPr>
          <a:xfrm>
            <a:off x="640080" y="240487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8" name="Image 2" descr="preencoded.png"/>
          <p:cNvPicPr>
            <a:picLocks noChangeAspect="1"/>
          </p:cNvPicPr>
          <p:nvPr/>
        </p:nvPicPr>
        <p:blipFill>
          <a:blip r:embed="rId5"/>
          <a:stretch>
            <a:fillRect/>
          </a:stretch>
        </p:blipFill>
        <p:spPr>
          <a:xfrm>
            <a:off x="754380" y="2519172"/>
            <a:ext cx="228600" cy="228600"/>
          </a:xfrm>
          <a:prstGeom prst="rect">
            <a:avLst/>
          </a:prstGeom>
        </p:spPr>
      </p:pic>
      <p:sp>
        <p:nvSpPr>
          <p:cNvPr id="19" name="Text 13"/>
          <p:cNvSpPr txBox="1"/>
          <p:nvPr/>
        </p:nvSpPr>
        <p:spPr>
          <a:xfrm>
            <a:off x="1234440" y="2386584"/>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Reservierung mit Lebenszyklus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4008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vorreserviert, reserviert, entnommen, storniert: eine Beziehung mit eigenen Daten wird zur Klasse.</a:t>
            </a:r>
            <a:endParaRPr lang="en-US" sz="1000" dirty="0">
              <a:latin typeface="Segoe UI" panose="020B0502040204020203" pitchFamily="34" charset="0"/>
              <a:cs typeface="Segoe UI" panose="020B0502040204020203" pitchFamily="34" charset="0"/>
            </a:endParaRPr>
          </a:p>
        </p:txBody>
      </p:sp>
      <p:sp>
        <p:nvSpPr>
          <p:cNvPr id="22" name="Shape 16"/>
          <p:cNvSpPr/>
          <p:nvPr/>
        </p:nvSpPr>
        <p:spPr>
          <a:xfrm>
            <a:off x="4892040" y="240487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3" name="Image 3" descr="preencoded.png"/>
          <p:cNvPicPr>
            <a:picLocks noChangeAspect="1"/>
          </p:cNvPicPr>
          <p:nvPr/>
        </p:nvPicPr>
        <p:blipFill>
          <a:blip r:embed="rId6"/>
          <a:stretch>
            <a:fillRect/>
          </a:stretch>
        </p:blipFill>
        <p:spPr>
          <a:xfrm>
            <a:off x="5006340" y="2519172"/>
            <a:ext cx="228600" cy="228600"/>
          </a:xfrm>
          <a:prstGeom prst="rect">
            <a:avLst/>
          </a:prstGeom>
        </p:spPr>
      </p:pic>
      <p:sp>
        <p:nvSpPr>
          <p:cNvPr id="24" name="Text 17"/>
          <p:cNvSpPr txBox="1"/>
          <p:nvPr/>
        </p:nvSpPr>
        <p:spPr>
          <a:xfrm>
            <a:off x="5486400" y="2386584"/>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Mandant und Mitarbeitertypen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5" name="Text 18"/>
          <p:cNvSpPr txBox="1"/>
          <p:nvPr/>
        </p:nvSpPr>
        <p:spPr>
          <a:xfrm>
            <a:off x="489204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Werkstattbetrieb als Mandant und Sammelstelle; vier Mitarbeitertypen passend zu Lanes und Rollen; KundenApp und Werkstattoberfläche als Zugang.</a:t>
            </a:r>
            <a:endParaRPr lang="en-US" sz="1000" dirty="0">
              <a:latin typeface="Segoe UI" panose="020B0502040204020203" pitchFamily="34" charset="0"/>
              <a:cs typeface="Segoe UI" panose="020B0502040204020203" pitchFamily="34" charset="0"/>
            </a:endParaRPr>
          </a:p>
        </p:txBody>
      </p:sp>
      <p:sp>
        <p:nvSpPr>
          <p:cNvPr id="27" name="Shape 20"/>
          <p:cNvSpPr/>
          <p:nvPr/>
        </p:nvSpPr>
        <p:spPr>
          <a:xfrm>
            <a:off x="640080" y="3621024"/>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8" name="Image 4" descr="preencoded.png"/>
          <p:cNvPicPr>
            <a:picLocks noChangeAspect="1"/>
          </p:cNvPicPr>
          <p:nvPr/>
        </p:nvPicPr>
        <p:blipFill>
          <a:blip r:embed="rId7"/>
          <a:stretch>
            <a:fillRect/>
          </a:stretch>
        </p:blipFill>
        <p:spPr>
          <a:xfrm>
            <a:off x="754380" y="3735324"/>
            <a:ext cx="228600" cy="228600"/>
          </a:xfrm>
          <a:prstGeom prst="rect">
            <a:avLst/>
          </a:prstGeom>
        </p:spPr>
      </p:pic>
      <p:sp>
        <p:nvSpPr>
          <p:cNvPr id="29" name="Text 21"/>
          <p:cNvSpPr txBox="1"/>
          <p:nvPr/>
        </p:nvSpPr>
        <p:spPr>
          <a:xfrm>
            <a:off x="1234440" y="3602736"/>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Drei Klassen für die Sofortdiagnose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30" name="Text 22"/>
          <p:cNvSpPr txBox="1"/>
          <p:nvPr/>
        </p:nvSpPr>
        <p:spPr>
          <a:xfrm>
            <a:off x="640080" y="4169664"/>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Voranmeldung, Medienanhang und KIDiagnosevorschlag tragen das Alleinstellungsmerkmal im Modell.</a:t>
            </a:r>
            <a:endParaRPr lang="en-US" sz="1000" dirty="0">
              <a:latin typeface="Segoe UI" panose="020B0502040204020203" pitchFamily="34" charset="0"/>
              <a:cs typeface="Segoe UI" panose="020B0502040204020203" pitchFamily="34" charset="0"/>
            </a:endParaRPr>
          </a:p>
        </p:txBody>
      </p:sp>
      <p:sp>
        <p:nvSpPr>
          <p:cNvPr id="31" name="Shape 23"/>
          <p:cNvSpPr/>
          <p:nvPr/>
        </p:nvSpPr>
        <p:spPr>
          <a:xfrm>
            <a:off x="4753550" y="3563414"/>
            <a:ext cx="3657600" cy="1025810"/>
          </a:xfrm>
          <a:prstGeom prst="roundRect">
            <a:avLst>
              <a:gd name="adj" fmla="val 0"/>
            </a:avLst>
          </a:prstGeom>
          <a:solidFill>
            <a:schemeClr val="bg1">
              <a:lumMod val="75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32" name="Text 24"/>
          <p:cNvSpPr txBox="1"/>
          <p:nvPr/>
        </p:nvSpPr>
        <p:spPr>
          <a:xfrm>
            <a:off x="4892040" y="3536866"/>
            <a:ext cx="3657600" cy="1051560"/>
          </a:xfrm>
          <a:prstGeom prst="rect">
            <a:avLst/>
          </a:prstGeom>
          <a:noFill/>
          <a:ln/>
        </p:spPr>
        <p:txBody>
          <a:bodyPr wrap="square" lIns="0" tIns="0" rIns="0" bIns="0" rtlCol="0" anchor="ctr"/>
          <a:lstStyle/>
          <a:p>
            <a:pPr marL="0" indent="0">
              <a:buNone/>
            </a:pPr>
            <a:r>
              <a:rPr lang="en-US" sz="1050" b="1" dirty="0">
                <a:solidFill>
                  <a:srgbClr val="FFFFFF"/>
                </a:solidFill>
                <a:latin typeface="Segoe UI" panose="020B0502040204020203" pitchFamily="34" charset="0"/>
                <a:ea typeface="Calibri" pitchFamily="34" charset="-122"/>
                <a:cs typeface="Segoe UI" panose="020B0502040204020203" pitchFamily="34" charset="0"/>
              </a:rPr>
              <a:t>29 Klassen · 40 Assoziationen · 7 Aufzählungen</a:t>
            </a:r>
            <a:endParaRPr lang="en-US" sz="1050" dirty="0">
              <a:latin typeface="Segoe UI" panose="020B0502040204020203" pitchFamily="34" charset="0"/>
              <a:cs typeface="Segoe UI" panose="020B0502040204020203" pitchFamily="34" charset="0"/>
            </a:endParaRPr>
          </a:p>
          <a:p>
            <a:pPr marL="0" indent="0">
              <a:buNone/>
            </a:pPr>
            <a:r>
              <a:rPr lang="en-US" sz="1050" dirty="0">
                <a:solidFill>
                  <a:srgbClr val="FFFFFF"/>
                </a:solidFill>
                <a:latin typeface="Segoe UI" panose="020B0502040204020203" pitchFamily="34" charset="0"/>
                <a:ea typeface="Calibri" pitchFamily="34" charset="-122"/>
                <a:cs typeface="Segoe UI" panose="020B0502040204020203" pitchFamily="34" charset="0"/>
              </a:rPr>
              <a:t>Botschaft = Operation: Die sechs Sequenzdiagramme verwenden ausschließlich Operationen dieser Klassen. Der Reparaturauftrag führt den Status als Attribut und wechselt ihn über wechsleStatus().</a:t>
            </a:r>
            <a:endParaRPr lang="en-US" sz="1050" dirty="0">
              <a:latin typeface="Segoe UI" panose="020B0502040204020203" pitchFamily="34" charset="0"/>
              <a:cs typeface="Segoe UI" panose="020B0502040204020203"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7" name="Shape 4"/>
          <p:cNvSpPr/>
          <p:nvPr/>
        </p:nvSpPr>
        <p:spPr>
          <a:xfrm>
            <a:off x="64008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8" name="Image 0" descr="preencoded.png"/>
          <p:cNvPicPr>
            <a:picLocks noChangeAspect="1"/>
          </p:cNvPicPr>
          <p:nvPr/>
        </p:nvPicPr>
        <p:blipFill>
          <a:blip r:embed="rId3"/>
          <a:stretch>
            <a:fillRect/>
          </a:stretch>
        </p:blipFill>
        <p:spPr>
          <a:xfrm>
            <a:off x="754380" y="1467612"/>
            <a:ext cx="228600" cy="228600"/>
          </a:xfrm>
          <a:prstGeom prst="rect">
            <a:avLst/>
          </a:prstGeom>
        </p:spPr>
      </p:pic>
      <p:sp>
        <p:nvSpPr>
          <p:cNvPr id="9" name="Text 5"/>
          <p:cNvSpPr txBox="1"/>
          <p:nvPr/>
        </p:nvSpPr>
        <p:spPr>
          <a:xfrm>
            <a:off x="1234440" y="1335024"/>
            <a:ext cx="17373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Konventionen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1901952"/>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Datenobjekte tragen Klassennamen. Aktivität = Verb + Objekt, Ereignis im Partizip Perfekt. Jede Rolle gehört zu genau einer Lane und einer Klasse. Statuswerte in allen Modellen identisch.</a:t>
            </a:r>
            <a:endParaRPr lang="en-US" sz="1050" dirty="0">
              <a:latin typeface="Segoe UI" panose="020B0502040204020203" pitchFamily="34" charset="0"/>
              <a:cs typeface="Segoe UI" panose="020B0502040204020203" pitchFamily="34" charset="0"/>
            </a:endParaRPr>
          </a:p>
        </p:txBody>
      </p:sp>
      <p:sp>
        <p:nvSpPr>
          <p:cNvPr id="12" name="Shape 8"/>
          <p:cNvSpPr/>
          <p:nvPr/>
        </p:nvSpPr>
        <p:spPr>
          <a:xfrm>
            <a:off x="342900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3" name="Image 1" descr="preencoded.png"/>
          <p:cNvPicPr>
            <a:picLocks noChangeAspect="1"/>
          </p:cNvPicPr>
          <p:nvPr/>
        </p:nvPicPr>
        <p:blipFill>
          <a:blip r:embed="rId4"/>
          <a:stretch>
            <a:fillRect/>
          </a:stretch>
        </p:blipFill>
        <p:spPr>
          <a:xfrm>
            <a:off x="3543300" y="1467612"/>
            <a:ext cx="228600" cy="228600"/>
          </a:xfrm>
          <a:prstGeom prst="rect">
            <a:avLst/>
          </a:prstGeom>
        </p:spPr>
      </p:pic>
      <p:sp>
        <p:nvSpPr>
          <p:cNvPr id="14" name="Text 9"/>
          <p:cNvSpPr txBox="1"/>
          <p:nvPr/>
        </p:nvSpPr>
        <p:spPr>
          <a:xfrm>
            <a:off x="4023360" y="1335024"/>
            <a:ext cx="17373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Werkzeuge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3429000" y="1901952"/>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BPMN-Dateien angereichert für Camunda 8: Task-Definitionen, Subscriptions, Timer, FEEL-Bedingungen. Camunda-Linter und bpmnlint: 0 Befunde.</a:t>
            </a:r>
            <a:endParaRPr lang="en-US" sz="1050" dirty="0">
              <a:latin typeface="Segoe UI" panose="020B0502040204020203" pitchFamily="34" charset="0"/>
              <a:cs typeface="Segoe UI" panose="020B0502040204020203" pitchFamily="34" charset="0"/>
            </a:endParaRPr>
          </a:p>
        </p:txBody>
      </p:sp>
      <p:sp>
        <p:nvSpPr>
          <p:cNvPr id="17" name="Shape 12"/>
          <p:cNvSpPr/>
          <p:nvPr/>
        </p:nvSpPr>
        <p:spPr>
          <a:xfrm>
            <a:off x="621792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8" name="Image 2" descr="preencoded.png"/>
          <p:cNvPicPr>
            <a:picLocks noChangeAspect="1"/>
          </p:cNvPicPr>
          <p:nvPr/>
        </p:nvPicPr>
        <p:blipFill>
          <a:blip r:embed="rId5"/>
          <a:stretch>
            <a:fillRect/>
          </a:stretch>
        </p:blipFill>
        <p:spPr>
          <a:xfrm>
            <a:off x="6332220" y="1467612"/>
            <a:ext cx="228600" cy="228600"/>
          </a:xfrm>
          <a:prstGeom prst="rect">
            <a:avLst/>
          </a:prstGeom>
        </p:spPr>
      </p:pic>
      <p:sp>
        <p:nvSpPr>
          <p:cNvPr id="19" name="Text 13"/>
          <p:cNvSpPr txBox="1"/>
          <p:nvPr/>
        </p:nvSpPr>
        <p:spPr>
          <a:xfrm>
            <a:off x="6812280" y="1335024"/>
            <a:ext cx="17373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Prüfrunden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217920" y="1901952"/>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Gesamtprüfung 26.09., Komplettcheck 05.10. (39 Befunde), QA-Abgleich 08.10. Jeder Pull Request wird gegen die QA-Checkliste geprüft, bevor er gemergt wird.</a:t>
            </a:r>
            <a:endParaRPr lang="en-US" sz="1050" dirty="0">
              <a:latin typeface="Segoe UI" panose="020B0502040204020203" pitchFamily="34" charset="0"/>
              <a:cs typeface="Segoe UI" panose="020B0502040204020203" pitchFamily="34" charset="0"/>
            </a:endParaRPr>
          </a:p>
        </p:txBody>
      </p:sp>
      <p:grpSp>
        <p:nvGrpSpPr>
          <p:cNvPr id="31" name="Gruppieren 30">
            <a:extLst>
              <a:ext uri="{FF2B5EF4-FFF2-40B4-BE49-F238E27FC236}">
                <a16:creationId xmlns:a16="http://schemas.microsoft.com/office/drawing/2014/main" id="{FA2A3CE9-9175-6313-DC1F-4D76D94B0ADA}"/>
              </a:ext>
            </a:extLst>
          </p:cNvPr>
          <p:cNvGrpSpPr/>
          <p:nvPr/>
        </p:nvGrpSpPr>
        <p:grpSpPr>
          <a:xfrm>
            <a:off x="640080" y="3719650"/>
            <a:ext cx="457200" cy="457200"/>
            <a:chOff x="640080" y="3472540"/>
            <a:chExt cx="457200" cy="457200"/>
          </a:xfrm>
        </p:grpSpPr>
        <p:sp>
          <p:nvSpPr>
            <p:cNvPr id="22" name="Shape 16"/>
            <p:cNvSpPr/>
            <p:nvPr/>
          </p:nvSpPr>
          <p:spPr>
            <a:xfrm>
              <a:off x="640080" y="3472540"/>
              <a:ext cx="457200" cy="457200"/>
            </a:xfrm>
            <a:prstGeom prst="ellipse">
              <a:avLst/>
            </a:prstGeom>
            <a:solidFill>
              <a:schemeClr val="accent2">
                <a:lumMod val="75000"/>
              </a:schemeClr>
            </a:solidFill>
            <a:ln w="12700">
              <a:noFill/>
              <a:prstDash val="solid"/>
            </a:ln>
          </p:spPr>
          <p:txBody>
            <a:bodyPr anchor="t"/>
            <a:lstStyle/>
            <a:p>
              <a:endParaRPr lang="de-DE">
                <a:latin typeface="Segoe UI" panose="020B0502040204020203" pitchFamily="34" charset="0"/>
                <a:cs typeface="Segoe UI" panose="020B0502040204020203" pitchFamily="34" charset="0"/>
              </a:endParaRPr>
            </a:p>
          </p:txBody>
        </p:sp>
        <p:pic>
          <p:nvPicPr>
            <p:cNvPr id="23" name="Image 3" descr="preencoded.png"/>
            <p:cNvPicPr>
              <a:picLocks noChangeAspect="1"/>
            </p:cNvPicPr>
            <p:nvPr/>
          </p:nvPicPr>
          <p:blipFill>
            <a:blip r:embed="rId6"/>
            <a:stretch>
              <a:fillRect/>
            </a:stretch>
          </p:blipFill>
          <p:spPr>
            <a:xfrm>
              <a:off x="754380" y="3586840"/>
              <a:ext cx="228600" cy="228600"/>
            </a:xfrm>
            <a:prstGeom prst="rect">
              <a:avLst/>
            </a:prstGeom>
          </p:spPr>
        </p:pic>
      </p:grpSp>
      <p:sp>
        <p:nvSpPr>
          <p:cNvPr id="24" name="Text 17"/>
          <p:cNvSpPr txBox="1"/>
          <p:nvPr/>
        </p:nvSpPr>
        <p:spPr>
          <a:xfrm>
            <a:off x="1234440" y="3422470"/>
            <a:ext cx="7315200" cy="1051560"/>
          </a:xfrm>
          <a:prstGeom prst="rect">
            <a:avLst/>
          </a:prstGeom>
          <a:noFill/>
          <a:ln/>
        </p:spPr>
        <p:txBody>
          <a:bodyPr wrap="square" lIns="0" tIns="0" rIns="0" bIns="0" rtlCol="0" anchor="ctr"/>
          <a:lstStyle/>
          <a:p>
            <a:pPr marL="0" indent="0">
              <a:buNone/>
            </a:pPr>
            <a:r>
              <a:rPr lang="en-US" sz="1100" b="1" dirty="0">
                <a:solidFill>
                  <a:srgbClr val="1B2430"/>
                </a:solidFill>
                <a:latin typeface="Segoe UI" panose="020B0502040204020203" pitchFamily="34" charset="0"/>
                <a:ea typeface="Calibri" pitchFamily="34" charset="-122"/>
                <a:cs typeface="Segoe UI" panose="020B0502040204020203" pitchFamily="34" charset="0"/>
              </a:rPr>
              <a:t>Beispiel: </a:t>
            </a:r>
            <a:r>
              <a:rPr lang="en-US" sz="1100" dirty="0">
                <a:solidFill>
                  <a:srgbClr val="1B2430"/>
                </a:solidFill>
                <a:latin typeface="Segoe UI" panose="020B0502040204020203" pitchFamily="34" charset="0"/>
                <a:ea typeface="Calibri" pitchFamily="34" charset="-122"/>
                <a:cs typeface="Segoe UI" panose="020B0502040204020203" pitchFamily="34" charset="0"/>
              </a:rPr>
              <a:t>Als die Nacharbeit in Prozess 07 auf zwei Durchläufe begrenzt wurde, musste Sequenzdiagramm SD4 nachziehen (loop 0..2, danach Status abgelehnt). Genau solche Stellen findet die Checkliste: Botschaft = Operation, Akteur → Oberfläche → Objekt, Zustand = AuftragStatus.</a:t>
            </a:r>
            <a:endParaRPr lang="en-US" sz="1100" dirty="0">
              <a:latin typeface="Segoe UI" panose="020B0502040204020203" pitchFamily="34" charset="0"/>
              <a:cs typeface="Segoe UI" panose="020B0502040204020203" pitchFamily="34" charset="0"/>
            </a:endParaRPr>
          </a:p>
        </p:txBody>
      </p:sp>
      <p:cxnSp>
        <p:nvCxnSpPr>
          <p:cNvPr id="25" name="Gerade Verbindung 24">
            <a:extLst>
              <a:ext uri="{FF2B5EF4-FFF2-40B4-BE49-F238E27FC236}">
                <a16:creationId xmlns:a16="http://schemas.microsoft.com/office/drawing/2014/main" id="{D5EFE5D9-C3D8-26D9-F970-BB4CB7288B68}"/>
              </a:ext>
            </a:extLst>
          </p:cNvPr>
          <p:cNvCxnSpPr>
            <a:cxnSpLocks/>
          </p:cNvCxnSpPr>
          <p:nvPr/>
        </p:nvCxnSpPr>
        <p:spPr>
          <a:xfrm>
            <a:off x="3070184" y="1255555"/>
            <a:ext cx="0" cy="1763271"/>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
        <p:nvSpPr>
          <p:cNvPr id="27" name="Text 0">
            <a:extLst>
              <a:ext uri="{FF2B5EF4-FFF2-40B4-BE49-F238E27FC236}">
                <a16:creationId xmlns:a16="http://schemas.microsoft.com/office/drawing/2014/main" id="{765C87F5-EDD7-8E6E-8D51-45DBABBB98F3}"/>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Qualität</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Konventionen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Linter,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Konsistenz</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cxnSp>
        <p:nvCxnSpPr>
          <p:cNvPr id="30" name="Gerade Verbindung 29">
            <a:extLst>
              <a:ext uri="{FF2B5EF4-FFF2-40B4-BE49-F238E27FC236}">
                <a16:creationId xmlns:a16="http://schemas.microsoft.com/office/drawing/2014/main" id="{D4E11CBB-82A1-CE3E-2590-D1ACD5DB8951}"/>
              </a:ext>
            </a:extLst>
          </p:cNvPr>
          <p:cNvCxnSpPr>
            <a:cxnSpLocks/>
          </p:cNvCxnSpPr>
          <p:nvPr/>
        </p:nvCxnSpPr>
        <p:spPr>
          <a:xfrm>
            <a:off x="5861285" y="1255555"/>
            <a:ext cx="0" cy="1763271"/>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ape 4"/>
          <p:cNvSpPr/>
          <p:nvPr/>
        </p:nvSpPr>
        <p:spPr>
          <a:xfrm>
            <a:off x="640080" y="1188720"/>
            <a:ext cx="457200" cy="457200"/>
          </a:xfrm>
          <a:prstGeom prst="ellipse">
            <a:avLst/>
          </a:prstGeom>
          <a:solidFill>
            <a:schemeClr val="accent2">
              <a:lumMod val="50000"/>
            </a:schemeClr>
          </a:solidFill>
          <a:ln w="12700">
            <a:no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Calibri" pitchFamily="34" charset="0"/>
                <a:ea typeface="Calibri" pitchFamily="34" charset="-122"/>
                <a:cs typeface="Calibri" pitchFamily="34" charset="-120"/>
              </a:rPr>
              <a:t>Perspektive klären</a:t>
            </a:r>
            <a:endParaRPr lang="en-US" sz="1400" dirty="0">
              <a:solidFill>
                <a:schemeClr val="accent2">
                  <a:lumMod val="50000"/>
                </a:schemeClr>
              </a:solidFill>
            </a:endParaRPr>
          </a:p>
        </p:txBody>
      </p:sp>
      <p:sp>
        <p:nvSpPr>
          <p:cNvPr id="10" name="Text 6"/>
          <p:cNvSpPr txBox="1"/>
          <p:nvPr/>
        </p:nvSpPr>
        <p:spPr>
          <a:xfrm>
            <a:off x="64008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Werkstatt oder Softwareanbieter? Die Rückfrage des Dozenten hat uns zur klaren Entscheidung gezwungen: Solution Provider, FixWerk als Pilotkunde. Prozesse blieben, Texte und Klassenmodell zogen nach.</a:t>
            </a:r>
            <a:endParaRPr lang="en-US" sz="1150" dirty="0"/>
          </a:p>
        </p:txBody>
      </p:sp>
      <p:sp>
        <p:nvSpPr>
          <p:cNvPr id="12" name="Shape 8"/>
          <p:cNvSpPr/>
          <p:nvPr/>
        </p:nvSpPr>
        <p:spPr>
          <a:xfrm>
            <a:off x="4892040" y="1188720"/>
            <a:ext cx="457200" cy="457200"/>
          </a:xfrm>
          <a:prstGeom prst="ellipse">
            <a:avLst/>
          </a:prstGeom>
          <a:solidFill>
            <a:schemeClr val="accent2">
              <a:lumMod val="75000"/>
            </a:schemeClr>
          </a:solidFill>
          <a:ln w="12700">
            <a:noFill/>
            <a:prstDash val="solid"/>
          </a:ln>
        </p:spPr>
        <p:txBody>
          <a:bodyPr/>
          <a:lstStyle/>
          <a:p>
            <a:endParaRPr lang="de-DE">
              <a:solidFill>
                <a:schemeClr val="accent2">
                  <a:lumMod val="75000"/>
                </a:schemeClr>
              </a:solidFill>
            </a:endParaRPr>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a:noFill/>
          </a:ln>
        </p:spPr>
        <p:txBody>
          <a:bodyPr wrap="square" lIns="0" tIns="0" rIns="0" bIns="0" rtlCol="0" anchor="ctr"/>
          <a:lstStyle/>
          <a:p>
            <a:pPr marL="0" indent="0">
              <a:buNone/>
            </a:pPr>
            <a:r>
              <a:rPr lang="en-US" sz="1400" b="1" dirty="0">
                <a:solidFill>
                  <a:schemeClr val="accent2">
                    <a:lumMod val="75000"/>
                  </a:schemeClr>
                </a:solidFill>
                <a:latin typeface="Calibri" pitchFamily="34" charset="0"/>
                <a:ea typeface="Calibri" pitchFamily="34" charset="-122"/>
                <a:cs typeface="Calibri" pitchFamily="34" charset="-120"/>
              </a:rPr>
              <a:t>Drei Modelle, ein Vokabular</a:t>
            </a:r>
            <a:endParaRPr lang="en-US" sz="1400" dirty="0">
              <a:solidFill>
                <a:schemeClr val="accent2">
                  <a:lumMod val="75000"/>
                </a:schemeClr>
              </a:solidFill>
            </a:endParaRPr>
          </a:p>
        </p:txBody>
      </p:sp>
      <p:sp>
        <p:nvSpPr>
          <p:cNvPr id="15" name="Text 10"/>
          <p:cNvSpPr txBox="1"/>
          <p:nvPr/>
        </p:nvSpPr>
        <p:spPr>
          <a:xfrm>
            <a:off x="489204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Datenobjekte, Klassen, Lebenslinien und Statuswerte müssen wortgleich sein. Gemeinsame Namensregeln und ein Abgleich nach jeder Änderung halten die Modelle zusammen.</a:t>
            </a:r>
            <a:endParaRPr lang="en-US" sz="1150" dirty="0"/>
          </a:p>
        </p:txBody>
      </p:sp>
      <p:sp>
        <p:nvSpPr>
          <p:cNvPr id="17" name="Shape 12"/>
          <p:cNvSpPr/>
          <p:nvPr/>
        </p:nvSpPr>
        <p:spPr>
          <a:xfrm>
            <a:off x="640080" y="3063240"/>
            <a:ext cx="457200" cy="457200"/>
          </a:xfrm>
          <a:prstGeom prst="ellipse">
            <a:avLst/>
          </a:prstGeom>
          <a:solidFill>
            <a:schemeClr val="accent2">
              <a:lumMod val="75000"/>
            </a:schemeClr>
          </a:solidFill>
          <a:ln w="12700">
            <a:noFill/>
            <a:prstDash val="solid"/>
          </a:ln>
        </p:spPr>
        <p:txBody>
          <a:bodyPr/>
          <a:lstStyle/>
          <a:p>
            <a:endParaRPr lang="de-DE">
              <a:solidFill>
                <a:schemeClr val="accent2">
                  <a:lumMod val="75000"/>
                </a:schemeClr>
              </a:solidFill>
            </a:endParaRPr>
          </a:p>
        </p:txBody>
      </p:sp>
      <p:pic>
        <p:nvPicPr>
          <p:cNvPr id="18" name="Image 2" descr="preencoded.png"/>
          <p:cNvPicPr>
            <a:picLocks noChangeAspect="1"/>
          </p:cNvPicPr>
          <p:nvPr/>
        </p:nvPicPr>
        <p:blipFill>
          <a:blip r:embed="rId5"/>
          <a:stretch>
            <a:fillRect/>
          </a:stretch>
        </p:blipFill>
        <p:spPr>
          <a:xfrm>
            <a:off x="754380" y="3177540"/>
            <a:ext cx="228600" cy="228600"/>
          </a:xfrm>
          <a:prstGeom prst="rect">
            <a:avLst/>
          </a:prstGeom>
        </p:spPr>
      </p:pic>
      <p:sp>
        <p:nvSpPr>
          <p:cNvPr id="19" name="Text 13"/>
          <p:cNvSpPr txBox="1"/>
          <p:nvPr/>
        </p:nvSpPr>
        <p:spPr>
          <a:xfrm>
            <a:off x="1234440" y="3044952"/>
            <a:ext cx="3063240" cy="457200"/>
          </a:xfrm>
          <a:prstGeom prst="rect">
            <a:avLst/>
          </a:prstGeom>
          <a:noFill/>
          <a:ln>
            <a:noFill/>
          </a:ln>
        </p:spPr>
        <p:txBody>
          <a:bodyPr wrap="square" lIns="0" tIns="0" rIns="0" bIns="0" rtlCol="0" anchor="ctr"/>
          <a:lstStyle/>
          <a:p>
            <a:pPr marL="0" indent="0">
              <a:buNone/>
            </a:pPr>
            <a:r>
              <a:rPr lang="en-US" sz="1400" b="1" dirty="0">
                <a:solidFill>
                  <a:schemeClr val="accent2">
                    <a:lumMod val="75000"/>
                  </a:schemeClr>
                </a:solidFill>
                <a:latin typeface="Calibri" pitchFamily="34" charset="0"/>
                <a:ea typeface="Calibri" pitchFamily="34" charset="-122"/>
                <a:cs typeface="Calibri" pitchFamily="34" charset="-120"/>
              </a:rPr>
              <a:t>Engine-ready statt Fehlerliste</a:t>
            </a:r>
            <a:endParaRPr lang="en-US" sz="1400" dirty="0">
              <a:solidFill>
                <a:schemeClr val="accent2">
                  <a:lumMod val="75000"/>
                </a:schemeClr>
              </a:solidFill>
            </a:endParaRPr>
          </a:p>
        </p:txBody>
      </p:sp>
      <p:sp>
        <p:nvSpPr>
          <p:cNvPr id="20" name="Text 14"/>
          <p:cNvSpPr txBox="1"/>
          <p:nvPr/>
        </p:nvSpPr>
        <p:spPr>
          <a:xfrm>
            <a:off x="64008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Der Camunda Modeler meldet für Camunda 8 fehlende technische Details als Fehler. Wir haben die Diagramme angereichert, bis der Linter keine Befunde mehr meldete.</a:t>
            </a:r>
            <a:endParaRPr lang="en-US" sz="1150" dirty="0"/>
          </a:p>
        </p:txBody>
      </p:sp>
      <p:sp>
        <p:nvSpPr>
          <p:cNvPr id="22" name="Shape 16"/>
          <p:cNvSpPr/>
          <p:nvPr/>
        </p:nvSpPr>
        <p:spPr>
          <a:xfrm>
            <a:off x="4892040" y="3063240"/>
            <a:ext cx="457200" cy="457200"/>
          </a:xfrm>
          <a:prstGeom prst="ellipse">
            <a:avLst/>
          </a:prstGeom>
          <a:solidFill>
            <a:schemeClr val="accent2">
              <a:lumMod val="50000"/>
            </a:schemeClr>
          </a:solidFill>
          <a:ln w="12700">
            <a:no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3177540"/>
            <a:ext cx="228600" cy="228600"/>
          </a:xfrm>
          <a:prstGeom prst="rect">
            <a:avLst/>
          </a:prstGeom>
        </p:spPr>
      </p:pic>
      <p:sp>
        <p:nvSpPr>
          <p:cNvPr id="24" name="Text 17"/>
          <p:cNvSpPr txBox="1"/>
          <p:nvPr/>
        </p:nvSpPr>
        <p:spPr>
          <a:xfrm>
            <a:off x="5486400" y="3044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Calibri" pitchFamily="34" charset="0"/>
                <a:ea typeface="Calibri" pitchFamily="34" charset="-122"/>
                <a:cs typeface="Calibri" pitchFamily="34" charset="-120"/>
              </a:rPr>
              <a:t>Hinweise von außen nutzen</a:t>
            </a:r>
            <a:endParaRPr lang="en-US" sz="1400" dirty="0">
              <a:solidFill>
                <a:schemeClr val="accent2">
                  <a:lumMod val="50000"/>
                </a:schemeClr>
              </a:solidFill>
            </a:endParaRPr>
          </a:p>
        </p:txBody>
      </p:sp>
      <p:sp>
        <p:nvSpPr>
          <p:cNvPr id="25" name="Text 18"/>
          <p:cNvSpPr txBox="1"/>
          <p:nvPr/>
        </p:nvSpPr>
        <p:spPr>
          <a:xfrm>
            <a:off x="489204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Die KI-Vision glaubwürdig halten (heute machbar vs. Vision) und das Use-Case-Diagramm nach dem Coaching auf eine Rolle je Use Case umbauen: Beides hat die Arbeit deutlich besser gemacht.</a:t>
            </a:r>
            <a:endParaRPr lang="en-US" sz="1150" dirty="0"/>
          </a:p>
        </p:txBody>
      </p:sp>
      <p:sp>
        <p:nvSpPr>
          <p:cNvPr id="26" name="Text 0">
            <a:extLst>
              <a:ext uri="{FF2B5EF4-FFF2-40B4-BE49-F238E27FC236}">
                <a16:creationId xmlns:a16="http://schemas.microsoft.com/office/drawing/2014/main" id="{A48CE5FD-F9CC-24CB-FA2B-923ED5921C61}"/>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Herausforderungen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und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Lernerfahrungen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89337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hape 3"/>
          <p:cNvSpPr/>
          <p:nvPr/>
        </p:nvSpPr>
        <p:spPr>
          <a:xfrm>
            <a:off x="457200" y="1117350"/>
            <a:ext cx="1371600" cy="548640"/>
          </a:xfrm>
          <a:prstGeom prst="chevron">
            <a:avLst/>
          </a:prstGeom>
          <a:solidFill>
            <a:schemeClr val="accent2">
              <a:lumMod val="50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7" name="Text 4"/>
          <p:cNvSpPr txBox="1"/>
          <p:nvPr/>
        </p:nvSpPr>
        <p:spPr>
          <a:xfrm>
            <a:off x="5669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Themenwahl</a:t>
            </a:r>
            <a:endParaRPr lang="en-US" sz="800" dirty="0">
              <a:latin typeface="Segoe UI" panose="020B0502040204020203" pitchFamily="34" charset="0"/>
              <a:cs typeface="Segoe UI" panose="020B0502040204020203" pitchFamily="34" charset="0"/>
            </a:endParaRPr>
          </a:p>
        </p:txBody>
      </p:sp>
      <p:sp>
        <p:nvSpPr>
          <p:cNvPr id="8" name="Shape 5"/>
          <p:cNvSpPr/>
          <p:nvPr/>
        </p:nvSpPr>
        <p:spPr>
          <a:xfrm>
            <a:off x="1828800" y="1117350"/>
            <a:ext cx="1371600" cy="548640"/>
          </a:xfrm>
          <a:prstGeom prst="chevron">
            <a:avLst/>
          </a:prstGeom>
          <a:solidFill>
            <a:schemeClr val="accent2">
              <a:lumMod val="75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9" name="Text 6"/>
          <p:cNvSpPr txBox="1"/>
          <p:nvPr/>
        </p:nvSpPr>
        <p:spPr>
          <a:xfrm>
            <a:off x="2005434"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Konzept + Feedback</a:t>
            </a:r>
            <a:endParaRPr lang="en-US" sz="800" dirty="0">
              <a:latin typeface="Segoe UI" panose="020B0502040204020203" pitchFamily="34" charset="0"/>
              <a:cs typeface="Segoe UI" panose="020B0502040204020203" pitchFamily="34" charset="0"/>
            </a:endParaRPr>
          </a:p>
        </p:txBody>
      </p:sp>
      <p:sp>
        <p:nvSpPr>
          <p:cNvPr id="10" name="Shape 7"/>
          <p:cNvSpPr/>
          <p:nvPr/>
        </p:nvSpPr>
        <p:spPr>
          <a:xfrm>
            <a:off x="3200400" y="1117350"/>
            <a:ext cx="1371600" cy="548640"/>
          </a:xfrm>
          <a:prstGeom prst="chevron">
            <a:avLst/>
          </a:prstGeom>
          <a:solidFill>
            <a:schemeClr val="accent2">
              <a:lumMod val="50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1" name="Text 8"/>
          <p:cNvSpPr txBox="1"/>
          <p:nvPr/>
        </p:nvSpPr>
        <p:spPr>
          <a:xfrm>
            <a:off x="33101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Prozessanalyse</a:t>
            </a:r>
            <a:endParaRPr lang="en-US" sz="800" dirty="0">
              <a:latin typeface="Segoe UI" panose="020B0502040204020203" pitchFamily="34" charset="0"/>
              <a:cs typeface="Segoe UI" panose="020B0502040204020203" pitchFamily="34" charset="0"/>
            </a:endParaRPr>
          </a:p>
        </p:txBody>
      </p:sp>
      <p:sp>
        <p:nvSpPr>
          <p:cNvPr id="12" name="Shape 9"/>
          <p:cNvSpPr/>
          <p:nvPr/>
        </p:nvSpPr>
        <p:spPr>
          <a:xfrm>
            <a:off x="4572000" y="1117350"/>
            <a:ext cx="1371600" cy="548640"/>
          </a:xfrm>
          <a:prstGeom prst="chevron">
            <a:avLst/>
          </a:prstGeom>
          <a:solidFill>
            <a:schemeClr val="accent2">
              <a:lumMod val="75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3" name="Text 10"/>
          <p:cNvSpPr txBox="1"/>
          <p:nvPr/>
        </p:nvSpPr>
        <p:spPr>
          <a:xfrm>
            <a:off x="46817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BPMN</a:t>
            </a:r>
            <a:endParaRPr lang="en-US" sz="800" dirty="0">
              <a:latin typeface="Segoe UI" panose="020B0502040204020203" pitchFamily="34" charset="0"/>
              <a:cs typeface="Segoe UI" panose="020B0502040204020203" pitchFamily="34" charset="0"/>
            </a:endParaRPr>
          </a:p>
        </p:txBody>
      </p:sp>
      <p:sp>
        <p:nvSpPr>
          <p:cNvPr id="14" name="Shape 11"/>
          <p:cNvSpPr/>
          <p:nvPr/>
        </p:nvSpPr>
        <p:spPr>
          <a:xfrm>
            <a:off x="5943600" y="1117350"/>
            <a:ext cx="1371600" cy="548640"/>
          </a:xfrm>
          <a:prstGeom prst="chevron">
            <a:avLst/>
          </a:prstGeom>
          <a:solidFill>
            <a:schemeClr val="accent2">
              <a:lumMod val="50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5" name="Text 12"/>
          <p:cNvSpPr txBox="1"/>
          <p:nvPr/>
        </p:nvSpPr>
        <p:spPr>
          <a:xfrm>
            <a:off x="60533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OOA (UML)</a:t>
            </a:r>
            <a:endParaRPr lang="en-US" sz="800" dirty="0">
              <a:latin typeface="Segoe UI" panose="020B0502040204020203" pitchFamily="34" charset="0"/>
              <a:cs typeface="Segoe UI" panose="020B0502040204020203" pitchFamily="34" charset="0"/>
            </a:endParaRPr>
          </a:p>
        </p:txBody>
      </p:sp>
      <p:sp>
        <p:nvSpPr>
          <p:cNvPr id="16" name="Shape 13"/>
          <p:cNvSpPr/>
          <p:nvPr/>
        </p:nvSpPr>
        <p:spPr>
          <a:xfrm>
            <a:off x="7315200" y="1117350"/>
            <a:ext cx="1371600" cy="548640"/>
          </a:xfrm>
          <a:prstGeom prst="chevron">
            <a:avLst/>
          </a:prstGeom>
          <a:solidFill>
            <a:schemeClr val="accent2">
              <a:lumMod val="75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7" name="Text 14"/>
          <p:cNvSpPr txBox="1"/>
          <p:nvPr/>
        </p:nvSpPr>
        <p:spPr>
          <a:xfrm>
            <a:off x="7516403"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Doku + Präsentation</a:t>
            </a:r>
            <a:endParaRPr lang="en-US" sz="800" dirty="0">
              <a:latin typeface="Segoe UI" panose="020B0502040204020203" pitchFamily="34" charset="0"/>
              <a:cs typeface="Segoe UI" panose="020B0502040204020203" pitchFamily="34" charset="0"/>
            </a:endParaRPr>
          </a:p>
        </p:txBody>
      </p:sp>
      <p:sp>
        <p:nvSpPr>
          <p:cNvPr id="19" name="Shape 16"/>
          <p:cNvSpPr/>
          <p:nvPr/>
        </p:nvSpPr>
        <p:spPr>
          <a:xfrm>
            <a:off x="640080" y="207747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0" name="Image 0" descr="preencoded.png"/>
          <p:cNvPicPr>
            <a:picLocks noChangeAspect="1"/>
          </p:cNvPicPr>
          <p:nvPr/>
        </p:nvPicPr>
        <p:blipFill>
          <a:blip r:embed="rId3"/>
          <a:stretch>
            <a:fillRect/>
          </a:stretch>
        </p:blipFill>
        <p:spPr>
          <a:xfrm>
            <a:off x="754380" y="2191770"/>
            <a:ext cx="228600" cy="228600"/>
          </a:xfrm>
          <a:prstGeom prst="rect">
            <a:avLst/>
          </a:prstGeom>
        </p:spPr>
      </p:pic>
      <p:sp>
        <p:nvSpPr>
          <p:cNvPr id="21" name="Text 17"/>
          <p:cNvSpPr txBox="1"/>
          <p:nvPr/>
        </p:nvSpPr>
        <p:spPr>
          <a:xfrm>
            <a:off x="1234440" y="205918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Rollen</a:t>
            </a:r>
            <a:endParaRPr lang="en-US" sz="1400" dirty="0">
              <a:latin typeface="Segoe UI" panose="020B0502040204020203" pitchFamily="34" charset="0"/>
              <a:cs typeface="Segoe UI" panose="020B0502040204020203" pitchFamily="34" charset="0"/>
            </a:endParaRPr>
          </a:p>
        </p:txBody>
      </p:sp>
      <p:sp>
        <p:nvSpPr>
          <p:cNvPr id="22" name="Text 18"/>
          <p:cNvSpPr txBox="1"/>
          <p:nvPr/>
        </p:nvSpPr>
        <p:spPr>
          <a:xfrm>
            <a:off x="640080" y="262611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Projektleitung Nina (Stellvertretung und Backups David), Product Owner Adrian, Scrum Master Kilian, UML Kilian und David, BPMN Maximilian, Qualität Jakob.</a:t>
            </a:r>
            <a:endParaRPr lang="en-US" sz="1150" dirty="0">
              <a:latin typeface="Segoe UI" panose="020B0502040204020203" pitchFamily="34" charset="0"/>
              <a:cs typeface="Segoe UI" panose="020B0502040204020203" pitchFamily="34" charset="0"/>
            </a:endParaRPr>
          </a:p>
        </p:txBody>
      </p:sp>
      <p:sp>
        <p:nvSpPr>
          <p:cNvPr id="24" name="Shape 20"/>
          <p:cNvSpPr/>
          <p:nvPr/>
        </p:nvSpPr>
        <p:spPr>
          <a:xfrm>
            <a:off x="3429000" y="207747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5" name="Image 1" descr="preencoded.png"/>
          <p:cNvPicPr>
            <a:picLocks noChangeAspect="1"/>
          </p:cNvPicPr>
          <p:nvPr/>
        </p:nvPicPr>
        <p:blipFill>
          <a:blip r:embed="rId4"/>
          <a:stretch>
            <a:fillRect/>
          </a:stretch>
        </p:blipFill>
        <p:spPr>
          <a:xfrm>
            <a:off x="3543300" y="2191770"/>
            <a:ext cx="228600" cy="228600"/>
          </a:xfrm>
          <a:prstGeom prst="rect">
            <a:avLst/>
          </a:prstGeom>
        </p:spPr>
      </p:pic>
      <p:sp>
        <p:nvSpPr>
          <p:cNvPr id="26" name="Text 21"/>
          <p:cNvSpPr txBox="1"/>
          <p:nvPr/>
        </p:nvSpPr>
        <p:spPr>
          <a:xfrm>
            <a:off x="4023360" y="205918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Zusammenarbeit</a:t>
            </a:r>
            <a:endParaRPr lang="en-US" sz="1400" dirty="0">
              <a:latin typeface="Segoe UI" panose="020B0502040204020203" pitchFamily="34" charset="0"/>
              <a:cs typeface="Segoe UI" panose="020B0502040204020203" pitchFamily="34" charset="0"/>
            </a:endParaRPr>
          </a:p>
        </p:txBody>
      </p:sp>
      <p:sp>
        <p:nvSpPr>
          <p:cNvPr id="27" name="Text 22"/>
          <p:cNvSpPr txBox="1"/>
          <p:nvPr/>
        </p:nvSpPr>
        <p:spPr>
          <a:xfrm>
            <a:off x="3429000" y="262611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Scrum im Takt der vier Gruppentermine, Trello-Board mit einer Liste je Termin und einer Karte je Person und Aufgabe, Prüfung jedes Diagramms im Zweierteam, GitHub mit Branches, Pull Requests und Review.</a:t>
            </a:r>
            <a:endParaRPr lang="en-US" sz="1150" dirty="0">
              <a:latin typeface="Segoe UI" panose="020B0502040204020203" pitchFamily="34" charset="0"/>
              <a:cs typeface="Segoe UI" panose="020B0502040204020203" pitchFamily="34" charset="0"/>
            </a:endParaRPr>
          </a:p>
        </p:txBody>
      </p:sp>
      <p:sp>
        <p:nvSpPr>
          <p:cNvPr id="29" name="Shape 24"/>
          <p:cNvSpPr/>
          <p:nvPr/>
        </p:nvSpPr>
        <p:spPr>
          <a:xfrm>
            <a:off x="6217920" y="207747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30" name="Image 2" descr="preencoded.png"/>
          <p:cNvPicPr>
            <a:picLocks noChangeAspect="1"/>
          </p:cNvPicPr>
          <p:nvPr/>
        </p:nvPicPr>
        <p:blipFill>
          <a:blip r:embed="rId5"/>
          <a:stretch>
            <a:fillRect/>
          </a:stretch>
        </p:blipFill>
        <p:spPr>
          <a:xfrm>
            <a:off x="6332220" y="2191770"/>
            <a:ext cx="228600" cy="228600"/>
          </a:xfrm>
          <a:prstGeom prst="rect">
            <a:avLst/>
          </a:prstGeom>
        </p:spPr>
      </p:pic>
      <p:sp>
        <p:nvSpPr>
          <p:cNvPr id="31" name="Text 25"/>
          <p:cNvSpPr txBox="1"/>
          <p:nvPr/>
        </p:nvSpPr>
        <p:spPr>
          <a:xfrm>
            <a:off x="6812280" y="2059182"/>
            <a:ext cx="1737360" cy="457200"/>
          </a:xfrm>
          <a:prstGeom prst="rect">
            <a:avLst/>
          </a:prstGeom>
          <a:noFill/>
          <a:ln/>
        </p:spPr>
        <p:txBody>
          <a:bodyPr wrap="square" lIns="0" tIns="0" rIns="0" bIns="0" rtlCol="0" anchor="ctr"/>
          <a:lstStyle/>
          <a:p>
            <a:pPr marL="0" indent="0">
              <a:buNone/>
            </a:pPr>
            <a:r>
              <a:rPr lang="en-US" sz="1400" b="1" dirty="0" err="1">
                <a:solidFill>
                  <a:srgbClr val="1B2430"/>
                </a:solidFill>
                <a:latin typeface="Segoe UI" panose="020B0502040204020203" pitchFamily="34" charset="0"/>
                <a:ea typeface="Calibri" pitchFamily="34" charset="-122"/>
                <a:cs typeface="Segoe UI" panose="020B0502040204020203" pitchFamily="34" charset="0"/>
              </a:rPr>
              <a:t>Ablauf</a:t>
            </a:r>
            <a:r>
              <a:rPr lang="en-US" sz="1400" b="1" dirty="0">
                <a:solidFill>
                  <a:srgbClr val="1B2430"/>
                </a:solidFill>
                <a:latin typeface="Segoe UI" panose="020B0502040204020203" pitchFamily="34" charset="0"/>
                <a:ea typeface="Calibri" pitchFamily="34" charset="-122"/>
                <a:cs typeface="Segoe UI" panose="020B0502040204020203" pitchFamily="34" charset="0"/>
              </a:rPr>
              <a:t> je </a:t>
            </a:r>
            <a:r>
              <a:rPr lang="en-US" sz="1400" b="1" dirty="0" err="1">
                <a:solidFill>
                  <a:srgbClr val="1B2430"/>
                </a:solidFill>
                <a:latin typeface="Segoe UI" panose="020B0502040204020203" pitchFamily="34" charset="0"/>
                <a:ea typeface="Calibri" pitchFamily="34" charset="-122"/>
                <a:cs typeface="Segoe UI" panose="020B0502040204020203" pitchFamily="34" charset="0"/>
              </a:rPr>
              <a:t>Diagramm</a:t>
            </a:r>
            <a:endParaRPr lang="en-US" sz="1400" b="1" dirty="0">
              <a:solidFill>
                <a:srgbClr val="1B2430"/>
              </a:solidFill>
              <a:latin typeface="Segoe UI" panose="020B0502040204020203" pitchFamily="34" charset="0"/>
              <a:ea typeface="Calibri" pitchFamily="34" charset="-122"/>
              <a:cs typeface="Segoe UI" panose="020B0502040204020203" pitchFamily="34" charset="0"/>
            </a:endParaRPr>
          </a:p>
        </p:txBody>
      </p:sp>
      <p:sp>
        <p:nvSpPr>
          <p:cNvPr id="32" name="Text 26"/>
          <p:cNvSpPr txBox="1"/>
          <p:nvPr/>
        </p:nvSpPr>
        <p:spPr>
          <a:xfrm>
            <a:off x="6217920" y="2626110"/>
            <a:ext cx="2286000" cy="19659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Entwurf</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im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Zweierteam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gegenseitiges</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Review, Abstimmung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im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Gruppentermin</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Umsetzung</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über</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Pull Request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mit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Review.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Entscheidungen</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mit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Begründung</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im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Entscheidungslog</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damit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jede</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Korrektur</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nachvollziehbar</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bleibt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a:t>
            </a:r>
            <a:endParaRPr kumimoji="0" lang="en-US" sz="1150" b="0" i="0" u="none" strike="noStrike" kern="1200" cap="none" spc="0" normalizeH="0" baseline="0" noProof="0" dirty="0">
              <a:ln>
                <a:noFill/>
              </a:ln>
              <a:solidFill>
                <a:prstClr val="black"/>
              </a:solidFill>
              <a:effectLst/>
              <a:uLnTx/>
              <a:uFillTx/>
              <a:latin typeface="Segoe UI" panose="020B0502040204020203" pitchFamily="34" charset="0"/>
              <a:cs typeface="Segoe UI" panose="020B0502040204020203" pitchFamily="34" charset="0"/>
            </a:endParaRPr>
          </a:p>
        </p:txBody>
      </p:sp>
      <p:sp>
        <p:nvSpPr>
          <p:cNvPr id="5" name="Text 0">
            <a:extLst>
              <a:ext uri="{FF2B5EF4-FFF2-40B4-BE49-F238E27FC236}">
                <a16:creationId xmlns:a16="http://schemas.microsoft.com/office/drawing/2014/main" id="{5EF3F177-BCC2-B7E8-4C79-2BAC6028859E}"/>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Vorgehen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und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Projektmanagement</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2205834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Geschäftsmodell und Ausblick</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457200" y="1837322"/>
            <a:ext cx="3063240"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Abo je Filiale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457200" y="2271884"/>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Basis: Auftrags- und Kundenverwaltung mit Kundenportal. Pro: zusätzlich filialübergreifende Disposition und KI-Sofortdiagnose.</a:t>
            </a:r>
            <a:endParaRPr lang="en-US" sz="1150" dirty="0">
              <a:latin typeface="Segoe UI" panose="020B0502040204020203" pitchFamily="34" charset="0"/>
              <a:cs typeface="Segoe UI" panose="020B0502040204020203" pitchFamily="34" charset="0"/>
            </a:endParaRPr>
          </a:p>
        </p:txBody>
      </p:sp>
      <p:sp>
        <p:nvSpPr>
          <p:cNvPr id="14" name="Text 9"/>
          <p:cNvSpPr txBox="1"/>
          <p:nvPr/>
        </p:nvSpPr>
        <p:spPr>
          <a:xfrm>
            <a:off x="4824570" y="1837322"/>
            <a:ext cx="3063240"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Zielkunden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4824570" y="2271884"/>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Unabhängige Werkstätten und kleine Ketten mit 2 bis 10 Filialen im DACH-Raum, für die ein großes Werkstattsystem zu schwer ist.</a:t>
            </a:r>
            <a:endParaRPr lang="en-US" sz="1150" dirty="0">
              <a:latin typeface="Segoe UI" panose="020B0502040204020203" pitchFamily="34" charset="0"/>
              <a:cs typeface="Segoe UI" panose="020B0502040204020203" pitchFamily="34" charset="0"/>
            </a:endParaRPr>
          </a:p>
        </p:txBody>
      </p:sp>
      <p:sp>
        <p:nvSpPr>
          <p:cNvPr id="16" name="Text 11"/>
          <p:cNvSpPr txBox="1"/>
          <p:nvPr/>
        </p:nvSpPr>
        <p:spPr>
          <a:xfrm>
            <a:off x="457200" y="3355760"/>
            <a:ext cx="8229600" cy="274320"/>
          </a:xfrm>
          <a:prstGeom prst="rect">
            <a:avLst/>
          </a:prstGeom>
          <a:noFill/>
          <a:ln/>
        </p:spPr>
        <p:txBody>
          <a:bodyPr wrap="square" lIns="0" tIns="0" rIns="0" bIns="0" rtlCol="0" anchor="ctr"/>
          <a:lstStyle/>
          <a:p>
            <a:pPr marL="0" indent="0">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Ausblick (Vision, nicht modelliert)</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457200"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Predictive Disposition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457200"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Bedarfsprognose je Filiale und Saison, damit Teile vor der Nachfrage im Lager liegen.</a:t>
            </a:r>
            <a:endParaRPr lang="en-US" sz="1050" dirty="0">
              <a:latin typeface="Segoe UI" panose="020B0502040204020203" pitchFamily="34" charset="0"/>
              <a:cs typeface="Segoe UI" panose="020B0502040204020203" pitchFamily="34" charset="0"/>
            </a:endParaRPr>
          </a:p>
        </p:txBody>
      </p:sp>
      <p:sp>
        <p:nvSpPr>
          <p:cNvPr id="25" name="Text 18"/>
          <p:cNvSpPr txBox="1"/>
          <p:nvPr/>
        </p:nvSpPr>
        <p:spPr>
          <a:xfrm>
            <a:off x="3429000"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Techniker-Copilot</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3429000"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Reparaturschritte und Aufwand aus der Historie ähnlicher Aufträge vorschlagen.</a:t>
            </a:r>
            <a:endParaRPr lang="en-US" sz="1050" dirty="0">
              <a:latin typeface="Segoe UI" panose="020B0502040204020203" pitchFamily="34" charset="0"/>
              <a:cs typeface="Segoe UI" panose="020B0502040204020203" pitchFamily="34" charset="0"/>
            </a:endParaRPr>
          </a:p>
        </p:txBody>
      </p:sp>
      <p:sp>
        <p:nvSpPr>
          <p:cNvPr id="30" name="Text 22"/>
          <p:cNvSpPr txBox="1"/>
          <p:nvPr/>
        </p:nvSpPr>
        <p:spPr>
          <a:xfrm>
            <a:off x="6288941"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Digitale Geräteakte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31" name="Text 23"/>
          <p:cNvSpPr txBox="1"/>
          <p:nvPr/>
        </p:nvSpPr>
        <p:spPr>
          <a:xfrm>
            <a:off x="6288941"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Jedes Gerät behält seine Reparaturgeschichte über alle Filialen und Besitzer.</a:t>
            </a:r>
            <a:endParaRPr lang="en-US" sz="1050" dirty="0">
              <a:latin typeface="Segoe UI" panose="020B0502040204020203" pitchFamily="34" charset="0"/>
              <a:cs typeface="Segoe UI" panose="020B0502040204020203" pitchFamily="34" charset="0"/>
            </a:endParaRPr>
          </a:p>
        </p:txBody>
      </p:sp>
      <p:pic>
        <p:nvPicPr>
          <p:cNvPr id="4" name="Grafik 3" descr="Geld mit einfarbiger Füllung">
            <a:extLst>
              <a:ext uri="{FF2B5EF4-FFF2-40B4-BE49-F238E27FC236}">
                <a16:creationId xmlns:a16="http://schemas.microsoft.com/office/drawing/2014/main" id="{642898C4-E097-D67C-490C-E84451008C3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31620" y="995985"/>
            <a:ext cx="914400" cy="914400"/>
          </a:xfrm>
          <a:prstGeom prst="rect">
            <a:avLst/>
          </a:prstGeom>
        </p:spPr>
      </p:pic>
      <p:pic>
        <p:nvPicPr>
          <p:cNvPr id="32" name="Grafik 31" descr="Laden mit einfarbiger Füllung">
            <a:extLst>
              <a:ext uri="{FF2B5EF4-FFF2-40B4-BE49-F238E27FC236}">
                <a16:creationId xmlns:a16="http://schemas.microsoft.com/office/drawing/2014/main" id="{7E835EF6-A092-A989-138F-B59E682C21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98990" y="995985"/>
            <a:ext cx="914400" cy="9144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Segoe UI" panose="020B0502040204020203" pitchFamily="34" charset="0"/>
                <a:ea typeface="Calibri" pitchFamily="34" charset="-122"/>
                <a:cs typeface="Segoe UI" panose="020B0502040204020203" pitchFamily="34" charset="0"/>
              </a:rPr>
              <a:t>Fazit</a:t>
            </a:r>
            <a:endParaRPr lang="en-US" sz="2800" dirty="0">
              <a:latin typeface="Segoe UI" panose="020B0502040204020203" pitchFamily="34" charset="0"/>
              <a:cs typeface="Segoe UI" panose="020B0502040204020203" pitchFamily="34" charset="0"/>
            </a:endParaRPr>
          </a:p>
        </p:txBody>
      </p:sp>
      <p:sp>
        <p:nvSpPr>
          <p:cNvPr id="6" name="Text 3"/>
          <p:cNvSpPr txBox="1"/>
          <p:nvPr/>
        </p:nvSpPr>
        <p:spPr>
          <a:xfrm>
            <a:off x="548640" y="1097280"/>
            <a:ext cx="7863840" cy="1554480"/>
          </a:xfrm>
          <a:prstGeom prst="rect">
            <a:avLst/>
          </a:prstGeom>
          <a:noFill/>
          <a:ln/>
        </p:spPr>
        <p:txBody>
          <a:bodyPr wrap="square" lIns="0" tIns="0" rIns="0" bIns="0" rtlCol="0" anchor="t"/>
          <a:lstStyle/>
          <a:p>
            <a:pPr marL="0" indent="0">
              <a:spcAft>
                <a:spcPts val="1000"/>
              </a:spcAft>
              <a:buNone/>
            </a:pPr>
            <a:r>
              <a:rPr lang="en-US" sz="1600" dirty="0">
                <a:solidFill>
                  <a:srgbClr val="FFFFFF"/>
                </a:solidFill>
                <a:latin typeface="Segoe UI" panose="020B0502040204020203" pitchFamily="34" charset="0"/>
                <a:ea typeface="Calibri" pitchFamily="34" charset="-122"/>
                <a:cs typeface="Segoe UI" panose="020B0502040204020203" pitchFamily="34" charset="0"/>
              </a:rPr>
              <a:t>RepairFlow löst den Medienbruch aus Papier, Excel und Telefon und macht den Reparaturauftrag zum zentralen Zustandsautomaten.</a:t>
            </a:r>
            <a:endParaRPr lang="en-US" sz="1600" dirty="0">
              <a:latin typeface="Segoe UI" panose="020B0502040204020203" pitchFamily="34" charset="0"/>
              <a:cs typeface="Segoe UI" panose="020B0502040204020203" pitchFamily="34" charset="0"/>
            </a:endParaRPr>
          </a:p>
          <a:p>
            <a:pPr marL="0" indent="0">
              <a:spcAft>
                <a:spcPts val="1000"/>
              </a:spcAft>
              <a:buNone/>
            </a:pPr>
            <a:r>
              <a:rPr lang="en-US" sz="1600" dirty="0">
                <a:solidFill>
                  <a:srgbClr val="FFFFFF"/>
                </a:solidFill>
                <a:latin typeface="Segoe UI" panose="020B0502040204020203" pitchFamily="34" charset="0"/>
                <a:ea typeface="Calibri" pitchFamily="34" charset="-122"/>
                <a:cs typeface="Segoe UI" panose="020B0502040204020203" pitchFamily="34" charset="0"/>
              </a:rPr>
              <a:t>Der fachliche Mehrwert liegt in der filialübergreifenden Disposition und in der KI-Sofortdiagnose, die dem Kunden Klarheit gibt, bevor er die Werkstatt betritt.</a:t>
            </a:r>
            <a:endParaRPr lang="en-US" sz="1600" dirty="0">
              <a:latin typeface="Segoe UI" panose="020B0502040204020203" pitchFamily="34" charset="0"/>
              <a:cs typeface="Segoe UI" panose="020B0502040204020203" pitchFamily="34" charset="0"/>
            </a:endParaRPr>
          </a:p>
        </p:txBody>
      </p:sp>
      <p:sp>
        <p:nvSpPr>
          <p:cNvPr id="7" name="Text 4"/>
          <p:cNvSpPr txBox="1"/>
          <p:nvPr/>
        </p:nvSpPr>
        <p:spPr>
          <a:xfrm>
            <a:off x="548640" y="2834640"/>
            <a:ext cx="7315200" cy="731520"/>
          </a:xfrm>
          <a:prstGeom prst="rect">
            <a:avLst/>
          </a:prstGeom>
          <a:noFill/>
          <a:ln/>
        </p:spPr>
        <p:txBody>
          <a:bodyPr wrap="square" lIns="0" tIns="0" rIns="0" bIns="0" rtlCol="0" anchor="ctr"/>
          <a:lstStyle/>
          <a:p>
            <a:pPr marL="0" indent="0">
              <a:buNone/>
            </a:pPr>
            <a:r>
              <a:rPr lang="en-US" sz="4000" b="1" dirty="0">
                <a:solidFill>
                  <a:srgbClr val="FFFFFF"/>
                </a:solidFill>
                <a:latin typeface="Segoe UI" panose="020B0502040204020203" pitchFamily="34" charset="0"/>
                <a:ea typeface="Calibri" pitchFamily="34" charset="-122"/>
                <a:cs typeface="Segoe UI" panose="020B0502040204020203" pitchFamily="34" charset="0"/>
              </a:rPr>
              <a:t>Vielen Dank</a:t>
            </a:r>
            <a:endParaRPr lang="en-US" sz="4000" dirty="0">
              <a:latin typeface="Segoe UI" panose="020B0502040204020203" pitchFamily="34" charset="0"/>
              <a:cs typeface="Segoe UI" panose="020B0502040204020203" pitchFamily="34" charset="0"/>
            </a:endParaRPr>
          </a:p>
        </p:txBody>
      </p:sp>
      <p:sp>
        <p:nvSpPr>
          <p:cNvPr id="8" name="Text 5"/>
          <p:cNvSpPr txBox="1"/>
          <p:nvPr/>
        </p:nvSpPr>
        <p:spPr>
          <a:xfrm>
            <a:off x="548640" y="3566160"/>
            <a:ext cx="7315200" cy="457200"/>
          </a:xfrm>
          <a:prstGeom prst="rect">
            <a:avLst/>
          </a:prstGeom>
          <a:noFill/>
          <a:ln/>
        </p:spPr>
        <p:txBody>
          <a:bodyPr wrap="square" lIns="0" tIns="0" rIns="0" bIns="0" rtlCol="0" anchor="ctr"/>
          <a:lstStyle/>
          <a:p>
            <a:pPr marL="0" indent="0">
              <a:buNone/>
            </a:pPr>
            <a:r>
              <a:rPr lang="en-US" sz="2200" dirty="0">
                <a:solidFill>
                  <a:srgbClr val="CFE3E3"/>
                </a:solidFill>
                <a:latin typeface="Segoe UI" panose="020B0502040204020203" pitchFamily="34" charset="0"/>
                <a:ea typeface="Calibri" pitchFamily="34" charset="-122"/>
                <a:cs typeface="Segoe UI" panose="020B0502040204020203" pitchFamily="34" charset="0"/>
              </a:rPr>
              <a:t>Fragen?</a:t>
            </a:r>
            <a:endParaRPr lang="en-US" sz="2200" dirty="0">
              <a:latin typeface="Segoe UI" panose="020B0502040204020203" pitchFamily="34" charset="0"/>
              <a:cs typeface="Segoe UI" panose="020B0502040204020203" pitchFamily="34" charset="0"/>
            </a:endParaRPr>
          </a:p>
        </p:txBody>
      </p:sp>
      <p:sp>
        <p:nvSpPr>
          <p:cNvPr id="9" name="Text 6"/>
          <p:cNvSpPr txBox="1"/>
          <p:nvPr/>
        </p:nvSpPr>
        <p:spPr>
          <a:xfrm>
            <a:off x="548640" y="4114800"/>
            <a:ext cx="7315200" cy="365760"/>
          </a:xfrm>
          <a:prstGeom prst="rect">
            <a:avLst/>
          </a:prstGeom>
          <a:noFill/>
          <a:ln/>
        </p:spPr>
        <p:txBody>
          <a:bodyPr wrap="square" lIns="0" tIns="0" rIns="0" bIns="0" rtlCol="0" anchor="ctr"/>
          <a:lstStyle/>
          <a:p>
            <a:pPr marL="0" indent="0">
              <a:buNone/>
            </a:pPr>
            <a:r>
              <a:rPr lang="en-US" sz="1200" dirty="0">
                <a:solidFill>
                  <a:srgbClr val="FFFFFF"/>
                </a:solidFill>
                <a:latin typeface="Segoe UI" panose="020B0502040204020203" pitchFamily="34" charset="0"/>
                <a:ea typeface="Calibri" pitchFamily="34" charset="-122"/>
                <a:cs typeface="Segoe UI" panose="020B0502040204020203" pitchFamily="34" charset="0"/>
              </a:rPr>
              <a:t>Gruppe 1 · WWI25B4 · RepairFlow · Diagramme und Details in der Projektdokumentation</a:t>
            </a:r>
            <a:endParaRPr lang="en-US" sz="1200" dirty="0">
              <a:latin typeface="Segoe UI" panose="020B0502040204020203" pitchFamily="34" charset="0"/>
              <a:cs typeface="Segoe UI" panose="020B0502040204020203"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9" name="Table 0"/>
          <p:cNvGraphicFramePr>
            <a:graphicFrameLocks noGrp="1"/>
          </p:cNvGraphicFramePr>
          <p:nvPr>
            <p:extLst>
              <p:ext uri="{D42A27DB-BD31-4B8C-83A1-F6EECF244321}">
                <p14:modId xmlns:p14="http://schemas.microsoft.com/office/powerpoint/2010/main" val="1706668167"/>
              </p:ext>
            </p:extLst>
          </p:nvPr>
        </p:nvGraphicFramePr>
        <p:xfrm>
          <a:off x="457200" y="1244376"/>
          <a:ext cx="8229600" cy="3200400"/>
        </p:xfrm>
        <a:graphic>
          <a:graphicData uri="http://schemas.openxmlformats.org/drawingml/2006/table">
            <a:tbl>
              <a:tblPr/>
              <a:tblGrid>
                <a:gridCol w="15544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5669280">
                  <a:extLst>
                    <a:ext uri="{9D8B030D-6E8A-4147-A177-3AD203B41FA5}">
                      <a16:colId xmlns:a16="http://schemas.microsoft.com/office/drawing/2014/main" val="20002"/>
                    </a:ext>
                  </a:extLst>
                </a:gridCol>
              </a:tblGrid>
              <a:tr h="45720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Vortragende(r)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50000"/>
                      </a:schemeClr>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Folien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50000"/>
                      </a:schemeClr>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Verantworteter Beitrag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50000"/>
                      </a:schemeClr>
                    </a:solidFill>
                  </a:tcPr>
                </a:tc>
                <a:extLst>
                  <a:ext uri="{0D108BD9-81ED-4DB2-BD59-A6C34878D82A}">
                    <a16:rowId xmlns:a16="http://schemas.microsoft.com/office/drawing/2014/main" val="10000"/>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Nina Sattler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 16–18</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Einleitung und Agenda, Vorgehen und Projektmanagement, Geschäftsmodell und Ausblick, Fazit, Moderation der Fragerunde; Projektleitung, Redaktion der Dokumentation, Abgabe-Archiv</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David Leismann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Das Problem, Lösung, Nutzenversprechen; Use-Case-Diagramm und Sequenzdiagramme SD5 und SD6 in Visual Paradigm, stellvertretende Projektleitung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Adrian Wenzler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10–11</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Ergebnisse in Zahlen, Prozesslandkarte; Product Owner, Fachkonzept und Entscheidungslog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Maximilian Ewald</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7–9</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Prozess-Highlights, Live-Demo, KI-Sofortdiagnose; BPMN-Modellierung der zehn Prozesse im Camunda Modeler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Kilian Platter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6, 12–13</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Auftragsreise, Rollen und Use Cases, Datenmodell; Klassendiagramm, SD1 bis SD4 und VP-Projekt, Scrum Master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Jakob Schwan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14–15</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Qualität, Herausforderungen und Lernerfahrungen; Qualitätssicherung, Reviews und Konsistenz der Modelle</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0">
            <a:extLst>
              <a:ext uri="{FF2B5EF4-FFF2-40B4-BE49-F238E27FC236}">
                <a16:creationId xmlns:a16="http://schemas.microsoft.com/office/drawing/2014/main" id="{F066B39A-F881-C371-A34D-09F0A6E891EC}"/>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Beiträge der Vortragenden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0</TotalTime>
  <Words>4184</Words>
  <Application>Microsoft Macintosh PowerPoint</Application>
  <PresentationFormat>Bildschirmpräsentation (16:9)</PresentationFormat>
  <Paragraphs>333</Paragraphs>
  <Slides>19</Slides>
  <Notes>17</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19</vt:i4>
      </vt:variant>
    </vt:vector>
  </HeadingPairs>
  <TitlesOfParts>
    <vt:vector size="24" baseType="lpstr">
      <vt:lpstr>Arial</vt:lpstr>
      <vt:lpstr>Calibri</vt:lpstr>
      <vt:lpstr>Segoe UI</vt:lpstr>
      <vt:lpstr>Wingdings</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RepairFlow – Abschlusspräsentation Fallstudie Systemanalyse</dc:title>
  <dc:subject>PptxGenJS Presentation</dc:subject>
  <dc:creator>Gruppe 1 WWI25B4</dc:creator>
  <cp:lastModifiedBy>Ewald, Maximilian</cp:lastModifiedBy>
  <cp:revision>14</cp:revision>
  <dcterms:created xsi:type="dcterms:W3CDTF">2026-10-15T07:59:30Z</dcterms:created>
  <dcterms:modified xsi:type="dcterms:W3CDTF">2026-10-22T09:33:46Z</dcterms:modified>
</cp:coreProperties>
</file>