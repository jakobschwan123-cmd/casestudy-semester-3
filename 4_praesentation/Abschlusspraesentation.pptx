
<file path=[Content_Types].xml><?xml version="1.0" encoding="utf-8"?>
<Types xmlns="http://schemas.openxmlformats.org/package/2006/content-types">
  <Default Extension="jpeg" ContentType="image/jpeg"/>
  <Default Extension="org&amp;utm_campaign=index&amp;utm_content=thumbnail" ContentType="image/pn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307" r:id="rId2"/>
    <p:sldId id="279" r:id="rId3"/>
    <p:sldId id="284" r:id="rId4"/>
    <p:sldId id="285" r:id="rId5"/>
    <p:sldId id="281" r:id="rId6"/>
    <p:sldId id="288" r:id="rId7"/>
    <p:sldId id="289" r:id="rId8"/>
    <p:sldId id="265" r:id="rId9"/>
    <p:sldId id="280" r:id="rId10"/>
    <p:sldId id="298" r:id="rId11"/>
    <p:sldId id="299" r:id="rId12"/>
    <p:sldId id="300" r:id="rId13"/>
    <p:sldId id="301" r:id="rId14"/>
    <p:sldId id="302" r:id="rId15"/>
    <p:sldId id="303" r:id="rId16"/>
    <p:sldId id="304" r:id="rId17"/>
    <p:sldId id="305" r:id="rId18"/>
    <p:sldId id="306" r:id="rId19"/>
    <p:sldId id="290" r:id="rId20"/>
    <p:sldId id="291" r:id="rId21"/>
    <p:sldId id="292" r:id="rId22"/>
    <p:sldId id="293" r:id="rId23"/>
    <p:sldId id="282" r:id="rId24"/>
    <p:sldId id="283" r:id="rId25"/>
    <p:sldId id="286" r:id="rId26"/>
    <p:sldId id="287" r:id="rId27"/>
    <p:sldId id="294" r:id="rId28"/>
    <p:sldId id="295" r:id="rId29"/>
    <p:sldId id="296" r:id="rId30"/>
    <p:sldId id="297"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avid" id="{88BB6C5F-BCA4-9943-807C-50A57D629305}">
          <p14:sldIdLst>
            <p14:sldId id="307"/>
            <p14:sldId id="279"/>
            <p14:sldId id="284"/>
            <p14:sldId id="285"/>
          </p14:sldIdLst>
        </p14:section>
        <p14:section name="Kilian" id="{1139A1D9-944E-3441-9BD8-35E9CEF6D225}">
          <p14:sldIdLst>
            <p14:sldId id="281"/>
          </p14:sldIdLst>
        </p14:section>
        <p14:section name="Maximilian" id="{0B64C47C-C681-8643-8A72-028DC518B57D}">
          <p14:sldIdLst>
            <p14:sldId id="288"/>
            <p14:sldId id="289"/>
            <p14:sldId id="265"/>
            <p14:sldId id="280"/>
          </p14:sldIdLst>
        </p14:section>
        <p14:section name="Live-Demo Backup" id="{BD62D84B-A2F8-B642-B6E0-21AAD0E6FC59}">
          <p14:sldIdLst>
            <p14:sldId id="298"/>
            <p14:sldId id="299"/>
            <p14:sldId id="300"/>
            <p14:sldId id="301"/>
            <p14:sldId id="302"/>
            <p14:sldId id="303"/>
            <p14:sldId id="304"/>
            <p14:sldId id="305"/>
            <p14:sldId id="306"/>
          </p14:sldIdLst>
        </p14:section>
        <p14:section name="Adrian" id="{C59C4432-FF7E-A14B-8A5D-46FD719FCE68}">
          <p14:sldIdLst>
            <p14:sldId id="290"/>
            <p14:sldId id="291"/>
            <p14:sldId id="292"/>
            <p14:sldId id="293"/>
          </p14:sldIdLst>
        </p14:section>
        <p14:section name="Kilian" id="{2F11BAA1-0B73-6D4F-B882-B2353546D24B}">
          <p14:sldIdLst>
            <p14:sldId id="282"/>
            <p14:sldId id="283"/>
          </p14:sldIdLst>
        </p14:section>
        <p14:section name="Jakob" id="{7DC776A1-7D7D-F548-992F-CA5AB6B455F2}">
          <p14:sldIdLst>
            <p14:sldId id="286"/>
            <p14:sldId id="287"/>
          </p14:sldIdLst>
        </p14:section>
        <p14:section name="Nina" id="{0D502D7A-3C1B-1F4A-BB67-E47EF2FFD626}">
          <p14:sldIdLst>
            <p14:sldId id="294"/>
            <p14:sldId id="295"/>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C5700"/>
    <a:srgbClr val="FFFFFF"/>
    <a:srgbClr val="CF4E02"/>
    <a:srgbClr val="E8EEF4"/>
    <a:srgbClr val="A2A1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408"/>
    <p:restoredTop sz="86169"/>
  </p:normalViewPr>
  <p:slideViewPr>
    <p:cSldViewPr snapToGrid="0" snapToObjects="1">
      <p:cViewPr varScale="1">
        <p:scale>
          <a:sx n="143" d="100"/>
          <a:sy n="143" d="100"/>
        </p:scale>
        <p:origin x="121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ilian Platter" userId="c49eb2881fa751ca" providerId="LiveId" clId="{FDA102BF-EFD5-549B-81DE-49FC5087B7E9}"/>
    <pc:docChg chg="addSld delSld modSld sldOrd modSection">
      <pc:chgData name="Kilian Platter" userId="c49eb2881fa751ca" providerId="LiveId" clId="{FDA102BF-EFD5-549B-81DE-49FC5087B7E9}" dt="2026-10-24T11:35:00.904" v="69" actId="2696"/>
      <pc:docMkLst>
        <pc:docMk/>
      </pc:docMkLst>
      <pc:sldChg chg="modSp mod modNotesTx">
        <pc:chgData name="Kilian Platter" userId="c49eb2881fa751ca" providerId="LiveId" clId="{FDA102BF-EFD5-549B-81DE-49FC5087B7E9}" dt="2026-10-24T10:29:43.816" v="37" actId="20577"/>
        <pc:sldMkLst>
          <pc:docMk/>
          <pc:sldMk cId="0" sldId="256"/>
        </pc:sldMkLst>
        <pc:spChg chg="mod">
          <ac:chgData name="Kilian Platter" userId="c49eb2881fa751ca" providerId="LiveId" clId="{FDA102BF-EFD5-549B-81DE-49FC5087B7E9}" dt="2026-10-24T10:20:16.757" v="5" actId="20577"/>
          <ac:spMkLst>
            <pc:docMk/>
            <pc:sldMk cId="0" sldId="256"/>
            <ac:spMk id="10" creationId="{00000000-0000-0000-0000-000000000000}"/>
          </ac:spMkLst>
        </pc:spChg>
      </pc:sldChg>
      <pc:sldChg chg="del modNotesTx">
        <pc:chgData name="Kilian Platter" userId="c49eb2881fa751ca" providerId="LiveId" clId="{FDA102BF-EFD5-549B-81DE-49FC5087B7E9}" dt="2026-10-24T11:34:28.793" v="63" actId="2696"/>
        <pc:sldMkLst>
          <pc:docMk/>
          <pc:sldMk cId="0" sldId="258"/>
        </pc:sldMkLst>
      </pc:sldChg>
      <pc:sldChg chg="del modNotesTx">
        <pc:chgData name="Kilian Platter" userId="c49eb2881fa751ca" providerId="LiveId" clId="{FDA102BF-EFD5-549B-81DE-49FC5087B7E9}" dt="2026-10-24T11:34:36.314" v="65" actId="2696"/>
        <pc:sldMkLst>
          <pc:docMk/>
          <pc:sldMk cId="0" sldId="259"/>
        </pc:sldMkLst>
      </pc:sldChg>
      <pc:sldChg chg="ord modNotesTx">
        <pc:chgData name="Kilian Platter" userId="c49eb2881fa751ca" providerId="LiveId" clId="{FDA102BF-EFD5-549B-81DE-49FC5087B7E9}" dt="2026-10-24T10:30:11.968" v="53" actId="20577"/>
        <pc:sldMkLst>
          <pc:docMk/>
          <pc:sldMk cId="0" sldId="262"/>
        </pc:sldMkLst>
      </pc:sldChg>
      <pc:sldChg chg="modNotesTx">
        <pc:chgData name="Kilian Platter" userId="c49eb2881fa751ca" providerId="LiveId" clId="{FDA102BF-EFD5-549B-81DE-49FC5087B7E9}" dt="2026-10-24T10:25:34.341" v="22" actId="20577"/>
        <pc:sldMkLst>
          <pc:docMk/>
          <pc:sldMk cId="0" sldId="263"/>
        </pc:sldMkLst>
      </pc:sldChg>
      <pc:sldChg chg="modNotesTx">
        <pc:chgData name="Kilian Platter" userId="c49eb2881fa751ca" providerId="LiveId" clId="{FDA102BF-EFD5-549B-81DE-49FC5087B7E9}" dt="2026-10-24T10:25:40.161" v="23" actId="20577"/>
        <pc:sldMkLst>
          <pc:docMk/>
          <pc:sldMk cId="0" sldId="264"/>
        </pc:sldMkLst>
      </pc:sldChg>
      <pc:sldChg chg="modNotesTx">
        <pc:chgData name="Kilian Platter" userId="c49eb2881fa751ca" providerId="LiveId" clId="{FDA102BF-EFD5-549B-81DE-49FC5087B7E9}" dt="2026-10-24T10:25:11.456" v="19" actId="20577"/>
        <pc:sldMkLst>
          <pc:docMk/>
          <pc:sldMk cId="0" sldId="265"/>
        </pc:sldMkLst>
      </pc:sldChg>
      <pc:sldChg chg="del modNotesTx">
        <pc:chgData name="Kilian Platter" userId="c49eb2881fa751ca" providerId="LiveId" clId="{FDA102BF-EFD5-549B-81DE-49FC5087B7E9}" dt="2026-10-24T11:32:30.127" v="57" actId="2696"/>
        <pc:sldMkLst>
          <pc:docMk/>
          <pc:sldMk cId="0" sldId="266"/>
        </pc:sldMkLst>
      </pc:sldChg>
      <pc:sldChg chg="del modNotesTx">
        <pc:chgData name="Kilian Platter" userId="c49eb2881fa751ca" providerId="LiveId" clId="{FDA102BF-EFD5-549B-81DE-49FC5087B7E9}" dt="2026-10-24T11:32:58.384" v="59" actId="2696"/>
        <pc:sldMkLst>
          <pc:docMk/>
          <pc:sldMk cId="0" sldId="267"/>
        </pc:sldMkLst>
      </pc:sldChg>
      <pc:sldChg chg="modNotesTx">
        <pc:chgData name="Kilian Platter" userId="c49eb2881fa751ca" providerId="LiveId" clId="{FDA102BF-EFD5-549B-81DE-49FC5087B7E9}" dt="2026-10-24T10:26:18.025" v="28" actId="20577"/>
        <pc:sldMkLst>
          <pc:docMk/>
          <pc:sldMk cId="1220583403" sldId="268"/>
        </pc:sldMkLst>
      </pc:sldChg>
      <pc:sldChg chg="del modNotesTx">
        <pc:chgData name="Kilian Platter" userId="c49eb2881fa751ca" providerId="LiveId" clId="{FDA102BF-EFD5-549B-81DE-49FC5087B7E9}" dt="2026-10-24T11:34:54.600" v="67" actId="2696"/>
        <pc:sldMkLst>
          <pc:docMk/>
          <pc:sldMk cId="0" sldId="269"/>
        </pc:sldMkLst>
      </pc:sldChg>
      <pc:sldChg chg="del modNotesTx">
        <pc:chgData name="Kilian Platter" userId="c49eb2881fa751ca" providerId="LiveId" clId="{FDA102BF-EFD5-549B-81DE-49FC5087B7E9}" dt="2026-10-24T11:35:00.904" v="69" actId="2696"/>
        <pc:sldMkLst>
          <pc:docMk/>
          <pc:sldMk cId="8933715" sldId="270"/>
        </pc:sldMkLst>
      </pc:sldChg>
      <pc:sldChg chg="modNotesTx">
        <pc:chgData name="Kilian Platter" userId="c49eb2881fa751ca" providerId="LiveId" clId="{FDA102BF-EFD5-549B-81DE-49FC5087B7E9}" dt="2026-10-24T10:26:23.614" v="29" actId="20577"/>
        <pc:sldMkLst>
          <pc:docMk/>
          <pc:sldMk cId="0" sldId="271"/>
        </pc:sldMkLst>
      </pc:sldChg>
      <pc:sldChg chg="modNotesTx">
        <pc:chgData name="Kilian Platter" userId="c49eb2881fa751ca" providerId="LiveId" clId="{FDA102BF-EFD5-549B-81DE-49FC5087B7E9}" dt="2026-10-24T10:26:29.054" v="31" actId="20577"/>
        <pc:sldMkLst>
          <pc:docMk/>
          <pc:sldMk cId="0" sldId="272"/>
        </pc:sldMkLst>
      </pc:sldChg>
      <pc:sldChg chg="modNotesTx">
        <pc:chgData name="Kilian Platter" userId="c49eb2881fa751ca" providerId="LiveId" clId="{FDA102BF-EFD5-549B-81DE-49FC5087B7E9}" dt="2026-10-24T10:26:35.628" v="32" actId="20577"/>
        <pc:sldMkLst>
          <pc:docMk/>
          <pc:sldMk cId="0" sldId="273"/>
        </pc:sldMkLst>
      </pc:sldChg>
      <pc:sldChg chg="del modNotesTx">
        <pc:chgData name="Kilian Platter" userId="c49eb2881fa751ca" providerId="LiveId" clId="{FDA102BF-EFD5-549B-81DE-49FC5087B7E9}" dt="2026-10-24T11:32:07.142" v="55" actId="2696"/>
        <pc:sldMkLst>
          <pc:docMk/>
          <pc:sldMk cId="7463954" sldId="274"/>
        </pc:sldMkLst>
      </pc:sldChg>
      <pc:sldChg chg="modNotesTx">
        <pc:chgData name="Kilian Platter" userId="c49eb2881fa751ca" providerId="LiveId" clId="{FDA102BF-EFD5-549B-81DE-49FC5087B7E9}" dt="2026-10-24T10:30:00.119" v="46" actId="20577"/>
        <pc:sldMkLst>
          <pc:docMk/>
          <pc:sldMk cId="967035767" sldId="276"/>
        </pc:sldMkLst>
      </pc:sldChg>
      <pc:sldChg chg="modNotesTx">
        <pc:chgData name="Kilian Platter" userId="c49eb2881fa751ca" providerId="LiveId" clId="{FDA102BF-EFD5-549B-81DE-49FC5087B7E9}" dt="2026-10-24T10:24:35.859" v="13" actId="20577"/>
        <pc:sldMkLst>
          <pc:docMk/>
          <pc:sldMk cId="0" sldId="279"/>
        </pc:sldMkLst>
      </pc:sldChg>
      <pc:sldChg chg="modNotesTx">
        <pc:chgData name="Kilian Platter" userId="c49eb2881fa751ca" providerId="LiveId" clId="{FDA102BF-EFD5-549B-81DE-49FC5087B7E9}" dt="2026-10-24T10:25:17.161" v="20" actId="20577"/>
        <pc:sldMkLst>
          <pc:docMk/>
          <pc:sldMk cId="3044169480" sldId="280"/>
        </pc:sldMkLst>
      </pc:sldChg>
      <pc:sldChg chg="add">
        <pc:chgData name="Kilian Platter" userId="c49eb2881fa751ca" providerId="LiveId" clId="{FDA102BF-EFD5-549B-81DE-49FC5087B7E9}" dt="2026-10-24T11:32:02.070" v="54"/>
        <pc:sldMkLst>
          <pc:docMk/>
          <pc:sldMk cId="866893269" sldId="281"/>
        </pc:sldMkLst>
      </pc:sldChg>
      <pc:sldChg chg="add setBg">
        <pc:chgData name="Kilian Platter" userId="c49eb2881fa751ca" providerId="LiveId" clId="{FDA102BF-EFD5-549B-81DE-49FC5087B7E9}" dt="2026-10-24T11:32:26.169" v="56"/>
        <pc:sldMkLst>
          <pc:docMk/>
          <pc:sldMk cId="0" sldId="282"/>
        </pc:sldMkLst>
      </pc:sldChg>
      <pc:sldChg chg="add setBg">
        <pc:chgData name="Kilian Platter" userId="c49eb2881fa751ca" providerId="LiveId" clId="{FDA102BF-EFD5-549B-81DE-49FC5087B7E9}" dt="2026-10-24T11:32:53.375" v="58"/>
        <pc:sldMkLst>
          <pc:docMk/>
          <pc:sldMk cId="0" sldId="283"/>
        </pc:sldMkLst>
      </pc:sldChg>
      <pc:sldChg chg="add del setBg">
        <pc:chgData name="Kilian Platter" userId="c49eb2881fa751ca" providerId="LiveId" clId="{FDA102BF-EFD5-549B-81DE-49FC5087B7E9}" dt="2026-10-24T11:34:27.546" v="62"/>
        <pc:sldMkLst>
          <pc:docMk/>
          <pc:sldMk cId="0" sldId="284"/>
        </pc:sldMkLst>
      </pc:sldChg>
      <pc:sldChg chg="add setBg">
        <pc:chgData name="Kilian Platter" userId="c49eb2881fa751ca" providerId="LiveId" clId="{FDA102BF-EFD5-549B-81DE-49FC5087B7E9}" dt="2026-10-24T11:34:33.716" v="64"/>
        <pc:sldMkLst>
          <pc:docMk/>
          <pc:sldMk cId="0" sldId="285"/>
        </pc:sldMkLst>
      </pc:sldChg>
      <pc:sldChg chg="add setBg">
        <pc:chgData name="Kilian Platter" userId="c49eb2881fa751ca" providerId="LiveId" clId="{FDA102BF-EFD5-549B-81DE-49FC5087B7E9}" dt="2026-10-24T11:34:51.179" v="66"/>
        <pc:sldMkLst>
          <pc:docMk/>
          <pc:sldMk cId="0" sldId="286"/>
        </pc:sldMkLst>
      </pc:sldChg>
      <pc:sldChg chg="add">
        <pc:chgData name="Kilian Platter" userId="c49eb2881fa751ca" providerId="LiveId" clId="{FDA102BF-EFD5-549B-81DE-49FC5087B7E9}" dt="2026-10-24T11:34:58.692" v="68"/>
        <pc:sldMkLst>
          <pc:docMk/>
          <pc:sldMk cId="1146934768" sldId="287"/>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240294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a:t>
            </a:r>
            <a:r>
              <a:rPr lang="de-DE" dirty="0"/>
              <a:t>David</a:t>
            </a:r>
            <a:r>
              <a:rPr dirty="0"/>
              <a:t> </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David</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David</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err="1"/>
              <a:t>Vortragende</a:t>
            </a:r>
            <a:r>
              <a:rPr dirty="0"/>
              <a:t>(r): </a:t>
            </a:r>
            <a:r>
              <a:rPr lang="de-DE" dirty="0"/>
              <a:t>Kilian</a:t>
            </a:r>
            <a:endParaRPr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7D0EEA-6A4B-472F-D803-9483494B10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37A22C-9C37-FB09-92CB-A880171C5F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69F109A-BF7E-E094-E2CA-78949371440A}"/>
              </a:ext>
            </a:extLst>
          </p:cNvPr>
          <p:cNvSpPr>
            <a:spLocks noGrp="1"/>
          </p:cNvSpPr>
          <p:nvPr>
            <p:ph type="body" idx="1"/>
          </p:nvPr>
        </p:nvSpPr>
        <p:spPr/>
        <p:txBody>
          <a:bodyPr/>
          <a:lstStyle/>
          <a:p>
            <a:r>
              <a:rPr dirty="0" err="1"/>
              <a:t>Vortragende</a:t>
            </a:r>
            <a:r>
              <a:rPr dirty="0"/>
              <a:t>(r): </a:t>
            </a:r>
            <a:r>
              <a:rPr lang="de-DE" dirty="0"/>
              <a:t>Maximilian</a:t>
            </a:r>
            <a:endParaRPr dirty="0"/>
          </a:p>
        </p:txBody>
      </p:sp>
      <p:sp>
        <p:nvSpPr>
          <p:cNvPr id="4" name="Slide Number Placeholder 3">
            <a:extLst>
              <a:ext uri="{FF2B5EF4-FFF2-40B4-BE49-F238E27FC236}">
                <a16:creationId xmlns:a16="http://schemas.microsoft.com/office/drawing/2014/main" id="{ACFCA1B7-5D2D-27A7-2F24-3D6E7658880A}"/>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2290232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08250-25F3-8992-43BF-D14C84D1A2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1B0F22A-F00F-0057-1149-92CC4CD87D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90DD66A-29A7-BD23-7479-99308DB3DD27}"/>
              </a:ext>
            </a:extLst>
          </p:cNvPr>
          <p:cNvSpPr>
            <a:spLocks noGrp="1"/>
          </p:cNvSpPr>
          <p:nvPr>
            <p:ph type="body" idx="1"/>
          </p:nvPr>
        </p:nvSpPr>
        <p:spPr/>
        <p:txBody>
          <a:bodyPr/>
          <a:lstStyle/>
          <a:p>
            <a:r>
              <a:rPr dirty="0" err="1"/>
              <a:t>Vortragende</a:t>
            </a:r>
            <a:r>
              <a:rPr dirty="0"/>
              <a:t>(r): </a:t>
            </a:r>
            <a:r>
              <a:rPr lang="de-DE" dirty="0"/>
              <a:t>Maximilian</a:t>
            </a:r>
            <a:endParaRPr dirty="0"/>
          </a:p>
        </p:txBody>
      </p:sp>
      <p:sp>
        <p:nvSpPr>
          <p:cNvPr id="4" name="Slide Number Placeholder 3">
            <a:extLst>
              <a:ext uri="{FF2B5EF4-FFF2-40B4-BE49-F238E27FC236}">
                <a16:creationId xmlns:a16="http://schemas.microsoft.com/office/drawing/2014/main" id="{6AD8F6E3-73AF-D838-73CC-427E21B55663}"/>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411207037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a:t>
            </a:r>
            <a:r>
              <a:rPr lang="de-DE" dirty="0"/>
              <a:t>Maximilian</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rPr dirty="0" err="1"/>
              <a:t>Vortragende</a:t>
            </a:r>
            <a:r>
              <a:rPr dirty="0"/>
              <a:t>(r): </a:t>
            </a:r>
            <a:r>
              <a:rPr lang="de-DE" dirty="0"/>
              <a:t>Maximilian</a:t>
            </a:r>
            <a:endParaRPr dirty="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324139264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29590961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289534894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335391593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317811417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409116952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303698023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18081520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71450" y="1143000"/>
            <a:ext cx="5486400" cy="3086100"/>
          </a:xfrm>
          <a:prstGeom prst="rect">
            <a:avLst/>
          </a:prstGeom>
          <a:noFill/>
          <a:ln w="12700">
            <a:solidFill>
              <a:prstClr val="black"/>
            </a:solidFill>
          </a:ln>
        </p:spPr>
      </p:sp>
      <p:sp>
        <p:nvSpPr>
          <p:cNvPr id="3" name="Notizenplatzhalter 2"/>
          <p:cNvSpPr>
            <a:spLocks noGrp="1"/>
          </p:cNvSpPr>
          <p:nvPr>
            <p:ph type="body" idx="1"/>
          </p:nvPr>
        </p:nvSpPr>
        <p:spPr>
          <a:xfrm>
            <a:off x="514350" y="4400550"/>
            <a:ext cx="4114800" cy="3600450"/>
          </a:xfrm>
          <a:prstGeom prst="rect">
            <a:avLst/>
          </a:prstGeo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Vortragende(</a:t>
            </a:r>
            <a:r>
              <a:rPr lang="de-DE" dirty="0" err="1"/>
              <a:t>r</a:t>
            </a:r>
            <a:r>
              <a:rPr lang="de-DE" dirty="0"/>
              <a:t>): Maximilian</a:t>
            </a:r>
          </a:p>
          <a:p>
            <a:endParaRPr lang="de-DE" dirty="0"/>
          </a:p>
        </p:txBody>
      </p:sp>
    </p:spTree>
    <p:extLst>
      <p:ext uri="{BB962C8B-B14F-4D97-AF65-F5344CB8AC3E}">
        <p14:creationId xmlns:p14="http://schemas.microsoft.com/office/powerpoint/2010/main" val="28939835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A087AE-59E9-F656-21AD-17E30BF0FB7C}"/>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9C02448F-04F1-D2F9-3105-094753D8C29B}"/>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de-DE">
                <a:solidFill>
                  <a:srgbClr val="000000"/>
                </a:solidFill>
                <a:latin typeface="Aptos"/>
              </a:rPr>
              <a:t>Vortragende(r): Maximilian (70 s)</a:t>
            </a:r>
          </a:p>
          <a:p>
            <a:pPr lvl="0"/>
            <a:endParaRPr lang="de-DE">
              <a:solidFill>
                <a:srgbClr val="000000"/>
              </a:solidFill>
              <a:latin typeface="Aptos"/>
            </a:endParaRPr>
          </a:p>
          <a:p>
            <a:pPr lvl="0"/>
            <a:r>
              <a:rPr lang="de-DE">
                <a:solidFill>
                  <a:srgbClr val="000000"/>
                </a:solidFill>
                <a:latin typeface="Aptos"/>
              </a:rPr>
              <a:t>Was Sie gerade in der App gesehen haben, ist unser Alleinstellungsmerkmal, die KI-Sofortdiagnose. Fünf Schritte: Der Kunde nimmt Foto, Video oder Ton auf. Ein KI-Dienst erkennt Gerätetyp, wahrscheinliche Ursache und benötigte Teile. RepairFlow rechnet daraus einen vorläufigen Kostenvoranschlag, prüft die Verfügbarkeit in allen Filialen und schlägt Filiale und Termin vor. Bestätigt der Kunde den Termin, werden die Teile vorreserviert. Heute machbar ist die Erkennung sichtbarer Schäden per Bildanalyse, etwa ein gebrochenes Display oder eine gerissene Kette, dazu ein Vorab-KVA aus Teilepreisen und Aufwandsrichtwerten. Vision sind Geräuschanalyse bei E-Bike-Motoren und eine Aufwandsschätzung aus Video. Deshalb bleibt der Vorschlag immer vorläufig: Der Techniker bestätigt oder korrigiert ihn. Die Medien werden nur mit Einwilligung verarbeitet und nach Abschluss gelöscht. Was hinter all dem steckt, zeigt Adrian.</a:t>
            </a:r>
          </a:p>
        </p:txBody>
      </p:sp>
      <p:sp>
        <p:nvSpPr>
          <p:cNvPr id="4" name="Slide Number Placeholder 3">
            <a:extLst>
              <a:ext uri="{FF2B5EF4-FFF2-40B4-BE49-F238E27FC236}">
                <a16:creationId xmlns:a16="http://schemas.microsoft.com/office/drawing/2014/main" id="{BE5C70A5-D35D-67E6-5B60-F0EB047265A1}"/>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16115379-4AB9-6B41-AE94-366B276EC789}" type="slidenum">
              <a:t>19</a:t>
            </a:fld>
            <a:endParaRPr lang="en-US">
              <a:solidFill>
                <a:srgbClr val="000000"/>
              </a:solidFill>
              <a:latin typeface="Aptos"/>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968CA1-F530-BD2F-1902-B7803C5072AF}"/>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68BE084C-5A20-9E62-2AF6-F121F17F389E}"/>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de-DE">
                <a:solidFill>
                  <a:srgbClr val="000000"/>
                </a:solidFill>
                <a:latin typeface="Aptos"/>
              </a:rPr>
              <a:t>Vortragende(r): Adrian (50 s)</a:t>
            </a:r>
          </a:p>
          <a:p>
            <a:pPr lvl="0"/>
            <a:endParaRPr lang="de-DE">
              <a:solidFill>
                <a:srgbClr val="000000"/>
              </a:solidFill>
              <a:latin typeface="Aptos"/>
            </a:endParaRPr>
          </a:p>
          <a:p>
            <a:pPr lvl="0"/>
            <a:r>
              <a:rPr lang="de-DE">
                <a:solidFill>
                  <a:srgbClr val="000000"/>
                </a:solidFill>
                <a:latin typeface="Aptos"/>
              </a:rPr>
              <a:t>Damit zur zweiten Hälfte: Was steckt hinter dieser Geschichte? Wir haben drei Modelle erstellt, die zusammenpassen. Zehn BPMN-Kollaborationsdiagramme mit 136 Aktivitäten im Werkstatt-Pool, dazu die Abläufe des Kunden. Ein Use-Case-Diagramm mit 19 Use Cases und 17 Rollen und Akteuren. Ein vollständiges Klassendiagramm mit 29 Klassen und 40 Assoziationen. Sechs Sequenzdiagramme, gefordert waren fünf. Alle Modelle liegen im Camunda Modeler und in Visual Paradigm und werden mit der Dokumentation abgegeben.</a:t>
            </a:r>
          </a:p>
        </p:txBody>
      </p:sp>
      <p:sp>
        <p:nvSpPr>
          <p:cNvPr id="4" name="Slide Number Placeholder 3">
            <a:extLst>
              <a:ext uri="{FF2B5EF4-FFF2-40B4-BE49-F238E27FC236}">
                <a16:creationId xmlns:a16="http://schemas.microsoft.com/office/drawing/2014/main" id="{7BFCD28C-CB29-26BF-F79C-9BD6014FD52B}"/>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795690C6-63E1-D346-B37B-BB7E56D14EF1}" type="slidenum">
              <a:t>21</a:t>
            </a:fld>
            <a:endParaRPr lang="en-US">
              <a:solidFill>
                <a:srgbClr val="000000"/>
              </a:solidFill>
              <a:latin typeface="Aptos"/>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503FFB-D33B-5B7D-5230-105F479800B0}"/>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8EE047C3-A45E-A32B-1C8D-9400DFC0A561}"/>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de-DE">
                <a:solidFill>
                  <a:srgbClr val="000000"/>
                </a:solidFill>
                <a:latin typeface="Aptos"/>
              </a:rPr>
              <a:t>Vortragende(r): Adrian (60 s)</a:t>
            </a:r>
          </a:p>
          <a:p>
            <a:pPr lvl="0"/>
            <a:endParaRPr lang="de-DE">
              <a:solidFill>
                <a:srgbClr val="000000"/>
              </a:solidFill>
              <a:latin typeface="Aptos"/>
            </a:endParaRPr>
          </a:p>
          <a:p>
            <a:pPr lvl="0"/>
            <a:r>
              <a:rPr lang="de-DE">
                <a:solidFill>
                  <a:srgbClr val="000000"/>
                </a:solidFill>
                <a:latin typeface="Aptos"/>
              </a:rPr>
              <a:t>Die zehn Prozesse decken den gesamten Lebenszyklus ab. Prozesse 01 bis 08 sind die durchgehende Auftragsreise, 09 und 10 die Folgeprozesse Reklamation und Retoure; drei Highlights daraus hat Maximilian schon gezeigt. Jedes Diagramm ist eine Kollaboration: Der Werkstattbetrieb ist der ausführbare Pool mit den Lanes Service, Techniker, Werkstattleitung und Disposition, der Kunde hat seinen eigenen Ablauf, der Lieferant bleibt eine Black Box. Die wichtigste Zahl: 62 Prozent der Aktivitäten führt RepairFlow ohne manuelle Arbeit aus, also Statuswechsel, Benachrichtigungen, Prüfungen, Berechnungen und Regeln. Was Handwerk ist, bleibt Handwerk: Diagnose, Reparatur und Endkontrolle macht der Techniker mit Unterstützung durch das System. Wer im System welche Aufgaben hat, zeigt Kilian.</a:t>
            </a:r>
          </a:p>
        </p:txBody>
      </p:sp>
      <p:sp>
        <p:nvSpPr>
          <p:cNvPr id="4" name="Slide Number Placeholder 3">
            <a:extLst>
              <a:ext uri="{FF2B5EF4-FFF2-40B4-BE49-F238E27FC236}">
                <a16:creationId xmlns:a16="http://schemas.microsoft.com/office/drawing/2014/main" id="{5BFE4DA9-A6D9-16E2-ED2A-6B6DD9480B52}"/>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A6CA3CBC-C7DC-8B4A-B2D9-7035F42B3713}" type="slidenum">
              <a:t>22</a:t>
            </a:fld>
            <a:endParaRPr lang="en-US">
              <a:solidFill>
                <a:srgbClr val="000000"/>
              </a:solidFill>
              <a:latin typeface="Aptos"/>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Kilian</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Kilian</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Jakob</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err="1"/>
              <a:t>Vortragende</a:t>
            </a:r>
            <a:r>
              <a:rPr dirty="0"/>
              <a:t>(r): Jakob</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28541844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667BE3-F584-F4AD-6A7E-91C8E60DD128}"/>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1CE6684E-30C2-470F-1135-CE8A6088E846}"/>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de-DE">
                <a:solidFill>
                  <a:srgbClr val="000000"/>
                </a:solidFill>
                <a:latin typeface="Aptos"/>
              </a:rPr>
              <a:t>Vortragende(r): Nina</a:t>
            </a:r>
          </a:p>
        </p:txBody>
      </p:sp>
      <p:sp>
        <p:nvSpPr>
          <p:cNvPr id="4" name="Slide Number Placeholder 3">
            <a:extLst>
              <a:ext uri="{FF2B5EF4-FFF2-40B4-BE49-F238E27FC236}">
                <a16:creationId xmlns:a16="http://schemas.microsoft.com/office/drawing/2014/main" id="{733DB3B2-9E01-E1AA-D5BE-8E0E92792C52}"/>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06B9D98B-3B64-E343-B19D-892768654EEB}" type="slidenum">
              <a:t>27</a:t>
            </a:fld>
            <a:endParaRPr lang="en-US">
              <a:solidFill>
                <a:srgbClr val="000000"/>
              </a:solidFill>
              <a:latin typeface="Aptos"/>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3BD2C-15D2-C1B4-3EE6-465BBFF05A9D}"/>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7003C668-0CAF-BCEE-759B-5304DD0D99C4}"/>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de-DE">
                <a:solidFill>
                  <a:srgbClr val="000000"/>
                </a:solidFill>
                <a:latin typeface="Aptos"/>
              </a:rPr>
              <a:t>Vortragende(r): Nina</a:t>
            </a:r>
          </a:p>
        </p:txBody>
      </p:sp>
      <p:sp>
        <p:nvSpPr>
          <p:cNvPr id="4" name="Slide Number Placeholder 3">
            <a:extLst>
              <a:ext uri="{FF2B5EF4-FFF2-40B4-BE49-F238E27FC236}">
                <a16:creationId xmlns:a16="http://schemas.microsoft.com/office/drawing/2014/main" id="{95CE91F6-EEAE-87B0-9127-2D18FA0E89E1}"/>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FAA19FF2-F726-284D-B893-18573D0AAE96}" type="slidenum">
              <a:t>28</a:t>
            </a:fld>
            <a:endParaRPr lang="en-US">
              <a:solidFill>
                <a:srgbClr val="000000"/>
              </a:solidFill>
              <a:latin typeface="Aptos"/>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FBA9CE-D87F-40B4-DEE0-298BA695A0D2}"/>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F8C13E9E-E850-F565-8E38-3997AE544C0E}"/>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pPr lvl="0"/>
            <a:r>
              <a:rPr lang="de-DE">
                <a:solidFill>
                  <a:srgbClr val="000000"/>
                </a:solidFill>
                <a:latin typeface="Aptos"/>
              </a:rPr>
              <a:t>Vortragende(r): Nina </a:t>
            </a:r>
          </a:p>
        </p:txBody>
      </p:sp>
      <p:sp>
        <p:nvSpPr>
          <p:cNvPr id="4" name="Slide Number Placeholder 3">
            <a:extLst>
              <a:ext uri="{FF2B5EF4-FFF2-40B4-BE49-F238E27FC236}">
                <a16:creationId xmlns:a16="http://schemas.microsoft.com/office/drawing/2014/main" id="{0E16D1B8-F5A5-AE1E-0DAF-DDEC9559CB69}"/>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611CAF38-4B20-3548-B3C6-067F76BFDE63}" type="slidenum">
              <a:t>29</a:t>
            </a:fld>
            <a:endParaRPr lang="en-US">
              <a:solidFill>
                <a:srgbClr val="000000"/>
              </a:solidFill>
              <a:latin typeface="Aptos"/>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45C18C-3FAA-6A2E-DDF1-DCF386903823}"/>
              </a:ext>
            </a:extLst>
          </p:cNvPr>
          <p:cNvSpPr>
            <a:spLocks noGrp="1" noRot="1" noChangeAspect="1"/>
          </p:cNvSpPr>
          <p:nvPr>
            <p:ph type="sldImg"/>
          </p:nvPr>
        </p:nvSpPr>
        <p:spPr>
          <a:xfrm>
            <a:off x="0" y="0"/>
            <a:ext cx="0" cy="0"/>
          </a:xfrm>
          <a:prstGeom prst="rect">
            <a:avLst/>
          </a:prstGeom>
          <a:noFill/>
          <a:ln>
            <a:noFill/>
            <a:prstDash val="solid"/>
          </a:ln>
        </p:spPr>
      </p:sp>
      <p:sp>
        <p:nvSpPr>
          <p:cNvPr id="3" name="Notes Placeholder 2">
            <a:extLst>
              <a:ext uri="{FF2B5EF4-FFF2-40B4-BE49-F238E27FC236}">
                <a16:creationId xmlns:a16="http://schemas.microsoft.com/office/drawing/2014/main" id="{9ED72192-D793-6D05-DCAA-F6D4BBC097E6}"/>
              </a:ext>
            </a:extLst>
          </p:cNvPr>
          <p:cNvSpPr txBox="1">
            <a:spLocks noGrp="1"/>
          </p:cNvSpPr>
          <p:nvPr>
            <p:ph type="body" idx="1"/>
          </p:nvPr>
        </p:nvSpPr>
        <p:spPr>
          <a:xfrm>
            <a:off x="0" y="0"/>
            <a:ext cx="0" cy="0"/>
          </a:xfrm>
          <a:prstGeom prst="rect">
            <a:avLst/>
          </a:prstGeom>
          <a:noFill/>
          <a:ln>
            <a:noFill/>
          </a:ln>
        </p:spPr>
        <p:txBody>
          <a:bodyPr vert="horz" wrap="square" lIns="91440" tIns="45720" rIns="91440" bIns="45720" anchor="t" anchorCtr="0" compatLnSpc="1">
            <a:noAutofit/>
          </a:bodyPr>
          <a:lstStyle/>
          <a:p>
            <a:endParaRPr lang="de-DE"/>
          </a:p>
        </p:txBody>
      </p:sp>
      <p:sp>
        <p:nvSpPr>
          <p:cNvPr id="4" name="Slide Number Placeholder 3">
            <a:extLst>
              <a:ext uri="{FF2B5EF4-FFF2-40B4-BE49-F238E27FC236}">
                <a16:creationId xmlns:a16="http://schemas.microsoft.com/office/drawing/2014/main" id="{F4EEA660-87B5-6602-D0F0-EA36A6870F3F}"/>
              </a:ext>
            </a:extLst>
          </p:cNvPr>
          <p:cNvSpPr txBox="1">
            <a:spLocks noGrp="1"/>
          </p:cNvSpPr>
          <p:nvPr>
            <p:ph type="sldNum" sz="quarter" idx="8"/>
          </p:nvPr>
        </p:nvSpPr>
        <p:spPr>
          <a:xfrm>
            <a:off x="0" y="0"/>
            <a:ext cx="0" cy="0"/>
          </a:xfrm>
          <a:prstGeom prst="rect">
            <a:avLst/>
          </a:prstGeom>
          <a:noFill/>
          <a:ln>
            <a:noFill/>
          </a:ln>
        </p:spPr>
        <p:txBody>
          <a:bodyPr vert="horz" wrap="square" lIns="91440" tIns="45720" rIns="91440" bIns="45720" anchor="t" anchorCtr="0" compatLnSpc="1">
            <a:noAutofit/>
          </a:bodyPr>
          <a:lstStyle/>
          <a:p>
            <a:pPr lvl="0"/>
            <a:fld id="{88DA254A-75E9-254F-A716-2FD585B78856}" type="slidenum">
              <a:t>30</a:t>
            </a:fld>
            <a:endParaRPr lang="en-US">
              <a:solidFill>
                <a:srgbClr val="000000"/>
              </a:solidFill>
              <a:latin typeface="Apto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sv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5.svg"/><Relationship Id="rId5" Type="http://schemas.openxmlformats.org/officeDocument/2006/relationships/image" Target="../media/image4.svg"/><Relationship Id="rId4" Type="http://schemas.openxmlformats.org/officeDocument/2006/relationships/image" Target="../media/image3.sv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0.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17.svg"/><Relationship Id="rId4" Type="http://schemas.openxmlformats.org/officeDocument/2006/relationships/image" Target="../media/image16.svg"/></Relationships>
</file>

<file path=ppt/slides/_rels/slide6.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org&amp;utm_campaign=index&amp;utm_content=thumbnail"/></Relationships>
</file>

<file path=ppt/slides/_rels/slide7.xml.rels><?xml version="1.0" encoding="UTF-8" standalone="yes"?>
<Relationships xmlns="http://schemas.openxmlformats.org/package/2006/relationships"><Relationship Id="rId8" Type="http://schemas.openxmlformats.org/officeDocument/2006/relationships/image" Target="../media/image23.svg"/><Relationship Id="rId3" Type="http://schemas.openxmlformats.org/officeDocument/2006/relationships/image" Target="../media/image18.svg"/><Relationship Id="rId7" Type="http://schemas.openxmlformats.org/officeDocument/2006/relationships/image" Target="../media/image22.sv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1.svg"/><Relationship Id="rId5" Type="http://schemas.openxmlformats.org/officeDocument/2006/relationships/image" Target="../media/image20.svg"/><Relationship Id="rId10" Type="http://schemas.openxmlformats.org/officeDocument/2006/relationships/image" Target="../media/image25.svg"/><Relationship Id="rId4" Type="http://schemas.openxmlformats.org/officeDocument/2006/relationships/image" Target="../media/image19.svg"/><Relationship Id="rId9" Type="http://schemas.openxmlformats.org/officeDocument/2006/relationships/image" Target="../media/image24.org&amp;utm_campaign=index&amp;utm_content=thumbnail"/></Relationships>
</file>

<file path=ppt/slides/_rels/slide8.xml.rels><?xml version="1.0" encoding="UTF-8" standalone="yes"?>
<Relationships xmlns="http://schemas.openxmlformats.org/package/2006/relationships"><Relationship Id="rId3" Type="http://schemas.openxmlformats.org/officeDocument/2006/relationships/image" Target="../media/image26.sv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28.svg"/><Relationship Id="rId4" Type="http://schemas.openxmlformats.org/officeDocument/2006/relationships/image" Target="../media/image27.sv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8.svg"/><Relationship Id="rId7" Type="http://schemas.openxmlformats.org/officeDocument/2006/relationships/image" Target="../media/image42.sv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41.svg"/><Relationship Id="rId5" Type="http://schemas.openxmlformats.org/officeDocument/2006/relationships/image" Target="../media/image40.svg"/><Relationship Id="rId4" Type="http://schemas.openxmlformats.org/officeDocument/2006/relationships/image" Target="../media/image39.sv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3.sv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46.svg"/><Relationship Id="rId5" Type="http://schemas.openxmlformats.org/officeDocument/2006/relationships/image" Target="../media/image45.svg"/><Relationship Id="rId4" Type="http://schemas.openxmlformats.org/officeDocument/2006/relationships/image" Target="../media/image44.svg"/></Relationships>
</file>

<file path=ppt/slides/_rels/slide24.xml.rels><?xml version="1.0" encoding="UTF-8" standalone="yes"?>
<Relationships xmlns="http://schemas.openxmlformats.org/package/2006/relationships"><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50.png"/><Relationship Id="rId5" Type="http://schemas.openxmlformats.org/officeDocument/2006/relationships/image" Target="../media/image49.png"/><Relationship Id="rId4" Type="http://schemas.openxmlformats.org/officeDocument/2006/relationships/image" Target="../media/image48.png"/></Relationships>
</file>

<file path=ppt/slides/_rels/slide2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png"/></Relationships>
</file>

<file path=ppt/slides/_rels/slide26.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55.png"/><Relationship Id="rId5" Type="http://schemas.openxmlformats.org/officeDocument/2006/relationships/image" Target="../media/image58.png"/><Relationship Id="rId4" Type="http://schemas.openxmlformats.org/officeDocument/2006/relationships/image" Target="../media/image57.png"/></Relationships>
</file>

<file path=ppt/slides/_rels/slide2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25.xml"/><Relationship Id="rId1" Type="http://schemas.openxmlformats.org/officeDocument/2006/relationships/slideLayout" Target="../slideLayouts/slideLayout1.xml"/><Relationship Id="rId5" Type="http://schemas.openxmlformats.org/officeDocument/2006/relationships/image" Target="../media/image60.png"/><Relationship Id="rId4" Type="http://schemas.openxmlformats.org/officeDocument/2006/relationships/image" Target="../media/image59.png"/></Relationships>
</file>

<file path=ppt/slides/_rels/slide28.xml.rels><?xml version="1.0" encoding="UTF-8" standalone="yes"?>
<Relationships xmlns="http://schemas.openxmlformats.org/package/2006/relationships"><Relationship Id="rId3" Type="http://schemas.openxmlformats.org/officeDocument/2006/relationships/image" Target="../media/image61.svg"/><Relationship Id="rId2" Type="http://schemas.openxmlformats.org/officeDocument/2006/relationships/notesSlide" Target="../notesSlides/notesSlide26.xml"/><Relationship Id="rId1" Type="http://schemas.openxmlformats.org/officeDocument/2006/relationships/slideLayout" Target="../slideLayouts/slideLayout1.xml"/><Relationship Id="rId4" Type="http://schemas.openxmlformats.org/officeDocument/2006/relationships/image" Target="../media/image62.svg"/></Relationships>
</file>

<file path=ppt/slides/_rels/slide29.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64.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a:extLst>
              <a:ext uri="{FF2B5EF4-FFF2-40B4-BE49-F238E27FC236}">
                <a16:creationId xmlns:a16="http://schemas.microsoft.com/office/drawing/2014/main" id="{F56A86EE-DC09-B033-0B1D-B21EC6A1F6D4}"/>
              </a:ext>
            </a:extLst>
          </p:cNvPr>
          <p:cNvPicPr>
            <a:picLocks noChangeAspect="1"/>
          </p:cNvPicPr>
          <p:nvPr/>
        </p:nvPicPr>
        <p:blipFill>
          <a:blip r:embed="rId2"/>
          <a:stretch>
            <a:fillRect/>
          </a:stretch>
        </p:blipFill>
        <p:spPr>
          <a:xfrm>
            <a:off x="-1" y="0"/>
            <a:ext cx="9229725" cy="5146270"/>
          </a:xfrm>
          <a:prstGeom prst="rect">
            <a:avLst/>
          </a:prstGeom>
        </p:spPr>
      </p:pic>
      <p:sp>
        <p:nvSpPr>
          <p:cNvPr id="4" name="Abgerundetes Rechteck 3">
            <a:extLst>
              <a:ext uri="{FF2B5EF4-FFF2-40B4-BE49-F238E27FC236}">
                <a16:creationId xmlns:a16="http://schemas.microsoft.com/office/drawing/2014/main" id="{B556AB47-FAB5-4CC4-567F-A234BF027E0F}"/>
              </a:ext>
            </a:extLst>
          </p:cNvPr>
          <p:cNvSpPr/>
          <p:nvPr/>
        </p:nvSpPr>
        <p:spPr>
          <a:xfrm>
            <a:off x="374580" y="352425"/>
            <a:ext cx="3765157" cy="4438650"/>
          </a:xfrm>
          <a:prstGeom prst="roundRect">
            <a:avLst>
              <a:gd name="adj" fmla="val 9579"/>
            </a:avLst>
          </a:prstGeom>
          <a:solidFill>
            <a:srgbClr val="FFFFFF">
              <a:alpha val="9098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9" name="Abgerundetes Rechteck 8">
            <a:extLst>
              <a:ext uri="{FF2B5EF4-FFF2-40B4-BE49-F238E27FC236}">
                <a16:creationId xmlns:a16="http://schemas.microsoft.com/office/drawing/2014/main" id="{A6C365B0-8F46-FA27-8266-01F894DCD92F}"/>
              </a:ext>
            </a:extLst>
          </p:cNvPr>
          <p:cNvSpPr/>
          <p:nvPr/>
        </p:nvSpPr>
        <p:spPr>
          <a:xfrm>
            <a:off x="1192378" y="2136039"/>
            <a:ext cx="2553004" cy="365760"/>
          </a:xfrm>
          <a:prstGeom prst="roundRect">
            <a:avLst>
              <a:gd name="adj" fmla="val 35654"/>
            </a:avLst>
          </a:prstGeom>
          <a:solidFill>
            <a:srgbClr val="EC57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7" name="Textfeld 6">
            <a:extLst>
              <a:ext uri="{FF2B5EF4-FFF2-40B4-BE49-F238E27FC236}">
                <a16:creationId xmlns:a16="http://schemas.microsoft.com/office/drawing/2014/main" id="{0DF3887F-407E-3755-DDF6-F8F2B0225152}"/>
              </a:ext>
            </a:extLst>
          </p:cNvPr>
          <p:cNvSpPr txBox="1"/>
          <p:nvPr/>
        </p:nvSpPr>
        <p:spPr>
          <a:xfrm>
            <a:off x="551252" y="512794"/>
            <a:ext cx="3423780" cy="4616648"/>
          </a:xfrm>
          <a:prstGeom prst="rect">
            <a:avLst/>
          </a:prstGeom>
          <a:noFill/>
        </p:spPr>
        <p:txBody>
          <a:bodyPr wrap="square">
            <a:spAutoFit/>
          </a:bodyPr>
          <a:lstStyle/>
          <a:p>
            <a:pPr marL="0" indent="0">
              <a:buNone/>
            </a:pPr>
            <a:r>
              <a:rPr lang="en-US" sz="4400" b="1" dirty="0" err="1">
                <a:latin typeface="Segoe UI" panose="020B0502040204020203" pitchFamily="34" charset="0"/>
                <a:ea typeface="Calibri" pitchFamily="34" charset="-122"/>
                <a:cs typeface="Segoe UI" panose="020B0502040204020203" pitchFamily="34" charset="0"/>
              </a:rPr>
              <a:t>Repair</a:t>
            </a:r>
            <a:r>
              <a:rPr lang="en-US" sz="4400" b="1" dirty="0" err="1">
                <a:solidFill>
                  <a:srgbClr val="EC5700"/>
                </a:solidFill>
                <a:latin typeface="Segoe UI" panose="020B0502040204020203" pitchFamily="34" charset="0"/>
                <a:ea typeface="Calibri" pitchFamily="34" charset="-122"/>
                <a:cs typeface="Segoe UI" panose="020B0502040204020203" pitchFamily="34" charset="0"/>
              </a:rPr>
              <a:t>Flow</a:t>
            </a:r>
            <a:endParaRPr lang="en-US" sz="4400" b="1" dirty="0">
              <a:solidFill>
                <a:srgbClr val="EC5700"/>
              </a:solidFill>
              <a:latin typeface="Segoe UI" panose="020B0502040204020203" pitchFamily="34" charset="0"/>
              <a:ea typeface="Calibri" pitchFamily="34" charset="-122"/>
              <a:cs typeface="Segoe UI" panose="020B0502040204020203" pitchFamily="34" charset="0"/>
            </a:endParaRPr>
          </a:p>
          <a:p>
            <a:pPr>
              <a:spcBef>
                <a:spcPts val="1200"/>
              </a:spcBef>
            </a:pPr>
            <a:r>
              <a:rPr lang="en-US" sz="2400" dirty="0" err="1">
                <a:latin typeface="Segoe UI" panose="020B0502040204020203" pitchFamily="34" charset="0"/>
                <a:ea typeface="Calibri" pitchFamily="34" charset="-122"/>
                <a:cs typeface="Segoe UI" panose="020B0502040204020203" pitchFamily="34" charset="0"/>
              </a:rPr>
              <a:t>Werkstatt</a:t>
            </a:r>
            <a:r>
              <a:rPr lang="en-US" sz="2400" dirty="0">
                <a:latin typeface="Segoe UI" panose="020B0502040204020203" pitchFamily="34" charset="0"/>
                <a:ea typeface="Calibri" pitchFamily="34" charset="-122"/>
                <a:cs typeface="Segoe UI" panose="020B0502040204020203" pitchFamily="34" charset="0"/>
              </a:rPr>
              <a:t>-Management     </a:t>
            </a:r>
            <a:r>
              <a:rPr lang="en-US" sz="2400" dirty="0" err="1">
                <a:latin typeface="Segoe UI" panose="020B0502040204020203" pitchFamily="34" charset="0"/>
                <a:ea typeface="Calibri" pitchFamily="34" charset="-122"/>
                <a:cs typeface="Segoe UI" panose="020B0502040204020203" pitchFamily="34" charset="0"/>
              </a:rPr>
              <a:t>als</a:t>
            </a:r>
            <a:r>
              <a:rPr lang="en-US" sz="2400" dirty="0">
                <a:latin typeface="Segoe UI" panose="020B0502040204020203" pitchFamily="34" charset="0"/>
                <a:ea typeface="Calibri" pitchFamily="34" charset="-122"/>
                <a:cs typeface="Segoe UI" panose="020B0502040204020203" pitchFamily="34" charset="0"/>
              </a:rPr>
              <a:t> SaaS-</a:t>
            </a:r>
            <a:r>
              <a:rPr lang="en-US" sz="2400" dirty="0" err="1">
                <a:latin typeface="Segoe UI" panose="020B0502040204020203" pitchFamily="34" charset="0"/>
                <a:ea typeface="Calibri" pitchFamily="34" charset="-122"/>
                <a:cs typeface="Segoe UI" panose="020B0502040204020203" pitchFamily="34" charset="0"/>
              </a:rPr>
              <a:t>Plattform</a:t>
            </a:r>
            <a:r>
              <a:rPr lang="en-US" sz="2400" dirty="0">
                <a:latin typeface="Segoe UI" panose="020B0502040204020203" pitchFamily="34" charset="0"/>
                <a:ea typeface="Calibri" pitchFamily="34" charset="-122"/>
                <a:cs typeface="Segoe UI" panose="020B0502040204020203" pitchFamily="34" charset="0"/>
              </a:rPr>
              <a:t>            </a:t>
            </a:r>
            <a:r>
              <a:rPr lang="en-US" sz="2400" dirty="0" err="1">
                <a:latin typeface="Segoe UI" panose="020B0502040204020203" pitchFamily="34" charset="0"/>
                <a:ea typeface="Calibri" pitchFamily="34" charset="-122"/>
                <a:cs typeface="Segoe UI" panose="020B0502040204020203" pitchFamily="34" charset="0"/>
              </a:rPr>
              <a:t>mit</a:t>
            </a:r>
            <a:r>
              <a:rPr lang="en-US" sz="2400" dirty="0">
                <a:latin typeface="Segoe UI" panose="020B0502040204020203" pitchFamily="34" charset="0"/>
                <a:ea typeface="Calibri" pitchFamily="34" charset="-122"/>
                <a:cs typeface="Segoe UI" panose="020B0502040204020203" pitchFamily="34" charset="0"/>
              </a:rPr>
              <a:t>  </a:t>
            </a:r>
            <a:r>
              <a:rPr lang="en-US" sz="2400" dirty="0">
                <a:solidFill>
                  <a:srgbClr val="FFFFFF"/>
                </a:solidFill>
                <a:latin typeface="Segoe UI" panose="020B0502040204020203" pitchFamily="34" charset="0"/>
                <a:ea typeface="Calibri" pitchFamily="34" charset="-122"/>
                <a:cs typeface="Segoe UI" panose="020B0502040204020203" pitchFamily="34" charset="0"/>
              </a:rPr>
              <a:t>KI-</a:t>
            </a:r>
            <a:r>
              <a:rPr lang="en-US" sz="2400" dirty="0" err="1">
                <a:solidFill>
                  <a:srgbClr val="FFFFFF"/>
                </a:solidFill>
                <a:latin typeface="Segoe UI" panose="020B0502040204020203" pitchFamily="34" charset="0"/>
                <a:ea typeface="Calibri" pitchFamily="34" charset="-122"/>
                <a:cs typeface="Segoe UI" panose="020B0502040204020203" pitchFamily="34" charset="0"/>
              </a:rPr>
              <a:t>Sofortdiagnose</a:t>
            </a:r>
            <a:endParaRPr lang="en-US" sz="2400" dirty="0">
              <a:solidFill>
                <a:srgbClr val="FFFFFF"/>
              </a:solidFill>
              <a:latin typeface="Segoe UI" panose="020B0502040204020203" pitchFamily="34" charset="0"/>
              <a:cs typeface="Segoe UI" panose="020B0502040204020203" pitchFamily="34" charset="0"/>
            </a:endParaRPr>
          </a:p>
          <a:p>
            <a:endParaRPr lang="en-US" sz="1200" dirty="0">
              <a:latin typeface="Segoe UI" panose="020B0502040204020203" pitchFamily="34" charset="0"/>
              <a:ea typeface="Calibri" pitchFamily="34" charset="-122"/>
              <a:cs typeface="Segoe UI" panose="020B0502040204020203" pitchFamily="34" charset="0"/>
            </a:endParaRPr>
          </a:p>
          <a:p>
            <a:endParaRPr lang="en-US" sz="1200" dirty="0">
              <a:latin typeface="Segoe UI" panose="020B0502040204020203" pitchFamily="34" charset="0"/>
              <a:ea typeface="Calibri" pitchFamily="34" charset="-122"/>
              <a:cs typeface="Segoe UI" panose="020B0502040204020203" pitchFamily="34" charset="0"/>
            </a:endParaRPr>
          </a:p>
          <a:p>
            <a:endParaRPr lang="en-US" sz="1200" dirty="0">
              <a:latin typeface="Segoe UI" panose="020B0502040204020203" pitchFamily="34" charset="0"/>
              <a:ea typeface="Calibri" pitchFamily="34" charset="-122"/>
              <a:cs typeface="Segoe UI" panose="020B0502040204020203" pitchFamily="34" charset="0"/>
            </a:endParaRPr>
          </a:p>
          <a:p>
            <a:endParaRPr lang="en-US" sz="1200" dirty="0">
              <a:latin typeface="Segoe UI" panose="020B0502040204020203" pitchFamily="34" charset="0"/>
              <a:ea typeface="Calibri" pitchFamily="34" charset="-122"/>
              <a:cs typeface="Segoe UI" panose="020B0502040204020203" pitchFamily="34" charset="0"/>
            </a:endParaRPr>
          </a:p>
          <a:p>
            <a:endParaRPr lang="en-US" sz="1200" dirty="0">
              <a:latin typeface="Segoe UI" panose="020B0502040204020203" pitchFamily="34" charset="0"/>
              <a:ea typeface="Calibri" pitchFamily="34" charset="-122"/>
              <a:cs typeface="Segoe UI" panose="020B0502040204020203" pitchFamily="34" charset="0"/>
            </a:endParaRPr>
          </a:p>
          <a:p>
            <a:r>
              <a:rPr lang="en-US" sz="1200" dirty="0">
                <a:latin typeface="Segoe UI" panose="020B0502040204020203" pitchFamily="34" charset="0"/>
                <a:ea typeface="Calibri" pitchFamily="34" charset="-122"/>
                <a:cs typeface="Segoe UI" panose="020B0502040204020203" pitchFamily="34" charset="0"/>
              </a:rPr>
              <a:t>Kilian Platter</a:t>
            </a:r>
          </a:p>
          <a:p>
            <a:r>
              <a:rPr lang="en-US" sz="1200" dirty="0">
                <a:latin typeface="Segoe UI" panose="020B0502040204020203" pitchFamily="34" charset="0"/>
                <a:ea typeface="Calibri" pitchFamily="34" charset="-122"/>
                <a:cs typeface="Segoe UI" panose="020B0502040204020203" pitchFamily="34" charset="0"/>
              </a:rPr>
              <a:t>Maximilian Ewald</a:t>
            </a:r>
          </a:p>
          <a:p>
            <a:r>
              <a:rPr lang="en-US" sz="1200" dirty="0">
                <a:latin typeface="Segoe UI" panose="020B0502040204020203" pitchFamily="34" charset="0"/>
                <a:ea typeface="Calibri" pitchFamily="34" charset="-122"/>
                <a:cs typeface="Segoe UI" panose="020B0502040204020203" pitchFamily="34" charset="0"/>
              </a:rPr>
              <a:t>David Leismann</a:t>
            </a:r>
          </a:p>
          <a:p>
            <a:r>
              <a:rPr lang="en-US" sz="1200" dirty="0">
                <a:latin typeface="Segoe UI" panose="020B0502040204020203" pitchFamily="34" charset="0"/>
                <a:ea typeface="Calibri" pitchFamily="34" charset="-122"/>
                <a:cs typeface="Segoe UI" panose="020B0502040204020203" pitchFamily="34" charset="0"/>
              </a:rPr>
              <a:t>Nina Sattler</a:t>
            </a:r>
          </a:p>
          <a:p>
            <a:r>
              <a:rPr lang="en-US" sz="1200" dirty="0">
                <a:latin typeface="Segoe UI" panose="020B0502040204020203" pitchFamily="34" charset="0"/>
                <a:ea typeface="Calibri" pitchFamily="34" charset="-122"/>
                <a:cs typeface="Segoe UI" panose="020B0502040204020203" pitchFamily="34" charset="0"/>
              </a:rPr>
              <a:t>Adrian Wenzler</a:t>
            </a:r>
            <a:endParaRPr lang="en-US" sz="1200" b="1" dirty="0">
              <a:latin typeface="Segoe UI" panose="020B0502040204020203" pitchFamily="34" charset="0"/>
              <a:cs typeface="Segoe UI" panose="020B0502040204020203" pitchFamily="34" charset="0"/>
            </a:endParaRPr>
          </a:p>
          <a:p>
            <a:r>
              <a:rPr lang="en-US" sz="1200" dirty="0">
                <a:latin typeface="Segoe UI" panose="020B0502040204020203" pitchFamily="34" charset="0"/>
                <a:ea typeface="Calibri" pitchFamily="34" charset="-122"/>
                <a:cs typeface="Segoe UI" panose="020B0502040204020203" pitchFamily="34" charset="0"/>
              </a:rPr>
              <a:t>Jakob Schwan</a:t>
            </a:r>
          </a:p>
          <a:p>
            <a:pPr marL="0" indent="0">
              <a:buNone/>
            </a:pPr>
            <a:endParaRPr lang="en-US" sz="36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478837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548640" y="974222"/>
            <a:ext cx="3657600" cy="27432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 1: der Pitch</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7" name="Shape 4"/>
          <p:cNvSpPr/>
          <p:nvPr/>
        </p:nvSpPr>
        <p:spPr>
          <a:xfrm>
            <a:off x="548640" y="1294262"/>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9" name="Text 6"/>
          <p:cNvSpPr txBox="1"/>
          <p:nvPr/>
        </p:nvSpPr>
        <p:spPr>
          <a:xfrm>
            <a:off x="1097279" y="1294262"/>
            <a:ext cx="7278969"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Das Problem: Werkstätten heute</a:t>
            </a:r>
            <a:endParaRPr lang="en-US" sz="1500" dirty="0">
              <a:latin typeface="Segoe UI" panose="020B0502040204020203" pitchFamily="34" charset="0"/>
              <a:cs typeface="Segoe UI" panose="020B0502040204020203" pitchFamily="34" charset="0"/>
            </a:endParaRPr>
          </a:p>
        </p:txBody>
      </p:sp>
      <p:sp>
        <p:nvSpPr>
          <p:cNvPr id="11" name="Shape 8"/>
          <p:cNvSpPr/>
          <p:nvPr/>
        </p:nvSpPr>
        <p:spPr>
          <a:xfrm>
            <a:off x="548640" y="1724030"/>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13" name="Text 10"/>
          <p:cNvSpPr txBox="1"/>
          <p:nvPr/>
        </p:nvSpPr>
        <p:spPr>
          <a:xfrm>
            <a:off x="1097279" y="1724030"/>
            <a:ext cx="7278969"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RepairFlow: Lösung, Nutzen, Auftragsreise, KI-Sofortdiagnose mit Live-Demo</a:t>
            </a:r>
            <a:endParaRPr lang="en-US" sz="1500" dirty="0">
              <a:latin typeface="Segoe UI" panose="020B0502040204020203" pitchFamily="34" charset="0"/>
              <a:cs typeface="Segoe UI" panose="020B0502040204020203" pitchFamily="34" charset="0"/>
            </a:endParaRPr>
          </a:p>
        </p:txBody>
      </p:sp>
      <p:sp>
        <p:nvSpPr>
          <p:cNvPr id="15" name="Text 12"/>
          <p:cNvSpPr txBox="1"/>
          <p:nvPr/>
        </p:nvSpPr>
        <p:spPr>
          <a:xfrm>
            <a:off x="548640" y="2323519"/>
            <a:ext cx="3657600" cy="274320"/>
          </a:xfrm>
          <a:prstGeom prst="rect">
            <a:avLst/>
          </a:prstGeom>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 2: was dahintersteckt</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Shape 13"/>
          <p:cNvSpPr/>
          <p:nvPr/>
        </p:nvSpPr>
        <p:spPr>
          <a:xfrm>
            <a:off x="548640" y="2616127"/>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18" name="Text 15"/>
          <p:cNvSpPr txBox="1"/>
          <p:nvPr/>
        </p:nvSpPr>
        <p:spPr>
          <a:xfrm>
            <a:off x="1097279" y="2616127"/>
            <a:ext cx="7278969"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Ergebnisse: zehn Geschäftsprozesse</a:t>
            </a:r>
            <a:endParaRPr lang="en-US" sz="1500" dirty="0">
              <a:latin typeface="Segoe UI" panose="020B0502040204020203" pitchFamily="34" charset="0"/>
              <a:cs typeface="Segoe UI" panose="020B0502040204020203" pitchFamily="34" charset="0"/>
            </a:endParaRPr>
          </a:p>
        </p:txBody>
      </p:sp>
      <p:sp>
        <p:nvSpPr>
          <p:cNvPr id="20" name="Shape 17"/>
          <p:cNvSpPr/>
          <p:nvPr/>
        </p:nvSpPr>
        <p:spPr>
          <a:xfrm>
            <a:off x="548640" y="3045895"/>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22" name="Text 19"/>
          <p:cNvSpPr txBox="1"/>
          <p:nvPr/>
        </p:nvSpPr>
        <p:spPr>
          <a:xfrm>
            <a:off x="1097279" y="3045895"/>
            <a:ext cx="7278969"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Ergebnisse: Rollen, Use Cases und Datenmodell</a:t>
            </a:r>
            <a:endParaRPr lang="en-US" sz="1500" dirty="0">
              <a:latin typeface="Segoe UI" panose="020B0502040204020203" pitchFamily="34" charset="0"/>
              <a:cs typeface="Segoe UI" panose="020B0502040204020203" pitchFamily="34" charset="0"/>
            </a:endParaRPr>
          </a:p>
        </p:txBody>
      </p:sp>
      <p:sp>
        <p:nvSpPr>
          <p:cNvPr id="28" name="Shape 25"/>
          <p:cNvSpPr/>
          <p:nvPr/>
        </p:nvSpPr>
        <p:spPr>
          <a:xfrm>
            <a:off x="548640" y="3478140"/>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0" name="Text 27"/>
          <p:cNvSpPr txBox="1"/>
          <p:nvPr/>
        </p:nvSpPr>
        <p:spPr>
          <a:xfrm>
            <a:off x="1097279" y="3478140"/>
            <a:ext cx="7278969"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Qualität, </a:t>
            </a:r>
            <a:r>
              <a:rPr lang="en-US" sz="1500" dirty="0" err="1">
                <a:solidFill>
                  <a:srgbClr val="1B2430"/>
                </a:solidFill>
                <a:latin typeface="Segoe UI" panose="020B0502040204020203" pitchFamily="34" charset="0"/>
                <a:ea typeface="Calibri" pitchFamily="34" charset="-122"/>
                <a:cs typeface="Segoe UI" panose="020B0502040204020203" pitchFamily="34" charset="0"/>
              </a:rPr>
              <a:t>Herausforderungen</a:t>
            </a:r>
            <a:r>
              <a:rPr lang="en-US" sz="1500" dirty="0">
                <a:solidFill>
                  <a:srgbClr val="1B2430"/>
                </a:solidFill>
                <a:latin typeface="Segoe UI" panose="020B0502040204020203" pitchFamily="34" charset="0"/>
                <a:ea typeface="Calibri" pitchFamily="34" charset="-122"/>
                <a:cs typeface="Segoe UI" panose="020B0502040204020203" pitchFamily="34" charset="0"/>
              </a:rPr>
              <a:t>, </a:t>
            </a:r>
            <a:r>
              <a:rPr lang="en-US" sz="1500" dirty="0" err="1">
                <a:solidFill>
                  <a:srgbClr val="1B2430"/>
                </a:solidFill>
                <a:latin typeface="Segoe UI" panose="020B0502040204020203" pitchFamily="34" charset="0"/>
                <a:ea typeface="Calibri" pitchFamily="34" charset="-122"/>
                <a:cs typeface="Segoe UI" panose="020B0502040204020203" pitchFamily="34" charset="0"/>
              </a:rPr>
              <a:t>Lernerfahrungen</a:t>
            </a:r>
            <a:r>
              <a:rPr lang="en-US" sz="1500" dirty="0">
                <a:solidFill>
                  <a:srgbClr val="1B2430"/>
                </a:solidFill>
                <a:latin typeface="Segoe UI" panose="020B0502040204020203" pitchFamily="34" charset="0"/>
                <a:ea typeface="Calibri" pitchFamily="34" charset="-122"/>
                <a:cs typeface="Segoe UI" panose="020B0502040204020203" pitchFamily="34" charset="0"/>
              </a:rPr>
              <a:t>, </a:t>
            </a:r>
            <a:r>
              <a:rPr lang="en-US" sz="1500" dirty="0" err="1">
                <a:solidFill>
                  <a:srgbClr val="1B2430"/>
                </a:solidFill>
                <a:latin typeface="Segoe UI" panose="020B0502040204020203" pitchFamily="34" charset="0"/>
                <a:ea typeface="Calibri" pitchFamily="34" charset="-122"/>
                <a:cs typeface="Segoe UI" panose="020B0502040204020203" pitchFamily="34" charset="0"/>
              </a:rPr>
              <a:t>Projektmanagement</a:t>
            </a:r>
            <a:endParaRPr lang="en-US" sz="1500" dirty="0">
              <a:latin typeface="Segoe UI" panose="020B0502040204020203" pitchFamily="34" charset="0"/>
              <a:cs typeface="Segoe UI" panose="020B0502040204020203" pitchFamily="34" charset="0"/>
            </a:endParaRPr>
          </a:p>
        </p:txBody>
      </p:sp>
      <p:sp>
        <p:nvSpPr>
          <p:cNvPr id="32" name="Shape 29"/>
          <p:cNvSpPr/>
          <p:nvPr/>
        </p:nvSpPr>
        <p:spPr>
          <a:xfrm>
            <a:off x="548640" y="3899363"/>
            <a:ext cx="384048" cy="384048"/>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4" name="Text 31"/>
          <p:cNvSpPr txBox="1"/>
          <p:nvPr/>
        </p:nvSpPr>
        <p:spPr>
          <a:xfrm>
            <a:off x="1097279" y="3899363"/>
            <a:ext cx="7278969" cy="384048"/>
          </a:xfrm>
          <a:prstGeom prst="rect">
            <a:avLst/>
          </a:prstGeom>
          <a:noFill/>
          <a:ln/>
        </p:spPr>
        <p:txBody>
          <a:bodyPr wrap="square" lIns="0" tIns="0" rIns="0" bIns="0" rtlCol="0" anchor="ctr"/>
          <a:lstStyle/>
          <a:p>
            <a:pPr marL="0" indent="0">
              <a:buNone/>
            </a:pPr>
            <a:r>
              <a:rPr lang="en-US" sz="1500" dirty="0">
                <a:solidFill>
                  <a:srgbClr val="1B2430"/>
                </a:solidFill>
                <a:latin typeface="Segoe UI" panose="020B0502040204020203" pitchFamily="34" charset="0"/>
                <a:ea typeface="Calibri" pitchFamily="34" charset="-122"/>
                <a:cs typeface="Segoe UI" panose="020B0502040204020203" pitchFamily="34" charset="0"/>
              </a:rPr>
              <a:t>Geschäftsmodell, Ausblick und Fazit</a:t>
            </a:r>
            <a:endParaRPr lang="en-US" sz="1500" dirty="0">
              <a:latin typeface="Segoe UI" panose="020B0502040204020203" pitchFamily="34" charset="0"/>
              <a:cs typeface="Segoe UI" panose="020B0502040204020203" pitchFamily="34" charset="0"/>
            </a:endParaRPr>
          </a:p>
        </p:txBody>
      </p:sp>
      <p:pic>
        <p:nvPicPr>
          <p:cNvPr id="37" name="Grafik 36" descr="Zukunft mit einfarbiger Füllung">
            <a:extLst>
              <a:ext uri="{FF2B5EF4-FFF2-40B4-BE49-F238E27FC236}">
                <a16:creationId xmlns:a16="http://schemas.microsoft.com/office/drawing/2014/main" id="{1BFD9E94-99C0-84C0-52AE-EA6A5FD7D20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8529" y="3911387"/>
            <a:ext cx="360000" cy="360000"/>
          </a:xfrm>
          <a:prstGeom prst="rect">
            <a:avLst/>
          </a:prstGeom>
        </p:spPr>
      </p:pic>
      <p:pic>
        <p:nvPicPr>
          <p:cNvPr id="39" name="Grafik 38" descr="Stern mit einfarbiger Füllung">
            <a:extLst>
              <a:ext uri="{FF2B5EF4-FFF2-40B4-BE49-F238E27FC236}">
                <a16:creationId xmlns:a16="http://schemas.microsoft.com/office/drawing/2014/main" id="{927C4290-BCF6-8A19-DCBC-758F4B69175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58529" y="3490673"/>
            <a:ext cx="360000" cy="360000"/>
          </a:xfrm>
          <a:prstGeom prst="rect">
            <a:avLst/>
          </a:prstGeom>
        </p:spPr>
      </p:pic>
      <p:pic>
        <p:nvPicPr>
          <p:cNvPr id="43" name="Grafik 42" descr="Benutzer mit einfarbiger Füllung">
            <a:extLst>
              <a:ext uri="{FF2B5EF4-FFF2-40B4-BE49-F238E27FC236}">
                <a16:creationId xmlns:a16="http://schemas.microsoft.com/office/drawing/2014/main" id="{DB491CEB-F48C-8B4B-C1EC-C069BE69844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58529" y="3059981"/>
            <a:ext cx="360000" cy="360000"/>
          </a:xfrm>
          <a:prstGeom prst="rect">
            <a:avLst/>
          </a:prstGeom>
        </p:spPr>
      </p:pic>
      <p:pic>
        <p:nvPicPr>
          <p:cNvPr id="45" name="Grafik 44" descr="Liste mit einfarbiger Füllung">
            <a:extLst>
              <a:ext uri="{FF2B5EF4-FFF2-40B4-BE49-F238E27FC236}">
                <a16:creationId xmlns:a16="http://schemas.microsoft.com/office/drawing/2014/main" id="{96972706-3AAB-1AE8-6ED5-CB25645441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580983" y="2645590"/>
            <a:ext cx="324000" cy="324000"/>
          </a:xfrm>
          <a:prstGeom prst="rect">
            <a:avLst/>
          </a:prstGeom>
        </p:spPr>
      </p:pic>
      <p:pic>
        <p:nvPicPr>
          <p:cNvPr id="47" name="Grafik 46" descr="Kreis mit Pfeil nach links mit einfarbiger Füllung">
            <a:extLst>
              <a:ext uri="{FF2B5EF4-FFF2-40B4-BE49-F238E27FC236}">
                <a16:creationId xmlns:a16="http://schemas.microsoft.com/office/drawing/2014/main" id="{189E8E0A-64C9-65CB-10AC-7C2B1A8DE966}"/>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60664" y="1736054"/>
            <a:ext cx="360000" cy="360000"/>
          </a:xfrm>
          <a:prstGeom prst="rect">
            <a:avLst/>
          </a:prstGeom>
        </p:spPr>
      </p:pic>
      <p:pic>
        <p:nvPicPr>
          <p:cNvPr id="49" name="Grafik 48" descr="Fragezeichen mit einfarbiger Füllung">
            <a:extLst>
              <a:ext uri="{FF2B5EF4-FFF2-40B4-BE49-F238E27FC236}">
                <a16:creationId xmlns:a16="http://schemas.microsoft.com/office/drawing/2014/main" id="{A91F061B-2487-A946-DBEE-FFF7EAAC4C62}"/>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560664" y="1306286"/>
            <a:ext cx="360000" cy="360000"/>
          </a:xfrm>
          <a:prstGeom prst="rect">
            <a:avLst/>
          </a:prstGeom>
        </p:spPr>
      </p:pic>
      <p:sp>
        <p:nvSpPr>
          <p:cNvPr id="2" name="Text 0">
            <a:extLst>
              <a:ext uri="{FF2B5EF4-FFF2-40B4-BE49-F238E27FC236}">
                <a16:creationId xmlns:a16="http://schemas.microsoft.com/office/drawing/2014/main" id="{8A8835FD-5497-EC50-1DD2-ED455455C932}"/>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Agenda</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3"/>
          <p:cNvSpPr txBox="1"/>
          <p:nvPr/>
        </p:nvSpPr>
        <p:spPr>
          <a:xfrm>
            <a:off x="457200" y="960120"/>
            <a:ext cx="8229600" cy="640080"/>
          </a:xfrm>
          <a:prstGeom prst="rect">
            <a:avLst/>
          </a:prstGeom>
          <a:noFill/>
          <a:ln/>
        </p:spPr>
        <p:txBody>
          <a:bodyPr wrap="square" lIns="0" tIns="0" rIns="0" bIns="0" rtlCol="0" anchor="ctr"/>
          <a:lstStyle/>
          <a:p>
            <a:pPr marL="0" indent="0">
              <a:buNone/>
            </a:pPr>
            <a:r>
              <a:rPr lang="de-DE" sz="1300" dirty="0">
                <a:solidFill>
                  <a:srgbClr val="1B2430"/>
                </a:solidFill>
                <a:latin typeface="Segoe UI" panose="020B0502040204020203" pitchFamily="34" charset="0"/>
                <a:ea typeface="Calibri" pitchFamily="34" charset="-122"/>
                <a:cs typeface="Segoe UI" panose="020B0502040204020203" pitchFamily="34" charset="0"/>
              </a:rPr>
              <a:t>Unser Szenario: die Werkstattkette FixWerk mit vier Filialen. Sie arbeitet mit Papier, Excel-Listen und Telefon.</a:t>
            </a:r>
            <a:endParaRPr lang="de-DE" sz="1300"/>
          </a:p>
        </p:txBody>
      </p:sp>
      <p:sp>
        <p:nvSpPr>
          <p:cNvPr id="8" name="Shape 5"/>
          <p:cNvSpPr/>
          <p:nvPr/>
        </p:nvSpPr>
        <p:spPr>
          <a:xfrm>
            <a:off x="64008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9" name="Image 0" descr="preencoded.png"/>
          <p:cNvPicPr>
            <a:picLocks noChangeAspect="1"/>
          </p:cNvPicPr>
          <p:nvPr/>
        </p:nvPicPr>
        <p:blipFill>
          <a:blip r:embed="rId3"/>
          <a:stretch>
            <a:fillRect/>
          </a:stretch>
        </p:blipFill>
        <p:spPr>
          <a:xfrm>
            <a:off x="754380" y="2034540"/>
            <a:ext cx="228600" cy="228600"/>
          </a:xfrm>
          <a:prstGeom prst="rect">
            <a:avLst/>
          </a:prstGeom>
        </p:spPr>
      </p:pic>
      <p:sp>
        <p:nvSpPr>
          <p:cNvPr id="10" name="Text 6"/>
          <p:cNvSpPr txBox="1"/>
          <p:nvPr/>
        </p:nvSpPr>
        <p:spPr>
          <a:xfrm>
            <a:off x="123444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 hören nichts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640080" y="2468880"/>
            <a:ext cx="3611880" cy="4572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Ob der KVA da ist oder das Gerät fertig ist, erfährt der Kunde nur am Telefon.</a:t>
            </a:r>
            <a:endParaRPr lang="de-DE" sz="1200"/>
          </a:p>
        </p:txBody>
      </p:sp>
      <p:sp>
        <p:nvSpPr>
          <p:cNvPr id="13" name="Shape 9"/>
          <p:cNvSpPr/>
          <p:nvPr/>
        </p:nvSpPr>
        <p:spPr>
          <a:xfrm>
            <a:off x="4892040" y="1920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4" name="Image 1" descr="preencoded.png"/>
          <p:cNvPicPr>
            <a:picLocks noChangeAspect="1"/>
          </p:cNvPicPr>
          <p:nvPr/>
        </p:nvPicPr>
        <p:blipFill>
          <a:blip r:embed="rId4"/>
          <a:stretch>
            <a:fillRect/>
          </a:stretch>
        </p:blipFill>
        <p:spPr>
          <a:xfrm>
            <a:off x="5006340" y="2034540"/>
            <a:ext cx="228600" cy="228600"/>
          </a:xfrm>
          <a:prstGeom prst="rect">
            <a:avLst/>
          </a:prstGeom>
        </p:spPr>
      </p:pic>
      <p:sp>
        <p:nvSpPr>
          <p:cNvPr id="15" name="Text 10"/>
          <p:cNvSpPr txBox="1"/>
          <p:nvPr/>
        </p:nvSpPr>
        <p:spPr>
          <a:xfrm>
            <a:off x="5486400" y="190195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Kein Auftragsstatus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4892040" y="2468880"/>
            <a:ext cx="3611880" cy="4572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Zettel und Excel-Listen passen nicht zusammen. Wo ein Gerät steht, weiß niemand sofort.</a:t>
            </a:r>
            <a:endParaRPr lang="de-DE" sz="1200"/>
          </a:p>
        </p:txBody>
      </p:sp>
      <p:sp>
        <p:nvSpPr>
          <p:cNvPr id="18" name="Shape 13"/>
          <p:cNvSpPr/>
          <p:nvPr/>
        </p:nvSpPr>
        <p:spPr>
          <a:xfrm>
            <a:off x="64008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9" name="Image 2" descr="preencoded.png"/>
          <p:cNvPicPr>
            <a:picLocks noChangeAspect="1"/>
          </p:cNvPicPr>
          <p:nvPr/>
        </p:nvPicPr>
        <p:blipFill>
          <a:blip r:embed="rId5"/>
          <a:stretch>
            <a:fillRect/>
          </a:stretch>
        </p:blipFill>
        <p:spPr>
          <a:xfrm>
            <a:off x="754380" y="3497580"/>
            <a:ext cx="228600" cy="228600"/>
          </a:xfrm>
          <a:prstGeom prst="rect">
            <a:avLst/>
          </a:prstGeom>
        </p:spPr>
      </p:pic>
      <p:sp>
        <p:nvSpPr>
          <p:cNvPr id="20" name="Text 14"/>
          <p:cNvSpPr txBox="1"/>
          <p:nvPr/>
        </p:nvSpPr>
        <p:spPr>
          <a:xfrm>
            <a:off x="123444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Teile doppelt bestellt</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640080" y="3931920"/>
            <a:ext cx="3611880" cy="4572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Jede Filiale bestellt selbst, obwohl das Teil oft nebenan liegt.</a:t>
            </a:r>
            <a:endParaRPr lang="de-DE" sz="1200"/>
          </a:p>
        </p:txBody>
      </p:sp>
      <p:sp>
        <p:nvSpPr>
          <p:cNvPr id="23" name="Shape 17"/>
          <p:cNvSpPr/>
          <p:nvPr/>
        </p:nvSpPr>
        <p:spPr>
          <a:xfrm>
            <a:off x="4892040" y="338328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4" name="Image 3" descr="preencoded.png"/>
          <p:cNvPicPr>
            <a:picLocks noChangeAspect="1"/>
          </p:cNvPicPr>
          <p:nvPr/>
        </p:nvPicPr>
        <p:blipFill>
          <a:blip r:embed="rId6"/>
          <a:stretch>
            <a:fillRect/>
          </a:stretch>
        </p:blipFill>
        <p:spPr>
          <a:xfrm>
            <a:off x="5006340" y="3497580"/>
            <a:ext cx="228600" cy="228600"/>
          </a:xfrm>
          <a:prstGeom prst="rect">
            <a:avLst/>
          </a:prstGeom>
        </p:spPr>
      </p:pic>
      <p:sp>
        <p:nvSpPr>
          <p:cNvPr id="25" name="Text 18"/>
          <p:cNvSpPr txBox="1"/>
          <p:nvPr/>
        </p:nvSpPr>
        <p:spPr>
          <a:xfrm>
            <a:off x="5486400" y="336499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Auslastung unsichtbar</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4892040" y="3931920"/>
            <a:ext cx="3611880" cy="4572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Termine werden nach Gefühl zugesagt.</a:t>
            </a:r>
            <a:endParaRPr lang="de-DE" sz="1200"/>
          </a:p>
        </p:txBody>
      </p:sp>
      <p:sp>
        <p:nvSpPr>
          <p:cNvPr id="3" name="Text 0">
            <a:extLst>
              <a:ext uri="{FF2B5EF4-FFF2-40B4-BE49-F238E27FC236}">
                <a16:creationId xmlns:a16="http://schemas.microsoft.com/office/drawing/2014/main" id="{BEB356EA-8D17-78DF-665F-256C47083BC6}"/>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Problem: Werkstätten heute</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hape 3"/>
          <p:cNvSpPr/>
          <p:nvPr/>
        </p:nvSpPr>
        <p:spPr>
          <a:xfrm>
            <a:off x="457200" y="960120"/>
            <a:ext cx="8229600" cy="77724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7" name="Text 4"/>
          <p:cNvSpPr txBox="1"/>
          <p:nvPr/>
        </p:nvSpPr>
        <p:spPr>
          <a:xfrm>
            <a:off x="640080" y="960120"/>
            <a:ext cx="7863840" cy="777240"/>
          </a:xfrm>
          <a:prstGeom prst="rect">
            <a:avLst/>
          </a:prstGeom>
          <a:noFill/>
          <a:ln/>
        </p:spPr>
        <p:txBody>
          <a:bodyPr wrap="square" lIns="0" tIns="0" rIns="0" bIns="0" rtlCol="0" anchor="ctr"/>
          <a:lstStyle/>
          <a:p>
            <a:pPr marL="0" indent="0">
              <a:buNone/>
            </a:pPr>
            <a:r>
              <a:rPr lang="de-DE" sz="1400" b="1" dirty="0">
                <a:solidFill>
                  <a:srgbClr val="FFFFFF"/>
                </a:solidFill>
                <a:latin typeface="Segoe UI" panose="020B0502040204020203" pitchFamily="34" charset="0"/>
                <a:ea typeface="Calibri" pitchFamily="34" charset="-122"/>
                <a:cs typeface="Segoe UI" panose="020B0502040204020203" pitchFamily="34" charset="0"/>
              </a:rPr>
              <a:t>Eine Plattform für die ganze Reparatur, von der Anfrage per App bis zur Abholung. Wir sind das Software-Startup, FixWerk ist unser Pilotkunde.</a:t>
            </a:r>
            <a:endParaRPr lang="de-DE" sz="1400">
              <a:latin typeface="Segoe UI" panose="020B0502040204020203" pitchFamily="34" charset="0"/>
              <a:cs typeface="Segoe UI" panose="020B0502040204020203" pitchFamily="34" charset="0"/>
            </a:endParaRPr>
          </a:p>
        </p:txBody>
      </p:sp>
      <p:sp>
        <p:nvSpPr>
          <p:cNvPr id="9" name="Shape 6"/>
          <p:cNvSpPr/>
          <p:nvPr/>
        </p:nvSpPr>
        <p:spPr>
          <a:xfrm>
            <a:off x="64008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0" name="Image 0" descr="preencoded.png"/>
          <p:cNvPicPr>
            <a:picLocks noChangeAspect="1"/>
          </p:cNvPicPr>
          <p:nvPr/>
        </p:nvPicPr>
        <p:blipFill>
          <a:blip r:embed="rId3"/>
          <a:stretch>
            <a:fillRect/>
          </a:stretch>
        </p:blipFill>
        <p:spPr>
          <a:xfrm>
            <a:off x="754380" y="2217420"/>
            <a:ext cx="228600" cy="228600"/>
          </a:xfrm>
          <a:prstGeom prst="rect">
            <a:avLst/>
          </a:prstGeom>
        </p:spPr>
      </p:pic>
      <p:sp>
        <p:nvSpPr>
          <p:cNvPr id="11" name="Text 7"/>
          <p:cNvSpPr txBox="1"/>
          <p:nvPr/>
        </p:nvSpPr>
        <p:spPr>
          <a:xfrm>
            <a:off x="1234440" y="2084832"/>
            <a:ext cx="149000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Kundenportal</a:t>
            </a:r>
            <a:endParaRPr lang="en-US" sz="1400" dirty="0">
              <a:latin typeface="Segoe UI" panose="020B0502040204020203" pitchFamily="34" charset="0"/>
              <a:cs typeface="Segoe UI" panose="020B0502040204020203" pitchFamily="34" charset="0"/>
            </a:endParaRPr>
          </a:p>
        </p:txBody>
      </p:sp>
      <p:sp>
        <p:nvSpPr>
          <p:cNvPr id="12" name="Text 8"/>
          <p:cNvSpPr txBox="1"/>
          <p:nvPr/>
        </p:nvSpPr>
        <p:spPr>
          <a:xfrm>
            <a:off x="640080" y="2651760"/>
            <a:ext cx="1600200" cy="9144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Sofortdiagnose</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KVA freigeben</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Status</a:t>
            </a:r>
            <a:endParaRPr lang="de-DE" sz="1200">
              <a:latin typeface="Segoe UI" panose="020B0502040204020203" pitchFamily="34" charset="0"/>
              <a:cs typeface="Segoe UI" panose="020B0502040204020203" pitchFamily="34" charset="0"/>
            </a:endParaRPr>
          </a:p>
        </p:txBody>
      </p:sp>
      <p:sp>
        <p:nvSpPr>
          <p:cNvPr id="14" name="Shape 10"/>
          <p:cNvSpPr/>
          <p:nvPr/>
        </p:nvSpPr>
        <p:spPr>
          <a:xfrm>
            <a:off x="274320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5" name="Image 1" descr="preencoded.png"/>
          <p:cNvPicPr>
            <a:picLocks noChangeAspect="1"/>
          </p:cNvPicPr>
          <p:nvPr/>
        </p:nvPicPr>
        <p:blipFill>
          <a:blip r:embed="rId4"/>
          <a:stretch>
            <a:fillRect/>
          </a:stretch>
        </p:blipFill>
        <p:spPr>
          <a:xfrm>
            <a:off x="2857500" y="2217420"/>
            <a:ext cx="228600" cy="228600"/>
          </a:xfrm>
          <a:prstGeom prst="rect">
            <a:avLst/>
          </a:prstGeom>
        </p:spPr>
      </p:pic>
      <p:sp>
        <p:nvSpPr>
          <p:cNvPr id="16" name="Text 11"/>
          <p:cNvSpPr txBox="1"/>
          <p:nvPr/>
        </p:nvSpPr>
        <p:spPr>
          <a:xfrm>
            <a:off x="333756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Auftrag und Werkstatt</a:t>
            </a:r>
            <a:endParaRPr lang="en-US" sz="1400" dirty="0">
              <a:latin typeface="Segoe UI" panose="020B0502040204020203" pitchFamily="34" charset="0"/>
              <a:cs typeface="Segoe UI" panose="020B0502040204020203" pitchFamily="34" charset="0"/>
            </a:endParaRPr>
          </a:p>
        </p:txBody>
      </p:sp>
      <p:sp>
        <p:nvSpPr>
          <p:cNvPr id="17" name="Text 12"/>
          <p:cNvSpPr txBox="1"/>
          <p:nvPr/>
        </p:nvSpPr>
        <p:spPr>
          <a:xfrm>
            <a:off x="2743200" y="2651760"/>
            <a:ext cx="1600200" cy="9144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Diagnose</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Kostenvoranschlag</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Reparatur</a:t>
            </a:r>
            <a:endParaRPr lang="de-DE" sz="1200">
              <a:latin typeface="Segoe UI" panose="020B0502040204020203" pitchFamily="34" charset="0"/>
              <a:cs typeface="Segoe UI" panose="020B0502040204020203" pitchFamily="34" charset="0"/>
            </a:endParaRPr>
          </a:p>
        </p:txBody>
      </p:sp>
      <p:sp>
        <p:nvSpPr>
          <p:cNvPr id="19" name="Shape 14"/>
          <p:cNvSpPr/>
          <p:nvPr/>
        </p:nvSpPr>
        <p:spPr>
          <a:xfrm>
            <a:off x="484632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0" name="Image 2" descr="preencoded.png"/>
          <p:cNvPicPr>
            <a:picLocks noChangeAspect="1"/>
          </p:cNvPicPr>
          <p:nvPr/>
        </p:nvPicPr>
        <p:blipFill>
          <a:blip r:embed="rId5"/>
          <a:stretch>
            <a:fillRect/>
          </a:stretch>
        </p:blipFill>
        <p:spPr>
          <a:xfrm>
            <a:off x="4960620" y="2217420"/>
            <a:ext cx="228600" cy="228600"/>
          </a:xfrm>
          <a:prstGeom prst="rect">
            <a:avLst/>
          </a:prstGeom>
        </p:spPr>
      </p:pic>
      <p:sp>
        <p:nvSpPr>
          <p:cNvPr id="21" name="Text 15"/>
          <p:cNvSpPr txBox="1"/>
          <p:nvPr/>
        </p:nvSpPr>
        <p:spPr>
          <a:xfrm>
            <a:off x="5440680" y="2084832"/>
            <a:ext cx="105156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Disposition</a:t>
            </a:r>
            <a:endParaRPr lang="en-US" sz="1400" dirty="0">
              <a:latin typeface="Segoe UI" panose="020B0502040204020203" pitchFamily="34" charset="0"/>
              <a:cs typeface="Segoe UI" panose="020B0502040204020203" pitchFamily="34" charset="0"/>
            </a:endParaRPr>
          </a:p>
        </p:txBody>
      </p:sp>
      <p:sp>
        <p:nvSpPr>
          <p:cNvPr id="22" name="Text 16"/>
          <p:cNvSpPr txBox="1"/>
          <p:nvPr/>
        </p:nvSpPr>
        <p:spPr>
          <a:xfrm>
            <a:off x="4846320" y="2651760"/>
            <a:ext cx="1600200" cy="9144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Bestände</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Reservierung</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Bestellung</a:t>
            </a:r>
            <a:endParaRPr lang="de-DE" sz="1200">
              <a:latin typeface="Segoe UI" panose="020B0502040204020203" pitchFamily="34" charset="0"/>
              <a:cs typeface="Segoe UI" panose="020B0502040204020203" pitchFamily="34" charset="0"/>
            </a:endParaRPr>
          </a:p>
        </p:txBody>
      </p:sp>
      <p:sp>
        <p:nvSpPr>
          <p:cNvPr id="24" name="Shape 18"/>
          <p:cNvSpPr/>
          <p:nvPr/>
        </p:nvSpPr>
        <p:spPr>
          <a:xfrm>
            <a:off x="6949440" y="21031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5" name="Image 3" descr="preencoded.png"/>
          <p:cNvPicPr>
            <a:picLocks noChangeAspect="1"/>
          </p:cNvPicPr>
          <p:nvPr/>
        </p:nvPicPr>
        <p:blipFill>
          <a:blip r:embed="rId6"/>
          <a:stretch>
            <a:fillRect/>
          </a:stretch>
        </p:blipFill>
        <p:spPr>
          <a:xfrm>
            <a:off x="7063740" y="2217420"/>
            <a:ext cx="228600" cy="228600"/>
          </a:xfrm>
          <a:prstGeom prst="rect">
            <a:avLst/>
          </a:prstGeom>
        </p:spPr>
      </p:pic>
      <p:sp>
        <p:nvSpPr>
          <p:cNvPr id="26" name="Text 19"/>
          <p:cNvSpPr txBox="1"/>
          <p:nvPr/>
        </p:nvSpPr>
        <p:spPr>
          <a:xfrm>
            <a:off x="7543800" y="2084832"/>
            <a:ext cx="1300000" cy="457200"/>
          </a:xfrm>
          <a:prstGeom prst="rect">
            <a:avLst/>
          </a:prstGeom>
          <a:noFill/>
          <a:ln/>
        </p:spPr>
        <p:txBody>
          <a:bodyPr wrap="square" lIns="0" tIns="0" rIns="0" bIns="0" rtlCol="0" anchor="ctr"/>
          <a:lstStyle/>
          <a:p>
            <a:pPr marL="0" indent="0">
              <a:buNone/>
            </a:pPr>
            <a:r>
              <a:rPr lang="en-US" sz="1400" b="1" dirty="0">
                <a:solidFill>
                  <a:srgbClr val="1B2430"/>
                </a:solidFill>
                <a:latin typeface="Segoe UI" panose="020B0502040204020203" pitchFamily="34" charset="0"/>
                <a:ea typeface="Calibri" pitchFamily="34" charset="-122"/>
                <a:cs typeface="Segoe UI" panose="020B0502040204020203" pitchFamily="34" charset="0"/>
              </a:rPr>
              <a:t>Abrechnung</a:t>
            </a:r>
            <a:endParaRPr lang="en-US" sz="1400" dirty="0">
              <a:latin typeface="Segoe UI" panose="020B0502040204020203" pitchFamily="34" charset="0"/>
              <a:cs typeface="Segoe UI" panose="020B0502040204020203" pitchFamily="34" charset="0"/>
            </a:endParaRPr>
          </a:p>
        </p:txBody>
      </p:sp>
      <p:sp>
        <p:nvSpPr>
          <p:cNvPr id="27" name="Text 20"/>
          <p:cNvSpPr txBox="1"/>
          <p:nvPr/>
        </p:nvSpPr>
        <p:spPr>
          <a:xfrm>
            <a:off x="6949440" y="2651760"/>
            <a:ext cx="1864360" cy="91440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Rechnung</a:t>
            </a:r>
            <a:endParaRPr lang="de-DE" sz="1200">
              <a:latin typeface="Segoe UI" panose="020B0502040204020203" pitchFamily="34" charset="0"/>
              <a:cs typeface="Segoe UI" panose="020B0502040204020203" pitchFamily="34" charset="0"/>
            </a:endParaRPr>
          </a:p>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Zahlung</a:t>
            </a:r>
            <a:endParaRPr lang="de-DE" sz="1200">
              <a:latin typeface="Segoe UI" panose="020B0502040204020203" pitchFamily="34" charset="0"/>
              <a:cs typeface="Segoe UI" panose="020B0502040204020203" pitchFamily="34" charset="0"/>
            </a:endParaRPr>
          </a:p>
        </p:txBody>
      </p:sp>
      <p:sp>
        <p:nvSpPr>
          <p:cNvPr id="28" name="Text 21"/>
          <p:cNvSpPr txBox="1"/>
          <p:nvPr/>
        </p:nvSpPr>
        <p:spPr>
          <a:xfrm>
            <a:off x="457200" y="3886200"/>
            <a:ext cx="8229600" cy="731520"/>
          </a:xfrm>
          <a:prstGeom prst="rect">
            <a:avLst/>
          </a:prstGeom>
          <a:noFill/>
          <a:ln/>
        </p:spPr>
        <p:txBody>
          <a:bodyPr wrap="square" lIns="0" tIns="0" rIns="0" bIns="0" rtlCol="0" anchor="t"/>
          <a:lstStyle/>
          <a:p>
            <a:pPr marL="342900" indent="-342900">
              <a:spcAft>
                <a:spcPts val="600"/>
              </a:spcAft>
              <a:buSzPct val="100000"/>
              <a:buChar char="•"/>
            </a:pPr>
            <a:r>
              <a:rPr lang="de-DE" sz="1200" dirty="0">
                <a:solidFill>
                  <a:srgbClr val="1B2430"/>
                </a:solidFill>
                <a:latin typeface="Segoe UI" panose="020B0502040204020203" pitchFamily="34" charset="0"/>
                <a:ea typeface="Calibri" pitchFamily="34" charset="-122"/>
                <a:cs typeface="Segoe UI" panose="020B0502040204020203" pitchFamily="34" charset="0"/>
              </a:rPr>
              <a:t>Zielkunden: Werkstätten und kleine Ketten mit 2 bis 10 Filialen</a:t>
            </a:r>
            <a:endParaRPr lang="de-DE" sz="1200">
              <a:latin typeface="Segoe UI" panose="020B0502040204020203" pitchFamily="34" charset="0"/>
              <a:cs typeface="Segoe UI" panose="020B0502040204020203" pitchFamily="34" charset="0"/>
            </a:endParaRPr>
          </a:p>
          <a:p>
            <a:pPr marL="342900" indent="-342900">
              <a:spcAft>
                <a:spcPts val="600"/>
              </a:spcAft>
              <a:buSzPct val="100000"/>
              <a:buChar char="•"/>
            </a:pPr>
            <a:r>
              <a:rPr lang="de-DE" sz="1200" dirty="0">
                <a:solidFill>
                  <a:srgbClr val="1B2430"/>
                </a:solidFill>
                <a:latin typeface="Segoe UI" panose="020B0502040204020203" pitchFamily="34" charset="0"/>
                <a:ea typeface="Calibri" pitchFamily="34" charset="-122"/>
                <a:cs typeface="Segoe UI" panose="020B0502040204020203" pitchFamily="34" charset="0"/>
              </a:rPr>
              <a:t>Nicht Teil der Plattform: die Reparatur selbst, Lieferantensysteme, Buchhaltung</a:t>
            </a:r>
            <a:endParaRPr lang="de-DE" sz="1200">
              <a:latin typeface="Segoe UI" panose="020B0502040204020203" pitchFamily="34" charset="0"/>
              <a:cs typeface="Segoe UI" panose="020B0502040204020203" pitchFamily="34" charset="0"/>
            </a:endParaRPr>
          </a:p>
        </p:txBody>
      </p:sp>
      <p:sp>
        <p:nvSpPr>
          <p:cNvPr id="3" name="Text 0">
            <a:extLst>
              <a:ext uri="{FF2B5EF4-FFF2-40B4-BE49-F238E27FC236}">
                <a16:creationId xmlns:a16="http://schemas.microsoft.com/office/drawing/2014/main" id="{AB588F3B-A12F-C293-2450-D3764285F0C6}"/>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RepairFlow</a:t>
            </a: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 Die Lösung</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Grafik 2" descr="Übertragen mit einfarbiger Füllung">
            <a:extLst>
              <a:ext uri="{FF2B5EF4-FFF2-40B4-BE49-F238E27FC236}">
                <a16:creationId xmlns:a16="http://schemas.microsoft.com/office/drawing/2014/main" id="{868C1496-D83E-2D10-7F66-DA08FCFCA2C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114800" y="1948293"/>
            <a:ext cx="914400" cy="914400"/>
          </a:xfrm>
          <a:prstGeom prst="rect">
            <a:avLst/>
          </a:prstGeom>
        </p:spPr>
      </p:pic>
      <p:pic>
        <p:nvPicPr>
          <p:cNvPr id="5" name="Grafik 4" descr="Benutzer mit einfarbiger Füllung">
            <a:extLst>
              <a:ext uri="{FF2B5EF4-FFF2-40B4-BE49-F238E27FC236}">
                <a16:creationId xmlns:a16="http://schemas.microsoft.com/office/drawing/2014/main" id="{F8EF1F55-4B3B-B9BA-6361-929E65DBEA7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89866" y="1948293"/>
            <a:ext cx="914400" cy="914400"/>
          </a:xfrm>
          <a:prstGeom prst="rect">
            <a:avLst/>
          </a:prstGeom>
        </p:spPr>
      </p:pic>
      <p:pic>
        <p:nvPicPr>
          <p:cNvPr id="7" name="Grafik 6" descr="Tools mit einfarbiger Füllung">
            <a:extLst>
              <a:ext uri="{FF2B5EF4-FFF2-40B4-BE49-F238E27FC236}">
                <a16:creationId xmlns:a16="http://schemas.microsoft.com/office/drawing/2014/main" id="{D67B4893-0DCF-B0A8-560D-3ACD3C9887E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335900" y="1948293"/>
            <a:ext cx="914400" cy="914400"/>
          </a:xfrm>
          <a:prstGeom prst="rect">
            <a:avLst/>
          </a:prstGeom>
        </p:spPr>
      </p:pic>
      <p:sp>
        <p:nvSpPr>
          <p:cNvPr id="8" name="Text 6">
            <a:extLst>
              <a:ext uri="{FF2B5EF4-FFF2-40B4-BE49-F238E27FC236}">
                <a16:creationId xmlns:a16="http://schemas.microsoft.com/office/drawing/2014/main" id="{F891E01B-58C0-995B-B086-1E6CFB514490}"/>
              </a:ext>
            </a:extLst>
          </p:cNvPr>
          <p:cNvSpPr txBox="1"/>
          <p:nvPr/>
        </p:nvSpPr>
        <p:spPr>
          <a:xfrm>
            <a:off x="7117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Eine Plattform</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9" name="Text 10">
            <a:extLst>
              <a:ext uri="{FF2B5EF4-FFF2-40B4-BE49-F238E27FC236}">
                <a16:creationId xmlns:a16="http://schemas.microsoft.com/office/drawing/2014/main" id="{3C8BF763-E02C-9EA3-7BBE-7E240B141903}"/>
              </a:ext>
            </a:extLst>
          </p:cNvPr>
          <p:cNvSpPr txBox="1"/>
          <p:nvPr/>
        </p:nvSpPr>
        <p:spPr>
          <a:xfrm>
            <a:off x="3490652"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Filialübergreifend</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1" name="Text 14">
            <a:extLst>
              <a:ext uri="{FF2B5EF4-FFF2-40B4-BE49-F238E27FC236}">
                <a16:creationId xmlns:a16="http://schemas.microsoft.com/office/drawing/2014/main" id="{57ACD45A-C4AF-3724-FC3A-2FD000A1D529}"/>
              </a:ext>
            </a:extLst>
          </p:cNvPr>
          <p:cNvSpPr txBox="1"/>
          <p:nvPr/>
        </p:nvSpPr>
        <p:spPr>
          <a:xfrm>
            <a:off x="6265718" y="2960437"/>
            <a:ext cx="2162695"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Klarheit vor dem Besuch</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2" name="Text 0">
            <a:extLst>
              <a:ext uri="{FF2B5EF4-FFF2-40B4-BE49-F238E27FC236}">
                <a16:creationId xmlns:a16="http://schemas.microsoft.com/office/drawing/2014/main" id="{C6780E2C-0C97-BB2E-EE86-76A772FB738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Nutzenversprechen</a:t>
            </a:r>
            <a:endParaRPr lang="de-DE" sz="2800" dirty="0">
              <a:latin typeface="Segoe UI" panose="020B0502040204020203" pitchFamily="34" charset="0"/>
              <a:cs typeface="Segoe UI" panose="020B0502040204020203" pitchFamily="34" charset="0"/>
            </a:endParaRPr>
          </a:p>
          <a:p>
            <a:r>
              <a:rPr lang="de-DE"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Werkstatt: weniger Telefonate, kürzere Standzeiten, sichtbare Auslastung.</a:t>
            </a:r>
            <a:br>
              <a:rPr lang="de-DE" sz="1400" dirty="0">
                <a:solidFill>
                  <a:schemeClr val="bg1">
                    <a:lumMod val="50000"/>
                  </a:schemeClr>
                </a:solidFill>
                <a:latin typeface="Segoe UI" panose="020B0502040204020203" pitchFamily="34" charset="0"/>
                <a:ea typeface="Calibri" pitchFamily="34" charset="-122"/>
                <a:cs typeface="Segoe UI" panose="020B0502040204020203" pitchFamily="34" charset="0"/>
              </a:rPr>
            </a:br>
            <a:r>
              <a:rPr lang="de-DE"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Kunde: schnelle Antworten.</a:t>
            </a:r>
          </a:p>
        </p:txBody>
      </p:sp>
      <p:sp>
        <p:nvSpPr>
          <p:cNvPr id="13" name="Text 7">
            <a:extLst>
              <a:ext uri="{FF2B5EF4-FFF2-40B4-BE49-F238E27FC236}">
                <a16:creationId xmlns:a16="http://schemas.microsoft.com/office/drawing/2014/main" id="{AE8BC7E0-7042-995C-22B8-CB1A0E89E2AA}"/>
              </a:ext>
            </a:extLst>
          </p:cNvPr>
          <p:cNvSpPr txBox="1"/>
          <p:nvPr/>
        </p:nvSpPr>
        <p:spPr>
          <a:xfrm>
            <a:off x="653934" y="3515381"/>
            <a:ext cx="2286000" cy="150876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Fahrrad, E-Bike und Elektronik in einem System. Ein Lager, ein Auftragsstatus.</a:t>
            </a:r>
            <a:endParaRPr lang="de-DE" sz="1400">
              <a:latin typeface="Segoe UI" panose="020B0502040204020203" pitchFamily="34" charset="0"/>
              <a:cs typeface="Segoe UI" panose="020B0502040204020203" pitchFamily="34" charset="0"/>
            </a:endParaRPr>
          </a:p>
        </p:txBody>
      </p:sp>
      <p:sp>
        <p:nvSpPr>
          <p:cNvPr id="14" name="Text 11">
            <a:extLst>
              <a:ext uri="{FF2B5EF4-FFF2-40B4-BE49-F238E27FC236}">
                <a16:creationId xmlns:a16="http://schemas.microsoft.com/office/drawing/2014/main" id="{1DF8A319-71EB-1CC7-D87D-22C625301494}"/>
              </a:ext>
            </a:extLst>
          </p:cNvPr>
          <p:cNvSpPr txBox="1"/>
          <p:nvPr/>
        </p:nvSpPr>
        <p:spPr>
          <a:xfrm>
            <a:off x="3428999" y="3515381"/>
            <a:ext cx="2286000" cy="150876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Teile aus allen Filialen. Bestellt wird nur, was fehlt.</a:t>
            </a:r>
            <a:endParaRPr lang="de-DE" sz="1400">
              <a:latin typeface="Segoe UI" panose="020B0502040204020203" pitchFamily="34" charset="0"/>
              <a:cs typeface="Segoe UI" panose="020B0502040204020203" pitchFamily="34" charset="0"/>
            </a:endParaRPr>
          </a:p>
        </p:txBody>
      </p:sp>
      <p:sp>
        <p:nvSpPr>
          <p:cNvPr id="15" name="Text 15">
            <a:extLst>
              <a:ext uri="{FF2B5EF4-FFF2-40B4-BE49-F238E27FC236}">
                <a16:creationId xmlns:a16="http://schemas.microsoft.com/office/drawing/2014/main" id="{D5650E79-427B-9478-372E-604F8C03CE83}"/>
              </a:ext>
            </a:extLst>
          </p:cNvPr>
          <p:cNvSpPr txBox="1"/>
          <p:nvPr/>
        </p:nvSpPr>
        <p:spPr>
          <a:xfrm>
            <a:off x="6204064" y="3515381"/>
            <a:ext cx="2286000" cy="150876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Foto in der App, danach Diagnose, Preis und Termin.</a:t>
            </a:r>
            <a:endParaRPr lang="de-DE" sz="140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8668932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650DB6E0-B857-76E0-7680-E8110F3E0DB9}"/>
            </a:ext>
          </a:extLst>
        </p:cNvPr>
        <p:cNvGrpSpPr/>
        <p:nvPr/>
      </p:nvGrpSpPr>
      <p:grpSpPr>
        <a:xfrm>
          <a:off x="0" y="0"/>
          <a:ext cx="0" cy="0"/>
          <a:chOff x="0" y="0"/>
          <a:chExt cx="0" cy="0"/>
        </a:xfrm>
      </p:grpSpPr>
      <p:grpSp>
        <p:nvGrpSpPr>
          <p:cNvPr id="37" name="Gruppieren 36">
            <a:extLst>
              <a:ext uri="{FF2B5EF4-FFF2-40B4-BE49-F238E27FC236}">
                <a16:creationId xmlns:a16="http://schemas.microsoft.com/office/drawing/2014/main" id="{F8DC7A19-DF97-CBDF-3725-A85F8517CEE1}"/>
              </a:ext>
            </a:extLst>
          </p:cNvPr>
          <p:cNvGrpSpPr/>
          <p:nvPr/>
        </p:nvGrpSpPr>
        <p:grpSpPr>
          <a:xfrm>
            <a:off x="52819047" y="2819791"/>
            <a:ext cx="1411025" cy="1474731"/>
            <a:chOff x="7375776" y="2819791"/>
            <a:chExt cx="1411025" cy="1474731"/>
          </a:xfrm>
        </p:grpSpPr>
        <p:sp>
          <p:nvSpPr>
            <p:cNvPr id="41" name="Shape 33">
              <a:extLst>
                <a:ext uri="{FF2B5EF4-FFF2-40B4-BE49-F238E27FC236}">
                  <a16:creationId xmlns:a16="http://schemas.microsoft.com/office/drawing/2014/main" id="{164A8086-2B72-AE38-472D-B15525692E68}"/>
                </a:ext>
              </a:extLst>
            </p:cNvPr>
            <p:cNvSpPr/>
            <p:nvPr/>
          </p:nvSpPr>
          <p:spPr>
            <a:xfrm>
              <a:off x="7375776"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3C665211-64D6-08AC-83B9-CE84E6B89A47}"/>
                </a:ext>
              </a:extLst>
            </p:cNvPr>
            <p:cNvSpPr txBox="1"/>
            <p:nvPr/>
          </p:nvSpPr>
          <p:spPr>
            <a:xfrm>
              <a:off x="7557843"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100" b="1"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E7A3F564-41EC-E645-1603-D505255974EB}"/>
                </a:ext>
              </a:extLst>
            </p:cNvPr>
            <p:cNvSpPr txBox="1"/>
            <p:nvPr/>
          </p:nvSpPr>
          <p:spPr>
            <a:xfrm>
              <a:off x="7421292"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100" dirty="0">
                <a:solidFill>
                  <a:schemeClr val="accent2">
                    <a:lumMod val="75000"/>
                  </a:schemeClr>
                </a:solidFill>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3DD7B38D-700D-A52B-88EB-BD4B3F14D2C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22887" y="3199403"/>
              <a:ext cx="716802" cy="716802"/>
            </a:xfrm>
            <a:prstGeom prst="rect">
              <a:avLst/>
            </a:prstGeom>
          </p:spPr>
        </p:pic>
      </p:grpSp>
      <p:grpSp>
        <p:nvGrpSpPr>
          <p:cNvPr id="36" name="Gruppieren 35">
            <a:extLst>
              <a:ext uri="{FF2B5EF4-FFF2-40B4-BE49-F238E27FC236}">
                <a16:creationId xmlns:a16="http://schemas.microsoft.com/office/drawing/2014/main" id="{C1DDD88A-9F7B-DB2D-52D4-A4463B65A547}"/>
              </a:ext>
            </a:extLst>
          </p:cNvPr>
          <p:cNvGrpSpPr/>
          <p:nvPr/>
        </p:nvGrpSpPr>
        <p:grpSpPr>
          <a:xfrm>
            <a:off x="37394477" y="2819791"/>
            <a:ext cx="1411025" cy="1474731"/>
            <a:chOff x="5992060" y="2819791"/>
            <a:chExt cx="1411025" cy="1474731"/>
          </a:xfrm>
        </p:grpSpPr>
        <p:sp>
          <p:nvSpPr>
            <p:cNvPr id="34" name="Shape 27">
              <a:extLst>
                <a:ext uri="{FF2B5EF4-FFF2-40B4-BE49-F238E27FC236}">
                  <a16:creationId xmlns:a16="http://schemas.microsoft.com/office/drawing/2014/main" id="{A00E5F93-DF18-9821-0522-1EB57EBD80B7}"/>
                </a:ext>
              </a:extLst>
            </p:cNvPr>
            <p:cNvSpPr/>
            <p:nvPr/>
          </p:nvSpPr>
          <p:spPr>
            <a:xfrm>
              <a:off x="5992060"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8C9FA62A-40D4-3BAB-2CE9-665A8A8F177D}"/>
                </a:ext>
              </a:extLst>
            </p:cNvPr>
            <p:cNvSpPr txBox="1"/>
            <p:nvPr/>
          </p:nvSpPr>
          <p:spPr>
            <a:xfrm>
              <a:off x="6174128"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100" b="1"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DD3080B1-9A26-5C4B-5559-42F8E5A410EF}"/>
                </a:ext>
              </a:extLst>
            </p:cNvPr>
            <p:cNvSpPr txBox="1"/>
            <p:nvPr/>
          </p:nvSpPr>
          <p:spPr>
            <a:xfrm>
              <a:off x="6037577"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100" dirty="0">
                <a:solidFill>
                  <a:schemeClr val="accent2">
                    <a:lumMod val="50000"/>
                  </a:schemeClr>
                </a:solidFill>
                <a:latin typeface="Segoe UI" panose="020B0502040204020203" pitchFamily="34" charset="0"/>
                <a:cs typeface="Segoe UI" panose="020B0502040204020203" pitchFamily="34" charset="0"/>
              </a:endParaRPr>
            </a:p>
          </p:txBody>
        </p:sp>
        <p:pic>
          <p:nvPicPr>
            <p:cNvPr id="69" name="Grafik 68" descr="Schraubenschlüssel mit einfarbiger Füllung">
              <a:extLst>
                <a:ext uri="{FF2B5EF4-FFF2-40B4-BE49-F238E27FC236}">
                  <a16:creationId xmlns:a16="http://schemas.microsoft.com/office/drawing/2014/main" id="{A3A48323-BE77-4086-BE70-9B6FF43DF07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0000" y="3199403"/>
              <a:ext cx="716802" cy="716802"/>
            </a:xfrm>
            <a:prstGeom prst="rect">
              <a:avLst/>
            </a:prstGeom>
          </p:spPr>
        </p:pic>
      </p:grpSp>
      <p:grpSp>
        <p:nvGrpSpPr>
          <p:cNvPr id="31" name="Gruppieren 30">
            <a:extLst>
              <a:ext uri="{FF2B5EF4-FFF2-40B4-BE49-F238E27FC236}">
                <a16:creationId xmlns:a16="http://schemas.microsoft.com/office/drawing/2014/main" id="{1428C802-0237-4702-93BD-AF407A04B6B9}"/>
              </a:ext>
            </a:extLst>
          </p:cNvPr>
          <p:cNvGrpSpPr/>
          <p:nvPr/>
        </p:nvGrpSpPr>
        <p:grpSpPr>
          <a:xfrm>
            <a:off x="25600438" y="2819791"/>
            <a:ext cx="1411025" cy="1474731"/>
            <a:chOff x="4608345" y="2819791"/>
            <a:chExt cx="1411025" cy="1474731"/>
          </a:xfrm>
        </p:grpSpPr>
        <p:sp>
          <p:nvSpPr>
            <p:cNvPr id="27" name="Shape 21">
              <a:extLst>
                <a:ext uri="{FF2B5EF4-FFF2-40B4-BE49-F238E27FC236}">
                  <a16:creationId xmlns:a16="http://schemas.microsoft.com/office/drawing/2014/main" id="{816AA628-C66F-1832-8A4F-72DC60758DF2}"/>
                </a:ext>
              </a:extLst>
            </p:cNvPr>
            <p:cNvSpPr/>
            <p:nvPr/>
          </p:nvSpPr>
          <p:spPr>
            <a:xfrm>
              <a:off x="4608345"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B53059A7-0CAB-28B5-5A56-DD2EF346760D}"/>
                </a:ext>
              </a:extLst>
            </p:cNvPr>
            <p:cNvSpPr txBox="1"/>
            <p:nvPr/>
          </p:nvSpPr>
          <p:spPr>
            <a:xfrm>
              <a:off x="4790413"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100" b="1"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32797925-2BCD-C6D3-8226-0319DEFFC08F}"/>
                </a:ext>
              </a:extLst>
            </p:cNvPr>
            <p:cNvSpPr txBox="1"/>
            <p:nvPr/>
          </p:nvSpPr>
          <p:spPr>
            <a:xfrm>
              <a:off x="4653862"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100" dirty="0">
                <a:solidFill>
                  <a:schemeClr val="accent2">
                    <a:lumMod val="75000"/>
                  </a:schemeClr>
                </a:solidFill>
                <a:latin typeface="Segoe UI" panose="020B0502040204020203" pitchFamily="34" charset="0"/>
                <a:cs typeface="Segoe UI" panose="020B0502040204020203" pitchFamily="34" charset="0"/>
              </a:endParaRPr>
            </a:p>
          </p:txBody>
        </p:sp>
        <p:pic>
          <p:nvPicPr>
            <p:cNvPr id="71" name="Grafik 70" descr="Schachtel mit einfarbiger Füllung">
              <a:extLst>
                <a:ext uri="{FF2B5EF4-FFF2-40B4-BE49-F238E27FC236}">
                  <a16:creationId xmlns:a16="http://schemas.microsoft.com/office/drawing/2014/main" id="{1BDE5C59-D984-9E7E-238A-8B925DEC2A58}"/>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62493" y="3195403"/>
              <a:ext cx="716802" cy="716802"/>
            </a:xfrm>
            <a:prstGeom prst="rect">
              <a:avLst/>
            </a:prstGeom>
          </p:spPr>
        </p:pic>
      </p:grpSp>
      <p:grpSp>
        <p:nvGrpSpPr>
          <p:cNvPr id="30" name="Gruppieren 29">
            <a:extLst>
              <a:ext uri="{FF2B5EF4-FFF2-40B4-BE49-F238E27FC236}">
                <a16:creationId xmlns:a16="http://schemas.microsoft.com/office/drawing/2014/main" id="{16FB9F48-B177-A44C-C408-F91F0D51E94E}"/>
              </a:ext>
            </a:extLst>
          </p:cNvPr>
          <p:cNvGrpSpPr/>
          <p:nvPr/>
        </p:nvGrpSpPr>
        <p:grpSpPr>
          <a:xfrm>
            <a:off x="17873077" y="2819791"/>
            <a:ext cx="1411025" cy="1474731"/>
            <a:chOff x="3224630" y="2819791"/>
            <a:chExt cx="1411025" cy="1474731"/>
          </a:xfrm>
        </p:grpSpPr>
        <p:sp>
          <p:nvSpPr>
            <p:cNvPr id="20" name="Shape 15">
              <a:extLst>
                <a:ext uri="{FF2B5EF4-FFF2-40B4-BE49-F238E27FC236}">
                  <a16:creationId xmlns:a16="http://schemas.microsoft.com/office/drawing/2014/main" id="{6AC70CB0-2483-B909-0405-312F55146CD7}"/>
                </a:ext>
              </a:extLst>
            </p:cNvPr>
            <p:cNvSpPr/>
            <p:nvPr/>
          </p:nvSpPr>
          <p:spPr>
            <a:xfrm>
              <a:off x="3224630"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C2489B6E-9E3D-EB32-2250-26DF11F50956}"/>
                </a:ext>
              </a:extLst>
            </p:cNvPr>
            <p:cNvSpPr txBox="1"/>
            <p:nvPr/>
          </p:nvSpPr>
          <p:spPr>
            <a:xfrm>
              <a:off x="3406697"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100" b="1"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55D7A1D9-B022-6977-A764-BA6FF57A9837}"/>
                </a:ext>
              </a:extLst>
            </p:cNvPr>
            <p:cNvSpPr txBox="1"/>
            <p:nvPr/>
          </p:nvSpPr>
          <p:spPr>
            <a:xfrm>
              <a:off x="3270147"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100" dirty="0">
                <a:solidFill>
                  <a:schemeClr val="accent2">
                    <a:lumMod val="50000"/>
                  </a:schemeClr>
                </a:solidFill>
                <a:latin typeface="Segoe UI" panose="020B0502040204020203" pitchFamily="34" charset="0"/>
                <a:cs typeface="Segoe UI" panose="020B0502040204020203" pitchFamily="34" charset="0"/>
              </a:endParaRPr>
            </a:p>
          </p:txBody>
        </p:sp>
        <p:pic>
          <p:nvPicPr>
            <p:cNvPr id="73" name="Grafik 72" descr="Lupe mit einfarbiger Füllung">
              <a:extLst>
                <a:ext uri="{FF2B5EF4-FFF2-40B4-BE49-F238E27FC236}">
                  <a16:creationId xmlns:a16="http://schemas.microsoft.com/office/drawing/2014/main" id="{EB0B54DF-5730-52EC-E142-461FAF968C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62398" y="3195403"/>
              <a:ext cx="716802" cy="716802"/>
            </a:xfrm>
            <a:prstGeom prst="rect">
              <a:avLst/>
            </a:prstGeom>
          </p:spPr>
        </p:pic>
      </p:grpSp>
      <p:grpSp>
        <p:nvGrpSpPr>
          <p:cNvPr id="29" name="Gruppieren 28">
            <a:extLst>
              <a:ext uri="{FF2B5EF4-FFF2-40B4-BE49-F238E27FC236}">
                <a16:creationId xmlns:a16="http://schemas.microsoft.com/office/drawing/2014/main" id="{F450DB53-4097-B61E-C20B-D3AD35FA241A}"/>
              </a:ext>
            </a:extLst>
          </p:cNvPr>
          <p:cNvGrpSpPr/>
          <p:nvPr/>
        </p:nvGrpSpPr>
        <p:grpSpPr>
          <a:xfrm>
            <a:off x="12786644" y="2819791"/>
            <a:ext cx="1411025" cy="1474731"/>
            <a:chOff x="1840914" y="2819791"/>
            <a:chExt cx="1411025" cy="1474731"/>
          </a:xfrm>
        </p:grpSpPr>
        <p:sp>
          <p:nvSpPr>
            <p:cNvPr id="13" name="Shape 9">
              <a:extLst>
                <a:ext uri="{FF2B5EF4-FFF2-40B4-BE49-F238E27FC236}">
                  <a16:creationId xmlns:a16="http://schemas.microsoft.com/office/drawing/2014/main" id="{0431D764-D95C-24CF-FDC4-66D351E3E395}"/>
                </a:ext>
              </a:extLst>
            </p:cNvPr>
            <p:cNvSpPr/>
            <p:nvPr/>
          </p:nvSpPr>
          <p:spPr>
            <a:xfrm>
              <a:off x="1840914"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C48B1E07-5401-F7E1-8F98-EA05874C3016}"/>
                </a:ext>
              </a:extLst>
            </p:cNvPr>
            <p:cNvSpPr txBox="1"/>
            <p:nvPr/>
          </p:nvSpPr>
          <p:spPr>
            <a:xfrm>
              <a:off x="2022982"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100" b="1"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14B680B1-AF1E-E764-FC40-88F76C68B04D}"/>
                </a:ext>
              </a:extLst>
            </p:cNvPr>
            <p:cNvSpPr txBox="1"/>
            <p:nvPr/>
          </p:nvSpPr>
          <p:spPr>
            <a:xfrm>
              <a:off x="1886431"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100" dirty="0">
                <a:solidFill>
                  <a:schemeClr val="accent2">
                    <a:lumMod val="75000"/>
                  </a:schemeClr>
                </a:solidFill>
                <a:latin typeface="Segoe UI" panose="020B0502040204020203" pitchFamily="34" charset="0"/>
                <a:cs typeface="Segoe UI" panose="020B0502040204020203" pitchFamily="34" charset="0"/>
              </a:endParaRPr>
            </a:p>
          </p:txBody>
        </p:sp>
        <p:pic>
          <p:nvPicPr>
            <p:cNvPr id="75" name="Grafik 74" descr="Registrierkasse mit einfarbiger Füllung">
              <a:extLst>
                <a:ext uri="{FF2B5EF4-FFF2-40B4-BE49-F238E27FC236}">
                  <a16:creationId xmlns:a16="http://schemas.microsoft.com/office/drawing/2014/main" id="{85D2BF99-F4E2-5525-E314-977116CA098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75561" y="3189668"/>
              <a:ext cx="716802" cy="716802"/>
            </a:xfrm>
            <a:prstGeom prst="rect">
              <a:avLst/>
            </a:prstGeom>
          </p:spPr>
        </p:pic>
      </p:grpSp>
      <p:grpSp>
        <p:nvGrpSpPr>
          <p:cNvPr id="24" name="Gruppieren 23">
            <a:extLst>
              <a:ext uri="{FF2B5EF4-FFF2-40B4-BE49-F238E27FC236}">
                <a16:creationId xmlns:a16="http://schemas.microsoft.com/office/drawing/2014/main" id="{6C27EC01-5A64-148D-A01A-D2E7E1F0AF3C}"/>
              </a:ext>
            </a:extLst>
          </p:cNvPr>
          <p:cNvGrpSpPr/>
          <p:nvPr/>
        </p:nvGrpSpPr>
        <p:grpSpPr>
          <a:xfrm>
            <a:off x="9745585" y="2819791"/>
            <a:ext cx="1411025" cy="1474731"/>
            <a:chOff x="457199" y="2819791"/>
            <a:chExt cx="1411025" cy="1474731"/>
          </a:xfrm>
        </p:grpSpPr>
        <p:sp>
          <p:nvSpPr>
            <p:cNvPr id="6" name="Shape 3">
              <a:extLst>
                <a:ext uri="{FF2B5EF4-FFF2-40B4-BE49-F238E27FC236}">
                  <a16:creationId xmlns:a16="http://schemas.microsoft.com/office/drawing/2014/main" id="{C73FBCED-68D8-1E49-B57E-8F067B0B3100}"/>
                </a:ext>
              </a:extLst>
            </p:cNvPr>
            <p:cNvSpPr/>
            <p:nvPr/>
          </p:nvSpPr>
          <p:spPr>
            <a:xfrm>
              <a:off x="457199"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4057B7CE-98DE-105A-4CBD-7E362CD73730}"/>
                </a:ext>
              </a:extLst>
            </p:cNvPr>
            <p:cNvSpPr txBox="1"/>
            <p:nvPr/>
          </p:nvSpPr>
          <p:spPr>
            <a:xfrm>
              <a:off x="639267"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100" b="1"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01A6C13D-6AA4-6AB2-5ADB-1EB1D31F9928}"/>
                </a:ext>
              </a:extLst>
            </p:cNvPr>
            <p:cNvSpPr txBox="1"/>
            <p:nvPr/>
          </p:nvSpPr>
          <p:spPr>
            <a:xfrm>
              <a:off x="502716"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100" dirty="0">
                <a:solidFill>
                  <a:schemeClr val="accent2">
                    <a:lumMod val="50000"/>
                  </a:schemeClr>
                </a:solidFill>
                <a:latin typeface="Segoe UI" panose="020B0502040204020203" pitchFamily="34" charset="0"/>
                <a:cs typeface="Segoe UI" panose="020B0502040204020203" pitchFamily="34" charset="0"/>
              </a:endParaRPr>
            </a:p>
          </p:txBody>
        </p:sp>
        <p:pic>
          <p:nvPicPr>
            <p:cNvPr id="77" name="Grafik 76" descr="Kamera mit einfarbiger Füllung">
              <a:extLst>
                <a:ext uri="{FF2B5EF4-FFF2-40B4-BE49-F238E27FC236}">
                  <a16:creationId xmlns:a16="http://schemas.microsoft.com/office/drawing/2014/main" id="{D69130DF-A623-8639-8A8B-9D68A42718F9}"/>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096" y="3199403"/>
              <a:ext cx="716802" cy="716802"/>
            </a:xfrm>
            <a:prstGeom prst="rect">
              <a:avLst/>
            </a:prstGeom>
          </p:spPr>
        </p:pic>
      </p:grpSp>
      <p:sp>
        <p:nvSpPr>
          <p:cNvPr id="2" name="Text 0">
            <a:extLst>
              <a:ext uri="{FF2B5EF4-FFF2-40B4-BE49-F238E27FC236}">
                <a16:creationId xmlns:a16="http://schemas.microsoft.com/office/drawing/2014/main" id="{9260F9E8-6DEC-95A8-CD85-36DDBECC3CCD}"/>
              </a:ext>
            </a:extLst>
          </p:cNvPr>
          <p:cNvSpPr txBox="1"/>
          <p:nvPr/>
        </p:nvSpPr>
        <p:spPr>
          <a:xfrm>
            <a:off x="339437" y="249382"/>
            <a:ext cx="86391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Mike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sieht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einen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Schaden am Motor,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fotografiert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ihn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und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erhält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einen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Lösungsvorschlag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mittels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KI-Diagnose.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Ohne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Anruf</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ohne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Wartezeit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direkt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der App.</a:t>
            </a:r>
          </a:p>
        </p:txBody>
      </p:sp>
      <p:pic>
        <p:nvPicPr>
          <p:cNvPr id="15" name="Grafik 14" descr="Datei:Sinnbild Radfahrer, StVO 1992.svg – Wikipedia">
            <a:extLst>
              <a:ext uri="{FF2B5EF4-FFF2-40B4-BE49-F238E27FC236}">
                <a16:creationId xmlns:a16="http://schemas.microsoft.com/office/drawing/2014/main" id="{985B43C2-D8D6-9A00-B5B7-C294930D7B91}"/>
              </a:ext>
            </a:extLst>
          </p:cNvPr>
          <p:cNvPicPr>
            <a:picLocks noChangeAspect="1"/>
          </p:cNvPicPr>
          <p:nvPr/>
        </p:nvPicPr>
        <p:blipFill>
          <a:blip r:embed="rId9">
            <a:duotone>
              <a:schemeClr val="bg2">
                <a:shade val="45000"/>
                <a:satMod val="135000"/>
              </a:schemeClr>
              <a:prstClr val="white"/>
            </a:duotone>
          </a:blip>
          <a:stretch>
            <a:fillRect/>
          </a:stretch>
        </p:blipFill>
        <p:spPr>
          <a:xfrm flipH="1">
            <a:off x="904555" y="1833594"/>
            <a:ext cx="1252307" cy="751385"/>
          </a:xfrm>
          <a:prstGeom prst="rect">
            <a:avLst/>
          </a:prstGeom>
        </p:spPr>
      </p:pic>
      <p:pic>
        <p:nvPicPr>
          <p:cNvPr id="17" name="Grafik 16" descr="Mann mit einfarbiger Füllung">
            <a:extLst>
              <a:ext uri="{FF2B5EF4-FFF2-40B4-BE49-F238E27FC236}">
                <a16:creationId xmlns:a16="http://schemas.microsoft.com/office/drawing/2014/main" id="{7FF7B848-8791-5B38-2F5B-E50532EF3667}"/>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7315" y="1440219"/>
            <a:ext cx="1177062" cy="1177062"/>
          </a:xfrm>
          <a:prstGeom prst="rect">
            <a:avLst/>
          </a:prstGeom>
        </p:spPr>
      </p:pic>
    </p:spTree>
    <p:extLst>
      <p:ext uri="{BB962C8B-B14F-4D97-AF65-F5344CB8AC3E}">
        <p14:creationId xmlns:p14="http://schemas.microsoft.com/office/powerpoint/2010/main" val="181655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55F610F-B8DB-1562-858F-1E14FE191157}"/>
            </a:ext>
          </a:extLst>
        </p:cNvPr>
        <p:cNvGrpSpPr/>
        <p:nvPr/>
      </p:nvGrpSpPr>
      <p:grpSpPr>
        <a:xfrm>
          <a:off x="0" y="0"/>
          <a:ext cx="0" cy="0"/>
          <a:chOff x="0" y="0"/>
          <a:chExt cx="0" cy="0"/>
        </a:xfrm>
      </p:grpSpPr>
      <p:grpSp>
        <p:nvGrpSpPr>
          <p:cNvPr id="37" name="Gruppieren 36">
            <a:extLst>
              <a:ext uri="{FF2B5EF4-FFF2-40B4-BE49-F238E27FC236}">
                <a16:creationId xmlns:a16="http://schemas.microsoft.com/office/drawing/2014/main" id="{86036172-5E67-39DE-D962-7D5EE91DB16E}"/>
              </a:ext>
            </a:extLst>
          </p:cNvPr>
          <p:cNvGrpSpPr/>
          <p:nvPr/>
        </p:nvGrpSpPr>
        <p:grpSpPr>
          <a:xfrm>
            <a:off x="7375776" y="2819791"/>
            <a:ext cx="1411025" cy="1474731"/>
            <a:chOff x="7375776" y="2819791"/>
            <a:chExt cx="1411025" cy="1474731"/>
          </a:xfrm>
        </p:grpSpPr>
        <p:sp>
          <p:nvSpPr>
            <p:cNvPr id="41" name="Shape 33">
              <a:extLst>
                <a:ext uri="{FF2B5EF4-FFF2-40B4-BE49-F238E27FC236}">
                  <a16:creationId xmlns:a16="http://schemas.microsoft.com/office/drawing/2014/main" id="{84FD76AB-0A23-2EC4-5F02-28479A88D01B}"/>
                </a:ext>
              </a:extLst>
            </p:cNvPr>
            <p:cNvSpPr/>
            <p:nvPr/>
          </p:nvSpPr>
          <p:spPr>
            <a:xfrm>
              <a:off x="7375776"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dirty="0">
                <a:latin typeface="Segoe UI" panose="020B0502040204020203" pitchFamily="34" charset="0"/>
                <a:cs typeface="Segoe UI" panose="020B0502040204020203" pitchFamily="34" charset="0"/>
              </a:endParaRPr>
            </a:p>
          </p:txBody>
        </p:sp>
        <p:sp>
          <p:nvSpPr>
            <p:cNvPr id="42" name="Text 34">
              <a:extLst>
                <a:ext uri="{FF2B5EF4-FFF2-40B4-BE49-F238E27FC236}">
                  <a16:creationId xmlns:a16="http://schemas.microsoft.com/office/drawing/2014/main" id="{6500D920-B1C7-87D0-4064-6E244B15E128}"/>
                </a:ext>
              </a:extLst>
            </p:cNvPr>
            <p:cNvSpPr txBox="1"/>
            <p:nvPr/>
          </p:nvSpPr>
          <p:spPr>
            <a:xfrm>
              <a:off x="7557843"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P08</a:t>
              </a:r>
              <a:endParaRPr lang="en-US" sz="1100" b="1" dirty="0">
                <a:latin typeface="Segoe UI" panose="020B0502040204020203" pitchFamily="34" charset="0"/>
                <a:cs typeface="Segoe UI" panose="020B0502040204020203" pitchFamily="34" charset="0"/>
              </a:endParaRPr>
            </a:p>
          </p:txBody>
        </p:sp>
        <p:sp>
          <p:nvSpPr>
            <p:cNvPr id="46" name="Text 37">
              <a:extLst>
                <a:ext uri="{FF2B5EF4-FFF2-40B4-BE49-F238E27FC236}">
                  <a16:creationId xmlns:a16="http://schemas.microsoft.com/office/drawing/2014/main" id="{FBFCCFB4-B6A3-DCE3-1508-4FC20774F578}"/>
                </a:ext>
              </a:extLst>
            </p:cNvPr>
            <p:cNvSpPr txBox="1"/>
            <p:nvPr/>
          </p:nvSpPr>
          <p:spPr>
            <a:xfrm>
              <a:off x="7421292"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Abholung</a:t>
              </a:r>
              <a:endParaRPr lang="en-US" sz="1100" dirty="0">
                <a:solidFill>
                  <a:schemeClr val="accent2">
                    <a:lumMod val="75000"/>
                  </a:schemeClr>
                </a:solidFill>
                <a:latin typeface="Segoe UI" panose="020B0502040204020203" pitchFamily="34" charset="0"/>
                <a:cs typeface="Segoe UI" panose="020B0502040204020203" pitchFamily="34" charset="0"/>
              </a:endParaRPr>
            </a:p>
          </p:txBody>
        </p:sp>
        <p:pic>
          <p:nvPicPr>
            <p:cNvPr id="67" name="Grafik 66" descr="Abzeichen Tick1 mit einfarbiger Füllung">
              <a:extLst>
                <a:ext uri="{FF2B5EF4-FFF2-40B4-BE49-F238E27FC236}">
                  <a16:creationId xmlns:a16="http://schemas.microsoft.com/office/drawing/2014/main" id="{DC011861-4567-0CAD-C37C-2A9907F2A7AB}"/>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722887" y="3199403"/>
              <a:ext cx="716802" cy="716802"/>
            </a:xfrm>
            <a:prstGeom prst="rect">
              <a:avLst/>
            </a:prstGeom>
          </p:spPr>
        </p:pic>
      </p:grpSp>
      <p:grpSp>
        <p:nvGrpSpPr>
          <p:cNvPr id="36" name="Gruppieren 35">
            <a:extLst>
              <a:ext uri="{FF2B5EF4-FFF2-40B4-BE49-F238E27FC236}">
                <a16:creationId xmlns:a16="http://schemas.microsoft.com/office/drawing/2014/main" id="{49CDA339-F44A-1E10-905C-D0A3C3473E8D}"/>
              </a:ext>
            </a:extLst>
          </p:cNvPr>
          <p:cNvGrpSpPr/>
          <p:nvPr/>
        </p:nvGrpSpPr>
        <p:grpSpPr>
          <a:xfrm>
            <a:off x="5992060" y="2819791"/>
            <a:ext cx="1411025" cy="1474731"/>
            <a:chOff x="5992060" y="2819791"/>
            <a:chExt cx="1411025" cy="1474731"/>
          </a:xfrm>
        </p:grpSpPr>
        <p:sp>
          <p:nvSpPr>
            <p:cNvPr id="34" name="Shape 27">
              <a:extLst>
                <a:ext uri="{FF2B5EF4-FFF2-40B4-BE49-F238E27FC236}">
                  <a16:creationId xmlns:a16="http://schemas.microsoft.com/office/drawing/2014/main" id="{163ABF42-AEEE-97E0-84DC-124703A0BD39}"/>
                </a:ext>
              </a:extLst>
            </p:cNvPr>
            <p:cNvSpPr/>
            <p:nvPr/>
          </p:nvSpPr>
          <p:spPr>
            <a:xfrm>
              <a:off x="5992060"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35" name="Text 28">
              <a:extLst>
                <a:ext uri="{FF2B5EF4-FFF2-40B4-BE49-F238E27FC236}">
                  <a16:creationId xmlns:a16="http://schemas.microsoft.com/office/drawing/2014/main" id="{7ACD0BFF-8DA4-D176-776A-BF1DF42EE6E8}"/>
                </a:ext>
              </a:extLst>
            </p:cNvPr>
            <p:cNvSpPr txBox="1"/>
            <p:nvPr/>
          </p:nvSpPr>
          <p:spPr>
            <a:xfrm>
              <a:off x="6174128"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P07</a:t>
              </a:r>
              <a:endParaRPr lang="en-US" sz="1100" b="1" dirty="0">
                <a:latin typeface="Segoe UI" panose="020B0502040204020203" pitchFamily="34" charset="0"/>
                <a:cs typeface="Segoe UI" panose="020B0502040204020203" pitchFamily="34" charset="0"/>
              </a:endParaRPr>
            </a:p>
          </p:txBody>
        </p:sp>
        <p:sp>
          <p:nvSpPr>
            <p:cNvPr id="39" name="Text 31">
              <a:extLst>
                <a:ext uri="{FF2B5EF4-FFF2-40B4-BE49-F238E27FC236}">
                  <a16:creationId xmlns:a16="http://schemas.microsoft.com/office/drawing/2014/main" id="{E82229FD-DDBE-EF42-894B-AD921F6B1246}"/>
                </a:ext>
              </a:extLst>
            </p:cNvPr>
            <p:cNvSpPr txBox="1"/>
            <p:nvPr/>
          </p:nvSpPr>
          <p:spPr>
            <a:xfrm>
              <a:off x="6037577"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t>
              </a:r>
              <a:endParaRPr lang="en-US" sz="1100" dirty="0">
                <a:solidFill>
                  <a:schemeClr val="accent2">
                    <a:lumMod val="50000"/>
                  </a:schemeClr>
                </a:solidFill>
                <a:latin typeface="Segoe UI" panose="020B0502040204020203" pitchFamily="34" charset="0"/>
                <a:cs typeface="Segoe UI" panose="020B0502040204020203" pitchFamily="34" charset="0"/>
              </a:endParaRPr>
            </a:p>
          </p:txBody>
        </p:sp>
        <p:pic>
          <p:nvPicPr>
            <p:cNvPr id="69" name="Grafik 68" descr="Schraubenschlüssel mit einfarbiger Füllung">
              <a:extLst>
                <a:ext uri="{FF2B5EF4-FFF2-40B4-BE49-F238E27FC236}">
                  <a16:creationId xmlns:a16="http://schemas.microsoft.com/office/drawing/2014/main" id="{1F96DAF2-71B9-F09C-F867-3A412D976C2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0000" y="3199403"/>
              <a:ext cx="716802" cy="716802"/>
            </a:xfrm>
            <a:prstGeom prst="rect">
              <a:avLst/>
            </a:prstGeom>
          </p:spPr>
        </p:pic>
      </p:grpSp>
      <p:grpSp>
        <p:nvGrpSpPr>
          <p:cNvPr id="31" name="Gruppieren 30">
            <a:extLst>
              <a:ext uri="{FF2B5EF4-FFF2-40B4-BE49-F238E27FC236}">
                <a16:creationId xmlns:a16="http://schemas.microsoft.com/office/drawing/2014/main" id="{C12DFCEF-185E-A5B0-C405-27F34FAD82A6}"/>
              </a:ext>
            </a:extLst>
          </p:cNvPr>
          <p:cNvGrpSpPr/>
          <p:nvPr/>
        </p:nvGrpSpPr>
        <p:grpSpPr>
          <a:xfrm>
            <a:off x="4608345" y="2819791"/>
            <a:ext cx="1411025" cy="1474731"/>
            <a:chOff x="4608345" y="2819791"/>
            <a:chExt cx="1411025" cy="1474731"/>
          </a:xfrm>
        </p:grpSpPr>
        <p:sp>
          <p:nvSpPr>
            <p:cNvPr id="27" name="Shape 21">
              <a:extLst>
                <a:ext uri="{FF2B5EF4-FFF2-40B4-BE49-F238E27FC236}">
                  <a16:creationId xmlns:a16="http://schemas.microsoft.com/office/drawing/2014/main" id="{9A9A03B3-0987-BB72-5E93-21416A1C7DA3}"/>
                </a:ext>
              </a:extLst>
            </p:cNvPr>
            <p:cNvSpPr/>
            <p:nvPr/>
          </p:nvSpPr>
          <p:spPr>
            <a:xfrm>
              <a:off x="4608345"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28" name="Text 22">
              <a:extLst>
                <a:ext uri="{FF2B5EF4-FFF2-40B4-BE49-F238E27FC236}">
                  <a16:creationId xmlns:a16="http://schemas.microsoft.com/office/drawing/2014/main" id="{9C1318EC-A9D3-0111-B46E-16C07D5724C9}"/>
                </a:ext>
              </a:extLst>
            </p:cNvPr>
            <p:cNvSpPr txBox="1"/>
            <p:nvPr/>
          </p:nvSpPr>
          <p:spPr>
            <a:xfrm>
              <a:off x="4790413"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P05, P06</a:t>
              </a:r>
              <a:endParaRPr lang="en-US" sz="1100" b="1" dirty="0">
                <a:latin typeface="Segoe UI" panose="020B0502040204020203" pitchFamily="34" charset="0"/>
                <a:cs typeface="Segoe UI" panose="020B0502040204020203" pitchFamily="34" charset="0"/>
              </a:endParaRPr>
            </a:p>
          </p:txBody>
        </p:sp>
        <p:sp>
          <p:nvSpPr>
            <p:cNvPr id="32" name="Text 25">
              <a:extLst>
                <a:ext uri="{FF2B5EF4-FFF2-40B4-BE49-F238E27FC236}">
                  <a16:creationId xmlns:a16="http://schemas.microsoft.com/office/drawing/2014/main" id="{7FBC6676-A78A-57C5-9B36-665C4A0BA18C}"/>
                </a:ext>
              </a:extLst>
            </p:cNvPr>
            <p:cNvSpPr txBox="1"/>
            <p:nvPr/>
          </p:nvSpPr>
          <p:spPr>
            <a:xfrm>
              <a:off x="4653862"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Teile disponieren</a:t>
              </a:r>
              <a:endParaRPr lang="en-US" sz="1100" dirty="0">
                <a:solidFill>
                  <a:schemeClr val="accent2">
                    <a:lumMod val="75000"/>
                  </a:schemeClr>
                </a:solidFill>
                <a:latin typeface="Segoe UI" panose="020B0502040204020203" pitchFamily="34" charset="0"/>
                <a:cs typeface="Segoe UI" panose="020B0502040204020203" pitchFamily="34" charset="0"/>
              </a:endParaRPr>
            </a:p>
          </p:txBody>
        </p:sp>
        <p:pic>
          <p:nvPicPr>
            <p:cNvPr id="71" name="Grafik 70" descr="Schachtel mit einfarbiger Füllung">
              <a:extLst>
                <a:ext uri="{FF2B5EF4-FFF2-40B4-BE49-F238E27FC236}">
                  <a16:creationId xmlns:a16="http://schemas.microsoft.com/office/drawing/2014/main" id="{A1C1BDEE-E811-69E0-0FD9-A1F47792404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962493" y="3195403"/>
              <a:ext cx="716802" cy="716802"/>
            </a:xfrm>
            <a:prstGeom prst="rect">
              <a:avLst/>
            </a:prstGeom>
          </p:spPr>
        </p:pic>
      </p:grpSp>
      <p:grpSp>
        <p:nvGrpSpPr>
          <p:cNvPr id="30" name="Gruppieren 29">
            <a:extLst>
              <a:ext uri="{FF2B5EF4-FFF2-40B4-BE49-F238E27FC236}">
                <a16:creationId xmlns:a16="http://schemas.microsoft.com/office/drawing/2014/main" id="{34959359-6381-2E46-8328-57F8C2BD898B}"/>
              </a:ext>
            </a:extLst>
          </p:cNvPr>
          <p:cNvGrpSpPr/>
          <p:nvPr/>
        </p:nvGrpSpPr>
        <p:grpSpPr>
          <a:xfrm>
            <a:off x="3224630" y="2819791"/>
            <a:ext cx="1411025" cy="1474731"/>
            <a:chOff x="3224630" y="2819791"/>
            <a:chExt cx="1411025" cy="1474731"/>
          </a:xfrm>
        </p:grpSpPr>
        <p:sp>
          <p:nvSpPr>
            <p:cNvPr id="20" name="Shape 15">
              <a:extLst>
                <a:ext uri="{FF2B5EF4-FFF2-40B4-BE49-F238E27FC236}">
                  <a16:creationId xmlns:a16="http://schemas.microsoft.com/office/drawing/2014/main" id="{C956D567-2CB5-6DE6-6AF8-384A60FCCE87}"/>
                </a:ext>
              </a:extLst>
            </p:cNvPr>
            <p:cNvSpPr/>
            <p:nvPr/>
          </p:nvSpPr>
          <p:spPr>
            <a:xfrm>
              <a:off x="3224630"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21" name="Text 16">
              <a:extLst>
                <a:ext uri="{FF2B5EF4-FFF2-40B4-BE49-F238E27FC236}">
                  <a16:creationId xmlns:a16="http://schemas.microsoft.com/office/drawing/2014/main" id="{80F77488-E28C-3DD9-5DE0-BBEB3B8EBC76}"/>
                </a:ext>
              </a:extLst>
            </p:cNvPr>
            <p:cNvSpPr txBox="1"/>
            <p:nvPr/>
          </p:nvSpPr>
          <p:spPr>
            <a:xfrm>
              <a:off x="3406697"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P03, P04</a:t>
              </a:r>
              <a:endParaRPr lang="en-US" sz="1100" b="1" dirty="0">
                <a:latin typeface="Segoe UI" panose="020B0502040204020203" pitchFamily="34" charset="0"/>
                <a:cs typeface="Segoe UI" panose="020B0502040204020203" pitchFamily="34" charset="0"/>
              </a:endParaRPr>
            </a:p>
          </p:txBody>
        </p:sp>
        <p:sp>
          <p:nvSpPr>
            <p:cNvPr id="25" name="Text 19">
              <a:extLst>
                <a:ext uri="{FF2B5EF4-FFF2-40B4-BE49-F238E27FC236}">
                  <a16:creationId xmlns:a16="http://schemas.microsoft.com/office/drawing/2014/main" id="{1F8248DC-6FE5-8504-22D9-DFDBEF452D0B}"/>
                </a:ext>
              </a:extLst>
            </p:cNvPr>
            <p:cNvSpPr txBox="1"/>
            <p:nvPr/>
          </p:nvSpPr>
          <p:spPr>
            <a:xfrm>
              <a:off x="3270147"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Diagnose / KVA</a:t>
              </a:r>
              <a:endParaRPr lang="en-US" sz="1100" dirty="0">
                <a:solidFill>
                  <a:schemeClr val="accent2">
                    <a:lumMod val="50000"/>
                  </a:schemeClr>
                </a:solidFill>
                <a:latin typeface="Segoe UI" panose="020B0502040204020203" pitchFamily="34" charset="0"/>
                <a:cs typeface="Segoe UI" panose="020B0502040204020203" pitchFamily="34" charset="0"/>
              </a:endParaRPr>
            </a:p>
          </p:txBody>
        </p:sp>
        <p:pic>
          <p:nvPicPr>
            <p:cNvPr id="73" name="Grafik 72" descr="Lupe mit einfarbiger Füllung">
              <a:extLst>
                <a:ext uri="{FF2B5EF4-FFF2-40B4-BE49-F238E27FC236}">
                  <a16:creationId xmlns:a16="http://schemas.microsoft.com/office/drawing/2014/main" id="{22DB6B4A-F70F-2A72-927A-FB45F473CF17}"/>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562398" y="3195403"/>
              <a:ext cx="716802" cy="716802"/>
            </a:xfrm>
            <a:prstGeom prst="rect">
              <a:avLst/>
            </a:prstGeom>
          </p:spPr>
        </p:pic>
      </p:grpSp>
      <p:grpSp>
        <p:nvGrpSpPr>
          <p:cNvPr id="29" name="Gruppieren 28">
            <a:extLst>
              <a:ext uri="{FF2B5EF4-FFF2-40B4-BE49-F238E27FC236}">
                <a16:creationId xmlns:a16="http://schemas.microsoft.com/office/drawing/2014/main" id="{286E6235-7C8C-C69B-0E21-ABEF6B81E629}"/>
              </a:ext>
            </a:extLst>
          </p:cNvPr>
          <p:cNvGrpSpPr/>
          <p:nvPr/>
        </p:nvGrpSpPr>
        <p:grpSpPr>
          <a:xfrm>
            <a:off x="1840914" y="2819791"/>
            <a:ext cx="1411025" cy="1474731"/>
            <a:chOff x="1840914" y="2819791"/>
            <a:chExt cx="1411025" cy="1474731"/>
          </a:xfrm>
        </p:grpSpPr>
        <p:sp>
          <p:nvSpPr>
            <p:cNvPr id="13" name="Shape 9">
              <a:extLst>
                <a:ext uri="{FF2B5EF4-FFF2-40B4-BE49-F238E27FC236}">
                  <a16:creationId xmlns:a16="http://schemas.microsoft.com/office/drawing/2014/main" id="{62A9E1FE-ED9A-430B-2307-EAA9400C85BF}"/>
                </a:ext>
              </a:extLst>
            </p:cNvPr>
            <p:cNvSpPr/>
            <p:nvPr/>
          </p:nvSpPr>
          <p:spPr>
            <a:xfrm>
              <a:off x="1840914"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14" name="Text 10">
              <a:extLst>
                <a:ext uri="{FF2B5EF4-FFF2-40B4-BE49-F238E27FC236}">
                  <a16:creationId xmlns:a16="http://schemas.microsoft.com/office/drawing/2014/main" id="{073FFE99-7D18-5751-6712-F05186BFBBC1}"/>
                </a:ext>
              </a:extLst>
            </p:cNvPr>
            <p:cNvSpPr txBox="1"/>
            <p:nvPr/>
          </p:nvSpPr>
          <p:spPr>
            <a:xfrm>
              <a:off x="2022982"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P02</a:t>
              </a:r>
              <a:endParaRPr lang="en-US" sz="1100" b="1" dirty="0">
                <a:latin typeface="Segoe UI" panose="020B0502040204020203" pitchFamily="34" charset="0"/>
                <a:cs typeface="Segoe UI" panose="020B0502040204020203" pitchFamily="34" charset="0"/>
              </a:endParaRPr>
            </a:p>
          </p:txBody>
        </p:sp>
        <p:sp>
          <p:nvSpPr>
            <p:cNvPr id="18" name="Text 13">
              <a:extLst>
                <a:ext uri="{FF2B5EF4-FFF2-40B4-BE49-F238E27FC236}">
                  <a16:creationId xmlns:a16="http://schemas.microsoft.com/office/drawing/2014/main" id="{DC87E671-0BB4-15ED-810E-12C1D6D43138}"/>
                </a:ext>
              </a:extLst>
            </p:cNvPr>
            <p:cNvSpPr txBox="1"/>
            <p:nvPr/>
          </p:nvSpPr>
          <p:spPr>
            <a:xfrm>
              <a:off x="1886431"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Annahme</a:t>
              </a:r>
              <a:endParaRPr lang="en-US" sz="1100" dirty="0">
                <a:solidFill>
                  <a:schemeClr val="accent2">
                    <a:lumMod val="75000"/>
                  </a:schemeClr>
                </a:solidFill>
                <a:latin typeface="Segoe UI" panose="020B0502040204020203" pitchFamily="34" charset="0"/>
                <a:cs typeface="Segoe UI" panose="020B0502040204020203" pitchFamily="34" charset="0"/>
              </a:endParaRPr>
            </a:p>
          </p:txBody>
        </p:sp>
        <p:pic>
          <p:nvPicPr>
            <p:cNvPr id="75" name="Grafik 74" descr="Registrierkasse mit einfarbiger Füllung">
              <a:extLst>
                <a:ext uri="{FF2B5EF4-FFF2-40B4-BE49-F238E27FC236}">
                  <a16:creationId xmlns:a16="http://schemas.microsoft.com/office/drawing/2014/main" id="{8863F566-E02C-86B0-BC5A-F4161C6B514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175561" y="3189668"/>
              <a:ext cx="716802" cy="716802"/>
            </a:xfrm>
            <a:prstGeom prst="rect">
              <a:avLst/>
            </a:prstGeom>
          </p:spPr>
        </p:pic>
      </p:grpSp>
      <p:grpSp>
        <p:nvGrpSpPr>
          <p:cNvPr id="24" name="Gruppieren 23">
            <a:extLst>
              <a:ext uri="{FF2B5EF4-FFF2-40B4-BE49-F238E27FC236}">
                <a16:creationId xmlns:a16="http://schemas.microsoft.com/office/drawing/2014/main" id="{DA03D4EE-C6C5-8121-9F8F-66B92DA39AB9}"/>
              </a:ext>
            </a:extLst>
          </p:cNvPr>
          <p:cNvGrpSpPr/>
          <p:nvPr/>
        </p:nvGrpSpPr>
        <p:grpSpPr>
          <a:xfrm>
            <a:off x="457199" y="2819791"/>
            <a:ext cx="1411025" cy="1474731"/>
            <a:chOff x="457199" y="2819791"/>
            <a:chExt cx="1411025" cy="1474731"/>
          </a:xfrm>
        </p:grpSpPr>
        <p:sp>
          <p:nvSpPr>
            <p:cNvPr id="6" name="Shape 3">
              <a:extLst>
                <a:ext uri="{FF2B5EF4-FFF2-40B4-BE49-F238E27FC236}">
                  <a16:creationId xmlns:a16="http://schemas.microsoft.com/office/drawing/2014/main" id="{04AAAFD5-8ACA-A471-471B-C4BDCB25EB5A}"/>
                </a:ext>
              </a:extLst>
            </p:cNvPr>
            <p:cNvSpPr/>
            <p:nvPr/>
          </p:nvSpPr>
          <p:spPr>
            <a:xfrm>
              <a:off x="457199" y="2819791"/>
              <a:ext cx="1411025" cy="282805"/>
            </a:xfrm>
            <a:prstGeom prst="chevron">
              <a:avLst/>
            </a:prstGeom>
            <a:solidFill>
              <a:schemeClr val="bg1">
                <a:lumMod val="85000"/>
              </a:schemeClr>
            </a:solidFill>
            <a:ln w="12700">
              <a:solidFill>
                <a:srgbClr val="FFFFFF"/>
              </a:solidFill>
              <a:prstDash val="solid"/>
            </a:ln>
          </p:spPr>
          <p:txBody>
            <a:bodyPr/>
            <a:lstStyle/>
            <a:p>
              <a:endParaRPr lang="de-DE" sz="1100" b="1">
                <a:latin typeface="Segoe UI" panose="020B0502040204020203" pitchFamily="34" charset="0"/>
                <a:cs typeface="Segoe UI" panose="020B0502040204020203" pitchFamily="34" charset="0"/>
              </a:endParaRPr>
            </a:p>
          </p:txBody>
        </p:sp>
        <p:sp>
          <p:nvSpPr>
            <p:cNvPr id="7" name="Text 4">
              <a:extLst>
                <a:ext uri="{FF2B5EF4-FFF2-40B4-BE49-F238E27FC236}">
                  <a16:creationId xmlns:a16="http://schemas.microsoft.com/office/drawing/2014/main" id="{18CAC78F-FF13-8F8C-A0EF-5F39992C4B4A}"/>
                </a:ext>
              </a:extLst>
            </p:cNvPr>
            <p:cNvSpPr txBox="1"/>
            <p:nvPr/>
          </p:nvSpPr>
          <p:spPr>
            <a:xfrm>
              <a:off x="639267" y="2819791"/>
              <a:ext cx="1046890" cy="282805"/>
            </a:xfrm>
            <a:prstGeom prst="rect">
              <a:avLst/>
            </a:prstGeom>
            <a:noFill/>
            <a:ln/>
          </p:spPr>
          <p:txBody>
            <a:bodyPr wrap="square" lIns="0" tIns="0" rIns="0" bIns="0" rtlCol="0" anchor="ctr"/>
            <a:lstStyle/>
            <a:p>
              <a:pPr marL="0" indent="0" algn="ctr">
                <a:buNone/>
              </a:pPr>
              <a:r>
                <a:rPr lang="en-US" sz="1100" b="1" dirty="0">
                  <a:solidFill>
                    <a:srgbClr val="FFFFFF"/>
                  </a:solidFill>
                  <a:latin typeface="Segoe UI" panose="020B0502040204020203" pitchFamily="34" charset="0"/>
                  <a:ea typeface="Calibri" pitchFamily="34" charset="-122"/>
                  <a:cs typeface="Segoe UI" panose="020B0502040204020203" pitchFamily="34" charset="0"/>
                </a:rPr>
                <a:t>P01</a:t>
              </a:r>
              <a:endParaRPr lang="en-US" sz="1100" b="1" dirty="0">
                <a:latin typeface="Segoe UI" panose="020B0502040204020203" pitchFamily="34" charset="0"/>
                <a:cs typeface="Segoe UI" panose="020B0502040204020203" pitchFamily="34" charset="0"/>
              </a:endParaRPr>
            </a:p>
          </p:txBody>
        </p:sp>
        <p:sp>
          <p:nvSpPr>
            <p:cNvPr id="11" name="Text 7">
              <a:extLst>
                <a:ext uri="{FF2B5EF4-FFF2-40B4-BE49-F238E27FC236}">
                  <a16:creationId xmlns:a16="http://schemas.microsoft.com/office/drawing/2014/main" id="{9DDC3CBF-291C-A592-4B5A-077AFF7A2BD6}"/>
                </a:ext>
              </a:extLst>
            </p:cNvPr>
            <p:cNvSpPr txBox="1"/>
            <p:nvPr/>
          </p:nvSpPr>
          <p:spPr>
            <a:xfrm>
              <a:off x="502716" y="3930387"/>
              <a:ext cx="1201648" cy="364135"/>
            </a:xfrm>
            <a:prstGeom prst="rect">
              <a:avLst/>
            </a:prstGeom>
            <a:noFill/>
            <a:ln/>
          </p:spPr>
          <p:txBody>
            <a:bodyPr wrap="square" lIns="0" tIns="0" rIns="0" bIns="0" rtlCol="0" anchor="ctr"/>
            <a:lstStyle/>
            <a:p>
              <a:pPr marL="0" indent="0" algn="ctr">
                <a:buNone/>
              </a:pPr>
              <a:r>
                <a:rPr lang="en-US" sz="11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Anfrage per App</a:t>
              </a:r>
              <a:endParaRPr lang="en-US" sz="1100" dirty="0">
                <a:solidFill>
                  <a:schemeClr val="accent2">
                    <a:lumMod val="50000"/>
                  </a:schemeClr>
                </a:solidFill>
                <a:latin typeface="Segoe UI" panose="020B0502040204020203" pitchFamily="34" charset="0"/>
                <a:cs typeface="Segoe UI" panose="020B0502040204020203" pitchFamily="34" charset="0"/>
              </a:endParaRPr>
            </a:p>
          </p:txBody>
        </p:sp>
        <p:pic>
          <p:nvPicPr>
            <p:cNvPr id="77" name="Grafik 76" descr="Kamera mit einfarbiger Füllung">
              <a:extLst>
                <a:ext uri="{FF2B5EF4-FFF2-40B4-BE49-F238E27FC236}">
                  <a16:creationId xmlns:a16="http://schemas.microsoft.com/office/drawing/2014/main" id="{4AE83E8F-5D0C-BB6E-75F2-3A2FBA521D0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782096" y="3199403"/>
              <a:ext cx="716802" cy="716802"/>
            </a:xfrm>
            <a:prstGeom prst="rect">
              <a:avLst/>
            </a:prstGeom>
          </p:spPr>
        </p:pic>
      </p:grpSp>
      <p:sp>
        <p:nvSpPr>
          <p:cNvPr id="2" name="Text 0">
            <a:extLst>
              <a:ext uri="{FF2B5EF4-FFF2-40B4-BE49-F238E27FC236}">
                <a16:creationId xmlns:a16="http://schemas.microsoft.com/office/drawing/2014/main" id="{C7CC4DFE-EE7D-F365-5E5E-A79B33266DFB}"/>
              </a:ext>
            </a:extLst>
          </p:cNvPr>
          <p:cNvSpPr txBox="1"/>
          <p:nvPr/>
        </p:nvSpPr>
        <p:spPr>
          <a:xfrm>
            <a:off x="339437" y="249382"/>
            <a:ext cx="8639100" cy="914400"/>
          </a:xfrm>
          <a:prstGeom prst="rect">
            <a:avLst/>
          </a:prstGeom>
          <a:noFill/>
          <a:ln/>
        </p:spPr>
        <p:txBody>
          <a:bodyPr wrap="square" lIns="0" tIns="0" rIns="0" bIns="0" rtlCol="0" anchor="t"/>
          <a:lstStyle/>
          <a:p>
            <a:pPr marL="0" indent="0">
              <a:spcAft>
                <a:spcPts val="600"/>
              </a:spcAft>
              <a:buNone/>
            </a:pP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Auftragsreise</a:t>
            </a:r>
            <a:endPar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endParaRPr>
          </a:p>
          <a:p>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Mike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sieht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einen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Schaden am Motor,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fotografiert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ihn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und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erhält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einen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Lösungsvorschlag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mittels</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KI-Diagnose.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Ohne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Anruf</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ohne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Wartezeit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direkt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in der App.</a:t>
            </a:r>
          </a:p>
        </p:txBody>
      </p:sp>
      <p:pic>
        <p:nvPicPr>
          <p:cNvPr id="15" name="Grafik 14" descr="Datei:Sinnbild Radfahrer, StVO 1992.svg – Wikipedia">
            <a:extLst>
              <a:ext uri="{FF2B5EF4-FFF2-40B4-BE49-F238E27FC236}">
                <a16:creationId xmlns:a16="http://schemas.microsoft.com/office/drawing/2014/main" id="{BA353963-6F4F-39B0-F1A8-075912A6643F}"/>
              </a:ext>
            </a:extLst>
          </p:cNvPr>
          <p:cNvPicPr>
            <a:picLocks noChangeAspect="1"/>
          </p:cNvPicPr>
          <p:nvPr/>
        </p:nvPicPr>
        <p:blipFill>
          <a:blip r:embed="rId9">
            <a:duotone>
              <a:schemeClr val="bg2">
                <a:shade val="45000"/>
                <a:satMod val="135000"/>
              </a:schemeClr>
              <a:prstClr val="white"/>
            </a:duotone>
          </a:blip>
          <a:stretch>
            <a:fillRect/>
          </a:stretch>
        </p:blipFill>
        <p:spPr>
          <a:xfrm flipH="1">
            <a:off x="904555" y="1833594"/>
            <a:ext cx="1252307" cy="751385"/>
          </a:xfrm>
          <a:prstGeom prst="rect">
            <a:avLst/>
          </a:prstGeom>
        </p:spPr>
      </p:pic>
      <p:pic>
        <p:nvPicPr>
          <p:cNvPr id="17" name="Grafik 16" descr="Mann mit einfarbiger Füllung">
            <a:extLst>
              <a:ext uri="{FF2B5EF4-FFF2-40B4-BE49-F238E27FC236}">
                <a16:creationId xmlns:a16="http://schemas.microsoft.com/office/drawing/2014/main" id="{3FDFEEBE-08A1-5F3A-CEFF-0327BE78495B}"/>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307315" y="1440219"/>
            <a:ext cx="1177062" cy="1177062"/>
          </a:xfrm>
          <a:prstGeom prst="rect">
            <a:avLst/>
          </a:prstGeom>
        </p:spPr>
      </p:pic>
    </p:spTree>
    <p:extLst>
      <p:ext uri="{BB962C8B-B14F-4D97-AF65-F5344CB8AC3E}">
        <p14:creationId xmlns:p14="http://schemas.microsoft.com/office/powerpoint/2010/main" val="189232523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15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9" name="Text 5"/>
          <p:cNvSpPr txBox="1"/>
          <p:nvPr/>
        </p:nvSpPr>
        <p:spPr>
          <a:xfrm>
            <a:off x="640079" y="2730202"/>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KVA-Freigabe (P04)</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581115" y="3197377"/>
            <a:ext cx="2370603" cy="640080"/>
          </a:xfrm>
          <a:prstGeom prst="rect">
            <a:avLst/>
          </a:prstGeom>
          <a:noFill/>
          <a:ln/>
        </p:spPr>
        <p:txBody>
          <a:bodyPr wrap="square" lIns="0" tIns="0" rIns="0" bIns="0" rtlCol="0" anchor="t"/>
          <a:lstStyle/>
          <a:p>
            <a:r>
              <a:rPr lang="de-DE" sz="1200" dirty="0">
                <a:latin typeface="Segoe UI" panose="020B0502040204020203" pitchFamily="34" charset="0"/>
                <a:cs typeface="Segoe UI" panose="020B0502040204020203" pitchFamily="34" charset="0"/>
              </a:rPr>
              <a:t>Nach drei Tagen ohne Antwort schickt </a:t>
            </a:r>
            <a:r>
              <a:rPr lang="de-DE" sz="1200" dirty="0" err="1">
                <a:latin typeface="Segoe UI" panose="020B0502040204020203" pitchFamily="34" charset="0"/>
                <a:cs typeface="Segoe UI" panose="020B0502040204020203" pitchFamily="34" charset="0"/>
              </a:rPr>
              <a:t>RepairFlow</a:t>
            </a:r>
            <a:r>
              <a:rPr lang="de-DE" sz="1200" dirty="0">
                <a:latin typeface="Segoe UI" panose="020B0502040204020203" pitchFamily="34" charset="0"/>
                <a:cs typeface="Segoe UI" panose="020B0502040204020203" pitchFamily="34" charset="0"/>
              </a:rPr>
              <a:t> eine Erinnerung oder lehnt den KVA ab.</a:t>
            </a:r>
          </a:p>
        </p:txBody>
      </p:sp>
      <p:sp>
        <p:nvSpPr>
          <p:cNvPr id="14" name="Text 9"/>
          <p:cNvSpPr txBox="1"/>
          <p:nvPr/>
        </p:nvSpPr>
        <p:spPr>
          <a:xfrm>
            <a:off x="3428999" y="2728542"/>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Disposition (P05)</a:t>
            </a:r>
            <a:endParaRPr lang="en-US" sz="16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3197377"/>
            <a:ext cx="2286000" cy="640080"/>
          </a:xfrm>
          <a:prstGeom prst="rect">
            <a:avLst/>
          </a:prstGeom>
          <a:noFill/>
          <a:ln/>
        </p:spPr>
        <p:txBody>
          <a:bodyPr wrap="square" lIns="0" tIns="0" rIns="0" bIns="0" rtlCol="0" anchor="t"/>
          <a:lstStyle/>
          <a:p>
            <a:r>
              <a:rPr lang="de-DE" sz="1200" dirty="0">
                <a:latin typeface="Segoe UI" panose="020B0502040204020203" pitchFamily="34" charset="0"/>
                <a:cs typeface="Segoe UI" panose="020B0502040204020203" pitchFamily="34" charset="0"/>
              </a:rPr>
              <a:t>Jedes Teil wird erst im eigenen Lager und in anderen Filialen gesucht, bevor es bestellt wird.</a:t>
            </a:r>
          </a:p>
        </p:txBody>
      </p:sp>
      <p:sp>
        <p:nvSpPr>
          <p:cNvPr id="19" name="Text 13"/>
          <p:cNvSpPr txBox="1"/>
          <p:nvPr/>
        </p:nvSpPr>
        <p:spPr>
          <a:xfrm>
            <a:off x="6217919" y="2728542"/>
            <a:ext cx="2136371" cy="457200"/>
          </a:xfrm>
          <a:prstGeom prst="rect">
            <a:avLst/>
          </a:prstGeom>
          <a:noFill/>
          <a:ln/>
        </p:spPr>
        <p:txBody>
          <a:bodyPr wrap="square" lIns="0" tIns="0" rIns="0" bIns="0" rtlCol="0" anchor="ctr"/>
          <a:lstStyle/>
          <a:p>
            <a:pPr marL="0" indent="0" algn="ctr">
              <a:buNone/>
            </a:pPr>
            <a:r>
              <a:rPr lang="en-US" sz="16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Reklamation (P09)</a:t>
            </a:r>
            <a:endParaRPr lang="en-US" sz="16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19" y="3197377"/>
            <a:ext cx="2468875" cy="640080"/>
          </a:xfrm>
          <a:prstGeom prst="rect">
            <a:avLst/>
          </a:prstGeom>
          <a:noFill/>
          <a:ln/>
        </p:spPr>
        <p:txBody>
          <a:bodyPr wrap="square" lIns="0" tIns="0" rIns="0" bIns="0" rtlCol="0" anchor="t"/>
          <a:lstStyle/>
          <a:p>
            <a:r>
              <a:rPr lang="de-DE" sz="1200" dirty="0">
                <a:latin typeface="Segoe UI" panose="020B0502040204020203" pitchFamily="34" charset="0"/>
                <a:cs typeface="Segoe UI" panose="020B0502040204020203" pitchFamily="34" charset="0"/>
              </a:rPr>
              <a:t>Eine Geschäftsregel entscheidet über eine kostenfreie Nacharbeit oder ein kostenpflichtiges Angebot.</a:t>
            </a:r>
          </a:p>
        </p:txBody>
      </p:sp>
      <p:pic>
        <p:nvPicPr>
          <p:cNvPr id="4" name="Grafik 3" descr="Pfeil mit einer Linie: Nach rechts drehen mit einfarbiger Füllung">
            <a:extLst>
              <a:ext uri="{FF2B5EF4-FFF2-40B4-BE49-F238E27FC236}">
                <a16:creationId xmlns:a16="http://schemas.microsoft.com/office/drawing/2014/main" id="{2236C7F1-96FB-9235-C733-AF4E79E5AA3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767897" y="1814142"/>
            <a:ext cx="914400" cy="914400"/>
          </a:xfrm>
          <a:prstGeom prst="rect">
            <a:avLst/>
          </a:prstGeom>
        </p:spPr>
      </p:pic>
      <p:pic>
        <p:nvPicPr>
          <p:cNvPr id="21" name="Grafik 20" descr="Übertragen mit einfarbiger Füllung">
            <a:extLst>
              <a:ext uri="{FF2B5EF4-FFF2-40B4-BE49-F238E27FC236}">
                <a16:creationId xmlns:a16="http://schemas.microsoft.com/office/drawing/2014/main" id="{2DEF42FA-B355-BEFB-BA51-AE0F0BB5008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039984" y="1881198"/>
            <a:ext cx="914400" cy="914400"/>
          </a:xfrm>
          <a:prstGeom prst="rect">
            <a:avLst/>
          </a:prstGeom>
        </p:spPr>
      </p:pic>
      <p:pic>
        <p:nvPicPr>
          <p:cNvPr id="23" name="Grafik 22" descr="Stoppuhr mit einfarbiger Füllung">
            <a:extLst>
              <a:ext uri="{FF2B5EF4-FFF2-40B4-BE49-F238E27FC236}">
                <a16:creationId xmlns:a16="http://schemas.microsoft.com/office/drawing/2014/main" id="{573B0491-418A-3D20-5D3B-7E1CFC128B6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251064" y="1881198"/>
            <a:ext cx="914400" cy="914400"/>
          </a:xfrm>
          <a:prstGeom prst="rect">
            <a:avLst/>
          </a:prstGeom>
        </p:spPr>
      </p:pic>
      <p:sp>
        <p:nvSpPr>
          <p:cNvPr id="3" name="Text 0">
            <a:extLst>
              <a:ext uri="{FF2B5EF4-FFF2-40B4-BE49-F238E27FC236}">
                <a16:creationId xmlns:a16="http://schemas.microsoft.com/office/drawing/2014/main" id="{4E6B71B1-88D4-9A72-F191-F0E172F21CB4}"/>
              </a:ext>
            </a:extLst>
          </p:cNvPr>
          <p:cNvSpPr txBox="1"/>
          <p:nvPr/>
        </p:nvSpPr>
        <p:spPr>
          <a:xfrm>
            <a:off x="339437" y="249382"/>
            <a:ext cx="8639100" cy="914400"/>
          </a:xfrm>
          <a:prstGeom prst="rect">
            <a:avLst/>
          </a:prstGeom>
          <a:noFill/>
          <a:ln/>
        </p:spPr>
        <p:txBody>
          <a:bodyPr wrap="square" lIns="0" tIns="0" rIns="0" bIns="0" rtlCol="0" anchor="t"/>
          <a:lstStyle/>
          <a:p>
            <a:pPr marL="0" indent="0">
              <a:spcAft>
                <a:spcPts val="600"/>
              </a:spcAft>
              <a:buNone/>
            </a:pP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a:t>
            </a:r>
            <a:r>
              <a:rPr lang="en-US" sz="2800" b="1"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Prozess</a:t>
            </a:r>
            <a:r>
              <a:rPr lang="en-US"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-Highlights</a:t>
            </a:r>
          </a:p>
          <a:p>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RepairFlow</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regelt</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den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Kostenvoranschlag</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die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Teilesuche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und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jede</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Reklamation</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automatisch</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im</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 </a:t>
            </a:r>
            <a:r>
              <a:rPr lang="en-US" sz="1400" dirty="0" err="1">
                <a:solidFill>
                  <a:schemeClr val="bg1">
                    <a:lumMod val="50000"/>
                  </a:schemeClr>
                </a:solidFill>
                <a:latin typeface="Segoe UI" panose="020B0502040204020203" pitchFamily="34" charset="0"/>
                <a:ea typeface="Calibri" pitchFamily="34" charset="-122"/>
                <a:cs typeface="Segoe UI" panose="020B0502040204020203" pitchFamily="34" charset="0"/>
              </a:rPr>
              <a:t>Hintergrund</a:t>
            </a:r>
            <a:r>
              <a:rPr lang="en-US"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Gruppieren 4">
            <a:extLst>
              <a:ext uri="{FF2B5EF4-FFF2-40B4-BE49-F238E27FC236}">
                <a16:creationId xmlns:a16="http://schemas.microsoft.com/office/drawing/2014/main" id="{AAFE30E1-D5A7-6F38-0759-61E9FE05138A}"/>
              </a:ext>
            </a:extLst>
          </p:cNvPr>
          <p:cNvGrpSpPr/>
          <p:nvPr/>
        </p:nvGrpSpPr>
        <p:grpSpPr>
          <a:xfrm>
            <a:off x="1199260" y="1243858"/>
            <a:ext cx="6745480" cy="2655783"/>
            <a:chOff x="1563880" y="1811709"/>
            <a:chExt cx="6745480" cy="2655783"/>
          </a:xfrm>
        </p:grpSpPr>
        <p:sp>
          <p:nvSpPr>
            <p:cNvPr id="2" name="Rechteck 1">
              <a:extLst>
                <a:ext uri="{FF2B5EF4-FFF2-40B4-BE49-F238E27FC236}">
                  <a16:creationId xmlns:a16="http://schemas.microsoft.com/office/drawing/2014/main" id="{2AAAFF8A-B41F-23CA-A6E2-AEC2FB961C5D}"/>
                </a:ext>
              </a:extLst>
            </p:cNvPr>
            <p:cNvSpPr/>
            <p:nvPr/>
          </p:nvSpPr>
          <p:spPr>
            <a:xfrm>
              <a:off x="1747614" y="1973545"/>
              <a:ext cx="6383709" cy="2307364"/>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latin typeface="Segoe UI" panose="020B0502040204020203" pitchFamily="34" charset="0"/>
                <a:cs typeface="Segoe UI" panose="020B0502040204020203" pitchFamily="34" charset="0"/>
              </a:endParaRPr>
            </a:p>
          </p:txBody>
        </p:sp>
        <p:sp>
          <p:nvSpPr>
            <p:cNvPr id="4" name="Rechteck 3">
              <a:extLst>
                <a:ext uri="{FF2B5EF4-FFF2-40B4-BE49-F238E27FC236}">
                  <a16:creationId xmlns:a16="http://schemas.microsoft.com/office/drawing/2014/main" id="{B445CD13-D547-B40F-7F4B-3F9299AC59C4}"/>
                </a:ext>
              </a:extLst>
            </p:cNvPr>
            <p:cNvSpPr/>
            <p:nvPr/>
          </p:nvSpPr>
          <p:spPr>
            <a:xfrm>
              <a:off x="1563880" y="1811709"/>
              <a:ext cx="6745480" cy="2655783"/>
            </a:xfrm>
            <a:prstGeom prst="rect">
              <a:avLst/>
            </a:prstGeom>
            <a:noFill/>
            <a:ln w="762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DE">
                <a:latin typeface="Segoe UI" panose="020B0502040204020203" pitchFamily="34" charset="0"/>
                <a:cs typeface="Segoe UI" panose="020B0502040204020203" pitchFamily="34" charset="0"/>
              </a:endParaRPr>
            </a:p>
          </p:txBody>
        </p:sp>
      </p:grpSp>
      <p:sp>
        <p:nvSpPr>
          <p:cNvPr id="6" name="Text 0">
            <a:extLst>
              <a:ext uri="{FF2B5EF4-FFF2-40B4-BE49-F238E27FC236}">
                <a16:creationId xmlns:a16="http://schemas.microsoft.com/office/drawing/2014/main" id="{736C9D6E-8D14-F295-D33E-A78C972112E1}"/>
              </a:ext>
            </a:extLst>
          </p:cNvPr>
          <p:cNvSpPr txBox="1"/>
          <p:nvPr/>
        </p:nvSpPr>
        <p:spPr>
          <a:xfrm>
            <a:off x="457200" y="2018890"/>
            <a:ext cx="8229600" cy="1105718"/>
          </a:xfrm>
          <a:prstGeom prst="rect">
            <a:avLst/>
          </a:prstGeom>
          <a:noFill/>
          <a:ln/>
        </p:spPr>
        <p:txBody>
          <a:bodyPr wrap="square" lIns="0" tIns="0" rIns="0" bIns="0" rtlCol="0" anchor="ctr"/>
          <a:lstStyle/>
          <a:p>
            <a:pPr marL="0" indent="0" algn="ctr">
              <a:buNone/>
            </a:pPr>
            <a:r>
              <a:rPr lang="en-US" sz="40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Live-Demo </a:t>
            </a:r>
          </a:p>
          <a:p>
            <a:pPr marL="0" indent="0" algn="ctr">
              <a:buNone/>
            </a:pPr>
            <a:r>
              <a:rPr lang="en-US" sz="2800" dirty="0">
                <a:solidFill>
                  <a:schemeClr val="accent2">
                    <a:lumMod val="75000"/>
                  </a:schemeClr>
                </a:solidFill>
                <a:latin typeface="Segoe UI" panose="020B0502040204020203" pitchFamily="34" charset="0"/>
                <a:ea typeface="Calibri" pitchFamily="34" charset="-122"/>
                <a:cs typeface="Segoe UI" panose="020B0502040204020203" pitchFamily="34" charset="0"/>
              </a:rPr>
              <a:t>Die </a:t>
            </a:r>
            <a:r>
              <a:rPr lang="en-US" sz="2800" dirty="0" err="1">
                <a:solidFill>
                  <a:schemeClr val="accent2">
                    <a:lumMod val="75000"/>
                  </a:schemeClr>
                </a:solidFill>
                <a:latin typeface="Segoe UI" panose="020B0502040204020203" pitchFamily="34" charset="0"/>
                <a:ea typeface="Calibri" pitchFamily="34" charset="-122"/>
                <a:cs typeface="Segoe UI" panose="020B0502040204020203" pitchFamily="34" charset="0"/>
              </a:rPr>
              <a:t>Kundenapp</a:t>
            </a:r>
            <a:endParaRPr lang="en-US" sz="2800" dirty="0">
              <a:solidFill>
                <a:schemeClr val="accent2">
                  <a:lumMod val="75000"/>
                </a:schemeClr>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3044169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998D35BD-B432-7216-0573-123A4EA07F5A}"/>
              </a:ext>
            </a:extLst>
          </p:cNvPr>
          <p:cNvPicPr>
            <a:picLocks noChangeAspect="1"/>
          </p:cNvPicPr>
          <p:nvPr/>
        </p:nvPicPr>
        <p:blipFill>
          <a:blip r:embed="rId3"/>
          <a:stretch>
            <a:fillRect/>
          </a:stretch>
        </p:blipFill>
        <p:spPr>
          <a:xfrm>
            <a:off x="3027719" y="0"/>
            <a:ext cx="3088561" cy="5143500"/>
          </a:xfrm>
          <a:prstGeom prst="rect">
            <a:avLst/>
          </a:prstGeom>
        </p:spPr>
      </p:pic>
    </p:spTree>
    <p:extLst>
      <p:ext uri="{BB962C8B-B14F-4D97-AF65-F5344CB8AC3E}">
        <p14:creationId xmlns:p14="http://schemas.microsoft.com/office/powerpoint/2010/main" val="237197716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5A613417-B9BA-9F7B-0AB4-059A1E3A8BA6}"/>
              </a:ext>
            </a:extLst>
          </p:cNvPr>
          <p:cNvPicPr>
            <a:picLocks noChangeAspect="1"/>
          </p:cNvPicPr>
          <p:nvPr/>
        </p:nvPicPr>
        <p:blipFill>
          <a:blip r:embed="rId3"/>
          <a:stretch>
            <a:fillRect/>
          </a:stretch>
        </p:blipFill>
        <p:spPr>
          <a:xfrm>
            <a:off x="3033901" y="0"/>
            <a:ext cx="3076197" cy="5143500"/>
          </a:xfrm>
          <a:prstGeom prst="rect">
            <a:avLst/>
          </a:prstGeom>
        </p:spPr>
      </p:pic>
    </p:spTree>
    <p:extLst>
      <p:ext uri="{BB962C8B-B14F-4D97-AF65-F5344CB8AC3E}">
        <p14:creationId xmlns:p14="http://schemas.microsoft.com/office/powerpoint/2010/main" val="292835613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42418453-F098-A973-F1C2-6FC60AD47817}"/>
              </a:ext>
            </a:extLst>
          </p:cNvPr>
          <p:cNvPicPr>
            <a:picLocks noChangeAspect="1"/>
          </p:cNvPicPr>
          <p:nvPr/>
        </p:nvPicPr>
        <p:blipFill>
          <a:blip r:embed="rId3"/>
          <a:stretch>
            <a:fillRect/>
          </a:stretch>
        </p:blipFill>
        <p:spPr>
          <a:xfrm>
            <a:off x="2979671" y="0"/>
            <a:ext cx="3184658" cy="5143500"/>
          </a:xfrm>
          <a:prstGeom prst="rect">
            <a:avLst/>
          </a:prstGeom>
        </p:spPr>
      </p:pic>
    </p:spTree>
    <p:extLst>
      <p:ext uri="{BB962C8B-B14F-4D97-AF65-F5344CB8AC3E}">
        <p14:creationId xmlns:p14="http://schemas.microsoft.com/office/powerpoint/2010/main" val="3472672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FB7D0D9C-ADE3-E5B6-8DED-661C4A266FBD}"/>
              </a:ext>
            </a:extLst>
          </p:cNvPr>
          <p:cNvPicPr>
            <a:picLocks noChangeAspect="1"/>
          </p:cNvPicPr>
          <p:nvPr/>
        </p:nvPicPr>
        <p:blipFill>
          <a:blip r:embed="rId3"/>
          <a:stretch>
            <a:fillRect/>
          </a:stretch>
        </p:blipFill>
        <p:spPr>
          <a:xfrm>
            <a:off x="2901435" y="0"/>
            <a:ext cx="3341129" cy="5143500"/>
          </a:xfrm>
          <a:prstGeom prst="rect">
            <a:avLst/>
          </a:prstGeom>
        </p:spPr>
      </p:pic>
    </p:spTree>
    <p:extLst>
      <p:ext uri="{BB962C8B-B14F-4D97-AF65-F5344CB8AC3E}">
        <p14:creationId xmlns:p14="http://schemas.microsoft.com/office/powerpoint/2010/main" val="9524138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7EA70F17-4F37-97A9-EB9F-AC6F867325F3}"/>
              </a:ext>
            </a:extLst>
          </p:cNvPr>
          <p:cNvPicPr>
            <a:picLocks noChangeAspect="1"/>
          </p:cNvPicPr>
          <p:nvPr/>
        </p:nvPicPr>
        <p:blipFill>
          <a:blip r:embed="rId3"/>
          <a:stretch>
            <a:fillRect/>
          </a:stretch>
        </p:blipFill>
        <p:spPr>
          <a:xfrm>
            <a:off x="3035750" y="0"/>
            <a:ext cx="3072499" cy="5143500"/>
          </a:xfrm>
          <a:prstGeom prst="rect">
            <a:avLst/>
          </a:prstGeom>
        </p:spPr>
      </p:pic>
    </p:spTree>
    <p:extLst>
      <p:ext uri="{BB962C8B-B14F-4D97-AF65-F5344CB8AC3E}">
        <p14:creationId xmlns:p14="http://schemas.microsoft.com/office/powerpoint/2010/main" val="2455471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1ABF7635-EDD3-1428-0763-A0A87803B77E}"/>
              </a:ext>
            </a:extLst>
          </p:cNvPr>
          <p:cNvPicPr>
            <a:picLocks noChangeAspect="1"/>
          </p:cNvPicPr>
          <p:nvPr/>
        </p:nvPicPr>
        <p:blipFill>
          <a:blip r:embed="rId3"/>
          <a:stretch>
            <a:fillRect/>
          </a:stretch>
        </p:blipFill>
        <p:spPr>
          <a:xfrm>
            <a:off x="2958533" y="0"/>
            <a:ext cx="3226934" cy="5143500"/>
          </a:xfrm>
          <a:prstGeom prst="rect">
            <a:avLst/>
          </a:prstGeom>
        </p:spPr>
      </p:pic>
    </p:spTree>
    <p:extLst>
      <p:ext uri="{BB962C8B-B14F-4D97-AF65-F5344CB8AC3E}">
        <p14:creationId xmlns:p14="http://schemas.microsoft.com/office/powerpoint/2010/main" val="4028699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060BCD89-C38A-8C8B-F845-8C8022B0DDEF}"/>
              </a:ext>
            </a:extLst>
          </p:cNvPr>
          <p:cNvPicPr>
            <a:picLocks noChangeAspect="1"/>
          </p:cNvPicPr>
          <p:nvPr/>
        </p:nvPicPr>
        <p:blipFill>
          <a:blip r:embed="rId3"/>
          <a:stretch>
            <a:fillRect/>
          </a:stretch>
        </p:blipFill>
        <p:spPr>
          <a:xfrm>
            <a:off x="3057387" y="0"/>
            <a:ext cx="3029225" cy="5143500"/>
          </a:xfrm>
          <a:prstGeom prst="rect">
            <a:avLst/>
          </a:prstGeom>
        </p:spPr>
      </p:pic>
    </p:spTree>
    <p:extLst>
      <p:ext uri="{BB962C8B-B14F-4D97-AF65-F5344CB8AC3E}">
        <p14:creationId xmlns:p14="http://schemas.microsoft.com/office/powerpoint/2010/main" val="262122534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556D3CB9-02A0-387C-3C9C-247D43F0AEC3}"/>
              </a:ext>
            </a:extLst>
          </p:cNvPr>
          <p:cNvPicPr>
            <a:picLocks noChangeAspect="1"/>
          </p:cNvPicPr>
          <p:nvPr/>
        </p:nvPicPr>
        <p:blipFill>
          <a:blip r:embed="rId3"/>
          <a:stretch>
            <a:fillRect/>
          </a:stretch>
        </p:blipFill>
        <p:spPr>
          <a:xfrm>
            <a:off x="2930131" y="0"/>
            <a:ext cx="3283738" cy="5143500"/>
          </a:xfrm>
          <a:prstGeom prst="rect">
            <a:avLst/>
          </a:prstGeom>
        </p:spPr>
      </p:pic>
    </p:spTree>
    <p:extLst>
      <p:ext uri="{BB962C8B-B14F-4D97-AF65-F5344CB8AC3E}">
        <p14:creationId xmlns:p14="http://schemas.microsoft.com/office/powerpoint/2010/main" val="22079332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bg>
      <p:bgPr>
        <a:solidFill>
          <a:srgbClr val="E8EEF4"/>
        </a:solidFill>
        <a:effectLst/>
      </p:bgPr>
    </p:bg>
    <p:spTree>
      <p:nvGrpSpPr>
        <p:cNvPr id="1" name=""/>
        <p:cNvGrpSpPr/>
        <p:nvPr/>
      </p:nvGrpSpPr>
      <p:grpSpPr>
        <a:xfrm>
          <a:off x="0" y="0"/>
          <a:ext cx="0" cy="0"/>
          <a:chOff x="0" y="0"/>
          <a:chExt cx="0" cy="0"/>
        </a:xfrm>
      </p:grpSpPr>
      <p:pic>
        <p:nvPicPr>
          <p:cNvPr id="2" name="Grafik 1">
            <a:extLst>
              <a:ext uri="{FF2B5EF4-FFF2-40B4-BE49-F238E27FC236}">
                <a16:creationId xmlns:a16="http://schemas.microsoft.com/office/drawing/2014/main" id="{A275B791-DECA-1DEA-3AE9-BE180EF2D5BB}"/>
              </a:ext>
            </a:extLst>
          </p:cNvPr>
          <p:cNvPicPr>
            <a:picLocks noChangeAspect="1"/>
          </p:cNvPicPr>
          <p:nvPr/>
        </p:nvPicPr>
        <p:blipFill>
          <a:blip r:embed="rId3"/>
          <a:stretch>
            <a:fillRect/>
          </a:stretch>
        </p:blipFill>
        <p:spPr>
          <a:xfrm>
            <a:off x="3117736" y="0"/>
            <a:ext cx="2908527" cy="5143500"/>
          </a:xfrm>
          <a:prstGeom prst="rect">
            <a:avLst/>
          </a:prstGeom>
        </p:spPr>
      </p:pic>
    </p:spTree>
    <p:extLst>
      <p:ext uri="{BB962C8B-B14F-4D97-AF65-F5344CB8AC3E}">
        <p14:creationId xmlns:p14="http://schemas.microsoft.com/office/powerpoint/2010/main" val="27947114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5">
            <a:extLst>
              <a:ext uri="{FF2B5EF4-FFF2-40B4-BE49-F238E27FC236}">
                <a16:creationId xmlns:a16="http://schemas.microsoft.com/office/drawing/2014/main" id="{3838CAE0-1478-870C-193D-BDC873E68EDE}"/>
              </a:ext>
            </a:extLst>
          </p:cNvPr>
          <p:cNvSpPr txBox="1"/>
          <p:nvPr/>
        </p:nvSpPr>
        <p:spPr>
          <a:xfrm>
            <a:off x="457200" y="2542306"/>
            <a:ext cx="1554480" cy="3200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300" b="1" i="0" u="none" strike="noStrike" kern="1200" cap="none" spc="0" baseline="0">
                <a:solidFill>
                  <a:srgbClr val="843C0C"/>
                </a:solidFill>
                <a:uFillTx/>
                <a:latin typeface="Segoe UI" pitchFamily="34"/>
                <a:ea typeface="Calibri" pitchFamily="34"/>
                <a:cs typeface="Segoe UI" pitchFamily="34"/>
              </a:rPr>
              <a:t>Aufnehmen</a:t>
            </a:r>
            <a:endParaRPr lang="en-US" sz="1300" b="0" i="0" u="none" strike="noStrike" kern="1200" cap="none" spc="0" baseline="0">
              <a:solidFill>
                <a:srgbClr val="843C0C"/>
              </a:solidFill>
              <a:uFillTx/>
              <a:latin typeface="Segoe UI" pitchFamily="34"/>
              <a:cs typeface="Segoe UI" pitchFamily="34"/>
            </a:endParaRPr>
          </a:p>
        </p:txBody>
      </p:sp>
      <p:sp>
        <p:nvSpPr>
          <p:cNvPr id="4" name="Text 6">
            <a:extLst>
              <a:ext uri="{FF2B5EF4-FFF2-40B4-BE49-F238E27FC236}">
                <a16:creationId xmlns:a16="http://schemas.microsoft.com/office/drawing/2014/main" id="{4B37458F-32AE-645F-55F0-DB2F15305D53}"/>
              </a:ext>
            </a:extLst>
          </p:cNvPr>
          <p:cNvSpPr txBox="1"/>
          <p:nvPr/>
        </p:nvSpPr>
        <p:spPr>
          <a:xfrm>
            <a:off x="548640" y="2783963"/>
            <a:ext cx="1371600" cy="7772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00" b="0" i="0" u="none" strike="noStrike" kern="1200" cap="none" spc="0" baseline="0">
                <a:solidFill>
                  <a:srgbClr val="1B2430"/>
                </a:solidFill>
                <a:uFillTx/>
                <a:latin typeface="Segoe UI" pitchFamily="34"/>
                <a:ea typeface="Calibri" pitchFamily="34"/>
                <a:cs typeface="Segoe UI" pitchFamily="34"/>
              </a:rPr>
              <a:t>Kunde lädt Foto, Video oder Ton in der App hoch</a:t>
            </a:r>
            <a:endParaRPr lang="en-US" sz="1000" b="0" i="0" u="none" strike="noStrike" kern="1200" cap="none" spc="0" baseline="0">
              <a:solidFill>
                <a:srgbClr val="000000"/>
              </a:solidFill>
              <a:uFillTx/>
              <a:latin typeface="Segoe UI" pitchFamily="34"/>
              <a:cs typeface="Segoe UI" pitchFamily="34"/>
            </a:endParaRPr>
          </a:p>
        </p:txBody>
      </p:sp>
      <p:sp>
        <p:nvSpPr>
          <p:cNvPr id="5" name="Text 9">
            <a:extLst>
              <a:ext uri="{FF2B5EF4-FFF2-40B4-BE49-F238E27FC236}">
                <a16:creationId xmlns:a16="http://schemas.microsoft.com/office/drawing/2014/main" id="{95C53D13-712F-93FF-619E-9384B84F11AE}"/>
              </a:ext>
            </a:extLst>
          </p:cNvPr>
          <p:cNvSpPr txBox="1"/>
          <p:nvPr/>
        </p:nvSpPr>
        <p:spPr>
          <a:xfrm>
            <a:off x="2139696" y="2542306"/>
            <a:ext cx="1554480" cy="3200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300" b="1" i="0" u="none" strike="noStrike" kern="1200" cap="none" spc="0" baseline="0">
                <a:solidFill>
                  <a:srgbClr val="C55A11"/>
                </a:solidFill>
                <a:uFillTx/>
                <a:latin typeface="Segoe UI" pitchFamily="34"/>
                <a:ea typeface="Calibri" pitchFamily="34"/>
                <a:cs typeface="Segoe UI" pitchFamily="34"/>
              </a:rPr>
              <a:t>Erkennen</a:t>
            </a:r>
            <a:endParaRPr lang="en-US" sz="1300" b="0" i="0" u="none" strike="noStrike" kern="1200" cap="none" spc="0" baseline="0">
              <a:solidFill>
                <a:srgbClr val="C55A11"/>
              </a:solidFill>
              <a:uFillTx/>
              <a:latin typeface="Segoe UI" pitchFamily="34"/>
              <a:cs typeface="Segoe UI" pitchFamily="34"/>
            </a:endParaRPr>
          </a:p>
        </p:txBody>
      </p:sp>
      <p:sp>
        <p:nvSpPr>
          <p:cNvPr id="6" name="Text 10">
            <a:extLst>
              <a:ext uri="{FF2B5EF4-FFF2-40B4-BE49-F238E27FC236}">
                <a16:creationId xmlns:a16="http://schemas.microsoft.com/office/drawing/2014/main" id="{A373B4A9-3FBB-17A0-145E-7CA10734A4F5}"/>
              </a:ext>
            </a:extLst>
          </p:cNvPr>
          <p:cNvSpPr txBox="1"/>
          <p:nvPr/>
        </p:nvSpPr>
        <p:spPr>
          <a:xfrm>
            <a:off x="2231136" y="2783963"/>
            <a:ext cx="1371600" cy="7772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00" b="0" i="0" u="none" strike="noStrike" kern="1200" cap="none" spc="0" baseline="0">
                <a:solidFill>
                  <a:srgbClr val="1B2430"/>
                </a:solidFill>
                <a:uFillTx/>
                <a:latin typeface="Segoe UI" pitchFamily="34"/>
                <a:ea typeface="Calibri" pitchFamily="34"/>
                <a:cs typeface="Segoe UI" pitchFamily="34"/>
              </a:rPr>
              <a:t>KI-Dienst nennt Gerätetyp, Ursache und Ersatzteile</a:t>
            </a:r>
            <a:endParaRPr lang="en-US" sz="1000" b="0" i="0" u="none" strike="noStrike" kern="1200" cap="none" spc="0" baseline="0">
              <a:solidFill>
                <a:srgbClr val="000000"/>
              </a:solidFill>
              <a:uFillTx/>
              <a:latin typeface="Segoe UI" pitchFamily="34"/>
              <a:cs typeface="Segoe UI" pitchFamily="34"/>
            </a:endParaRPr>
          </a:p>
        </p:txBody>
      </p:sp>
      <p:sp>
        <p:nvSpPr>
          <p:cNvPr id="7" name="Text 13">
            <a:extLst>
              <a:ext uri="{FF2B5EF4-FFF2-40B4-BE49-F238E27FC236}">
                <a16:creationId xmlns:a16="http://schemas.microsoft.com/office/drawing/2014/main" id="{F6CB1982-86E7-BF34-FE87-22589298E398}"/>
              </a:ext>
            </a:extLst>
          </p:cNvPr>
          <p:cNvSpPr txBox="1"/>
          <p:nvPr/>
        </p:nvSpPr>
        <p:spPr>
          <a:xfrm>
            <a:off x="3822191" y="2542306"/>
            <a:ext cx="1554480" cy="3200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300" b="1" i="0" u="none" strike="noStrike" kern="1200" cap="none" spc="0" baseline="0">
                <a:solidFill>
                  <a:srgbClr val="843C0C"/>
                </a:solidFill>
                <a:uFillTx/>
                <a:latin typeface="Segoe UI" pitchFamily="34"/>
                <a:ea typeface="Calibri" pitchFamily="34"/>
                <a:cs typeface="Segoe UI" pitchFamily="34"/>
              </a:rPr>
              <a:t>Kalkulieren</a:t>
            </a:r>
            <a:endParaRPr lang="en-US" sz="1300" b="0" i="0" u="none" strike="noStrike" kern="1200" cap="none" spc="0" baseline="0">
              <a:solidFill>
                <a:srgbClr val="843C0C"/>
              </a:solidFill>
              <a:uFillTx/>
              <a:latin typeface="Segoe UI" pitchFamily="34"/>
              <a:cs typeface="Segoe UI" pitchFamily="34"/>
            </a:endParaRPr>
          </a:p>
        </p:txBody>
      </p:sp>
      <p:sp>
        <p:nvSpPr>
          <p:cNvPr id="8" name="Text 14">
            <a:extLst>
              <a:ext uri="{FF2B5EF4-FFF2-40B4-BE49-F238E27FC236}">
                <a16:creationId xmlns:a16="http://schemas.microsoft.com/office/drawing/2014/main" id="{639A7813-F59E-32DF-FD6E-943E7AA3E2CB}"/>
              </a:ext>
            </a:extLst>
          </p:cNvPr>
          <p:cNvSpPr txBox="1"/>
          <p:nvPr/>
        </p:nvSpPr>
        <p:spPr>
          <a:xfrm>
            <a:off x="3913632" y="2783963"/>
            <a:ext cx="1371600" cy="7772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00" b="0" i="0" u="none" strike="noStrike" kern="1200" cap="none" spc="0" baseline="0">
                <a:solidFill>
                  <a:srgbClr val="1B2430"/>
                </a:solidFill>
                <a:uFillTx/>
                <a:latin typeface="Segoe UI" pitchFamily="34"/>
                <a:ea typeface="Calibri" pitchFamily="34"/>
                <a:cs typeface="Segoe UI" pitchFamily="34"/>
              </a:rPr>
              <a:t>RepairFlow berechnet einen vorläufigen KVA</a:t>
            </a:r>
            <a:endParaRPr lang="en-US" sz="1000" b="0" i="0" u="none" strike="noStrike" kern="1200" cap="none" spc="0" baseline="0">
              <a:solidFill>
                <a:srgbClr val="000000"/>
              </a:solidFill>
              <a:uFillTx/>
              <a:latin typeface="Segoe UI" pitchFamily="34"/>
              <a:cs typeface="Segoe UI" pitchFamily="34"/>
            </a:endParaRPr>
          </a:p>
        </p:txBody>
      </p:sp>
      <p:sp>
        <p:nvSpPr>
          <p:cNvPr id="9" name="Text 17">
            <a:extLst>
              <a:ext uri="{FF2B5EF4-FFF2-40B4-BE49-F238E27FC236}">
                <a16:creationId xmlns:a16="http://schemas.microsoft.com/office/drawing/2014/main" id="{2EA2D6EC-AB47-FA56-C361-6B27FBD7DF6D}"/>
              </a:ext>
            </a:extLst>
          </p:cNvPr>
          <p:cNvSpPr txBox="1"/>
          <p:nvPr/>
        </p:nvSpPr>
        <p:spPr>
          <a:xfrm>
            <a:off x="5504688" y="2542306"/>
            <a:ext cx="1554480" cy="3200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300" b="1" i="0" u="none" strike="noStrike" kern="1200" cap="none" spc="0" baseline="0">
                <a:solidFill>
                  <a:srgbClr val="C55A11"/>
                </a:solidFill>
                <a:uFillTx/>
                <a:latin typeface="Segoe UI" pitchFamily="34"/>
                <a:ea typeface="Calibri" pitchFamily="34"/>
                <a:cs typeface="Segoe UI" pitchFamily="34"/>
              </a:rPr>
              <a:t>Prüfen</a:t>
            </a:r>
            <a:endParaRPr lang="en-US" sz="1300" b="0" i="0" u="none" strike="noStrike" kern="1200" cap="none" spc="0" baseline="0">
              <a:solidFill>
                <a:srgbClr val="C55A11"/>
              </a:solidFill>
              <a:uFillTx/>
              <a:latin typeface="Segoe UI" pitchFamily="34"/>
              <a:cs typeface="Segoe UI" pitchFamily="34"/>
            </a:endParaRPr>
          </a:p>
        </p:txBody>
      </p:sp>
      <p:sp>
        <p:nvSpPr>
          <p:cNvPr id="10" name="Text 18">
            <a:extLst>
              <a:ext uri="{FF2B5EF4-FFF2-40B4-BE49-F238E27FC236}">
                <a16:creationId xmlns:a16="http://schemas.microsoft.com/office/drawing/2014/main" id="{0B7762B0-1BA9-1EC9-199B-0F9107FEF78D}"/>
              </a:ext>
            </a:extLst>
          </p:cNvPr>
          <p:cNvSpPr txBox="1"/>
          <p:nvPr/>
        </p:nvSpPr>
        <p:spPr>
          <a:xfrm>
            <a:off x="5596127" y="2783963"/>
            <a:ext cx="1371600" cy="7772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00" b="0" i="0" u="none" strike="noStrike" kern="1200" cap="none" spc="0" baseline="0">
                <a:solidFill>
                  <a:srgbClr val="1B2430"/>
                </a:solidFill>
                <a:uFillTx/>
                <a:latin typeface="Segoe UI" pitchFamily="34"/>
                <a:ea typeface="Calibri" pitchFamily="34"/>
                <a:cs typeface="Segoe UI" pitchFamily="34"/>
              </a:rPr>
              <a:t>Verfügbarkeit in allen Filialen geprüft</a:t>
            </a:r>
            <a:endParaRPr lang="en-US" sz="1000" b="0" i="0" u="none" strike="noStrike" kern="1200" cap="none" spc="0" baseline="0">
              <a:solidFill>
                <a:srgbClr val="000000"/>
              </a:solidFill>
              <a:uFillTx/>
              <a:latin typeface="Segoe UI" pitchFamily="34"/>
              <a:cs typeface="Segoe UI" pitchFamily="34"/>
            </a:endParaRPr>
          </a:p>
        </p:txBody>
      </p:sp>
      <p:sp>
        <p:nvSpPr>
          <p:cNvPr id="11" name="Text 21">
            <a:extLst>
              <a:ext uri="{FF2B5EF4-FFF2-40B4-BE49-F238E27FC236}">
                <a16:creationId xmlns:a16="http://schemas.microsoft.com/office/drawing/2014/main" id="{0DE7ABE3-CBCA-527B-25BF-1511248CC3C6}"/>
              </a:ext>
            </a:extLst>
          </p:cNvPr>
          <p:cNvSpPr txBox="1"/>
          <p:nvPr/>
        </p:nvSpPr>
        <p:spPr>
          <a:xfrm>
            <a:off x="7187183" y="2542306"/>
            <a:ext cx="1554480" cy="3200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300" b="1" i="0" u="none" strike="noStrike" kern="1200" cap="none" spc="0" baseline="0">
                <a:solidFill>
                  <a:srgbClr val="843C0C"/>
                </a:solidFill>
                <a:uFillTx/>
                <a:latin typeface="Segoe UI" pitchFamily="34"/>
                <a:ea typeface="Calibri" pitchFamily="34"/>
                <a:cs typeface="Segoe UI" pitchFamily="34"/>
              </a:rPr>
              <a:t>Termin</a:t>
            </a:r>
            <a:endParaRPr lang="en-US" sz="1300" b="0" i="0" u="none" strike="noStrike" kern="1200" cap="none" spc="0" baseline="0">
              <a:solidFill>
                <a:srgbClr val="843C0C"/>
              </a:solidFill>
              <a:uFillTx/>
              <a:latin typeface="Segoe UI" pitchFamily="34"/>
              <a:cs typeface="Segoe UI" pitchFamily="34"/>
            </a:endParaRPr>
          </a:p>
        </p:txBody>
      </p:sp>
      <p:sp>
        <p:nvSpPr>
          <p:cNvPr id="12" name="Text 22">
            <a:extLst>
              <a:ext uri="{FF2B5EF4-FFF2-40B4-BE49-F238E27FC236}">
                <a16:creationId xmlns:a16="http://schemas.microsoft.com/office/drawing/2014/main" id="{03AAD521-1790-8E45-FDC4-18CFAB01FB85}"/>
              </a:ext>
            </a:extLst>
          </p:cNvPr>
          <p:cNvSpPr txBox="1"/>
          <p:nvPr/>
        </p:nvSpPr>
        <p:spPr>
          <a:xfrm>
            <a:off x="7278624" y="2783963"/>
            <a:ext cx="1371600" cy="7772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00" b="0" i="0" u="none" strike="noStrike" kern="1200" cap="none" spc="0" baseline="0">
                <a:solidFill>
                  <a:srgbClr val="1B2430"/>
                </a:solidFill>
                <a:uFillTx/>
                <a:latin typeface="Segoe UI" pitchFamily="34"/>
                <a:ea typeface="Calibri" pitchFamily="34"/>
                <a:cs typeface="Segoe UI" pitchFamily="34"/>
              </a:rPr>
              <a:t>Kunde bestätigt Termin, Teile vorreserviert</a:t>
            </a:r>
            <a:endParaRPr lang="en-US" sz="1000" b="0" i="0" u="none" strike="noStrike" kern="1200" cap="none" spc="0" baseline="0">
              <a:solidFill>
                <a:srgbClr val="000000"/>
              </a:solidFill>
              <a:uFillTx/>
              <a:latin typeface="Segoe UI" pitchFamily="34"/>
              <a:cs typeface="Segoe UI" pitchFamily="34"/>
            </a:endParaRPr>
          </a:p>
        </p:txBody>
      </p:sp>
      <p:pic>
        <p:nvPicPr>
          <p:cNvPr id="13" name="Grafik 34" descr="Tageskalender mit einfarbiger Füllung">
            <a:extLst>
              <a:ext uri="{FF2B5EF4-FFF2-40B4-BE49-F238E27FC236}">
                <a16:creationId xmlns:a16="http://schemas.microsoft.com/office/drawing/2014/main" id="{B0289AA8-BB71-7169-9ACA-4FF66BF59CD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40424" y="1923751"/>
            <a:ext cx="647998" cy="647998"/>
          </a:xfrm>
          <a:prstGeom prst="rect">
            <a:avLst/>
          </a:prstGeom>
          <a:noFill/>
          <a:ln cap="flat">
            <a:noFill/>
          </a:ln>
        </p:spPr>
      </p:pic>
      <p:pic>
        <p:nvPicPr>
          <p:cNvPr id="14" name="Grafik 36" descr="Marke mit einfarbiger Füllung">
            <a:extLst>
              <a:ext uri="{FF2B5EF4-FFF2-40B4-BE49-F238E27FC236}">
                <a16:creationId xmlns:a16="http://schemas.microsoft.com/office/drawing/2014/main" id="{C8F6214F-7399-B0CF-BB2C-BBA770111A57}"/>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957928" y="1923751"/>
            <a:ext cx="647998" cy="647998"/>
          </a:xfrm>
          <a:prstGeom prst="rect">
            <a:avLst/>
          </a:prstGeom>
          <a:noFill/>
          <a:ln cap="flat">
            <a:noFill/>
          </a:ln>
        </p:spPr>
      </p:pic>
      <p:pic>
        <p:nvPicPr>
          <p:cNvPr id="15" name="Grafik 38" descr="Münzen mit einfarbiger Füllung">
            <a:extLst>
              <a:ext uri="{FF2B5EF4-FFF2-40B4-BE49-F238E27FC236}">
                <a16:creationId xmlns:a16="http://schemas.microsoft.com/office/drawing/2014/main" id="{00B5677B-1AA6-2BD2-88CC-C0BE2071B064}"/>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75432" y="1895715"/>
            <a:ext cx="647998" cy="647998"/>
          </a:xfrm>
          <a:prstGeom prst="rect">
            <a:avLst/>
          </a:prstGeom>
          <a:noFill/>
          <a:ln cap="flat">
            <a:noFill/>
          </a:ln>
        </p:spPr>
      </p:pic>
      <p:pic>
        <p:nvPicPr>
          <p:cNvPr id="16" name="Grafik 40" descr="Künstliche Intelligenz mit einfarbiger Füllung">
            <a:extLst>
              <a:ext uri="{FF2B5EF4-FFF2-40B4-BE49-F238E27FC236}">
                <a16:creationId xmlns:a16="http://schemas.microsoft.com/office/drawing/2014/main" id="{FA74149B-1920-CB77-D8E2-CA1C984C7E0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92936" y="1874017"/>
            <a:ext cx="647998" cy="647998"/>
          </a:xfrm>
          <a:prstGeom prst="rect">
            <a:avLst/>
          </a:prstGeom>
          <a:noFill/>
          <a:ln cap="flat">
            <a:noFill/>
          </a:ln>
        </p:spPr>
      </p:pic>
      <p:pic>
        <p:nvPicPr>
          <p:cNvPr id="17" name="Grafik 42" descr="Kamera mit einfarbiger Füllung">
            <a:extLst>
              <a:ext uri="{FF2B5EF4-FFF2-40B4-BE49-F238E27FC236}">
                <a16:creationId xmlns:a16="http://schemas.microsoft.com/office/drawing/2014/main" id="{D7F4FF37-3916-4881-30B2-BBB9F2AE925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889135" y="1935373"/>
            <a:ext cx="647998" cy="647998"/>
          </a:xfrm>
          <a:prstGeom prst="rect">
            <a:avLst/>
          </a:prstGeom>
          <a:noFill/>
          <a:ln cap="flat">
            <a:noFill/>
          </a:ln>
        </p:spPr>
      </p:pic>
      <p:sp>
        <p:nvSpPr>
          <p:cNvPr id="18" name="Text 0">
            <a:extLst>
              <a:ext uri="{FF2B5EF4-FFF2-40B4-BE49-F238E27FC236}">
                <a16:creationId xmlns:a16="http://schemas.microsoft.com/office/drawing/2014/main" id="{19B1323B-3258-1C31-0627-53CAA377E21C}"/>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KI-Sofortanalyse: KVA in 60 Sekunden</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abelLinks">
            <a:extLst>
              <a:ext uri="{FF2B5EF4-FFF2-40B4-BE49-F238E27FC236}">
                <a16:creationId xmlns:a16="http://schemas.microsoft.com/office/drawing/2014/main" id="{D9FC9B62-928C-38EF-FA45-B1050F24CD9E}"/>
              </a:ext>
            </a:extLst>
          </p:cNvPr>
          <p:cNvSpPr txBox="1"/>
          <p:nvPr/>
        </p:nvSpPr>
        <p:spPr>
          <a:xfrm>
            <a:off x="457200" y="1702850"/>
            <a:ext cx="3840004" cy="379997"/>
          </a:xfrm>
          <a:prstGeom prst="rect">
            <a:avLst/>
          </a:prstGeom>
          <a:noFill/>
          <a:ln cap="flat">
            <a:noFill/>
          </a:ln>
        </p:spPr>
        <p:txBody>
          <a:bodyPr vert="horz" wrap="square" lIns="91440" tIns="45720" rIns="91440" bIns="4572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de-DE" sz="1600" b="1" i="0" u="none" strike="noStrike" kern="1200" cap="none" spc="0" baseline="0">
                <a:solidFill>
                  <a:schemeClr val="accent2">
                    <a:lumMod val="50000"/>
                  </a:schemeClr>
                </a:solidFill>
                <a:uFillTx/>
                <a:latin typeface="Segoe UI" pitchFamily="34"/>
              </a:rPr>
              <a:t>Heute machbar</a:t>
            </a:r>
          </a:p>
        </p:txBody>
      </p:sp>
      <p:sp>
        <p:nvSpPr>
          <p:cNvPr id="6" name="BulletsLinks">
            <a:extLst>
              <a:ext uri="{FF2B5EF4-FFF2-40B4-BE49-F238E27FC236}">
                <a16:creationId xmlns:a16="http://schemas.microsoft.com/office/drawing/2014/main" id="{DB710718-DA15-63B5-559F-2B38785D0143}"/>
              </a:ext>
            </a:extLst>
          </p:cNvPr>
          <p:cNvSpPr txBox="1"/>
          <p:nvPr/>
        </p:nvSpPr>
        <p:spPr>
          <a:xfrm>
            <a:off x="457200" y="2117851"/>
            <a:ext cx="3840004" cy="2800002"/>
          </a:xfrm>
          <a:prstGeom prst="rect">
            <a:avLst/>
          </a:prstGeom>
          <a:noFill/>
          <a:ln cap="flat">
            <a:noFill/>
          </a:ln>
        </p:spPr>
        <p:txBody>
          <a:bodyPr vert="horz" wrap="square" lIns="91440" tIns="45720" rIns="91440" bIns="45720" anchor="t" anchorCtr="0" compatLnSpc="1">
            <a:noAutofit/>
          </a:bodyPr>
          <a:lstStyle/>
          <a:p>
            <a:pPr marL="228600" marR="0" lvl="0" indent="-228600" algn="l" defTabSz="914400" rtl="0" fontAlgn="auto" hangingPunct="1">
              <a:lnSpc>
                <a:spcPct val="100000"/>
              </a:lnSpc>
              <a:spcBef>
                <a:spcPts val="0"/>
              </a:spcBef>
              <a:spcAft>
                <a:spcPts val="800"/>
              </a:spcAft>
              <a:buSzPct val="100000"/>
              <a:buChar char="•"/>
              <a:tabLst/>
              <a:defRPr sz="1800" b="0" i="0" u="none" strike="noStrike" kern="0" cap="none" spc="0" baseline="0">
                <a:solidFill>
                  <a:srgbClr val="000000"/>
                </a:solidFill>
                <a:uFillTx/>
              </a:defRPr>
            </a:pPr>
            <a:r>
              <a:rPr lang="de-DE" sz="1200" b="0" i="0" u="none" strike="noStrike" kern="1200" cap="none" spc="0" baseline="0">
                <a:solidFill>
                  <a:srgbClr val="1B2430"/>
                </a:solidFill>
                <a:uFillTx/>
                <a:latin typeface="Segoe UI" pitchFamily="34"/>
              </a:rPr>
              <a:t>Sichtbare Schäden per Bildanalyse: gebrochenes Display, gerissene Kette</a:t>
            </a:r>
          </a:p>
          <a:p>
            <a:pPr marL="228600" marR="0" lvl="0" indent="-228600" algn="l" defTabSz="914400" rtl="0" fontAlgn="auto" hangingPunct="1">
              <a:lnSpc>
                <a:spcPct val="100000"/>
              </a:lnSpc>
              <a:spcBef>
                <a:spcPts val="0"/>
              </a:spcBef>
              <a:spcAft>
                <a:spcPts val="800"/>
              </a:spcAft>
              <a:buSzPct val="100000"/>
              <a:buChar char="•"/>
              <a:tabLst/>
              <a:defRPr sz="1800" b="0" i="0" u="none" strike="noStrike" kern="0" cap="none" spc="0" baseline="0">
                <a:solidFill>
                  <a:srgbClr val="000000"/>
                </a:solidFill>
                <a:uFillTx/>
              </a:defRPr>
            </a:pPr>
            <a:r>
              <a:rPr lang="de-DE" sz="1200" b="0" i="0" u="none" strike="noStrike" kern="1200" cap="none" spc="0" baseline="0">
                <a:solidFill>
                  <a:srgbClr val="1B2430"/>
                </a:solidFill>
                <a:uFillTx/>
                <a:latin typeface="Segoe UI" pitchFamily="34"/>
              </a:rPr>
              <a:t>Vorab-KVA aus Teilepreisen und Aufwandsrichtwerten</a:t>
            </a:r>
          </a:p>
          <a:p>
            <a:pPr marL="228600" marR="0" lvl="0" indent="-228600" algn="l" defTabSz="914400" rtl="0" fontAlgn="auto" hangingPunct="1">
              <a:lnSpc>
                <a:spcPct val="100000"/>
              </a:lnSpc>
              <a:spcBef>
                <a:spcPts val="0"/>
              </a:spcBef>
              <a:spcAft>
                <a:spcPts val="800"/>
              </a:spcAft>
              <a:buSzPct val="100000"/>
              <a:buChar char="•"/>
              <a:tabLst/>
              <a:defRPr sz="1800" b="0" i="0" u="none" strike="noStrike" kern="0" cap="none" spc="0" baseline="0">
                <a:solidFill>
                  <a:srgbClr val="000000"/>
                </a:solidFill>
                <a:uFillTx/>
              </a:defRPr>
            </a:pPr>
            <a:r>
              <a:rPr lang="de-DE" sz="1200" b="0" i="0" u="none" strike="noStrike" kern="1200" cap="none" spc="0" baseline="0">
                <a:solidFill>
                  <a:srgbClr val="1B2430"/>
                </a:solidFill>
                <a:uFillTx/>
                <a:latin typeface="Segoe UI" pitchFamily="34"/>
              </a:rPr>
              <a:t>Verfügbarkeitsprüfung und Vorreservierung</a:t>
            </a:r>
          </a:p>
        </p:txBody>
      </p:sp>
      <p:sp>
        <p:nvSpPr>
          <p:cNvPr id="7" name="LabelRechts">
            <a:extLst>
              <a:ext uri="{FF2B5EF4-FFF2-40B4-BE49-F238E27FC236}">
                <a16:creationId xmlns:a16="http://schemas.microsoft.com/office/drawing/2014/main" id="{DD4E1539-BC03-517C-E3E0-4778AA7095A6}"/>
              </a:ext>
            </a:extLst>
          </p:cNvPr>
          <p:cNvSpPr txBox="1"/>
          <p:nvPr/>
        </p:nvSpPr>
        <p:spPr>
          <a:xfrm>
            <a:off x="4846320" y="1687845"/>
            <a:ext cx="3840004" cy="379997"/>
          </a:xfrm>
          <a:prstGeom prst="rect">
            <a:avLst/>
          </a:prstGeom>
          <a:noFill/>
          <a:ln cap="flat">
            <a:noFill/>
          </a:ln>
        </p:spPr>
        <p:txBody>
          <a:bodyPr vert="horz" wrap="square" lIns="91440" tIns="45720" rIns="91440" bIns="4572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de-DE" sz="1600" b="1" i="0" u="none" strike="noStrike" kern="1200" cap="none" spc="0" baseline="0">
                <a:solidFill>
                  <a:schemeClr val="accent2">
                    <a:lumMod val="50000"/>
                  </a:schemeClr>
                </a:solidFill>
                <a:uFillTx/>
                <a:latin typeface="Segoe UI" pitchFamily="34"/>
              </a:rPr>
              <a:t>Vision &amp; Absicherung</a:t>
            </a:r>
          </a:p>
        </p:txBody>
      </p:sp>
      <p:sp>
        <p:nvSpPr>
          <p:cNvPr id="8" name="BulletsRechts">
            <a:extLst>
              <a:ext uri="{FF2B5EF4-FFF2-40B4-BE49-F238E27FC236}">
                <a16:creationId xmlns:a16="http://schemas.microsoft.com/office/drawing/2014/main" id="{3F2C51DD-575F-6DE3-B481-A0B9F79F2CE7}"/>
              </a:ext>
            </a:extLst>
          </p:cNvPr>
          <p:cNvSpPr txBox="1"/>
          <p:nvPr/>
        </p:nvSpPr>
        <p:spPr>
          <a:xfrm>
            <a:off x="4846320" y="2117851"/>
            <a:ext cx="3840004" cy="2800002"/>
          </a:xfrm>
          <a:prstGeom prst="rect">
            <a:avLst/>
          </a:prstGeom>
          <a:noFill/>
          <a:ln cap="flat">
            <a:noFill/>
          </a:ln>
        </p:spPr>
        <p:txBody>
          <a:bodyPr vert="horz" wrap="square" lIns="91440" tIns="45720" rIns="91440" bIns="45720" anchor="t" anchorCtr="0" compatLnSpc="1">
            <a:noAutofit/>
          </a:bodyPr>
          <a:lstStyle/>
          <a:p>
            <a:pPr marL="228600" marR="0" lvl="0" indent="-228600" algn="l" defTabSz="914400" rtl="0" fontAlgn="auto" hangingPunct="1">
              <a:lnSpc>
                <a:spcPct val="100000"/>
              </a:lnSpc>
              <a:spcBef>
                <a:spcPts val="0"/>
              </a:spcBef>
              <a:spcAft>
                <a:spcPts val="800"/>
              </a:spcAft>
              <a:buSzPct val="100000"/>
              <a:buChar char="•"/>
              <a:tabLst/>
              <a:defRPr sz="1800" b="0" i="0" u="none" strike="noStrike" kern="0" cap="none" spc="0" baseline="0">
                <a:solidFill>
                  <a:srgbClr val="000000"/>
                </a:solidFill>
                <a:uFillTx/>
              </a:defRPr>
            </a:pPr>
            <a:r>
              <a:rPr lang="de-DE" sz="1200" b="0" i="0" u="none" strike="noStrike" kern="1200" cap="none" spc="0" baseline="0">
                <a:solidFill>
                  <a:srgbClr val="1B2430"/>
                </a:solidFill>
                <a:uFillTx/>
                <a:latin typeface="Segoe UI" pitchFamily="34"/>
              </a:rPr>
              <a:t>Geräuschanalyse von E-Bike-Motoren, Aufwand aus Video</a:t>
            </a:r>
          </a:p>
          <a:p>
            <a:pPr marL="228600" marR="0" lvl="0" indent="-228600" algn="l" defTabSz="914400" rtl="0" fontAlgn="auto" hangingPunct="1">
              <a:lnSpc>
                <a:spcPct val="100000"/>
              </a:lnSpc>
              <a:spcBef>
                <a:spcPts val="0"/>
              </a:spcBef>
              <a:spcAft>
                <a:spcPts val="800"/>
              </a:spcAft>
              <a:buSzPct val="100000"/>
              <a:buChar char="•"/>
              <a:tabLst/>
              <a:defRPr sz="1800" b="0" i="0" u="none" strike="noStrike" kern="0" cap="none" spc="0" baseline="0">
                <a:solidFill>
                  <a:srgbClr val="000000"/>
                </a:solidFill>
                <a:uFillTx/>
              </a:defRPr>
            </a:pPr>
            <a:r>
              <a:rPr lang="de-DE" sz="1200" b="0" i="0" u="none" strike="noStrike" kern="1200" cap="none" spc="0" baseline="0">
                <a:solidFill>
                  <a:srgbClr val="1B2430"/>
                </a:solidFill>
                <a:uFillTx/>
                <a:latin typeface="Segoe UI" pitchFamily="34"/>
              </a:rPr>
              <a:t>Vorschlag bleibt vorläufig, der Techniker bestätigt oder korrigiert</a:t>
            </a:r>
          </a:p>
          <a:p>
            <a:pPr marL="228600" marR="0" lvl="0" indent="-228600" algn="l" defTabSz="914400" rtl="0" fontAlgn="auto" hangingPunct="1">
              <a:lnSpc>
                <a:spcPct val="100000"/>
              </a:lnSpc>
              <a:spcBef>
                <a:spcPts val="0"/>
              </a:spcBef>
              <a:spcAft>
                <a:spcPts val="800"/>
              </a:spcAft>
              <a:buSzPct val="100000"/>
              <a:buChar char="•"/>
              <a:tabLst/>
              <a:defRPr sz="1800" b="0" i="0" u="none" strike="noStrike" kern="0" cap="none" spc="0" baseline="0">
                <a:solidFill>
                  <a:srgbClr val="000000"/>
                </a:solidFill>
                <a:uFillTx/>
              </a:defRPr>
            </a:pPr>
            <a:r>
              <a:rPr lang="de-DE" sz="1200" b="0" i="0" u="none" strike="noStrike" kern="1200" cap="none" spc="0" baseline="0">
                <a:solidFill>
                  <a:srgbClr val="1B2430"/>
                </a:solidFill>
                <a:uFillTx/>
                <a:latin typeface="Segoe UI" pitchFamily="34"/>
              </a:rPr>
              <a:t>Medien nur mit Einwilligung, Löschung nach Abschluss</a:t>
            </a:r>
          </a:p>
        </p:txBody>
      </p:sp>
      <p:sp>
        <p:nvSpPr>
          <p:cNvPr id="3" name="Text 0">
            <a:extLst>
              <a:ext uri="{FF2B5EF4-FFF2-40B4-BE49-F238E27FC236}">
                <a16:creationId xmlns:a16="http://schemas.microsoft.com/office/drawing/2014/main" id="{DB7AEAD0-2B5B-73DE-5949-B3784E8463DB}"/>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KI-Sofortanalyse: Unsere Vision</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3">
            <a:extLst>
              <a:ext uri="{FF2B5EF4-FFF2-40B4-BE49-F238E27FC236}">
                <a16:creationId xmlns:a16="http://schemas.microsoft.com/office/drawing/2014/main" id="{19DB8AC1-64F1-BE14-090A-313BEE8E258D}"/>
              </a:ext>
            </a:extLst>
          </p:cNvPr>
          <p:cNvSpPr txBox="1"/>
          <p:nvPr/>
        </p:nvSpPr>
        <p:spPr>
          <a:xfrm>
            <a:off x="457200" y="1097280"/>
            <a:ext cx="2011680" cy="7315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4000" b="1" i="0" u="none" strike="noStrike" kern="1200" cap="none" spc="0" baseline="0">
                <a:solidFill>
                  <a:srgbClr val="843C0C"/>
                </a:solidFill>
                <a:uFillTx/>
                <a:latin typeface="Segoe UI" pitchFamily="34"/>
                <a:ea typeface="Calibri" pitchFamily="34"/>
                <a:cs typeface="Segoe UI" pitchFamily="34"/>
              </a:rPr>
              <a:t>10</a:t>
            </a:r>
            <a:endParaRPr lang="en-US" sz="4000" b="0" i="0" u="none" strike="noStrike" kern="1200" cap="none" spc="0" baseline="0">
              <a:solidFill>
                <a:srgbClr val="843C0C"/>
              </a:solidFill>
              <a:uFillTx/>
              <a:latin typeface="Segoe UI" pitchFamily="34"/>
              <a:cs typeface="Segoe UI" pitchFamily="34"/>
            </a:endParaRPr>
          </a:p>
        </p:txBody>
      </p:sp>
      <p:sp>
        <p:nvSpPr>
          <p:cNvPr id="4" name="Text 4">
            <a:extLst>
              <a:ext uri="{FF2B5EF4-FFF2-40B4-BE49-F238E27FC236}">
                <a16:creationId xmlns:a16="http://schemas.microsoft.com/office/drawing/2014/main" id="{DF294DA0-05D6-82CC-6B23-0884BFA70B2A}"/>
              </a:ext>
            </a:extLst>
          </p:cNvPr>
          <p:cNvSpPr txBox="1"/>
          <p:nvPr/>
        </p:nvSpPr>
        <p:spPr>
          <a:xfrm>
            <a:off x="457200" y="1828800"/>
            <a:ext cx="2194560" cy="5029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BPMN-Kollaborationsdiagramme</a:t>
            </a:r>
            <a:endParaRPr lang="en-US" sz="1100" b="0" i="0" u="none" strike="noStrike" kern="1200" cap="none" spc="0" baseline="0">
              <a:solidFill>
                <a:srgbClr val="000000"/>
              </a:solidFill>
              <a:uFillTx/>
              <a:latin typeface="Segoe UI" pitchFamily="34"/>
              <a:cs typeface="Segoe UI" pitchFamily="34"/>
            </a:endParaRP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136 Aktivitäten im Werkstatt-Pool</a:t>
            </a:r>
            <a:endParaRPr lang="en-US" sz="1100" b="0" i="0" u="none" strike="noStrike" kern="1200" cap="none" spc="0" baseline="0">
              <a:solidFill>
                <a:srgbClr val="000000"/>
              </a:solidFill>
              <a:uFillTx/>
              <a:latin typeface="Segoe UI" pitchFamily="34"/>
              <a:cs typeface="Segoe UI" pitchFamily="34"/>
            </a:endParaRPr>
          </a:p>
        </p:txBody>
      </p:sp>
      <p:sp>
        <p:nvSpPr>
          <p:cNvPr id="5" name="Text 5">
            <a:extLst>
              <a:ext uri="{FF2B5EF4-FFF2-40B4-BE49-F238E27FC236}">
                <a16:creationId xmlns:a16="http://schemas.microsoft.com/office/drawing/2014/main" id="{5CC7AE7D-DFA3-11F8-9282-0BCEC6731327}"/>
              </a:ext>
            </a:extLst>
          </p:cNvPr>
          <p:cNvSpPr txBox="1"/>
          <p:nvPr/>
        </p:nvSpPr>
        <p:spPr>
          <a:xfrm>
            <a:off x="2651760" y="1097280"/>
            <a:ext cx="2011680" cy="7315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4000" b="1" i="0" u="none" strike="noStrike" kern="1200" cap="none" spc="0" baseline="0">
                <a:solidFill>
                  <a:srgbClr val="843C0C"/>
                </a:solidFill>
                <a:uFillTx/>
                <a:latin typeface="Segoe UI" pitchFamily="34"/>
                <a:ea typeface="Calibri" pitchFamily="34"/>
                <a:cs typeface="Segoe UI" pitchFamily="34"/>
              </a:rPr>
              <a:t>19</a:t>
            </a:r>
            <a:endParaRPr lang="en-US" sz="4000" b="0" i="0" u="none" strike="noStrike" kern="1200" cap="none" spc="0" baseline="0">
              <a:solidFill>
                <a:srgbClr val="843C0C"/>
              </a:solidFill>
              <a:uFillTx/>
              <a:latin typeface="Segoe UI" pitchFamily="34"/>
              <a:cs typeface="Segoe UI" pitchFamily="34"/>
            </a:endParaRPr>
          </a:p>
        </p:txBody>
      </p:sp>
      <p:sp>
        <p:nvSpPr>
          <p:cNvPr id="6" name="Text 6">
            <a:extLst>
              <a:ext uri="{FF2B5EF4-FFF2-40B4-BE49-F238E27FC236}">
                <a16:creationId xmlns:a16="http://schemas.microsoft.com/office/drawing/2014/main" id="{7DC3CA50-4B94-518F-D4FF-E4483A0D913B}"/>
              </a:ext>
            </a:extLst>
          </p:cNvPr>
          <p:cNvSpPr txBox="1"/>
          <p:nvPr/>
        </p:nvSpPr>
        <p:spPr>
          <a:xfrm>
            <a:off x="2651760" y="1828800"/>
            <a:ext cx="2011680" cy="5029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Use Cases</a:t>
            </a:r>
            <a:endParaRPr lang="en-US" sz="1100" b="0" i="0" u="none" strike="noStrike" kern="1200" cap="none" spc="0" baseline="0">
              <a:solidFill>
                <a:srgbClr val="000000"/>
              </a:solidFill>
              <a:uFillTx/>
              <a:latin typeface="Segoe UI" pitchFamily="34"/>
              <a:cs typeface="Segoe UI" pitchFamily="34"/>
            </a:endParaRP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17 Rollen und Akteure</a:t>
            </a:r>
            <a:endParaRPr lang="en-US" sz="1100" b="0" i="0" u="none" strike="noStrike" kern="1200" cap="none" spc="0" baseline="0">
              <a:solidFill>
                <a:srgbClr val="000000"/>
              </a:solidFill>
              <a:uFillTx/>
              <a:latin typeface="Segoe UI" pitchFamily="34"/>
              <a:cs typeface="Segoe UI" pitchFamily="34"/>
            </a:endParaRPr>
          </a:p>
        </p:txBody>
      </p:sp>
      <p:sp>
        <p:nvSpPr>
          <p:cNvPr id="7" name="Text 7">
            <a:extLst>
              <a:ext uri="{FF2B5EF4-FFF2-40B4-BE49-F238E27FC236}">
                <a16:creationId xmlns:a16="http://schemas.microsoft.com/office/drawing/2014/main" id="{7F9BB918-0927-301C-5B08-147BE3DE3207}"/>
              </a:ext>
            </a:extLst>
          </p:cNvPr>
          <p:cNvSpPr txBox="1"/>
          <p:nvPr/>
        </p:nvSpPr>
        <p:spPr>
          <a:xfrm>
            <a:off x="4846320" y="1097280"/>
            <a:ext cx="2011680" cy="7315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4000" b="1" i="0" u="none" strike="noStrike" kern="1200" cap="none" spc="0" baseline="0">
                <a:solidFill>
                  <a:srgbClr val="843C0C"/>
                </a:solidFill>
                <a:uFillTx/>
                <a:latin typeface="Segoe UI" pitchFamily="34"/>
                <a:ea typeface="Calibri" pitchFamily="34"/>
                <a:cs typeface="Segoe UI" pitchFamily="34"/>
              </a:rPr>
              <a:t>29</a:t>
            </a:r>
            <a:endParaRPr lang="en-US" sz="4000" b="0" i="0" u="none" strike="noStrike" kern="1200" cap="none" spc="0" baseline="0">
              <a:solidFill>
                <a:srgbClr val="843C0C"/>
              </a:solidFill>
              <a:uFillTx/>
              <a:latin typeface="Segoe UI" pitchFamily="34"/>
              <a:cs typeface="Segoe UI" pitchFamily="34"/>
            </a:endParaRPr>
          </a:p>
        </p:txBody>
      </p:sp>
      <p:sp>
        <p:nvSpPr>
          <p:cNvPr id="8" name="Text 8">
            <a:extLst>
              <a:ext uri="{FF2B5EF4-FFF2-40B4-BE49-F238E27FC236}">
                <a16:creationId xmlns:a16="http://schemas.microsoft.com/office/drawing/2014/main" id="{230F0962-B959-E147-32A3-FD7443046161}"/>
              </a:ext>
            </a:extLst>
          </p:cNvPr>
          <p:cNvSpPr txBox="1"/>
          <p:nvPr/>
        </p:nvSpPr>
        <p:spPr>
          <a:xfrm>
            <a:off x="4846320" y="1828800"/>
            <a:ext cx="2011680" cy="5029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Klassen</a:t>
            </a:r>
            <a:endParaRPr lang="en-US" sz="1100" b="0" i="0" u="none" strike="noStrike" kern="1200" cap="none" spc="0" baseline="0">
              <a:solidFill>
                <a:srgbClr val="000000"/>
              </a:solidFill>
              <a:uFillTx/>
              <a:latin typeface="Segoe UI" pitchFamily="34"/>
              <a:cs typeface="Segoe UI" pitchFamily="34"/>
            </a:endParaRPr>
          </a:p>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40 Assoziationen, 7 Aufzählungen</a:t>
            </a:r>
            <a:endParaRPr lang="en-US" sz="1100" b="0" i="0" u="none" strike="noStrike" kern="1200" cap="none" spc="0" baseline="0">
              <a:solidFill>
                <a:srgbClr val="000000"/>
              </a:solidFill>
              <a:uFillTx/>
              <a:latin typeface="Segoe UI" pitchFamily="34"/>
              <a:cs typeface="Segoe UI" pitchFamily="34"/>
            </a:endParaRPr>
          </a:p>
        </p:txBody>
      </p:sp>
      <p:sp>
        <p:nvSpPr>
          <p:cNvPr id="9" name="Text 9">
            <a:extLst>
              <a:ext uri="{FF2B5EF4-FFF2-40B4-BE49-F238E27FC236}">
                <a16:creationId xmlns:a16="http://schemas.microsoft.com/office/drawing/2014/main" id="{A2C31669-92A8-ADF1-50DE-10AEF0A60E5F}"/>
              </a:ext>
            </a:extLst>
          </p:cNvPr>
          <p:cNvSpPr txBox="1"/>
          <p:nvPr/>
        </p:nvSpPr>
        <p:spPr>
          <a:xfrm>
            <a:off x="7040880" y="1097280"/>
            <a:ext cx="2011680" cy="7315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4000" b="1" i="0" u="none" strike="noStrike" kern="1200" cap="none" spc="0" baseline="0">
                <a:solidFill>
                  <a:srgbClr val="843C0C"/>
                </a:solidFill>
                <a:uFillTx/>
                <a:latin typeface="Segoe UI" pitchFamily="34"/>
                <a:ea typeface="Calibri" pitchFamily="34"/>
                <a:cs typeface="Segoe UI" pitchFamily="34"/>
              </a:rPr>
              <a:t>6</a:t>
            </a:r>
            <a:endParaRPr lang="en-US" sz="4000" b="0" i="0" u="none" strike="noStrike" kern="1200" cap="none" spc="0" baseline="0">
              <a:solidFill>
                <a:srgbClr val="843C0C"/>
              </a:solidFill>
              <a:uFillTx/>
              <a:latin typeface="Segoe UI" pitchFamily="34"/>
              <a:cs typeface="Segoe UI" pitchFamily="34"/>
            </a:endParaRPr>
          </a:p>
        </p:txBody>
      </p:sp>
      <p:sp>
        <p:nvSpPr>
          <p:cNvPr id="10" name="Text 10">
            <a:extLst>
              <a:ext uri="{FF2B5EF4-FFF2-40B4-BE49-F238E27FC236}">
                <a16:creationId xmlns:a16="http://schemas.microsoft.com/office/drawing/2014/main" id="{9BEBDF23-55D7-E26C-455E-6FE1EA633807}"/>
              </a:ext>
            </a:extLst>
          </p:cNvPr>
          <p:cNvSpPr txBox="1"/>
          <p:nvPr/>
        </p:nvSpPr>
        <p:spPr>
          <a:xfrm>
            <a:off x="7040880" y="1828800"/>
            <a:ext cx="2011680" cy="5029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itchFamily="34"/>
                <a:ea typeface="Calibri" pitchFamily="34"/>
                <a:cs typeface="Segoe UI" pitchFamily="34"/>
              </a:rPr>
              <a:t>Sequenzdiagramme</a:t>
            </a:r>
            <a:endParaRPr lang="en-US" sz="1100" b="0" i="0" u="none" strike="noStrike" kern="1200" cap="none" spc="0" baseline="0">
              <a:solidFill>
                <a:srgbClr val="000000"/>
              </a:solidFill>
              <a:uFillTx/>
              <a:latin typeface="Segoe UI" pitchFamily="34"/>
              <a:cs typeface="Segoe UI" pitchFamily="34"/>
            </a:endParaRPr>
          </a:p>
        </p:txBody>
      </p:sp>
      <p:sp>
        <p:nvSpPr>
          <p:cNvPr id="11" name="Text 13">
            <a:extLst>
              <a:ext uri="{FF2B5EF4-FFF2-40B4-BE49-F238E27FC236}">
                <a16:creationId xmlns:a16="http://schemas.microsoft.com/office/drawing/2014/main" id="{C93AB00B-A5B0-C022-F1E9-D6B62A650E39}"/>
              </a:ext>
            </a:extLst>
          </p:cNvPr>
          <p:cNvSpPr txBox="1"/>
          <p:nvPr/>
        </p:nvSpPr>
        <p:spPr>
          <a:xfrm>
            <a:off x="640080" y="2862072"/>
            <a:ext cx="233172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Geschäftsprozesse</a:t>
            </a:r>
            <a:endParaRPr lang="en-US" sz="1400" b="0" i="0" u="none" strike="noStrike" kern="1200" cap="none" spc="0" baseline="0">
              <a:solidFill>
                <a:srgbClr val="843C0C"/>
              </a:solidFill>
              <a:uFillTx/>
              <a:latin typeface="Segoe UI" pitchFamily="34"/>
              <a:cs typeface="Segoe UI" pitchFamily="34"/>
            </a:endParaRPr>
          </a:p>
        </p:txBody>
      </p:sp>
      <p:sp>
        <p:nvSpPr>
          <p:cNvPr id="12" name="Text 14">
            <a:extLst>
              <a:ext uri="{FF2B5EF4-FFF2-40B4-BE49-F238E27FC236}">
                <a16:creationId xmlns:a16="http://schemas.microsoft.com/office/drawing/2014/main" id="{044C0996-A302-81F9-FF2E-763065FDC40A}"/>
              </a:ext>
            </a:extLst>
          </p:cNvPr>
          <p:cNvSpPr txBox="1"/>
          <p:nvPr/>
        </p:nvSpPr>
        <p:spPr>
          <a:xfrm>
            <a:off x="640080" y="3429000"/>
            <a:ext cx="2286000" cy="100584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50" b="1" i="0" u="none" strike="noStrike" kern="1200" cap="none" spc="0" baseline="0">
                <a:solidFill>
                  <a:srgbClr val="1B2430"/>
                </a:solidFill>
                <a:uFillTx/>
                <a:latin typeface="Segoe UI" pitchFamily="34"/>
                <a:ea typeface="Calibri" pitchFamily="34"/>
                <a:cs typeface="Segoe UI" pitchFamily="34"/>
              </a:rPr>
              <a:t>Camunda Modeler:</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Zehn Prozesse:</a:t>
            </a:r>
          </a:p>
          <a:p>
            <a:pPr marL="628650" marR="0" lvl="1"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Analyse </a:t>
            </a:r>
            <a:r>
              <a:rPr lang="en-DE" sz="1050" b="0" i="0" u="none" strike="noStrike" kern="1200" cap="none" spc="0" baseline="0">
                <a:solidFill>
                  <a:srgbClr val="000000"/>
                </a:solidFill>
                <a:uFillTx/>
                <a:latin typeface="Calibri"/>
              </a:rPr>
              <a:t>→ Abschluss</a:t>
            </a:r>
            <a:r>
              <a:rPr lang="en-US" sz="1050" b="0" i="0" u="none" strike="noStrike" kern="1200" cap="none" spc="0" baseline="0">
                <a:solidFill>
                  <a:srgbClr val="1B2430"/>
                </a:solidFill>
                <a:uFillTx/>
                <a:latin typeface="Segoe UI" pitchFamily="34"/>
                <a:ea typeface="Calibri" pitchFamily="34"/>
                <a:cs typeface="Segoe UI" pitchFamily="34"/>
              </a:rPr>
              <a:t> </a:t>
            </a:r>
            <a:endParaRPr lang="en-US" sz="1050" b="0" i="0" u="none" strike="noStrike" kern="1200" cap="none" spc="0" baseline="0">
              <a:solidFill>
                <a:srgbClr val="000000"/>
              </a:solidFill>
              <a:uFillTx/>
              <a:latin typeface="Segoe UI" pitchFamily="34"/>
              <a:cs typeface="Segoe UI" pitchFamily="34"/>
            </a:endParaRPr>
          </a:p>
        </p:txBody>
      </p:sp>
      <p:sp>
        <p:nvSpPr>
          <p:cNvPr id="13" name="Text 17">
            <a:extLst>
              <a:ext uri="{FF2B5EF4-FFF2-40B4-BE49-F238E27FC236}">
                <a16:creationId xmlns:a16="http://schemas.microsoft.com/office/drawing/2014/main" id="{457598B6-E1CB-7AB2-7BC1-2B3A3F5D59D2}"/>
              </a:ext>
            </a:extLst>
          </p:cNvPr>
          <p:cNvSpPr txBox="1"/>
          <p:nvPr/>
        </p:nvSpPr>
        <p:spPr>
          <a:xfrm>
            <a:off x="3429000" y="2862072"/>
            <a:ext cx="233172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C55A11"/>
                </a:solidFill>
                <a:uFillTx/>
                <a:latin typeface="Segoe UI" pitchFamily="34"/>
                <a:ea typeface="Calibri" pitchFamily="34"/>
                <a:cs typeface="Segoe UI" pitchFamily="34"/>
              </a:rPr>
              <a:t>Objektorientierte Analyse</a:t>
            </a:r>
            <a:endParaRPr lang="en-US" sz="1400" b="0" i="0" u="none" strike="noStrike" kern="1200" cap="none" spc="0" baseline="0">
              <a:solidFill>
                <a:srgbClr val="C55A11"/>
              </a:solidFill>
              <a:uFillTx/>
              <a:latin typeface="Segoe UI" pitchFamily="34"/>
              <a:cs typeface="Segoe UI" pitchFamily="34"/>
            </a:endParaRPr>
          </a:p>
        </p:txBody>
      </p:sp>
      <p:sp>
        <p:nvSpPr>
          <p:cNvPr id="14" name="Text 18">
            <a:extLst>
              <a:ext uri="{FF2B5EF4-FFF2-40B4-BE49-F238E27FC236}">
                <a16:creationId xmlns:a16="http://schemas.microsoft.com/office/drawing/2014/main" id="{8A34654F-8261-1162-4401-0CFC8DDE4A74}"/>
              </a:ext>
            </a:extLst>
          </p:cNvPr>
          <p:cNvSpPr txBox="1"/>
          <p:nvPr/>
        </p:nvSpPr>
        <p:spPr>
          <a:xfrm>
            <a:off x="3429000" y="3429000"/>
            <a:ext cx="2286000" cy="100584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50" b="1" i="0" u="none" strike="noStrike" kern="1200" cap="none" spc="0" baseline="0">
                <a:solidFill>
                  <a:srgbClr val="1B2430"/>
                </a:solidFill>
                <a:uFillTx/>
                <a:latin typeface="Segoe UI" pitchFamily="34"/>
                <a:ea typeface="Calibri" pitchFamily="34"/>
                <a:cs typeface="Segoe UI" pitchFamily="34"/>
              </a:rPr>
              <a:t>Visual Paradigm:</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Use-Case-Diagramm</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vollständiges Klassendiagramm</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sechs Sequenzdiagramme als Unterdiagramme der Use Cases.</a:t>
            </a:r>
            <a:endParaRPr lang="en-US" sz="1050" b="0" i="0" u="none" strike="noStrike" kern="1200" cap="none" spc="0" baseline="0">
              <a:solidFill>
                <a:srgbClr val="000000"/>
              </a:solidFill>
              <a:uFillTx/>
              <a:latin typeface="Segoe UI" pitchFamily="34"/>
              <a:cs typeface="Segoe UI" pitchFamily="34"/>
            </a:endParaRPr>
          </a:p>
        </p:txBody>
      </p:sp>
      <p:sp>
        <p:nvSpPr>
          <p:cNvPr id="15" name="Text 21">
            <a:extLst>
              <a:ext uri="{FF2B5EF4-FFF2-40B4-BE49-F238E27FC236}">
                <a16:creationId xmlns:a16="http://schemas.microsoft.com/office/drawing/2014/main" id="{17769297-C34B-A288-260C-8E625B5022AE}"/>
              </a:ext>
            </a:extLst>
          </p:cNvPr>
          <p:cNvSpPr txBox="1"/>
          <p:nvPr/>
        </p:nvSpPr>
        <p:spPr>
          <a:xfrm>
            <a:off x="6217920" y="2862072"/>
            <a:ext cx="233172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Dokumentation</a:t>
            </a:r>
            <a:endParaRPr lang="en-US" sz="1400" b="0" i="0" u="none" strike="noStrike" kern="1200" cap="none" spc="0" baseline="0">
              <a:solidFill>
                <a:srgbClr val="843C0C"/>
              </a:solidFill>
              <a:uFillTx/>
              <a:latin typeface="Segoe UI" pitchFamily="34"/>
              <a:cs typeface="Segoe UI" pitchFamily="34"/>
            </a:endParaRPr>
          </a:p>
        </p:txBody>
      </p:sp>
      <p:sp>
        <p:nvSpPr>
          <p:cNvPr id="16" name="Text 22">
            <a:extLst>
              <a:ext uri="{FF2B5EF4-FFF2-40B4-BE49-F238E27FC236}">
                <a16:creationId xmlns:a16="http://schemas.microsoft.com/office/drawing/2014/main" id="{AF2BE2D4-76CA-178A-78A1-CDCF29D4A77D}"/>
              </a:ext>
            </a:extLst>
          </p:cNvPr>
          <p:cNvSpPr txBox="1"/>
          <p:nvPr/>
        </p:nvSpPr>
        <p:spPr>
          <a:xfrm>
            <a:off x="6217920" y="3429000"/>
            <a:ext cx="2286000" cy="1005840"/>
          </a:xfrm>
          <a:prstGeom prst="rect">
            <a:avLst/>
          </a:prstGeom>
          <a:noFill/>
          <a:ln cap="flat">
            <a:noFill/>
          </a:ln>
        </p:spPr>
        <p:txBody>
          <a:bodyPr vert="horz" wrap="square" lIns="0" tIns="0" rIns="0" bIns="0" anchor="t" anchorCtr="0" compatLnSpc="1">
            <a:noAutofit/>
          </a:bodyPr>
          <a:lstStyle/>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Projekt</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Vorgehen</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Projektmanagement</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alle Artefakte</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Konsistenz der Modelle</a:t>
            </a:r>
          </a:p>
          <a:p>
            <a:pPr marL="171450" marR="0" lvl="0" indent="-171450" algn="l" defTabSz="914400" rtl="0" fontAlgn="auto" hangingPunct="1">
              <a:lnSpc>
                <a:spcPct val="10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Herausforderungen und Feedback.</a:t>
            </a:r>
            <a:endParaRPr lang="en-US" sz="1050" b="0" i="0" u="none" strike="noStrike" kern="1200" cap="none" spc="0" baseline="0">
              <a:solidFill>
                <a:srgbClr val="000000"/>
              </a:solidFill>
              <a:uFillTx/>
              <a:latin typeface="Segoe UI" pitchFamily="34"/>
              <a:cs typeface="Segoe UI" pitchFamily="34"/>
            </a:endParaRPr>
          </a:p>
        </p:txBody>
      </p:sp>
      <p:cxnSp>
        <p:nvCxnSpPr>
          <p:cNvPr id="17" name="Gerade Verbindung 3">
            <a:extLst>
              <a:ext uri="{FF2B5EF4-FFF2-40B4-BE49-F238E27FC236}">
                <a16:creationId xmlns:a16="http://schemas.microsoft.com/office/drawing/2014/main" id="{17D25378-AF5B-713B-67AD-7FA799285C37}"/>
              </a:ext>
            </a:extLst>
          </p:cNvPr>
          <p:cNvCxnSpPr/>
          <p:nvPr/>
        </p:nvCxnSpPr>
        <p:spPr>
          <a:xfrm>
            <a:off x="2971800" y="2968755"/>
            <a:ext cx="0" cy="1450841"/>
          </a:xfrm>
          <a:prstGeom prst="straightConnector1">
            <a:avLst/>
          </a:prstGeom>
          <a:noFill/>
          <a:ln w="12701" cap="flat">
            <a:solidFill>
              <a:srgbClr val="0D0D0D"/>
            </a:solidFill>
            <a:prstDash val="solid"/>
            <a:miter/>
          </a:ln>
        </p:spPr>
      </p:cxnSp>
      <p:cxnSp>
        <p:nvCxnSpPr>
          <p:cNvPr id="18" name="Gerade Verbindung 4">
            <a:extLst>
              <a:ext uri="{FF2B5EF4-FFF2-40B4-BE49-F238E27FC236}">
                <a16:creationId xmlns:a16="http://schemas.microsoft.com/office/drawing/2014/main" id="{5DC12281-B873-0BD0-50A6-F8D324DF6235}"/>
              </a:ext>
            </a:extLst>
          </p:cNvPr>
          <p:cNvCxnSpPr/>
          <p:nvPr/>
        </p:nvCxnSpPr>
        <p:spPr>
          <a:xfrm>
            <a:off x="5920740" y="2968755"/>
            <a:ext cx="0" cy="1450841"/>
          </a:xfrm>
          <a:prstGeom prst="straightConnector1">
            <a:avLst/>
          </a:prstGeom>
          <a:noFill/>
          <a:ln w="12701" cap="flat">
            <a:solidFill>
              <a:srgbClr val="0D0D0D"/>
            </a:solidFill>
            <a:prstDash val="solid"/>
            <a:miter/>
          </a:ln>
        </p:spPr>
      </p:cxnSp>
      <p:cxnSp>
        <p:nvCxnSpPr>
          <p:cNvPr id="19" name="Gerade Verbindung 13">
            <a:extLst>
              <a:ext uri="{FF2B5EF4-FFF2-40B4-BE49-F238E27FC236}">
                <a16:creationId xmlns:a16="http://schemas.microsoft.com/office/drawing/2014/main" id="{5312B04F-5329-6BF0-79D5-0443CB13D8D9}"/>
              </a:ext>
            </a:extLst>
          </p:cNvPr>
          <p:cNvCxnSpPr/>
          <p:nvPr/>
        </p:nvCxnSpPr>
        <p:spPr>
          <a:xfrm>
            <a:off x="487676" y="2709952"/>
            <a:ext cx="8265628" cy="0"/>
          </a:xfrm>
          <a:prstGeom prst="straightConnector1">
            <a:avLst/>
          </a:prstGeom>
          <a:noFill/>
          <a:ln w="12701" cap="flat">
            <a:solidFill>
              <a:srgbClr val="0D0D0D"/>
            </a:solidFill>
            <a:prstDash val="solid"/>
            <a:miter/>
          </a:ln>
        </p:spPr>
      </p:cxnSp>
      <p:sp>
        <p:nvSpPr>
          <p:cNvPr id="20" name="Text 0">
            <a:extLst>
              <a:ext uri="{FF2B5EF4-FFF2-40B4-BE49-F238E27FC236}">
                <a16:creationId xmlns:a16="http://schemas.microsoft.com/office/drawing/2014/main" id="{7BF54BC3-8C5A-56BA-EDAA-9A14F3EEC44A}"/>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Was wir gebaut haben: Ergebnisse in Zahlen</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0">
            <a:extLst>
              <a:ext uri="{FF2B5EF4-FFF2-40B4-BE49-F238E27FC236}">
                <a16:creationId xmlns:a16="http://schemas.microsoft.com/office/drawing/2014/main" id="{9DA5683B-581E-D0B2-FB73-DD05C9193AF4}"/>
              </a:ext>
            </a:extLst>
          </p:cNvPr>
          <p:cNvGraphicFramePr>
            <a:graphicFrameLocks noGrp="1"/>
          </p:cNvGraphicFramePr>
          <p:nvPr/>
        </p:nvGraphicFramePr>
        <p:xfrm>
          <a:off x="457200" y="1228478"/>
          <a:ext cx="5120640" cy="3017520"/>
        </p:xfrm>
        <a:graphic>
          <a:graphicData uri="http://schemas.openxmlformats.org/drawingml/2006/table">
            <a:tbl>
              <a:tblPr>
                <a:effectLst/>
              </a:tblPr>
              <a:tblGrid>
                <a:gridCol w="411480">
                  <a:extLst>
                    <a:ext uri="{9D8B030D-6E8A-4147-A177-3AD203B41FA5}">
                      <a16:colId xmlns:a16="http://schemas.microsoft.com/office/drawing/2014/main" val="3967958140"/>
                    </a:ext>
                  </a:extLst>
                </a:gridCol>
                <a:gridCol w="3566160">
                  <a:extLst>
                    <a:ext uri="{9D8B030D-6E8A-4147-A177-3AD203B41FA5}">
                      <a16:colId xmlns:a16="http://schemas.microsoft.com/office/drawing/2014/main" val="186075734"/>
                    </a:ext>
                  </a:extLst>
                </a:gridCol>
                <a:gridCol w="502920">
                  <a:extLst>
                    <a:ext uri="{9D8B030D-6E8A-4147-A177-3AD203B41FA5}">
                      <a16:colId xmlns:a16="http://schemas.microsoft.com/office/drawing/2014/main" val="4090462124"/>
                    </a:ext>
                  </a:extLst>
                </a:gridCol>
                <a:gridCol w="640080">
                  <a:extLst>
                    <a:ext uri="{9D8B030D-6E8A-4147-A177-3AD203B41FA5}">
                      <a16:colId xmlns:a16="http://schemas.microsoft.com/office/drawing/2014/main" val="1334558676"/>
                    </a:ext>
                  </a:extLst>
                </a:gridCol>
              </a:tblGrid>
              <a:tr h="274320">
                <a:tc>
                  <a:txBody>
                    <a:bodyPr/>
                    <a:lstStyle/>
                    <a:p>
                      <a:pPr marL="0" lvl="0" indent="0">
                        <a:buNone/>
                      </a:pPr>
                      <a:r>
                        <a:rPr lang="en-US" sz="950" b="1">
                          <a:solidFill>
                            <a:srgbClr val="FFFFFF"/>
                          </a:solidFill>
                          <a:latin typeface="Calibri" pitchFamily="34"/>
                          <a:ea typeface="Calibri" pitchFamily="34"/>
                          <a:cs typeface="Calibri" pitchFamily="34"/>
                        </a:rPr>
                        <a:t>Nr</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rgbClr val="C55A11"/>
                    </a:solidFill>
                  </a:tcPr>
                </a:tc>
                <a:tc>
                  <a:txBody>
                    <a:bodyPr/>
                    <a:lstStyle/>
                    <a:p>
                      <a:pPr marL="0" lvl="0" indent="0">
                        <a:buNone/>
                      </a:pPr>
                      <a:r>
                        <a:rPr lang="en-US" sz="950" b="1">
                          <a:solidFill>
                            <a:srgbClr val="FFFFFF"/>
                          </a:solidFill>
                          <a:latin typeface="Calibri" pitchFamily="34"/>
                          <a:ea typeface="Calibri" pitchFamily="34"/>
                          <a:cs typeface="Calibri" pitchFamily="34"/>
                        </a:rPr>
                        <a:t>Prozess</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rgbClr val="C55A11"/>
                    </a:solidFill>
                  </a:tcPr>
                </a:tc>
                <a:tc>
                  <a:txBody>
                    <a:bodyPr/>
                    <a:lstStyle/>
                    <a:p>
                      <a:pPr marL="0" lvl="0" indent="0">
                        <a:buNone/>
                      </a:pPr>
                      <a:r>
                        <a:rPr lang="en-US" sz="950" b="1">
                          <a:solidFill>
                            <a:srgbClr val="FFFFFF"/>
                          </a:solidFill>
                          <a:latin typeface="Calibri" pitchFamily="34"/>
                          <a:ea typeface="Calibri" pitchFamily="34"/>
                          <a:cs typeface="Calibri" pitchFamily="34"/>
                        </a:rPr>
                        <a:t>Akt.</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rgbClr val="C55A11"/>
                    </a:solidFill>
                  </a:tcPr>
                </a:tc>
                <a:tc>
                  <a:txBody>
                    <a:bodyPr/>
                    <a:lstStyle/>
                    <a:p>
                      <a:pPr marL="0" lvl="0" indent="0">
                        <a:buNone/>
                      </a:pPr>
                      <a:r>
                        <a:rPr lang="en-US" sz="950" b="1">
                          <a:solidFill>
                            <a:srgbClr val="FFFFFF"/>
                          </a:solidFill>
                          <a:latin typeface="Calibri" pitchFamily="34"/>
                          <a:ea typeface="Calibri" pitchFamily="34"/>
                          <a:cs typeface="Calibri" pitchFamily="34"/>
                        </a:rPr>
                        <a:t>autom.</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rgbClr val="C55A11"/>
                    </a:solidFill>
                  </a:tcPr>
                </a:tc>
                <a:extLst>
                  <a:ext uri="{0D108BD9-81ED-4DB2-BD59-A6C34878D82A}">
                    <a16:rowId xmlns:a16="http://schemas.microsoft.com/office/drawing/2014/main" val="1501909684"/>
                  </a:ext>
                </a:extLst>
              </a:tr>
              <a:tr h="274320">
                <a:tc>
                  <a:txBody>
                    <a:bodyPr/>
                    <a:lstStyle/>
                    <a:p>
                      <a:pPr marL="0" lvl="0" indent="0">
                        <a:buNone/>
                      </a:pPr>
                      <a:r>
                        <a:rPr lang="en-US" sz="950">
                          <a:solidFill>
                            <a:srgbClr val="1B2430"/>
                          </a:solidFill>
                          <a:latin typeface="Calibri" pitchFamily="34"/>
                          <a:ea typeface="Calibri" pitchFamily="34"/>
                          <a:cs typeface="Calibri" pitchFamily="34"/>
                        </a:rPr>
                        <a:t>01</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KI-Sofortdiagnose und Voranmeldung</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14</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100 %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2406376897"/>
                  </a:ext>
                </a:extLst>
              </a:tr>
              <a:tr h="274320">
                <a:tc>
                  <a:txBody>
                    <a:bodyPr/>
                    <a:lstStyle/>
                    <a:p>
                      <a:pPr marL="0" lvl="0" indent="0">
                        <a:buNone/>
                      </a:pPr>
                      <a:r>
                        <a:rPr lang="en-US" sz="950">
                          <a:solidFill>
                            <a:srgbClr val="1B2430"/>
                          </a:solidFill>
                          <a:latin typeface="Calibri" pitchFamily="34"/>
                          <a:ea typeface="Calibri" pitchFamily="34"/>
                          <a:cs typeface="Calibri" pitchFamily="34"/>
                        </a:rPr>
                        <a:t>02</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Auftragsannahme, Geräteregistrierung und Terminplanung</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12</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33 %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420898736"/>
                  </a:ext>
                </a:extLst>
              </a:tr>
              <a:tr h="274320">
                <a:tc>
                  <a:txBody>
                    <a:bodyPr/>
                    <a:lstStyle/>
                    <a:p>
                      <a:pPr marL="0" lvl="0" indent="0">
                        <a:buNone/>
                      </a:pPr>
                      <a:r>
                        <a:rPr lang="en-US" sz="950">
                          <a:solidFill>
                            <a:srgbClr val="1B2430"/>
                          </a:solidFill>
                          <a:latin typeface="Calibri" pitchFamily="34"/>
                          <a:ea typeface="Calibri" pitchFamily="34"/>
                          <a:cs typeface="Calibri" pitchFamily="34"/>
                        </a:rPr>
                        <a:t>03</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Fehlerdiagnose</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12</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42 %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849070179"/>
                  </a:ext>
                </a:extLst>
              </a:tr>
              <a:tr h="274320">
                <a:tc>
                  <a:txBody>
                    <a:bodyPr/>
                    <a:lstStyle/>
                    <a:p>
                      <a:pPr marL="0" lvl="0" indent="0">
                        <a:buNone/>
                      </a:pPr>
                      <a:r>
                        <a:rPr lang="en-US" sz="950">
                          <a:solidFill>
                            <a:srgbClr val="1B2430"/>
                          </a:solidFill>
                          <a:latin typeface="Calibri" pitchFamily="34"/>
                          <a:ea typeface="Calibri" pitchFamily="34"/>
                          <a:cs typeface="Calibri" pitchFamily="34"/>
                        </a:rPr>
                        <a:t>04</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Kostenvoranschlag und Kundenfreigabe</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11</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64 %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861415826"/>
                  </a:ext>
                </a:extLst>
              </a:tr>
              <a:tr h="274320">
                <a:tc>
                  <a:txBody>
                    <a:bodyPr/>
                    <a:lstStyle/>
                    <a:p>
                      <a:pPr marL="0" lvl="0" indent="0">
                        <a:buNone/>
                      </a:pPr>
                      <a:r>
                        <a:rPr lang="en-US" sz="950">
                          <a:solidFill>
                            <a:srgbClr val="1B2430"/>
                          </a:solidFill>
                          <a:latin typeface="Calibri" pitchFamily="34"/>
                          <a:ea typeface="Calibri" pitchFamily="34"/>
                          <a:cs typeface="Calibri" pitchFamily="34"/>
                        </a:rPr>
                        <a:t>05</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Ersatzteil-Verfügbarkeit und Reservierung</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15</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80 %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3372849370"/>
                  </a:ext>
                </a:extLst>
              </a:tr>
              <a:tr h="274320">
                <a:tc>
                  <a:txBody>
                    <a:bodyPr/>
                    <a:lstStyle/>
                    <a:p>
                      <a:pPr marL="0" lvl="0" indent="0">
                        <a:buNone/>
                      </a:pPr>
                      <a:r>
                        <a:rPr lang="en-US" sz="950">
                          <a:solidFill>
                            <a:srgbClr val="1B2430"/>
                          </a:solidFill>
                          <a:latin typeface="Calibri" pitchFamily="34"/>
                          <a:ea typeface="Calibri" pitchFamily="34"/>
                          <a:cs typeface="Calibri" pitchFamily="34"/>
                        </a:rPr>
                        <a:t>06</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Ersatzteil-Bestellung beim Lieferanten</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17</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65 %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3806912747"/>
                  </a:ext>
                </a:extLst>
              </a:tr>
              <a:tr h="274320">
                <a:tc>
                  <a:txBody>
                    <a:bodyPr/>
                    <a:lstStyle/>
                    <a:p>
                      <a:pPr marL="0" lvl="0" indent="0">
                        <a:buNone/>
                      </a:pPr>
                      <a:r>
                        <a:rPr lang="en-US" sz="950">
                          <a:solidFill>
                            <a:srgbClr val="1B2430"/>
                          </a:solidFill>
                          <a:latin typeface="Calibri" pitchFamily="34"/>
                          <a:ea typeface="Calibri" pitchFamily="34"/>
                          <a:cs typeface="Calibri" pitchFamily="34"/>
                        </a:rPr>
                        <a:t>07</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Reparaturdurchführung und Arbeitszeiterfassung</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13</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46 %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979443222"/>
                  </a:ext>
                </a:extLst>
              </a:tr>
              <a:tr h="274320">
                <a:tc>
                  <a:txBody>
                    <a:bodyPr/>
                    <a:lstStyle/>
                    <a:p>
                      <a:pPr marL="0" lvl="0" indent="0">
                        <a:buNone/>
                      </a:pPr>
                      <a:r>
                        <a:rPr lang="en-US" sz="950">
                          <a:solidFill>
                            <a:srgbClr val="1B2430"/>
                          </a:solidFill>
                          <a:latin typeface="Calibri" pitchFamily="34"/>
                          <a:ea typeface="Calibri" pitchFamily="34"/>
                          <a:cs typeface="Calibri" pitchFamily="34"/>
                        </a:rPr>
                        <a:t>08</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Abholung, Rechnung und Zahlung</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17</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65 %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439483638"/>
                  </a:ext>
                </a:extLst>
              </a:tr>
              <a:tr h="274320">
                <a:tc>
                  <a:txBody>
                    <a:bodyPr/>
                    <a:lstStyle/>
                    <a:p>
                      <a:pPr marL="0" lvl="0" indent="0">
                        <a:buNone/>
                      </a:pPr>
                      <a:r>
                        <a:rPr lang="en-US" sz="950">
                          <a:solidFill>
                            <a:srgbClr val="1B2430"/>
                          </a:solidFill>
                          <a:latin typeface="Calibri" pitchFamily="34"/>
                          <a:ea typeface="Calibri" pitchFamily="34"/>
                          <a:cs typeface="Calibri" pitchFamily="34"/>
                        </a:rPr>
                        <a:t>09</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Reklamation und Gewährleistung</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16</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50 %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5314633"/>
                  </a:ext>
                </a:extLst>
              </a:tr>
              <a:tr h="274320">
                <a:tc>
                  <a:txBody>
                    <a:bodyPr/>
                    <a:lstStyle/>
                    <a:p>
                      <a:pPr marL="0" lvl="0" indent="0">
                        <a:buNone/>
                      </a:pPr>
                      <a:r>
                        <a:rPr lang="en-US" sz="950">
                          <a:solidFill>
                            <a:srgbClr val="1B2430"/>
                          </a:solidFill>
                          <a:latin typeface="Calibri" pitchFamily="34"/>
                          <a:ea typeface="Calibri" pitchFamily="34"/>
                          <a:cs typeface="Calibri" pitchFamily="34"/>
                        </a:rPr>
                        <a:t>10</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Ersatzteil-Retoure und Lieferanten-Reklamation</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9</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950">
                          <a:solidFill>
                            <a:srgbClr val="1B2430"/>
                          </a:solidFill>
                          <a:latin typeface="Calibri" pitchFamily="34"/>
                          <a:ea typeface="Calibri" pitchFamily="34"/>
                          <a:cs typeface="Calibri" pitchFamily="34"/>
                        </a:rPr>
                        <a:t>67 %</a:t>
                      </a:r>
                      <a:endParaRPr lang="en-US" sz="950">
                        <a:latin typeface="Calibri"/>
                        <a:ea typeface="Calibri"/>
                        <a:cs typeface="Calibri"/>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16740355"/>
                  </a:ext>
                </a:extLst>
              </a:tr>
            </a:tbl>
          </a:graphicData>
        </a:graphic>
      </p:graphicFrame>
      <p:sp>
        <p:nvSpPr>
          <p:cNvPr id="4" name="Text 3">
            <a:extLst>
              <a:ext uri="{FF2B5EF4-FFF2-40B4-BE49-F238E27FC236}">
                <a16:creationId xmlns:a16="http://schemas.microsoft.com/office/drawing/2014/main" id="{D6A4E6AE-BEB0-8422-E397-BDCF9F56616D}"/>
              </a:ext>
            </a:extLst>
          </p:cNvPr>
          <p:cNvSpPr txBox="1"/>
          <p:nvPr/>
        </p:nvSpPr>
        <p:spPr>
          <a:xfrm>
            <a:off x="5943600" y="1319918"/>
            <a:ext cx="2743200" cy="7315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4000" b="1" i="0" u="none" strike="noStrike" kern="1200" cap="none" spc="0" baseline="0">
                <a:solidFill>
                  <a:srgbClr val="843C0C"/>
                </a:solidFill>
                <a:uFillTx/>
                <a:latin typeface="Segoe UI" panose="020B0502040204020203" pitchFamily="34" charset="0"/>
                <a:ea typeface="Calibri" pitchFamily="34"/>
                <a:cs typeface="Segoe UI" panose="020B0502040204020203" pitchFamily="34" charset="0"/>
              </a:rPr>
              <a:t>136</a:t>
            </a:r>
            <a:endParaRPr lang="en-US" sz="4000" b="0" i="0" u="none" strike="noStrike" kern="1200" cap="none" spc="0" baseline="0">
              <a:solidFill>
                <a:srgbClr val="843C0C"/>
              </a:solidFill>
              <a:uFillTx/>
              <a:latin typeface="Segoe UI" panose="020B0502040204020203" pitchFamily="34" charset="0"/>
              <a:cs typeface="Segoe UI" panose="020B0502040204020203" pitchFamily="34" charset="0"/>
            </a:endParaRPr>
          </a:p>
        </p:txBody>
      </p:sp>
      <p:sp>
        <p:nvSpPr>
          <p:cNvPr id="5" name="Text 4">
            <a:extLst>
              <a:ext uri="{FF2B5EF4-FFF2-40B4-BE49-F238E27FC236}">
                <a16:creationId xmlns:a16="http://schemas.microsoft.com/office/drawing/2014/main" id="{D9C0883A-1DD8-A514-E661-7648C7C465CE}"/>
              </a:ext>
            </a:extLst>
          </p:cNvPr>
          <p:cNvSpPr txBox="1"/>
          <p:nvPr/>
        </p:nvSpPr>
        <p:spPr>
          <a:xfrm>
            <a:off x="5943600" y="1965804"/>
            <a:ext cx="2743200" cy="5029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anose="020B0502040204020203" pitchFamily="34" charset="0"/>
                <a:ea typeface="Calibri" pitchFamily="34"/>
                <a:cs typeface="Segoe UI" panose="020B0502040204020203" pitchFamily="34" charset="0"/>
              </a:rPr>
              <a:t>Aktivitäten im Werkstatt-Pool</a:t>
            </a:r>
            <a:endParaRPr lang="en-US" sz="1100" b="0" i="0" u="none" strike="noStrike" kern="1200" cap="none" spc="0" baseline="0">
              <a:solidFill>
                <a:srgbClr val="000000"/>
              </a:solidFill>
              <a:uFillTx/>
              <a:latin typeface="Segoe UI" panose="020B0502040204020203" pitchFamily="34" charset="0"/>
              <a:cs typeface="Segoe UI" panose="020B0502040204020203" pitchFamily="34" charset="0"/>
            </a:endParaRPr>
          </a:p>
        </p:txBody>
      </p:sp>
      <p:sp>
        <p:nvSpPr>
          <p:cNvPr id="6" name="Text 5">
            <a:extLst>
              <a:ext uri="{FF2B5EF4-FFF2-40B4-BE49-F238E27FC236}">
                <a16:creationId xmlns:a16="http://schemas.microsoft.com/office/drawing/2014/main" id="{1AE682A0-3FC8-51A0-94C6-968E4AB9D672}"/>
              </a:ext>
            </a:extLst>
          </p:cNvPr>
          <p:cNvSpPr txBox="1"/>
          <p:nvPr/>
        </p:nvSpPr>
        <p:spPr>
          <a:xfrm>
            <a:off x="5943600" y="2691518"/>
            <a:ext cx="2743200" cy="7315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4000" b="1" i="0" u="none" strike="noStrike" kern="1200" cap="none" spc="0" baseline="0">
                <a:solidFill>
                  <a:srgbClr val="843C0C"/>
                </a:solidFill>
                <a:uFillTx/>
                <a:latin typeface="Segoe UI" panose="020B0502040204020203" pitchFamily="34" charset="0"/>
                <a:ea typeface="Calibri" pitchFamily="34"/>
                <a:cs typeface="Segoe UI" panose="020B0502040204020203" pitchFamily="34" charset="0"/>
              </a:rPr>
              <a:t>61,2 %</a:t>
            </a:r>
            <a:endParaRPr lang="en-US" sz="4000" b="0" i="0" u="none" strike="noStrike" kern="1200" cap="none" spc="0" baseline="0">
              <a:solidFill>
                <a:srgbClr val="843C0C"/>
              </a:solidFill>
              <a:uFillTx/>
              <a:latin typeface="Segoe UI" panose="020B0502040204020203" pitchFamily="34" charset="0"/>
              <a:cs typeface="Segoe UI" panose="020B0502040204020203" pitchFamily="34" charset="0"/>
            </a:endParaRPr>
          </a:p>
        </p:txBody>
      </p:sp>
      <p:sp>
        <p:nvSpPr>
          <p:cNvPr id="7" name="Text 6">
            <a:extLst>
              <a:ext uri="{FF2B5EF4-FFF2-40B4-BE49-F238E27FC236}">
                <a16:creationId xmlns:a16="http://schemas.microsoft.com/office/drawing/2014/main" id="{2AB3163C-38C9-A909-A000-9CB1D4380F1E}"/>
              </a:ext>
            </a:extLst>
          </p:cNvPr>
          <p:cNvSpPr txBox="1"/>
          <p:nvPr/>
        </p:nvSpPr>
        <p:spPr>
          <a:xfrm>
            <a:off x="5943600" y="3423038"/>
            <a:ext cx="2743200" cy="50292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00" b="0" i="0" u="none" strike="noStrike" kern="1200" cap="none" spc="0" baseline="0">
                <a:solidFill>
                  <a:srgbClr val="1B2430"/>
                </a:solidFill>
                <a:uFillTx/>
                <a:latin typeface="Segoe UI" panose="020B0502040204020203" pitchFamily="34" charset="0"/>
                <a:ea typeface="Calibri" pitchFamily="34"/>
                <a:cs typeface="Segoe UI" panose="020B0502040204020203" pitchFamily="34" charset="0"/>
              </a:rPr>
              <a:t>davon führt RepairFlow automatisch aus</a:t>
            </a:r>
            <a:endParaRPr lang="en-US" sz="1100" b="0" i="0" u="none" strike="noStrike" kern="1200" cap="none" spc="0" baseline="0">
              <a:solidFill>
                <a:srgbClr val="000000"/>
              </a:solidFill>
              <a:uFillTx/>
              <a:latin typeface="Segoe UI" panose="020B0502040204020203" pitchFamily="34" charset="0"/>
              <a:cs typeface="Segoe UI" panose="020B0502040204020203" pitchFamily="34" charset="0"/>
            </a:endParaRPr>
          </a:p>
        </p:txBody>
      </p:sp>
      <p:sp>
        <p:nvSpPr>
          <p:cNvPr id="8" name="Text 0">
            <a:extLst>
              <a:ext uri="{FF2B5EF4-FFF2-40B4-BE49-F238E27FC236}">
                <a16:creationId xmlns:a16="http://schemas.microsoft.com/office/drawing/2014/main" id="{48D9A9F3-D99F-108C-C76E-E841D37BBD67}"/>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Zehn Prozesse, 61 Prozent automatisiert</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7200" y="249382"/>
            <a:ext cx="8229600" cy="914400"/>
          </a:xfrm>
          <a:prstGeom prst="rect">
            <a:avLst/>
          </a:prstGeom>
          <a:noFill/>
          <a:ln/>
        </p:spPr>
        <p:txBody>
          <a:bodyPr wrap="square" lIns="0" tIns="0" rIns="0" bIns="0" rtlCol="0" anchor="t"/>
          <a:lstStyle/>
          <a:p>
            <a:pPr marL="0" indent="0">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Wer macht was im System?</a:t>
            </a:r>
            <a:endParaRPr lang="de-DE" sz="2800" dirty="0">
              <a:latin typeface="Segoe UI" panose="020B0502040204020203" pitchFamily="34" charset="0"/>
              <a:cs typeface="Segoe UI" panose="020B0502040204020203" pitchFamily="34" charset="0"/>
            </a:endParaRPr>
          </a:p>
          <a:p>
            <a:r>
              <a:rPr lang="de-DE" sz="1400" dirty="0">
                <a:solidFill>
                  <a:schemeClr val="bg1">
                    <a:lumMod val="50000"/>
                  </a:schemeClr>
                </a:solidFill>
                <a:latin typeface="Segoe UI" panose="020B0502040204020203" pitchFamily="34" charset="0"/>
                <a:ea typeface="Calibri" pitchFamily="34" charset="-122"/>
                <a:cs typeface="Segoe UI" panose="020B0502040204020203" pitchFamily="34" charset="0"/>
              </a:rPr>
              <a:t>19 Use Cases die zeigen, wer im System welche Aufgaben übernimmt und in welchem Bereich.</a:t>
            </a:r>
          </a:p>
        </p:txBody>
      </p:sp>
      <p:sp>
        <p:nvSpPr>
          <p:cNvPr id="10" name="Text 6"/>
          <p:cNvSpPr txBox="1"/>
          <p:nvPr/>
        </p:nvSpPr>
        <p:spPr>
          <a:xfrm>
            <a:off x="457201" y="2395107"/>
            <a:ext cx="2011676"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Kundenportal</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1" name="Text 7"/>
          <p:cNvSpPr txBox="1"/>
          <p:nvPr/>
        </p:nvSpPr>
        <p:spPr>
          <a:xfrm>
            <a:off x="751176" y="2936398"/>
            <a:ext cx="1518234" cy="2103120"/>
          </a:xfrm>
          <a:prstGeom prst="rect">
            <a:avLst/>
          </a:prstGeom>
          <a:noFill/>
          <a:ln/>
        </p:spPr>
        <p:txBody>
          <a:bodyPr wrap="square" lIns="0" tIns="0" rIns="0" bIns="0" rtlCol="0" anchor="t"/>
          <a:lstStyle/>
          <a:p>
            <a:r>
              <a:rPr lang="de-DE" sz="1400" b="1" dirty="0">
                <a:solidFill>
                  <a:srgbClr val="1B2430"/>
                </a:solidFill>
                <a:latin typeface="Segoe UI" panose="020B0502040204020203" pitchFamily="34" charset="0"/>
                <a:ea typeface="Calibri" pitchFamily="34" charset="-122"/>
                <a:cs typeface="Segoe UI" panose="020B0502040204020203" pitchFamily="34" charset="0"/>
              </a:rPr>
              <a:t>3 Use Cases</a:t>
            </a:r>
            <a:endParaRPr lang="de-DE" sz="1400" dirty="0">
              <a:latin typeface="Segoe UI" panose="020B0502040204020203" pitchFamily="34" charset="0"/>
              <a:cs typeface="Segoe UI" panose="020B0502040204020203" pitchFamily="34" charset="0"/>
            </a:endParaRPr>
          </a:p>
          <a:p>
            <a:endParaRPr lang="de-DE" sz="1400" dirty="0">
              <a:latin typeface="Segoe UI" panose="020B0502040204020203" pitchFamily="34" charset="0"/>
              <a:cs typeface="Segoe UI" panose="020B0502040204020203" pitchFamily="34" charset="0"/>
            </a:endParaRPr>
          </a:p>
          <a:p>
            <a:r>
              <a:rPr lang="de-DE" sz="1400" dirty="0">
                <a:solidFill>
                  <a:srgbClr val="1B2430"/>
                </a:solidFill>
                <a:latin typeface="Segoe UI" panose="020B0502040204020203" pitchFamily="34" charset="0"/>
                <a:ea typeface="Calibri" pitchFamily="34" charset="-122"/>
                <a:cs typeface="Segoe UI" panose="020B0502040204020203" pitchFamily="34" charset="0"/>
              </a:rPr>
              <a:t>Kunde</a:t>
            </a:r>
            <a:endParaRPr lang="de-DE" sz="1400" dirty="0">
              <a:latin typeface="Segoe UI" panose="020B0502040204020203" pitchFamily="34" charset="0"/>
              <a:cs typeface="Segoe UI" panose="020B0502040204020203" pitchFamily="34" charset="0"/>
            </a:endParaRPr>
          </a:p>
          <a:p>
            <a:r>
              <a:rPr lang="de-DE" sz="1400" dirty="0">
                <a:solidFill>
                  <a:srgbClr val="1B2430"/>
                </a:solidFill>
                <a:latin typeface="Segoe UI" panose="020B0502040204020203" pitchFamily="34" charset="0"/>
                <a:ea typeface="Calibri" pitchFamily="34" charset="-122"/>
                <a:cs typeface="Segoe UI" panose="020B0502040204020203" pitchFamily="34" charset="0"/>
              </a:rPr>
              <a:t>KI-Diagnosedienst (extern)</a:t>
            </a:r>
            <a:endParaRPr lang="de-DE" sz="1400" dirty="0">
              <a:latin typeface="Segoe UI" panose="020B0502040204020203" pitchFamily="34" charset="0"/>
              <a:cs typeface="Segoe UI" panose="020B0502040204020203" pitchFamily="34" charset="0"/>
            </a:endParaRPr>
          </a:p>
        </p:txBody>
      </p:sp>
      <p:sp>
        <p:nvSpPr>
          <p:cNvPr id="15" name="Text 10"/>
          <p:cNvSpPr txBox="1"/>
          <p:nvPr/>
        </p:nvSpPr>
        <p:spPr>
          <a:xfrm>
            <a:off x="2560321" y="2395107"/>
            <a:ext cx="2011676"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Auftrag und Werkstatt</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6" name="Text 11"/>
          <p:cNvSpPr txBox="1"/>
          <p:nvPr/>
        </p:nvSpPr>
        <p:spPr>
          <a:xfrm>
            <a:off x="2854296" y="2936398"/>
            <a:ext cx="1658355" cy="2103120"/>
          </a:xfrm>
          <a:prstGeom prst="rect">
            <a:avLst/>
          </a:prstGeom>
          <a:noFill/>
          <a:ln/>
        </p:spPr>
        <p:txBody>
          <a:bodyPr wrap="square" lIns="0" tIns="0" rIns="0" bIns="0" rtlCol="0" anchor="t"/>
          <a:lstStyle/>
          <a:p>
            <a:r>
              <a:rPr lang="de-DE" sz="1400" b="1" dirty="0">
                <a:solidFill>
                  <a:srgbClr val="1B2430"/>
                </a:solidFill>
                <a:latin typeface="Segoe UI" panose="020B0502040204020203" pitchFamily="34" charset="0"/>
                <a:ea typeface="Calibri" pitchFamily="34" charset="-122"/>
                <a:cs typeface="Segoe UI" panose="020B0502040204020203" pitchFamily="34" charset="0"/>
              </a:rPr>
              <a:t>9 Use Cases</a:t>
            </a:r>
            <a:endParaRPr lang="de-DE" sz="1400">
              <a:latin typeface="Segoe UI" panose="020B0502040204020203" pitchFamily="34" charset="0"/>
              <a:cs typeface="Segoe UI" panose="020B0502040204020203" pitchFamily="34" charset="0"/>
            </a:endParaRPr>
          </a:p>
          <a:p>
            <a:endParaRPr lang="de-DE" sz="1400">
              <a:latin typeface="Segoe UI" panose="020B0502040204020203" pitchFamily="34" charset="0"/>
              <a:cs typeface="Segoe UI" panose="020B0502040204020203" pitchFamily="34" charset="0"/>
            </a:endParaRPr>
          </a:p>
          <a:p>
            <a:r>
              <a:rPr lang="de-DE" sz="1400" dirty="0">
                <a:solidFill>
                  <a:srgbClr val="1B2430"/>
                </a:solidFill>
                <a:latin typeface="Segoe UI" panose="020B0502040204020203" pitchFamily="34" charset="0"/>
                <a:ea typeface="Calibri" pitchFamily="34" charset="-122"/>
                <a:cs typeface="Segoe UI" panose="020B0502040204020203" pitchFamily="34" charset="0"/>
              </a:rPr>
              <a:t>9 Rollen, von der Annahme bis zur Reklamation</a:t>
            </a:r>
            <a:endParaRPr lang="de-DE" sz="1400">
              <a:latin typeface="Segoe UI" panose="020B0502040204020203" pitchFamily="34" charset="0"/>
              <a:cs typeface="Segoe UI" panose="020B0502040204020203" pitchFamily="34" charset="0"/>
            </a:endParaRPr>
          </a:p>
        </p:txBody>
      </p:sp>
      <p:sp>
        <p:nvSpPr>
          <p:cNvPr id="20" name="Text 14"/>
          <p:cNvSpPr txBox="1"/>
          <p:nvPr/>
        </p:nvSpPr>
        <p:spPr>
          <a:xfrm>
            <a:off x="4663441" y="2395107"/>
            <a:ext cx="2011676" cy="457200"/>
          </a:xfrm>
          <a:prstGeom prst="rect">
            <a:avLst/>
          </a:prstGeom>
          <a:noFill/>
          <a:ln/>
        </p:spPr>
        <p:txBody>
          <a:bodyPr wrap="square" lIns="0" tIns="0" rIns="0" bIns="0" rtlCol="0" anchor="ctr"/>
          <a:lstStyle/>
          <a:p>
            <a:pPr marL="0" indent="0" algn="ctr">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Ersatzteil-Disposition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1" name="Text 15"/>
          <p:cNvSpPr txBox="1"/>
          <p:nvPr/>
        </p:nvSpPr>
        <p:spPr>
          <a:xfrm>
            <a:off x="4957415" y="2936398"/>
            <a:ext cx="1735122" cy="2103120"/>
          </a:xfrm>
          <a:prstGeom prst="rect">
            <a:avLst/>
          </a:prstGeom>
          <a:noFill/>
          <a:ln/>
        </p:spPr>
        <p:txBody>
          <a:bodyPr wrap="square" lIns="0" tIns="0" rIns="0" bIns="0" rtlCol="0" anchor="t"/>
          <a:lstStyle/>
          <a:p>
            <a:r>
              <a:rPr lang="de-DE" sz="1400" b="1" dirty="0">
                <a:solidFill>
                  <a:srgbClr val="1B2430"/>
                </a:solidFill>
                <a:latin typeface="Segoe UI" panose="020B0502040204020203" pitchFamily="34" charset="0"/>
                <a:ea typeface="Calibri" pitchFamily="34" charset="-122"/>
                <a:cs typeface="Segoe UI" panose="020B0502040204020203" pitchFamily="34" charset="0"/>
              </a:rPr>
              <a:t>6 Use Cases</a:t>
            </a:r>
            <a:endParaRPr lang="de-DE" sz="1400">
              <a:latin typeface="Segoe UI" panose="020B0502040204020203" pitchFamily="34" charset="0"/>
              <a:cs typeface="Segoe UI" panose="020B0502040204020203" pitchFamily="34" charset="0"/>
            </a:endParaRPr>
          </a:p>
          <a:p>
            <a:endParaRPr lang="de-DE" sz="1400">
              <a:latin typeface="Segoe UI" panose="020B0502040204020203" pitchFamily="34" charset="0"/>
              <a:cs typeface="Segoe UI" panose="020B0502040204020203" pitchFamily="34" charset="0"/>
            </a:endParaRPr>
          </a:p>
          <a:p>
            <a:r>
              <a:rPr lang="de-DE" sz="1400" dirty="0">
                <a:solidFill>
                  <a:srgbClr val="1B2430"/>
                </a:solidFill>
                <a:latin typeface="Segoe UI" panose="020B0502040204020203" pitchFamily="34" charset="0"/>
                <a:ea typeface="Calibri" pitchFamily="34" charset="-122"/>
                <a:cs typeface="Segoe UI" panose="020B0502040204020203" pitchFamily="34" charset="0"/>
              </a:rPr>
              <a:t>5 Rollen</a:t>
            </a:r>
            <a:endParaRPr lang="de-DE" sz="1400">
              <a:latin typeface="Segoe UI" panose="020B0502040204020203" pitchFamily="34" charset="0"/>
              <a:cs typeface="Segoe UI" panose="020B0502040204020203" pitchFamily="34" charset="0"/>
            </a:endParaRPr>
          </a:p>
          <a:p>
            <a:r>
              <a:rPr lang="de-DE" sz="1400" dirty="0">
                <a:solidFill>
                  <a:srgbClr val="1B2430"/>
                </a:solidFill>
                <a:latin typeface="Segoe UI" panose="020B0502040204020203" pitchFamily="34" charset="0"/>
                <a:ea typeface="Calibri" pitchFamily="34" charset="-122"/>
                <a:cs typeface="Segoe UI" panose="020B0502040204020203" pitchFamily="34" charset="0"/>
              </a:rPr>
              <a:t>Lieferant: Black Box</a:t>
            </a:r>
            <a:endParaRPr lang="de-DE" sz="1400">
              <a:latin typeface="Segoe UI" panose="020B0502040204020203" pitchFamily="34" charset="0"/>
              <a:cs typeface="Segoe UI" panose="020B0502040204020203" pitchFamily="34" charset="0"/>
            </a:endParaRPr>
          </a:p>
        </p:txBody>
      </p:sp>
      <p:sp>
        <p:nvSpPr>
          <p:cNvPr id="25" name="Text 18"/>
          <p:cNvSpPr txBox="1"/>
          <p:nvPr/>
        </p:nvSpPr>
        <p:spPr>
          <a:xfrm>
            <a:off x="6771641" y="2395107"/>
            <a:ext cx="1955796" cy="457200"/>
          </a:xfrm>
          <a:prstGeom prst="rect">
            <a:avLst/>
          </a:prstGeom>
          <a:noFill/>
          <a:ln/>
        </p:spPr>
        <p:txBody>
          <a:bodyPr wrap="square" lIns="0" tIns="0" rIns="0" bIns="0" rtlCol="0" anchor="ctr"/>
          <a:lstStyle/>
          <a:p>
            <a:pPr marL="0" indent="0" algn="ctr">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Administration</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26" name="Text 19"/>
          <p:cNvSpPr txBox="1"/>
          <p:nvPr/>
        </p:nvSpPr>
        <p:spPr>
          <a:xfrm>
            <a:off x="7060535" y="2936398"/>
            <a:ext cx="1772914" cy="2103120"/>
          </a:xfrm>
          <a:prstGeom prst="rect">
            <a:avLst/>
          </a:prstGeom>
          <a:noFill/>
          <a:ln/>
        </p:spPr>
        <p:txBody>
          <a:bodyPr wrap="square" lIns="0" tIns="0" rIns="0" bIns="0" rtlCol="0" anchor="t"/>
          <a:lstStyle/>
          <a:p>
            <a:r>
              <a:rPr lang="de-DE" sz="1400" b="1" dirty="0">
                <a:solidFill>
                  <a:srgbClr val="1B2430"/>
                </a:solidFill>
                <a:latin typeface="Segoe UI" panose="020B0502040204020203" pitchFamily="34" charset="0"/>
                <a:ea typeface="Calibri" pitchFamily="34" charset="-122"/>
                <a:cs typeface="Segoe UI" panose="020B0502040204020203" pitchFamily="34" charset="0"/>
              </a:rPr>
              <a:t>1 Use Case</a:t>
            </a:r>
            <a:endParaRPr lang="de-DE" sz="1400">
              <a:latin typeface="Segoe UI" panose="020B0502040204020203" pitchFamily="34" charset="0"/>
              <a:cs typeface="Segoe UI" panose="020B0502040204020203" pitchFamily="34" charset="0"/>
            </a:endParaRPr>
          </a:p>
          <a:p>
            <a:endParaRPr lang="de-DE" sz="1400">
              <a:latin typeface="Segoe UI" panose="020B0502040204020203" pitchFamily="34" charset="0"/>
              <a:cs typeface="Segoe UI" panose="020B0502040204020203" pitchFamily="34" charset="0"/>
            </a:endParaRPr>
          </a:p>
          <a:p>
            <a:r>
              <a:rPr lang="de-DE" sz="1400" dirty="0">
                <a:solidFill>
                  <a:srgbClr val="1B2430"/>
                </a:solidFill>
                <a:latin typeface="Segoe UI" panose="020B0502040204020203" pitchFamily="34" charset="0"/>
                <a:ea typeface="Calibri" pitchFamily="34" charset="-122"/>
                <a:cs typeface="Segoe UI" panose="020B0502040204020203" pitchFamily="34" charset="0"/>
              </a:rPr>
              <a:t>Betriebsadministrator</a:t>
            </a:r>
            <a:endParaRPr lang="de-DE" sz="1400">
              <a:latin typeface="Segoe UI" panose="020B0502040204020203" pitchFamily="34" charset="0"/>
              <a:cs typeface="Segoe UI" panose="020B0502040204020203" pitchFamily="34" charset="0"/>
            </a:endParaRPr>
          </a:p>
        </p:txBody>
      </p:sp>
      <p:pic>
        <p:nvPicPr>
          <p:cNvPr id="4" name="Grafik 3" descr="Person Krone männlich mit einfarbiger Füllung">
            <a:extLst>
              <a:ext uri="{FF2B5EF4-FFF2-40B4-BE49-F238E27FC236}">
                <a16:creationId xmlns:a16="http://schemas.microsoft.com/office/drawing/2014/main" id="{AEB1FA38-ACE7-12DC-E1D4-4EFD2D9C6A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269480" y="1535571"/>
            <a:ext cx="914400" cy="914400"/>
          </a:xfrm>
          <a:prstGeom prst="rect">
            <a:avLst/>
          </a:prstGeom>
        </p:spPr>
      </p:pic>
      <p:pic>
        <p:nvPicPr>
          <p:cNvPr id="27" name="Grafik 26" descr="Lager mit einfarbiger Füllung">
            <a:extLst>
              <a:ext uri="{FF2B5EF4-FFF2-40B4-BE49-F238E27FC236}">
                <a16:creationId xmlns:a16="http://schemas.microsoft.com/office/drawing/2014/main" id="{04171E82-5001-6E17-E22E-4B20080B33A4}"/>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213536" y="1546017"/>
            <a:ext cx="914400" cy="914400"/>
          </a:xfrm>
          <a:prstGeom prst="rect">
            <a:avLst/>
          </a:prstGeom>
        </p:spPr>
      </p:pic>
      <p:pic>
        <p:nvPicPr>
          <p:cNvPr id="29" name="Grafik 28" descr="Schraubenschlüssel mit einfarbiger Füllung">
            <a:extLst>
              <a:ext uri="{FF2B5EF4-FFF2-40B4-BE49-F238E27FC236}">
                <a16:creationId xmlns:a16="http://schemas.microsoft.com/office/drawing/2014/main" id="{4CEC9887-B35A-7CCD-E8F0-D1EC0E17380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086100" y="1476915"/>
            <a:ext cx="914400" cy="914400"/>
          </a:xfrm>
          <a:prstGeom prst="rect">
            <a:avLst/>
          </a:prstGeom>
        </p:spPr>
      </p:pic>
      <p:pic>
        <p:nvPicPr>
          <p:cNvPr id="31" name="Grafik 30" descr="Smartphone mit einfarbiger Füllung">
            <a:extLst>
              <a:ext uri="{FF2B5EF4-FFF2-40B4-BE49-F238E27FC236}">
                <a16:creationId xmlns:a16="http://schemas.microsoft.com/office/drawing/2014/main" id="{D24E70FF-7867-2A73-D1DB-DE0A364255D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05840" y="1476915"/>
            <a:ext cx="914400" cy="9144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108960" cy="457200"/>
          </a:xfrm>
          <a:prstGeom prst="rect">
            <a:avLst/>
          </a:prstGeom>
          <a:noFill/>
          <a:ln/>
        </p:spPr>
        <p:txBody>
          <a:bodyPr wrap="square" lIns="0" tIns="0" rIns="0" bIns="0" rtlCol="0" anchor="ctr"/>
          <a:lstStyle/>
          <a:p>
            <a:pPr marL="0" indent="0">
              <a:buNone/>
            </a:pPr>
            <a:r>
              <a:rPr lang="de-DE"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Reparaturauftrag im Mittelpunkt</a:t>
            </a:r>
            <a:endParaRPr lang="de-DE" sz="1400"/>
          </a:p>
        </p:txBody>
      </p:sp>
      <p:sp>
        <p:nvSpPr>
          <p:cNvPr id="10" name="Text 6"/>
          <p:cNvSpPr txBox="1"/>
          <p:nvPr/>
        </p:nvSpPr>
        <p:spPr>
          <a:xfrm>
            <a:off x="640080" y="1737360"/>
            <a:ext cx="3657600" cy="246888"/>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Befund und Reparaturschritte gehören fest zum Auftrag.</a:t>
            </a:r>
            <a:endParaRPr lang="de-DE" sz="1200"/>
          </a:p>
        </p:txBody>
      </p:sp>
      <p:sp>
        <p:nvSpPr>
          <p:cNvPr id="12" name="Shape 8"/>
          <p:cNvSpPr/>
          <p:nvPr/>
        </p:nvSpPr>
        <p:spPr>
          <a:xfrm>
            <a:off x="489204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Lagerbestand je Filiale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57600" cy="246888"/>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Verfügbarkeit über alle Filialen prüfbar.</a:t>
            </a:r>
            <a:endParaRPr lang="de-DE" sz="1200"/>
          </a:p>
        </p:txBody>
      </p:sp>
      <p:sp>
        <p:nvSpPr>
          <p:cNvPr id="17" name="Shape 12"/>
          <p:cNvSpPr/>
          <p:nvPr/>
        </p:nvSpPr>
        <p:spPr>
          <a:xfrm>
            <a:off x="64008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2519172"/>
            <a:ext cx="228600" cy="228600"/>
          </a:xfrm>
          <a:prstGeom prst="rect">
            <a:avLst/>
          </a:prstGeom>
        </p:spPr>
      </p:pic>
      <p:sp>
        <p:nvSpPr>
          <p:cNvPr id="19" name="Text 13"/>
          <p:cNvSpPr txBox="1"/>
          <p:nvPr/>
        </p:nvSpPr>
        <p:spPr>
          <a:xfrm>
            <a:off x="1234440" y="2386584"/>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Reservierung mit Lebenszyklus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40080" y="2953512"/>
            <a:ext cx="3657600" cy="246888"/>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vorreserviert → reserviert → entnommen oder storniert</a:t>
            </a:r>
            <a:endParaRPr lang="de-DE" sz="1200"/>
          </a:p>
        </p:txBody>
      </p:sp>
      <p:sp>
        <p:nvSpPr>
          <p:cNvPr id="22" name="Shape 16"/>
          <p:cNvSpPr/>
          <p:nvPr/>
        </p:nvSpPr>
        <p:spPr>
          <a:xfrm>
            <a:off x="4892040" y="240487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2519172"/>
            <a:ext cx="228600" cy="228600"/>
          </a:xfrm>
          <a:prstGeom prst="rect">
            <a:avLst/>
          </a:prstGeom>
        </p:spPr>
      </p:pic>
      <p:sp>
        <p:nvSpPr>
          <p:cNvPr id="24" name="Text 17"/>
          <p:cNvSpPr txBox="1"/>
          <p:nvPr/>
        </p:nvSpPr>
        <p:spPr>
          <a:xfrm>
            <a:off x="5486400" y="2386584"/>
            <a:ext cx="3108960" cy="457200"/>
          </a:xfrm>
          <a:prstGeom prst="rect">
            <a:avLst/>
          </a:prstGeom>
          <a:noFill/>
          <a:ln/>
        </p:spPr>
        <p:txBody>
          <a:bodyPr wrap="square" lIns="0" tIns="0" rIns="0" bIns="0" rtlCol="0" anchor="ctr"/>
          <a:lstStyle/>
          <a:p>
            <a:pPr marL="0" indent="0">
              <a:buNone/>
            </a:pPr>
            <a:r>
              <a:rPr lang="de-DE"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Werkstattbetrieb als Zentrale</a:t>
            </a:r>
            <a:endParaRPr lang="de-DE" sz="1400"/>
          </a:p>
        </p:txBody>
      </p:sp>
      <p:sp>
        <p:nvSpPr>
          <p:cNvPr id="25" name="Text 18"/>
          <p:cNvSpPr txBox="1"/>
          <p:nvPr/>
        </p:nvSpPr>
        <p:spPr>
          <a:xfrm>
            <a:off x="4892040" y="2953512"/>
            <a:ext cx="3657600" cy="246888"/>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Kennt alle Aufträge. Zugriff nur über KundenApp und Werkstattoberfläche.</a:t>
            </a:r>
            <a:endParaRPr lang="de-DE" sz="1200"/>
          </a:p>
        </p:txBody>
      </p:sp>
      <p:sp>
        <p:nvSpPr>
          <p:cNvPr id="27" name="Shape 20"/>
          <p:cNvSpPr/>
          <p:nvPr/>
        </p:nvSpPr>
        <p:spPr>
          <a:xfrm>
            <a:off x="640080" y="3621024"/>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8" name="Image 4" descr="preencoded.png"/>
          <p:cNvPicPr>
            <a:picLocks noChangeAspect="1"/>
          </p:cNvPicPr>
          <p:nvPr/>
        </p:nvPicPr>
        <p:blipFill>
          <a:blip r:embed="rId7"/>
          <a:stretch>
            <a:fillRect/>
          </a:stretch>
        </p:blipFill>
        <p:spPr>
          <a:xfrm>
            <a:off x="754380" y="3735324"/>
            <a:ext cx="228600" cy="228600"/>
          </a:xfrm>
          <a:prstGeom prst="rect">
            <a:avLst/>
          </a:prstGeom>
        </p:spPr>
      </p:pic>
      <p:sp>
        <p:nvSpPr>
          <p:cNvPr id="29" name="Text 21"/>
          <p:cNvSpPr txBox="1"/>
          <p:nvPr/>
        </p:nvSpPr>
        <p:spPr>
          <a:xfrm>
            <a:off x="1234440" y="3602736"/>
            <a:ext cx="31089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Drei Klassen für die Sofortdiagnose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30" name="Text 22"/>
          <p:cNvSpPr txBox="1"/>
          <p:nvPr/>
        </p:nvSpPr>
        <p:spPr>
          <a:xfrm>
            <a:off x="640080" y="4169664"/>
            <a:ext cx="3657600" cy="246888"/>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Voranmeldung, Medienanhang, KIDiagnosevorschlag</a:t>
            </a:r>
            <a:endParaRPr lang="de-DE" sz="1200"/>
          </a:p>
        </p:txBody>
      </p:sp>
      <p:sp>
        <p:nvSpPr>
          <p:cNvPr id="31" name="Shape 23"/>
          <p:cNvSpPr/>
          <p:nvPr/>
        </p:nvSpPr>
        <p:spPr>
          <a:xfrm>
            <a:off x="4753550" y="3621024"/>
            <a:ext cx="3657600" cy="457200"/>
          </a:xfrm>
          <a:prstGeom prst="roundRect">
            <a:avLst>
              <a:gd name="adj" fmla="val 0"/>
            </a:avLst>
          </a:prstGeom>
          <a:solidFill>
            <a:schemeClr val="bg1">
              <a:lumMod val="75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sp>
        <p:nvSpPr>
          <p:cNvPr id="32" name="Text 24"/>
          <p:cNvSpPr txBox="1"/>
          <p:nvPr/>
        </p:nvSpPr>
        <p:spPr>
          <a:xfrm>
            <a:off x="4753550" y="3621024"/>
            <a:ext cx="3657600" cy="457200"/>
          </a:xfrm>
          <a:prstGeom prst="rect">
            <a:avLst/>
          </a:prstGeom>
          <a:noFill/>
          <a:ln/>
        </p:spPr>
        <p:txBody>
          <a:bodyPr wrap="square" lIns="0" tIns="0" rIns="0" bIns="0" rtlCol="0" anchor="ctr"/>
          <a:lstStyle/>
          <a:p>
            <a:pPr marL="0" indent="0" algn="ctr">
              <a:buNone/>
            </a:pPr>
            <a:r>
              <a:rPr lang="de-DE" sz="1200" b="1" dirty="0">
                <a:solidFill>
                  <a:srgbClr val="FFFFFF"/>
                </a:solidFill>
                <a:latin typeface="Segoe UI" panose="020B0502040204020203" pitchFamily="34" charset="0"/>
                <a:ea typeface="Calibri" pitchFamily="34" charset="-122"/>
                <a:cs typeface="Segoe UI" panose="020B0502040204020203" pitchFamily="34" charset="0"/>
              </a:rPr>
              <a:t>29 Klassen · 40 Assoziationen · 7 Aufzählungen</a:t>
            </a:r>
            <a:endParaRPr lang="de-DE" sz="1200"/>
          </a:p>
        </p:txBody>
      </p:sp>
      <p:sp>
        <p:nvSpPr>
          <p:cNvPr id="3" name="Text 0">
            <a:extLst>
              <a:ext uri="{FF2B5EF4-FFF2-40B4-BE49-F238E27FC236}">
                <a16:creationId xmlns:a16="http://schemas.microsoft.com/office/drawing/2014/main" id="{110DB46F-C11F-F27E-51D6-54213AA7C530}"/>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Das Datenmodell: Fünf Entscheidungen</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467612"/>
            <a:ext cx="228600" cy="228600"/>
          </a:xfrm>
          <a:prstGeom prst="rect">
            <a:avLst/>
          </a:prstGeom>
        </p:spPr>
      </p:pic>
      <p:sp>
        <p:nvSpPr>
          <p:cNvPr id="9" name="Text 5"/>
          <p:cNvSpPr txBox="1"/>
          <p:nvPr/>
        </p:nvSpPr>
        <p:spPr>
          <a:xfrm>
            <a:off x="1234440" y="1335024"/>
            <a:ext cx="1737360" cy="457200"/>
          </a:xfrm>
          <a:prstGeom prst="rect">
            <a:avLst/>
          </a:prstGeom>
          <a:noFill/>
          <a:ln/>
        </p:spPr>
        <p:txBody>
          <a:bodyPr wrap="square" lIns="0" tIns="0" rIns="0" bIns="0" rtlCol="0" anchor="ctr"/>
          <a:lstStyle/>
          <a:p>
            <a:pPr marL="0" indent="0">
              <a:buNone/>
            </a:pPr>
            <a:r>
              <a:rPr lang="de-DE"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Regeln</a:t>
            </a:r>
            <a:endParaRPr lang="de-DE" sz="1400"/>
          </a:p>
        </p:txBody>
      </p:sp>
      <p:sp>
        <p:nvSpPr>
          <p:cNvPr id="10" name="Text 6"/>
          <p:cNvSpPr txBox="1"/>
          <p:nvPr/>
        </p:nvSpPr>
        <p:spPr>
          <a:xfrm>
            <a:off x="640080" y="1901952"/>
            <a:ext cx="2286000" cy="141732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Gleiche Namen in allen Modellen. Jede Rolle hat genau eine Lane und eine Klasse.</a:t>
            </a:r>
            <a:endParaRPr lang="de-DE" sz="1200"/>
          </a:p>
        </p:txBody>
      </p:sp>
      <p:sp>
        <p:nvSpPr>
          <p:cNvPr id="12" name="Shape 8"/>
          <p:cNvSpPr/>
          <p:nvPr/>
        </p:nvSpPr>
        <p:spPr>
          <a:xfrm>
            <a:off x="342900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3543300" y="1467612"/>
            <a:ext cx="228600" cy="228600"/>
          </a:xfrm>
          <a:prstGeom prst="rect">
            <a:avLst/>
          </a:prstGeom>
        </p:spPr>
      </p:pic>
      <p:sp>
        <p:nvSpPr>
          <p:cNvPr id="14" name="Text 9"/>
          <p:cNvSpPr txBox="1"/>
          <p:nvPr/>
        </p:nvSpPr>
        <p:spPr>
          <a:xfrm>
            <a:off x="402336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Werkzeuge</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3429000" y="1901952"/>
            <a:ext cx="2286000" cy="141732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Prozesse für Camunda 8 ergänzt. Zwei Prüfprogramme: 0 Fehler.</a:t>
            </a:r>
            <a:endParaRPr lang="de-DE" sz="1200"/>
          </a:p>
        </p:txBody>
      </p:sp>
      <p:sp>
        <p:nvSpPr>
          <p:cNvPr id="17" name="Shape 12"/>
          <p:cNvSpPr/>
          <p:nvPr/>
        </p:nvSpPr>
        <p:spPr>
          <a:xfrm>
            <a:off x="6217920" y="1353312"/>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6332220" y="1467612"/>
            <a:ext cx="228600" cy="228600"/>
          </a:xfrm>
          <a:prstGeom prst="rect">
            <a:avLst/>
          </a:prstGeom>
        </p:spPr>
      </p:pic>
      <p:sp>
        <p:nvSpPr>
          <p:cNvPr id="19" name="Text 13"/>
          <p:cNvSpPr txBox="1"/>
          <p:nvPr/>
        </p:nvSpPr>
        <p:spPr>
          <a:xfrm>
            <a:off x="6812280" y="1335024"/>
            <a:ext cx="173736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Reviews</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20" name="Text 14"/>
          <p:cNvSpPr txBox="1"/>
          <p:nvPr/>
        </p:nvSpPr>
        <p:spPr>
          <a:xfrm>
            <a:off x="6217920" y="1901952"/>
            <a:ext cx="2286000" cy="1417320"/>
          </a:xfrm>
          <a:prstGeom prst="rect">
            <a:avLst/>
          </a:prstGeom>
          <a:noFill/>
          <a:ln/>
        </p:spPr>
        <p:txBody>
          <a:bodyPr wrap="square" lIns="0" tIns="0" rIns="0" bIns="0" rtlCol="0" anchor="t"/>
          <a:lstStyle/>
          <a:p>
            <a:pPr marL="0" indent="0">
              <a:buNone/>
            </a:pPr>
            <a:r>
              <a:rPr lang="de-DE" sz="1200" dirty="0">
                <a:solidFill>
                  <a:srgbClr val="1B2430"/>
                </a:solidFill>
                <a:latin typeface="Segoe UI" panose="020B0502040204020203" pitchFamily="34" charset="0"/>
                <a:ea typeface="Calibri" pitchFamily="34" charset="-122"/>
                <a:cs typeface="Segoe UI" panose="020B0502040204020203" pitchFamily="34" charset="0"/>
              </a:rPr>
              <a:t>Jedes Diagramm von einer zweiten Person geprüft. Jede Änderung gegen eine Checkliste.</a:t>
            </a:r>
            <a:endParaRPr lang="de-DE" sz="1200"/>
          </a:p>
        </p:txBody>
      </p:sp>
      <p:grpSp>
        <p:nvGrpSpPr>
          <p:cNvPr id="31" name="Gruppieren 30">
            <a:extLst>
              <a:ext uri="{FF2B5EF4-FFF2-40B4-BE49-F238E27FC236}">
                <a16:creationId xmlns:a16="http://schemas.microsoft.com/office/drawing/2014/main" id="{FA2A3CE9-9175-6313-DC1F-4D76D94B0ADA}"/>
              </a:ext>
            </a:extLst>
          </p:cNvPr>
          <p:cNvGrpSpPr/>
          <p:nvPr/>
        </p:nvGrpSpPr>
        <p:grpSpPr>
          <a:xfrm>
            <a:off x="640080" y="3719650"/>
            <a:ext cx="457200" cy="457200"/>
            <a:chOff x="640080" y="3472540"/>
            <a:chExt cx="457200" cy="457200"/>
          </a:xfrm>
        </p:grpSpPr>
        <p:sp>
          <p:nvSpPr>
            <p:cNvPr id="22" name="Shape 16"/>
            <p:cNvSpPr/>
            <p:nvPr/>
          </p:nvSpPr>
          <p:spPr>
            <a:xfrm>
              <a:off x="640080" y="3472540"/>
              <a:ext cx="457200" cy="457200"/>
            </a:xfrm>
            <a:prstGeom prst="ellipse">
              <a:avLst/>
            </a:prstGeom>
            <a:solidFill>
              <a:schemeClr val="accent2">
                <a:lumMod val="75000"/>
              </a:schemeClr>
            </a:solidFill>
            <a:ln w="12700">
              <a:noFill/>
              <a:prstDash val="solid"/>
            </a:ln>
          </p:spPr>
          <p:txBody>
            <a:bodyPr anchor="t"/>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754380" y="3586840"/>
              <a:ext cx="228600" cy="228600"/>
            </a:xfrm>
            <a:prstGeom prst="rect">
              <a:avLst/>
            </a:prstGeom>
          </p:spPr>
        </p:pic>
      </p:grpSp>
      <p:sp>
        <p:nvSpPr>
          <p:cNvPr id="24" name="Text 17"/>
          <p:cNvSpPr txBox="1"/>
          <p:nvPr/>
        </p:nvSpPr>
        <p:spPr>
          <a:xfrm>
            <a:off x="1234440" y="3422470"/>
            <a:ext cx="7315200" cy="1051560"/>
          </a:xfrm>
          <a:prstGeom prst="rect">
            <a:avLst/>
          </a:prstGeom>
          <a:noFill/>
          <a:ln/>
        </p:spPr>
        <p:txBody>
          <a:bodyPr wrap="square" lIns="0" tIns="0" rIns="0" bIns="0" rtlCol="0" anchor="ctr"/>
          <a:lstStyle/>
          <a:p>
            <a:pPr marL="0" indent="0">
              <a:buNone/>
            </a:pPr>
            <a:r>
              <a:rPr lang="de-DE" sz="1200" b="1" dirty="0">
                <a:solidFill>
                  <a:srgbClr val="1B2430"/>
                </a:solidFill>
                <a:latin typeface="Segoe UI" panose="020B0502040204020203" pitchFamily="34" charset="0"/>
                <a:ea typeface="Calibri" pitchFamily="34" charset="-122"/>
                <a:cs typeface="Segoe UI" panose="020B0502040204020203" pitchFamily="34" charset="0"/>
              </a:rPr>
              <a:t>Beispiel: </a:t>
            </a:r>
            <a:r>
              <a:rPr lang="de-DE" sz="1200" dirty="0">
                <a:solidFill>
                  <a:srgbClr val="1B2430"/>
                </a:solidFill>
                <a:latin typeface="Segoe UI" panose="020B0502040204020203" pitchFamily="34" charset="0"/>
                <a:ea typeface="Calibri" pitchFamily="34" charset="-122"/>
                <a:cs typeface="Segoe UI" panose="020B0502040204020203" pitchFamily="34" charset="0"/>
              </a:rPr>
              <a:t>Nacharbeit höchstens zweimal. Diese Regel muss in allen Modellen gleich stehen.</a:t>
            </a:r>
            <a:endParaRPr lang="de-DE" sz="1200"/>
          </a:p>
        </p:txBody>
      </p:sp>
      <p:cxnSp>
        <p:nvCxnSpPr>
          <p:cNvPr id="25" name="Gerade Verbindung 24">
            <a:extLst>
              <a:ext uri="{FF2B5EF4-FFF2-40B4-BE49-F238E27FC236}">
                <a16:creationId xmlns:a16="http://schemas.microsoft.com/office/drawing/2014/main" id="{D5EFE5D9-C3D8-26D9-F970-BB4CB7288B68}"/>
              </a:ext>
            </a:extLst>
          </p:cNvPr>
          <p:cNvCxnSpPr>
            <a:cxnSpLocks/>
          </p:cNvCxnSpPr>
          <p:nvPr/>
        </p:nvCxnSpPr>
        <p:spPr>
          <a:xfrm>
            <a:off x="3130568" y="1255555"/>
            <a:ext cx="0" cy="1392754"/>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cxnSp>
        <p:nvCxnSpPr>
          <p:cNvPr id="29" name="Gerade Verbindung 28">
            <a:extLst>
              <a:ext uri="{FF2B5EF4-FFF2-40B4-BE49-F238E27FC236}">
                <a16:creationId xmlns:a16="http://schemas.microsoft.com/office/drawing/2014/main" id="{09514B9D-32E7-BB9F-8DA7-B9C3F358B01C}"/>
              </a:ext>
            </a:extLst>
          </p:cNvPr>
          <p:cNvCxnSpPr>
            <a:cxnSpLocks/>
          </p:cNvCxnSpPr>
          <p:nvPr/>
        </p:nvCxnSpPr>
        <p:spPr>
          <a:xfrm>
            <a:off x="5862267" y="1255555"/>
            <a:ext cx="0" cy="1392754"/>
          </a:xfrm>
          <a:prstGeom prst="line">
            <a:avLst/>
          </a:prstGeom>
          <a:ln w="127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
        <p:nvSpPr>
          <p:cNvPr id="32" name="Text 0">
            <a:extLst>
              <a:ext uri="{FF2B5EF4-FFF2-40B4-BE49-F238E27FC236}">
                <a16:creationId xmlns:a16="http://schemas.microsoft.com/office/drawing/2014/main" id="{A7749E11-E8A2-610C-77B7-EC1F202E324B}"/>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Qualität: Regeln, Werkzeuge, Reviews</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hape 4"/>
          <p:cNvSpPr/>
          <p:nvPr/>
        </p:nvSpPr>
        <p:spPr>
          <a:xfrm>
            <a:off x="640080" y="118872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8" name="Image 0" descr="preencoded.png"/>
          <p:cNvPicPr>
            <a:picLocks noChangeAspect="1"/>
          </p:cNvPicPr>
          <p:nvPr/>
        </p:nvPicPr>
        <p:blipFill>
          <a:blip r:embed="rId3"/>
          <a:stretch>
            <a:fillRect/>
          </a:stretch>
        </p:blipFill>
        <p:spPr>
          <a:xfrm>
            <a:off x="754380" y="1303020"/>
            <a:ext cx="228600" cy="228600"/>
          </a:xfrm>
          <a:prstGeom prst="rect">
            <a:avLst/>
          </a:prstGeom>
        </p:spPr>
      </p:pic>
      <p:sp>
        <p:nvSpPr>
          <p:cNvPr id="9" name="Text 5"/>
          <p:cNvSpPr txBox="1"/>
          <p:nvPr/>
        </p:nvSpPr>
        <p:spPr>
          <a:xfrm>
            <a:off x="1234440" y="1170432"/>
            <a:ext cx="3063240" cy="457200"/>
          </a:xfrm>
          <a:prstGeom prst="rect">
            <a:avLst/>
          </a:prstGeom>
          <a:noFill/>
          <a:ln/>
        </p:spPr>
        <p:txBody>
          <a:bodyPr wrap="square" lIns="0" tIns="0" rIns="0" bIns="0" rtlCol="0" anchor="ctr"/>
          <a:lstStyle/>
          <a:p>
            <a:pPr marL="0" indent="0">
              <a:buNone/>
            </a:pPr>
            <a:r>
              <a:rPr lang="en-US"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Perspektive klären</a:t>
            </a:r>
            <a:endParaRPr lang="en-US" sz="1400" dirty="0">
              <a:solidFill>
                <a:schemeClr val="accent2">
                  <a:lumMod val="50000"/>
                </a:schemeClr>
              </a:solidFill>
              <a:latin typeface="Segoe UI" panose="020B0502040204020203" pitchFamily="34" charset="0"/>
              <a:cs typeface="Segoe UI" panose="020B0502040204020203" pitchFamily="34" charset="0"/>
            </a:endParaRPr>
          </a:p>
        </p:txBody>
      </p:sp>
      <p:sp>
        <p:nvSpPr>
          <p:cNvPr id="10" name="Text 6"/>
          <p:cNvSpPr txBox="1"/>
          <p:nvPr/>
        </p:nvSpPr>
        <p:spPr>
          <a:xfrm>
            <a:off x="640080" y="1737360"/>
            <a:ext cx="3611880" cy="86868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Werkstatt oder Softwareanbieter? Wir sind der Anbieter, FixWerk ist Pilotkunde.</a:t>
            </a:r>
            <a:endParaRPr lang="de-DE" sz="1400">
              <a:latin typeface="Segoe UI" panose="020B0502040204020203" pitchFamily="34" charset="0"/>
              <a:cs typeface="Segoe UI" panose="020B0502040204020203" pitchFamily="34" charset="0"/>
            </a:endParaRPr>
          </a:p>
        </p:txBody>
      </p:sp>
      <p:sp>
        <p:nvSpPr>
          <p:cNvPr id="12" name="Shape 8"/>
          <p:cNvSpPr/>
          <p:nvPr/>
        </p:nvSpPr>
        <p:spPr>
          <a:xfrm>
            <a:off x="4892040" y="118872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latin typeface="Segoe UI" panose="020B0502040204020203" pitchFamily="34" charset="0"/>
              <a:cs typeface="Segoe UI" panose="020B0502040204020203" pitchFamily="34" charset="0"/>
            </a:endParaRPr>
          </a:p>
        </p:txBody>
      </p:sp>
      <p:pic>
        <p:nvPicPr>
          <p:cNvPr id="13" name="Image 1" descr="preencoded.png"/>
          <p:cNvPicPr>
            <a:picLocks noChangeAspect="1"/>
          </p:cNvPicPr>
          <p:nvPr/>
        </p:nvPicPr>
        <p:blipFill>
          <a:blip r:embed="rId4"/>
          <a:stretch>
            <a:fillRect/>
          </a:stretch>
        </p:blipFill>
        <p:spPr>
          <a:xfrm>
            <a:off x="5006340" y="1303020"/>
            <a:ext cx="228600" cy="228600"/>
          </a:xfrm>
          <a:prstGeom prst="rect">
            <a:avLst/>
          </a:prstGeom>
        </p:spPr>
      </p:pic>
      <p:sp>
        <p:nvSpPr>
          <p:cNvPr id="14" name="Text 9"/>
          <p:cNvSpPr txBox="1"/>
          <p:nvPr/>
        </p:nvSpPr>
        <p:spPr>
          <a:xfrm>
            <a:off x="5486400" y="1170432"/>
            <a:ext cx="3063240" cy="457200"/>
          </a:xfrm>
          <a:prstGeom prst="rect">
            <a:avLst/>
          </a:prstGeom>
          <a:noFill/>
          <a:ln>
            <a:noFill/>
          </a:ln>
        </p:spPr>
        <p:txBody>
          <a:bodyPr wrap="square" lIns="0" tIns="0" rIns="0" bIns="0" rtlCol="0" anchor="ctr"/>
          <a:lstStyle/>
          <a:p>
            <a:pPr marL="0" indent="0">
              <a:buNone/>
            </a:pPr>
            <a:r>
              <a:rPr lang="en-US"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Drei Modelle, ein Vokabular</a:t>
            </a:r>
            <a:endParaRPr lang="en-US" sz="1400" dirty="0">
              <a:solidFill>
                <a:schemeClr val="accent2">
                  <a:lumMod val="75000"/>
                </a:schemeClr>
              </a:solidFill>
              <a:latin typeface="Segoe UI" panose="020B0502040204020203" pitchFamily="34" charset="0"/>
              <a:cs typeface="Segoe UI" panose="020B0502040204020203" pitchFamily="34" charset="0"/>
            </a:endParaRPr>
          </a:p>
        </p:txBody>
      </p:sp>
      <p:sp>
        <p:nvSpPr>
          <p:cNvPr id="15" name="Text 10"/>
          <p:cNvSpPr txBox="1"/>
          <p:nvPr/>
        </p:nvSpPr>
        <p:spPr>
          <a:xfrm>
            <a:off x="4892040" y="1737360"/>
            <a:ext cx="3611880" cy="86868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Klassen, Datenobjekte und Statuswerte heißen überall gleich.</a:t>
            </a:r>
            <a:endParaRPr lang="de-DE" sz="1400">
              <a:latin typeface="Segoe UI" panose="020B0502040204020203" pitchFamily="34" charset="0"/>
              <a:cs typeface="Segoe UI" panose="020B0502040204020203" pitchFamily="34" charset="0"/>
            </a:endParaRPr>
          </a:p>
        </p:txBody>
      </p:sp>
      <p:sp>
        <p:nvSpPr>
          <p:cNvPr id="17" name="Shape 12"/>
          <p:cNvSpPr/>
          <p:nvPr/>
        </p:nvSpPr>
        <p:spPr>
          <a:xfrm>
            <a:off x="640080" y="3063240"/>
            <a:ext cx="457200" cy="457200"/>
          </a:xfrm>
          <a:prstGeom prst="ellipse">
            <a:avLst/>
          </a:prstGeom>
          <a:solidFill>
            <a:schemeClr val="accent2">
              <a:lumMod val="75000"/>
            </a:schemeClr>
          </a:solidFill>
          <a:ln w="12700">
            <a:noFill/>
            <a:prstDash val="solid"/>
          </a:ln>
        </p:spPr>
        <p:txBody>
          <a:bodyPr/>
          <a:lstStyle/>
          <a:p>
            <a:endParaRPr lang="de-DE">
              <a:solidFill>
                <a:schemeClr val="accent2">
                  <a:lumMod val="75000"/>
                </a:schemeClr>
              </a:solidFill>
              <a:latin typeface="Segoe UI" panose="020B0502040204020203" pitchFamily="34" charset="0"/>
              <a:cs typeface="Segoe UI" panose="020B0502040204020203" pitchFamily="34" charset="0"/>
            </a:endParaRPr>
          </a:p>
        </p:txBody>
      </p:sp>
      <p:pic>
        <p:nvPicPr>
          <p:cNvPr id="18" name="Image 2" descr="preencoded.png"/>
          <p:cNvPicPr>
            <a:picLocks noChangeAspect="1"/>
          </p:cNvPicPr>
          <p:nvPr/>
        </p:nvPicPr>
        <p:blipFill>
          <a:blip r:embed="rId5"/>
          <a:stretch>
            <a:fillRect/>
          </a:stretch>
        </p:blipFill>
        <p:spPr>
          <a:xfrm>
            <a:off x="754380" y="3177540"/>
            <a:ext cx="228600" cy="228600"/>
          </a:xfrm>
          <a:prstGeom prst="rect">
            <a:avLst/>
          </a:prstGeom>
        </p:spPr>
      </p:pic>
      <p:sp>
        <p:nvSpPr>
          <p:cNvPr id="19" name="Text 13"/>
          <p:cNvSpPr txBox="1"/>
          <p:nvPr/>
        </p:nvSpPr>
        <p:spPr>
          <a:xfrm>
            <a:off x="1234440" y="3044952"/>
            <a:ext cx="3063240" cy="457200"/>
          </a:xfrm>
          <a:prstGeom prst="rect">
            <a:avLst/>
          </a:prstGeom>
          <a:noFill/>
          <a:ln>
            <a:noFill/>
          </a:ln>
        </p:spPr>
        <p:txBody>
          <a:bodyPr wrap="square" lIns="0" tIns="0" rIns="0" bIns="0" rtlCol="0" anchor="ctr"/>
          <a:lstStyle/>
          <a:p>
            <a:pPr marL="0" indent="0">
              <a:buNone/>
            </a:pPr>
            <a:r>
              <a:rPr lang="de-DE" sz="14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Keine Fehler im Camunda Modeler</a:t>
            </a:r>
            <a:endParaRPr lang="de-DE" sz="1400" dirty="0">
              <a:latin typeface="Segoe UI" panose="020B0502040204020203" pitchFamily="34" charset="0"/>
              <a:cs typeface="Segoe UI" panose="020B0502040204020203" pitchFamily="34" charset="0"/>
            </a:endParaRPr>
          </a:p>
        </p:txBody>
      </p:sp>
      <p:sp>
        <p:nvSpPr>
          <p:cNvPr id="20" name="Text 14"/>
          <p:cNvSpPr txBox="1"/>
          <p:nvPr/>
        </p:nvSpPr>
        <p:spPr>
          <a:xfrm>
            <a:off x="640080" y="3611880"/>
            <a:ext cx="3611880" cy="86868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Diagramme so lange ergänzt, bis keine Fehler mehr kamen.</a:t>
            </a:r>
            <a:endParaRPr lang="de-DE" sz="1400">
              <a:latin typeface="Segoe UI" panose="020B0502040204020203" pitchFamily="34" charset="0"/>
              <a:cs typeface="Segoe UI" panose="020B0502040204020203" pitchFamily="34" charset="0"/>
            </a:endParaRPr>
          </a:p>
        </p:txBody>
      </p:sp>
      <p:sp>
        <p:nvSpPr>
          <p:cNvPr id="22" name="Shape 16"/>
          <p:cNvSpPr/>
          <p:nvPr/>
        </p:nvSpPr>
        <p:spPr>
          <a:xfrm>
            <a:off x="4892040" y="3063240"/>
            <a:ext cx="457200" cy="457200"/>
          </a:xfrm>
          <a:prstGeom prst="ellipse">
            <a:avLst/>
          </a:prstGeom>
          <a:solidFill>
            <a:schemeClr val="accent2">
              <a:lumMod val="50000"/>
            </a:schemeClr>
          </a:solidFill>
          <a:ln w="12700">
            <a:noFill/>
            <a:prstDash val="solid"/>
          </a:ln>
        </p:spPr>
        <p:txBody>
          <a:bodyPr/>
          <a:lstStyle/>
          <a:p>
            <a:endParaRPr lang="de-DE">
              <a:latin typeface="Segoe UI" panose="020B0502040204020203" pitchFamily="34" charset="0"/>
              <a:cs typeface="Segoe UI" panose="020B0502040204020203" pitchFamily="34" charset="0"/>
            </a:endParaRPr>
          </a:p>
        </p:txBody>
      </p:sp>
      <p:pic>
        <p:nvPicPr>
          <p:cNvPr id="23" name="Image 3" descr="preencoded.png"/>
          <p:cNvPicPr>
            <a:picLocks noChangeAspect="1"/>
          </p:cNvPicPr>
          <p:nvPr/>
        </p:nvPicPr>
        <p:blipFill>
          <a:blip r:embed="rId6"/>
          <a:stretch>
            <a:fillRect/>
          </a:stretch>
        </p:blipFill>
        <p:spPr>
          <a:xfrm>
            <a:off x="5006340" y="3177540"/>
            <a:ext cx="228600" cy="228600"/>
          </a:xfrm>
          <a:prstGeom prst="rect">
            <a:avLst/>
          </a:prstGeom>
        </p:spPr>
      </p:pic>
      <p:sp>
        <p:nvSpPr>
          <p:cNvPr id="24" name="Text 17"/>
          <p:cNvSpPr txBox="1"/>
          <p:nvPr/>
        </p:nvSpPr>
        <p:spPr>
          <a:xfrm>
            <a:off x="5486400" y="3044952"/>
            <a:ext cx="3063240" cy="457200"/>
          </a:xfrm>
          <a:prstGeom prst="rect">
            <a:avLst/>
          </a:prstGeom>
          <a:noFill/>
          <a:ln/>
        </p:spPr>
        <p:txBody>
          <a:bodyPr wrap="square" lIns="0" tIns="0" rIns="0" bIns="0" rtlCol="0" anchor="ctr"/>
          <a:lstStyle/>
          <a:p>
            <a:pPr marL="0" indent="0">
              <a:buNone/>
            </a:pPr>
            <a:r>
              <a:rPr lang="de-DE" sz="1400" b="1" dirty="0">
                <a:solidFill>
                  <a:schemeClr val="accent2">
                    <a:lumMod val="50000"/>
                  </a:schemeClr>
                </a:solidFill>
                <a:latin typeface="Segoe UI" panose="020B0502040204020203" pitchFamily="34" charset="0"/>
                <a:ea typeface="Calibri" pitchFamily="34" charset="-122"/>
                <a:cs typeface="Segoe UI" panose="020B0502040204020203" pitchFamily="34" charset="0"/>
              </a:rPr>
              <a:t>Feedback aus den Coachings</a:t>
            </a:r>
            <a:endParaRPr lang="de-DE" sz="1400">
              <a:latin typeface="Segoe UI" panose="020B0502040204020203" pitchFamily="34" charset="0"/>
              <a:cs typeface="Segoe UI" panose="020B0502040204020203" pitchFamily="34" charset="0"/>
            </a:endParaRPr>
          </a:p>
        </p:txBody>
      </p:sp>
      <p:sp>
        <p:nvSpPr>
          <p:cNvPr id="25" name="Text 18"/>
          <p:cNvSpPr txBox="1"/>
          <p:nvPr/>
        </p:nvSpPr>
        <p:spPr>
          <a:xfrm>
            <a:off x="4892040" y="3611880"/>
            <a:ext cx="3611880" cy="868680"/>
          </a:xfrm>
          <a:prstGeom prst="rect">
            <a:avLst/>
          </a:prstGeom>
          <a:noFill/>
          <a:ln/>
        </p:spPr>
        <p:txBody>
          <a:bodyPr wrap="square" lIns="0" tIns="0" rIns="0" bIns="0" rtlCol="0" anchor="t"/>
          <a:lstStyle/>
          <a:p>
            <a:pPr marL="0" indent="0">
              <a:buNone/>
            </a:pPr>
            <a:r>
              <a:rPr lang="de-DE" sz="1400" dirty="0">
                <a:solidFill>
                  <a:srgbClr val="1B2430"/>
                </a:solidFill>
                <a:latin typeface="Segoe UI" panose="020B0502040204020203" pitchFamily="34" charset="0"/>
                <a:ea typeface="Calibri" pitchFamily="34" charset="-122"/>
                <a:cs typeface="Segoe UI" panose="020B0502040204020203" pitchFamily="34" charset="0"/>
              </a:rPr>
              <a:t>Eine Rolle je Use Case, Oberflächen vor dem Fachobjekt.</a:t>
            </a:r>
            <a:endParaRPr lang="de-DE" sz="1400" dirty="0">
              <a:latin typeface="Segoe UI" panose="020B0502040204020203" pitchFamily="34" charset="0"/>
              <a:cs typeface="Segoe UI" panose="020B0502040204020203" pitchFamily="34" charset="0"/>
            </a:endParaRPr>
          </a:p>
        </p:txBody>
      </p:sp>
      <p:sp>
        <p:nvSpPr>
          <p:cNvPr id="2" name="Text 0">
            <a:extLst>
              <a:ext uri="{FF2B5EF4-FFF2-40B4-BE49-F238E27FC236}">
                <a16:creationId xmlns:a16="http://schemas.microsoft.com/office/drawing/2014/main" id="{BF360E83-80D7-94EE-E229-E57FA2B33316}"/>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Herausforderungen und Lernerfahrungen</a:t>
            </a:r>
            <a:endParaRPr lang="de-DE" sz="2800" dirty="0">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1469347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5BBDE831-8CC2-6666-36B1-FDA9429412F2}"/>
              </a:ext>
            </a:extLst>
          </p:cNvPr>
          <p:cNvSpPr/>
          <p:nvPr/>
        </p:nvSpPr>
        <p:spPr>
          <a:xfrm>
            <a:off x="457200" y="1117351"/>
            <a:ext cx="1371600" cy="548640"/>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abs f4"/>
              <a:gd name="f13" fmla="abs f5"/>
              <a:gd name="f14" fmla="abs f6"/>
              <a:gd name="f15" fmla="val f7"/>
              <a:gd name="f16" fmla="val f8"/>
              <a:gd name="f17" fmla="*/ f9 f1 1"/>
              <a:gd name="f18" fmla="*/ f10 f1 1"/>
              <a:gd name="f19" fmla="*/ f11 f1 1"/>
              <a:gd name="f20" fmla="?: f12 f4 1"/>
              <a:gd name="f21" fmla="?: f13 f5 1"/>
              <a:gd name="f22" fmla="?: f14 f6 1"/>
              <a:gd name="f23" fmla="*/ f17 1 f3"/>
              <a:gd name="f24" fmla="*/ f18 1 f3"/>
              <a:gd name="f25" fmla="*/ f19 1 f3"/>
              <a:gd name="f26" fmla="*/ f20 1 21600"/>
              <a:gd name="f27" fmla="*/ f21 1 21600"/>
              <a:gd name="f28" fmla="*/ 21600 f20 1"/>
              <a:gd name="f29" fmla="*/ 21600 f21 1"/>
              <a:gd name="f30" fmla="+- f23 0 f2"/>
              <a:gd name="f31" fmla="+- f24 0 f2"/>
              <a:gd name="f32" fmla="+- f25 0 f2"/>
              <a:gd name="f33" fmla="min f27 f26"/>
              <a:gd name="f34" fmla="*/ f28 1 f22"/>
              <a:gd name="f35" fmla="*/ f29 1 f22"/>
              <a:gd name="f36" fmla="val f34"/>
              <a:gd name="f37" fmla="val f35"/>
              <a:gd name="f38" fmla="*/ f15 f33 1"/>
              <a:gd name="f39" fmla="+- f37 0 f15"/>
              <a:gd name="f40" fmla="+- f36 0 f15"/>
              <a:gd name="f41" fmla="*/ f37 f33 1"/>
              <a:gd name="f42" fmla="*/ f36 f33 1"/>
              <a:gd name="f43" fmla="*/ f39 1 2"/>
              <a:gd name="f44" fmla="min f40 f39"/>
              <a:gd name="f45" fmla="+- f15 f43 0"/>
              <a:gd name="f46" fmla="*/ f44 f16 1"/>
              <a:gd name="f47" fmla="*/ f46 1 100000"/>
              <a:gd name="f48" fmla="*/ f45 f33 1"/>
              <a:gd name="f49" fmla="+- f36 0 f47"/>
              <a:gd name="f50" fmla="*/ f47 f33 1"/>
              <a:gd name="f51" fmla="*/ f49 1 2"/>
              <a:gd name="f52" fmla="+- f49 0 f47"/>
              <a:gd name="f53" fmla="*/ f49 f33 1"/>
              <a:gd name="f54" fmla="?: f52 f47 f15"/>
              <a:gd name="f55" fmla="?: f52 f49 f36"/>
              <a:gd name="f56" fmla="*/ f51 f33 1"/>
              <a:gd name="f57" fmla="*/ f54 f33 1"/>
              <a:gd name="f58" fmla="*/ f55 f33 1"/>
            </a:gdLst>
            <a:ahLst/>
            <a:cxnLst>
              <a:cxn ang="3cd4">
                <a:pos x="hc" y="t"/>
              </a:cxn>
              <a:cxn ang="0">
                <a:pos x="r" y="vc"/>
              </a:cxn>
              <a:cxn ang="cd4">
                <a:pos x="hc" y="b"/>
              </a:cxn>
              <a:cxn ang="cd2">
                <a:pos x="l" y="vc"/>
              </a:cxn>
              <a:cxn ang="f30">
                <a:pos x="f56" y="f38"/>
              </a:cxn>
              <a:cxn ang="f31">
                <a:pos x="f50" y="f48"/>
              </a:cxn>
              <a:cxn ang="f32">
                <a:pos x="f56" y="f41"/>
              </a:cxn>
            </a:cxnLst>
            <a:rect l="f57" t="f38" r="f58" b="f41"/>
            <a:pathLst>
              <a:path>
                <a:moveTo>
                  <a:pt x="f38" y="f38"/>
                </a:moveTo>
                <a:lnTo>
                  <a:pt x="f53" y="f38"/>
                </a:lnTo>
                <a:lnTo>
                  <a:pt x="f42" y="f48"/>
                </a:lnTo>
                <a:lnTo>
                  <a:pt x="f53" y="f41"/>
                </a:lnTo>
                <a:lnTo>
                  <a:pt x="f38" y="f41"/>
                </a:lnTo>
                <a:lnTo>
                  <a:pt x="f50" y="f48"/>
                </a:lnTo>
                <a:close/>
              </a:path>
            </a:pathLst>
          </a:custGeom>
          <a:solidFill>
            <a:srgbClr val="843C0C"/>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600" b="0" i="0" u="none" strike="noStrike" kern="1200" cap="none" spc="0" baseline="0">
              <a:solidFill>
                <a:srgbClr val="000000"/>
              </a:solidFill>
              <a:uFillTx/>
              <a:latin typeface="Segoe UI" pitchFamily="34"/>
              <a:cs typeface="Segoe UI" pitchFamily="34"/>
            </a:endParaRPr>
          </a:p>
        </p:txBody>
      </p:sp>
      <p:sp>
        <p:nvSpPr>
          <p:cNvPr id="3" name="Text 4">
            <a:extLst>
              <a:ext uri="{FF2B5EF4-FFF2-40B4-BE49-F238E27FC236}">
                <a16:creationId xmlns:a16="http://schemas.microsoft.com/office/drawing/2014/main" id="{4126CFE2-AE5F-8DA8-4D85-C513C936A6B5}"/>
              </a:ext>
            </a:extLst>
          </p:cNvPr>
          <p:cNvSpPr txBox="1"/>
          <p:nvPr/>
        </p:nvSpPr>
        <p:spPr>
          <a:xfrm>
            <a:off x="566928" y="1117351"/>
            <a:ext cx="1188720" cy="5486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800" b="1" i="0" u="none" strike="noStrike" kern="1200" cap="none" spc="0" baseline="0">
                <a:solidFill>
                  <a:srgbClr val="FFFFFF"/>
                </a:solidFill>
                <a:uFillTx/>
                <a:latin typeface="Segoe UI" pitchFamily="34"/>
                <a:ea typeface="Calibri" pitchFamily="34"/>
                <a:cs typeface="Segoe UI" pitchFamily="34"/>
              </a:rPr>
              <a:t>Themenwahl</a:t>
            </a:r>
            <a:endParaRPr lang="en-US" sz="800" b="0" i="0" u="none" strike="noStrike" kern="1200" cap="none" spc="0" baseline="0">
              <a:solidFill>
                <a:srgbClr val="000000"/>
              </a:solidFill>
              <a:uFillTx/>
              <a:latin typeface="Segoe UI" pitchFamily="34"/>
              <a:cs typeface="Segoe UI" pitchFamily="34"/>
            </a:endParaRPr>
          </a:p>
        </p:txBody>
      </p:sp>
      <p:sp>
        <p:nvSpPr>
          <p:cNvPr id="4" name="Shape 5">
            <a:extLst>
              <a:ext uri="{FF2B5EF4-FFF2-40B4-BE49-F238E27FC236}">
                <a16:creationId xmlns:a16="http://schemas.microsoft.com/office/drawing/2014/main" id="{A9124611-40BE-18C1-F473-89A54D366865}"/>
              </a:ext>
            </a:extLst>
          </p:cNvPr>
          <p:cNvSpPr/>
          <p:nvPr/>
        </p:nvSpPr>
        <p:spPr>
          <a:xfrm>
            <a:off x="1828800" y="1117351"/>
            <a:ext cx="1371600" cy="548640"/>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abs f4"/>
              <a:gd name="f13" fmla="abs f5"/>
              <a:gd name="f14" fmla="abs f6"/>
              <a:gd name="f15" fmla="val f7"/>
              <a:gd name="f16" fmla="val f8"/>
              <a:gd name="f17" fmla="*/ f9 f1 1"/>
              <a:gd name="f18" fmla="*/ f10 f1 1"/>
              <a:gd name="f19" fmla="*/ f11 f1 1"/>
              <a:gd name="f20" fmla="?: f12 f4 1"/>
              <a:gd name="f21" fmla="?: f13 f5 1"/>
              <a:gd name="f22" fmla="?: f14 f6 1"/>
              <a:gd name="f23" fmla="*/ f17 1 f3"/>
              <a:gd name="f24" fmla="*/ f18 1 f3"/>
              <a:gd name="f25" fmla="*/ f19 1 f3"/>
              <a:gd name="f26" fmla="*/ f20 1 21600"/>
              <a:gd name="f27" fmla="*/ f21 1 21600"/>
              <a:gd name="f28" fmla="*/ 21600 f20 1"/>
              <a:gd name="f29" fmla="*/ 21600 f21 1"/>
              <a:gd name="f30" fmla="+- f23 0 f2"/>
              <a:gd name="f31" fmla="+- f24 0 f2"/>
              <a:gd name="f32" fmla="+- f25 0 f2"/>
              <a:gd name="f33" fmla="min f27 f26"/>
              <a:gd name="f34" fmla="*/ f28 1 f22"/>
              <a:gd name="f35" fmla="*/ f29 1 f22"/>
              <a:gd name="f36" fmla="val f34"/>
              <a:gd name="f37" fmla="val f35"/>
              <a:gd name="f38" fmla="*/ f15 f33 1"/>
              <a:gd name="f39" fmla="+- f37 0 f15"/>
              <a:gd name="f40" fmla="+- f36 0 f15"/>
              <a:gd name="f41" fmla="*/ f37 f33 1"/>
              <a:gd name="f42" fmla="*/ f36 f33 1"/>
              <a:gd name="f43" fmla="*/ f39 1 2"/>
              <a:gd name="f44" fmla="min f40 f39"/>
              <a:gd name="f45" fmla="+- f15 f43 0"/>
              <a:gd name="f46" fmla="*/ f44 f16 1"/>
              <a:gd name="f47" fmla="*/ f46 1 100000"/>
              <a:gd name="f48" fmla="*/ f45 f33 1"/>
              <a:gd name="f49" fmla="+- f36 0 f47"/>
              <a:gd name="f50" fmla="*/ f47 f33 1"/>
              <a:gd name="f51" fmla="*/ f49 1 2"/>
              <a:gd name="f52" fmla="+- f49 0 f47"/>
              <a:gd name="f53" fmla="*/ f49 f33 1"/>
              <a:gd name="f54" fmla="?: f52 f47 f15"/>
              <a:gd name="f55" fmla="?: f52 f49 f36"/>
              <a:gd name="f56" fmla="*/ f51 f33 1"/>
              <a:gd name="f57" fmla="*/ f54 f33 1"/>
              <a:gd name="f58" fmla="*/ f55 f33 1"/>
            </a:gdLst>
            <a:ahLst/>
            <a:cxnLst>
              <a:cxn ang="3cd4">
                <a:pos x="hc" y="t"/>
              </a:cxn>
              <a:cxn ang="0">
                <a:pos x="r" y="vc"/>
              </a:cxn>
              <a:cxn ang="cd4">
                <a:pos x="hc" y="b"/>
              </a:cxn>
              <a:cxn ang="cd2">
                <a:pos x="l" y="vc"/>
              </a:cxn>
              <a:cxn ang="f30">
                <a:pos x="f56" y="f38"/>
              </a:cxn>
              <a:cxn ang="f31">
                <a:pos x="f50" y="f48"/>
              </a:cxn>
              <a:cxn ang="f32">
                <a:pos x="f56" y="f41"/>
              </a:cxn>
            </a:cxnLst>
            <a:rect l="f57" t="f38" r="f58" b="f41"/>
            <a:pathLst>
              <a:path>
                <a:moveTo>
                  <a:pt x="f38" y="f38"/>
                </a:moveTo>
                <a:lnTo>
                  <a:pt x="f53" y="f38"/>
                </a:lnTo>
                <a:lnTo>
                  <a:pt x="f42" y="f48"/>
                </a:lnTo>
                <a:lnTo>
                  <a:pt x="f53" y="f41"/>
                </a:lnTo>
                <a:lnTo>
                  <a:pt x="f38" y="f41"/>
                </a:lnTo>
                <a:lnTo>
                  <a:pt x="f50" y="f48"/>
                </a:lnTo>
                <a:close/>
              </a:path>
            </a:pathLst>
          </a:custGeom>
          <a:solidFill>
            <a:srgbClr val="C55A11"/>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600" b="0" i="0" u="none" strike="noStrike" kern="1200" cap="none" spc="0" baseline="0">
              <a:solidFill>
                <a:srgbClr val="000000"/>
              </a:solidFill>
              <a:uFillTx/>
              <a:latin typeface="Segoe UI" pitchFamily="34"/>
              <a:cs typeface="Segoe UI" pitchFamily="34"/>
            </a:endParaRPr>
          </a:p>
        </p:txBody>
      </p:sp>
      <p:sp>
        <p:nvSpPr>
          <p:cNvPr id="5" name="Text 6">
            <a:extLst>
              <a:ext uri="{FF2B5EF4-FFF2-40B4-BE49-F238E27FC236}">
                <a16:creationId xmlns:a16="http://schemas.microsoft.com/office/drawing/2014/main" id="{554FE194-2955-A193-F531-611CE6AAF10F}"/>
              </a:ext>
            </a:extLst>
          </p:cNvPr>
          <p:cNvSpPr txBox="1"/>
          <p:nvPr/>
        </p:nvSpPr>
        <p:spPr>
          <a:xfrm>
            <a:off x="2005434" y="1117351"/>
            <a:ext cx="1188720" cy="5486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800" b="1" i="0" u="none" strike="noStrike" kern="1200" cap="none" spc="0" baseline="0">
                <a:solidFill>
                  <a:srgbClr val="FFFFFF"/>
                </a:solidFill>
                <a:uFillTx/>
                <a:latin typeface="Segoe UI" pitchFamily="34"/>
                <a:ea typeface="Calibri" pitchFamily="34"/>
                <a:cs typeface="Segoe UI" pitchFamily="34"/>
              </a:rPr>
              <a:t>Konzept + Feedback</a:t>
            </a:r>
            <a:endParaRPr lang="en-US" sz="800" b="0" i="0" u="none" strike="noStrike" kern="1200" cap="none" spc="0" baseline="0">
              <a:solidFill>
                <a:srgbClr val="000000"/>
              </a:solidFill>
              <a:uFillTx/>
              <a:latin typeface="Segoe UI" pitchFamily="34"/>
              <a:cs typeface="Segoe UI" pitchFamily="34"/>
            </a:endParaRPr>
          </a:p>
        </p:txBody>
      </p:sp>
      <p:sp>
        <p:nvSpPr>
          <p:cNvPr id="6" name="Shape 7">
            <a:extLst>
              <a:ext uri="{FF2B5EF4-FFF2-40B4-BE49-F238E27FC236}">
                <a16:creationId xmlns:a16="http://schemas.microsoft.com/office/drawing/2014/main" id="{B20726A0-948F-59F2-D708-94237A9D03A0}"/>
              </a:ext>
            </a:extLst>
          </p:cNvPr>
          <p:cNvSpPr/>
          <p:nvPr/>
        </p:nvSpPr>
        <p:spPr>
          <a:xfrm>
            <a:off x="3200400" y="1117351"/>
            <a:ext cx="1371600" cy="548640"/>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abs f4"/>
              <a:gd name="f13" fmla="abs f5"/>
              <a:gd name="f14" fmla="abs f6"/>
              <a:gd name="f15" fmla="val f7"/>
              <a:gd name="f16" fmla="val f8"/>
              <a:gd name="f17" fmla="*/ f9 f1 1"/>
              <a:gd name="f18" fmla="*/ f10 f1 1"/>
              <a:gd name="f19" fmla="*/ f11 f1 1"/>
              <a:gd name="f20" fmla="?: f12 f4 1"/>
              <a:gd name="f21" fmla="?: f13 f5 1"/>
              <a:gd name="f22" fmla="?: f14 f6 1"/>
              <a:gd name="f23" fmla="*/ f17 1 f3"/>
              <a:gd name="f24" fmla="*/ f18 1 f3"/>
              <a:gd name="f25" fmla="*/ f19 1 f3"/>
              <a:gd name="f26" fmla="*/ f20 1 21600"/>
              <a:gd name="f27" fmla="*/ f21 1 21600"/>
              <a:gd name="f28" fmla="*/ 21600 f20 1"/>
              <a:gd name="f29" fmla="*/ 21600 f21 1"/>
              <a:gd name="f30" fmla="+- f23 0 f2"/>
              <a:gd name="f31" fmla="+- f24 0 f2"/>
              <a:gd name="f32" fmla="+- f25 0 f2"/>
              <a:gd name="f33" fmla="min f27 f26"/>
              <a:gd name="f34" fmla="*/ f28 1 f22"/>
              <a:gd name="f35" fmla="*/ f29 1 f22"/>
              <a:gd name="f36" fmla="val f34"/>
              <a:gd name="f37" fmla="val f35"/>
              <a:gd name="f38" fmla="*/ f15 f33 1"/>
              <a:gd name="f39" fmla="+- f37 0 f15"/>
              <a:gd name="f40" fmla="+- f36 0 f15"/>
              <a:gd name="f41" fmla="*/ f37 f33 1"/>
              <a:gd name="f42" fmla="*/ f36 f33 1"/>
              <a:gd name="f43" fmla="*/ f39 1 2"/>
              <a:gd name="f44" fmla="min f40 f39"/>
              <a:gd name="f45" fmla="+- f15 f43 0"/>
              <a:gd name="f46" fmla="*/ f44 f16 1"/>
              <a:gd name="f47" fmla="*/ f46 1 100000"/>
              <a:gd name="f48" fmla="*/ f45 f33 1"/>
              <a:gd name="f49" fmla="+- f36 0 f47"/>
              <a:gd name="f50" fmla="*/ f47 f33 1"/>
              <a:gd name="f51" fmla="*/ f49 1 2"/>
              <a:gd name="f52" fmla="+- f49 0 f47"/>
              <a:gd name="f53" fmla="*/ f49 f33 1"/>
              <a:gd name="f54" fmla="?: f52 f47 f15"/>
              <a:gd name="f55" fmla="?: f52 f49 f36"/>
              <a:gd name="f56" fmla="*/ f51 f33 1"/>
              <a:gd name="f57" fmla="*/ f54 f33 1"/>
              <a:gd name="f58" fmla="*/ f55 f33 1"/>
            </a:gdLst>
            <a:ahLst/>
            <a:cxnLst>
              <a:cxn ang="3cd4">
                <a:pos x="hc" y="t"/>
              </a:cxn>
              <a:cxn ang="0">
                <a:pos x="r" y="vc"/>
              </a:cxn>
              <a:cxn ang="cd4">
                <a:pos x="hc" y="b"/>
              </a:cxn>
              <a:cxn ang="cd2">
                <a:pos x="l" y="vc"/>
              </a:cxn>
              <a:cxn ang="f30">
                <a:pos x="f56" y="f38"/>
              </a:cxn>
              <a:cxn ang="f31">
                <a:pos x="f50" y="f48"/>
              </a:cxn>
              <a:cxn ang="f32">
                <a:pos x="f56" y="f41"/>
              </a:cxn>
            </a:cxnLst>
            <a:rect l="f57" t="f38" r="f58" b="f41"/>
            <a:pathLst>
              <a:path>
                <a:moveTo>
                  <a:pt x="f38" y="f38"/>
                </a:moveTo>
                <a:lnTo>
                  <a:pt x="f53" y="f38"/>
                </a:lnTo>
                <a:lnTo>
                  <a:pt x="f42" y="f48"/>
                </a:lnTo>
                <a:lnTo>
                  <a:pt x="f53" y="f41"/>
                </a:lnTo>
                <a:lnTo>
                  <a:pt x="f38" y="f41"/>
                </a:lnTo>
                <a:lnTo>
                  <a:pt x="f50" y="f48"/>
                </a:lnTo>
                <a:close/>
              </a:path>
            </a:pathLst>
          </a:custGeom>
          <a:solidFill>
            <a:srgbClr val="843C0C"/>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600" b="0" i="0" u="none" strike="noStrike" kern="1200" cap="none" spc="0" baseline="0">
              <a:solidFill>
                <a:srgbClr val="000000"/>
              </a:solidFill>
              <a:uFillTx/>
              <a:latin typeface="Segoe UI" pitchFamily="34"/>
              <a:cs typeface="Segoe UI" pitchFamily="34"/>
            </a:endParaRPr>
          </a:p>
        </p:txBody>
      </p:sp>
      <p:sp>
        <p:nvSpPr>
          <p:cNvPr id="8" name="Shape 9">
            <a:extLst>
              <a:ext uri="{FF2B5EF4-FFF2-40B4-BE49-F238E27FC236}">
                <a16:creationId xmlns:a16="http://schemas.microsoft.com/office/drawing/2014/main" id="{CDE74AB5-BBFC-D655-DFCC-B340A4FEAD41}"/>
              </a:ext>
            </a:extLst>
          </p:cNvPr>
          <p:cNvSpPr/>
          <p:nvPr/>
        </p:nvSpPr>
        <p:spPr>
          <a:xfrm>
            <a:off x="4572000" y="1117351"/>
            <a:ext cx="1371600" cy="548640"/>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abs f4"/>
              <a:gd name="f13" fmla="abs f5"/>
              <a:gd name="f14" fmla="abs f6"/>
              <a:gd name="f15" fmla="val f7"/>
              <a:gd name="f16" fmla="val f8"/>
              <a:gd name="f17" fmla="*/ f9 f1 1"/>
              <a:gd name="f18" fmla="*/ f10 f1 1"/>
              <a:gd name="f19" fmla="*/ f11 f1 1"/>
              <a:gd name="f20" fmla="?: f12 f4 1"/>
              <a:gd name="f21" fmla="?: f13 f5 1"/>
              <a:gd name="f22" fmla="?: f14 f6 1"/>
              <a:gd name="f23" fmla="*/ f17 1 f3"/>
              <a:gd name="f24" fmla="*/ f18 1 f3"/>
              <a:gd name="f25" fmla="*/ f19 1 f3"/>
              <a:gd name="f26" fmla="*/ f20 1 21600"/>
              <a:gd name="f27" fmla="*/ f21 1 21600"/>
              <a:gd name="f28" fmla="*/ 21600 f20 1"/>
              <a:gd name="f29" fmla="*/ 21600 f21 1"/>
              <a:gd name="f30" fmla="+- f23 0 f2"/>
              <a:gd name="f31" fmla="+- f24 0 f2"/>
              <a:gd name="f32" fmla="+- f25 0 f2"/>
              <a:gd name="f33" fmla="min f27 f26"/>
              <a:gd name="f34" fmla="*/ f28 1 f22"/>
              <a:gd name="f35" fmla="*/ f29 1 f22"/>
              <a:gd name="f36" fmla="val f34"/>
              <a:gd name="f37" fmla="val f35"/>
              <a:gd name="f38" fmla="*/ f15 f33 1"/>
              <a:gd name="f39" fmla="+- f37 0 f15"/>
              <a:gd name="f40" fmla="+- f36 0 f15"/>
              <a:gd name="f41" fmla="*/ f37 f33 1"/>
              <a:gd name="f42" fmla="*/ f36 f33 1"/>
              <a:gd name="f43" fmla="*/ f39 1 2"/>
              <a:gd name="f44" fmla="min f40 f39"/>
              <a:gd name="f45" fmla="+- f15 f43 0"/>
              <a:gd name="f46" fmla="*/ f44 f16 1"/>
              <a:gd name="f47" fmla="*/ f46 1 100000"/>
              <a:gd name="f48" fmla="*/ f45 f33 1"/>
              <a:gd name="f49" fmla="+- f36 0 f47"/>
              <a:gd name="f50" fmla="*/ f47 f33 1"/>
              <a:gd name="f51" fmla="*/ f49 1 2"/>
              <a:gd name="f52" fmla="+- f49 0 f47"/>
              <a:gd name="f53" fmla="*/ f49 f33 1"/>
              <a:gd name="f54" fmla="?: f52 f47 f15"/>
              <a:gd name="f55" fmla="?: f52 f49 f36"/>
              <a:gd name="f56" fmla="*/ f51 f33 1"/>
              <a:gd name="f57" fmla="*/ f54 f33 1"/>
              <a:gd name="f58" fmla="*/ f55 f33 1"/>
            </a:gdLst>
            <a:ahLst/>
            <a:cxnLst>
              <a:cxn ang="3cd4">
                <a:pos x="hc" y="t"/>
              </a:cxn>
              <a:cxn ang="0">
                <a:pos x="r" y="vc"/>
              </a:cxn>
              <a:cxn ang="cd4">
                <a:pos x="hc" y="b"/>
              </a:cxn>
              <a:cxn ang="cd2">
                <a:pos x="l" y="vc"/>
              </a:cxn>
              <a:cxn ang="f30">
                <a:pos x="f56" y="f38"/>
              </a:cxn>
              <a:cxn ang="f31">
                <a:pos x="f50" y="f48"/>
              </a:cxn>
              <a:cxn ang="f32">
                <a:pos x="f56" y="f41"/>
              </a:cxn>
            </a:cxnLst>
            <a:rect l="f57" t="f38" r="f58" b="f41"/>
            <a:pathLst>
              <a:path>
                <a:moveTo>
                  <a:pt x="f38" y="f38"/>
                </a:moveTo>
                <a:lnTo>
                  <a:pt x="f53" y="f38"/>
                </a:lnTo>
                <a:lnTo>
                  <a:pt x="f42" y="f48"/>
                </a:lnTo>
                <a:lnTo>
                  <a:pt x="f53" y="f41"/>
                </a:lnTo>
                <a:lnTo>
                  <a:pt x="f38" y="f41"/>
                </a:lnTo>
                <a:lnTo>
                  <a:pt x="f50" y="f48"/>
                </a:lnTo>
                <a:close/>
              </a:path>
            </a:pathLst>
          </a:custGeom>
          <a:solidFill>
            <a:srgbClr val="C55A11"/>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600" b="0" i="0" u="none" strike="noStrike" kern="1200" cap="none" spc="0" baseline="0">
              <a:solidFill>
                <a:srgbClr val="000000"/>
              </a:solidFill>
              <a:uFillTx/>
              <a:latin typeface="Segoe UI" pitchFamily="34"/>
              <a:cs typeface="Segoe UI" pitchFamily="34"/>
            </a:endParaRPr>
          </a:p>
        </p:txBody>
      </p:sp>
      <p:sp>
        <p:nvSpPr>
          <p:cNvPr id="9" name="Text 10">
            <a:extLst>
              <a:ext uri="{FF2B5EF4-FFF2-40B4-BE49-F238E27FC236}">
                <a16:creationId xmlns:a16="http://schemas.microsoft.com/office/drawing/2014/main" id="{8BDFE16C-1D8E-84A1-59D0-38711F84BCBD}"/>
              </a:ext>
            </a:extLst>
          </p:cNvPr>
          <p:cNvSpPr txBox="1"/>
          <p:nvPr/>
        </p:nvSpPr>
        <p:spPr>
          <a:xfrm>
            <a:off x="4681727" y="1117351"/>
            <a:ext cx="1188720" cy="5486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800" b="1" i="0" u="none" strike="noStrike" kern="1200" cap="none" spc="0" baseline="0">
                <a:solidFill>
                  <a:srgbClr val="FFFFFF"/>
                </a:solidFill>
                <a:uFillTx/>
                <a:latin typeface="Segoe UI" pitchFamily="34"/>
                <a:ea typeface="Calibri" pitchFamily="34"/>
                <a:cs typeface="Segoe UI" pitchFamily="34"/>
              </a:rPr>
              <a:t>BPMN</a:t>
            </a:r>
            <a:endParaRPr lang="en-US" sz="800" b="0" i="0" u="none" strike="noStrike" kern="1200" cap="none" spc="0" baseline="0">
              <a:solidFill>
                <a:srgbClr val="000000"/>
              </a:solidFill>
              <a:uFillTx/>
              <a:latin typeface="Segoe UI" pitchFamily="34"/>
              <a:cs typeface="Segoe UI" pitchFamily="34"/>
            </a:endParaRPr>
          </a:p>
        </p:txBody>
      </p:sp>
      <p:sp>
        <p:nvSpPr>
          <p:cNvPr id="10" name="Shape 11">
            <a:extLst>
              <a:ext uri="{FF2B5EF4-FFF2-40B4-BE49-F238E27FC236}">
                <a16:creationId xmlns:a16="http://schemas.microsoft.com/office/drawing/2014/main" id="{A0F45D51-81D8-32F8-8DF2-978C33489F75}"/>
              </a:ext>
            </a:extLst>
          </p:cNvPr>
          <p:cNvSpPr/>
          <p:nvPr/>
        </p:nvSpPr>
        <p:spPr>
          <a:xfrm>
            <a:off x="5943600" y="1117351"/>
            <a:ext cx="1371600" cy="548640"/>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abs f4"/>
              <a:gd name="f13" fmla="abs f5"/>
              <a:gd name="f14" fmla="abs f6"/>
              <a:gd name="f15" fmla="val f7"/>
              <a:gd name="f16" fmla="val f8"/>
              <a:gd name="f17" fmla="*/ f9 f1 1"/>
              <a:gd name="f18" fmla="*/ f10 f1 1"/>
              <a:gd name="f19" fmla="*/ f11 f1 1"/>
              <a:gd name="f20" fmla="?: f12 f4 1"/>
              <a:gd name="f21" fmla="?: f13 f5 1"/>
              <a:gd name="f22" fmla="?: f14 f6 1"/>
              <a:gd name="f23" fmla="*/ f17 1 f3"/>
              <a:gd name="f24" fmla="*/ f18 1 f3"/>
              <a:gd name="f25" fmla="*/ f19 1 f3"/>
              <a:gd name="f26" fmla="*/ f20 1 21600"/>
              <a:gd name="f27" fmla="*/ f21 1 21600"/>
              <a:gd name="f28" fmla="*/ 21600 f20 1"/>
              <a:gd name="f29" fmla="*/ 21600 f21 1"/>
              <a:gd name="f30" fmla="+- f23 0 f2"/>
              <a:gd name="f31" fmla="+- f24 0 f2"/>
              <a:gd name="f32" fmla="+- f25 0 f2"/>
              <a:gd name="f33" fmla="min f27 f26"/>
              <a:gd name="f34" fmla="*/ f28 1 f22"/>
              <a:gd name="f35" fmla="*/ f29 1 f22"/>
              <a:gd name="f36" fmla="val f34"/>
              <a:gd name="f37" fmla="val f35"/>
              <a:gd name="f38" fmla="*/ f15 f33 1"/>
              <a:gd name="f39" fmla="+- f37 0 f15"/>
              <a:gd name="f40" fmla="+- f36 0 f15"/>
              <a:gd name="f41" fmla="*/ f37 f33 1"/>
              <a:gd name="f42" fmla="*/ f36 f33 1"/>
              <a:gd name="f43" fmla="*/ f39 1 2"/>
              <a:gd name="f44" fmla="min f40 f39"/>
              <a:gd name="f45" fmla="+- f15 f43 0"/>
              <a:gd name="f46" fmla="*/ f44 f16 1"/>
              <a:gd name="f47" fmla="*/ f46 1 100000"/>
              <a:gd name="f48" fmla="*/ f45 f33 1"/>
              <a:gd name="f49" fmla="+- f36 0 f47"/>
              <a:gd name="f50" fmla="*/ f47 f33 1"/>
              <a:gd name="f51" fmla="*/ f49 1 2"/>
              <a:gd name="f52" fmla="+- f49 0 f47"/>
              <a:gd name="f53" fmla="*/ f49 f33 1"/>
              <a:gd name="f54" fmla="?: f52 f47 f15"/>
              <a:gd name="f55" fmla="?: f52 f49 f36"/>
              <a:gd name="f56" fmla="*/ f51 f33 1"/>
              <a:gd name="f57" fmla="*/ f54 f33 1"/>
              <a:gd name="f58" fmla="*/ f55 f33 1"/>
            </a:gdLst>
            <a:ahLst/>
            <a:cxnLst>
              <a:cxn ang="3cd4">
                <a:pos x="hc" y="t"/>
              </a:cxn>
              <a:cxn ang="0">
                <a:pos x="r" y="vc"/>
              </a:cxn>
              <a:cxn ang="cd4">
                <a:pos x="hc" y="b"/>
              </a:cxn>
              <a:cxn ang="cd2">
                <a:pos x="l" y="vc"/>
              </a:cxn>
              <a:cxn ang="f30">
                <a:pos x="f56" y="f38"/>
              </a:cxn>
              <a:cxn ang="f31">
                <a:pos x="f50" y="f48"/>
              </a:cxn>
              <a:cxn ang="f32">
                <a:pos x="f56" y="f41"/>
              </a:cxn>
            </a:cxnLst>
            <a:rect l="f57" t="f38" r="f58" b="f41"/>
            <a:pathLst>
              <a:path>
                <a:moveTo>
                  <a:pt x="f38" y="f38"/>
                </a:moveTo>
                <a:lnTo>
                  <a:pt x="f53" y="f38"/>
                </a:lnTo>
                <a:lnTo>
                  <a:pt x="f42" y="f48"/>
                </a:lnTo>
                <a:lnTo>
                  <a:pt x="f53" y="f41"/>
                </a:lnTo>
                <a:lnTo>
                  <a:pt x="f38" y="f41"/>
                </a:lnTo>
                <a:lnTo>
                  <a:pt x="f50" y="f48"/>
                </a:lnTo>
                <a:close/>
              </a:path>
            </a:pathLst>
          </a:custGeom>
          <a:solidFill>
            <a:srgbClr val="843C0C"/>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600" b="0" i="0" u="none" strike="noStrike" kern="1200" cap="none" spc="0" baseline="0">
              <a:solidFill>
                <a:srgbClr val="000000"/>
              </a:solidFill>
              <a:uFillTx/>
              <a:latin typeface="Segoe UI" pitchFamily="34"/>
              <a:cs typeface="Segoe UI" pitchFamily="34"/>
            </a:endParaRPr>
          </a:p>
        </p:txBody>
      </p:sp>
      <p:sp>
        <p:nvSpPr>
          <p:cNvPr id="11" name="Text 12">
            <a:extLst>
              <a:ext uri="{FF2B5EF4-FFF2-40B4-BE49-F238E27FC236}">
                <a16:creationId xmlns:a16="http://schemas.microsoft.com/office/drawing/2014/main" id="{8D20BB63-5043-37B8-5D5C-A656326BD97B}"/>
              </a:ext>
            </a:extLst>
          </p:cNvPr>
          <p:cNvSpPr txBox="1"/>
          <p:nvPr/>
        </p:nvSpPr>
        <p:spPr>
          <a:xfrm>
            <a:off x="6053327" y="1117351"/>
            <a:ext cx="1188720" cy="5486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800" b="1" i="0" u="none" strike="noStrike" kern="1200" cap="none" spc="0" baseline="0">
                <a:solidFill>
                  <a:srgbClr val="FFFFFF"/>
                </a:solidFill>
                <a:uFillTx/>
                <a:latin typeface="Segoe UI" pitchFamily="34"/>
                <a:ea typeface="Calibri" pitchFamily="34"/>
                <a:cs typeface="Segoe UI" pitchFamily="34"/>
              </a:rPr>
              <a:t>OOA (UML)</a:t>
            </a:r>
            <a:endParaRPr lang="en-US" sz="800" b="0" i="0" u="none" strike="noStrike" kern="1200" cap="none" spc="0" baseline="0">
              <a:solidFill>
                <a:srgbClr val="000000"/>
              </a:solidFill>
              <a:uFillTx/>
              <a:latin typeface="Segoe UI" pitchFamily="34"/>
              <a:cs typeface="Segoe UI" pitchFamily="34"/>
            </a:endParaRPr>
          </a:p>
        </p:txBody>
      </p:sp>
      <p:sp>
        <p:nvSpPr>
          <p:cNvPr id="12" name="Shape 13">
            <a:extLst>
              <a:ext uri="{FF2B5EF4-FFF2-40B4-BE49-F238E27FC236}">
                <a16:creationId xmlns:a16="http://schemas.microsoft.com/office/drawing/2014/main" id="{91A0FFB3-0780-4B87-C801-42D9F3D8FEC3}"/>
              </a:ext>
            </a:extLst>
          </p:cNvPr>
          <p:cNvSpPr/>
          <p:nvPr/>
        </p:nvSpPr>
        <p:spPr>
          <a:xfrm>
            <a:off x="7315200" y="1117351"/>
            <a:ext cx="1371600" cy="548640"/>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abs f4"/>
              <a:gd name="f13" fmla="abs f5"/>
              <a:gd name="f14" fmla="abs f6"/>
              <a:gd name="f15" fmla="val f7"/>
              <a:gd name="f16" fmla="val f8"/>
              <a:gd name="f17" fmla="*/ f9 f1 1"/>
              <a:gd name="f18" fmla="*/ f10 f1 1"/>
              <a:gd name="f19" fmla="*/ f11 f1 1"/>
              <a:gd name="f20" fmla="?: f12 f4 1"/>
              <a:gd name="f21" fmla="?: f13 f5 1"/>
              <a:gd name="f22" fmla="?: f14 f6 1"/>
              <a:gd name="f23" fmla="*/ f17 1 f3"/>
              <a:gd name="f24" fmla="*/ f18 1 f3"/>
              <a:gd name="f25" fmla="*/ f19 1 f3"/>
              <a:gd name="f26" fmla="*/ f20 1 21600"/>
              <a:gd name="f27" fmla="*/ f21 1 21600"/>
              <a:gd name="f28" fmla="*/ 21600 f20 1"/>
              <a:gd name="f29" fmla="*/ 21600 f21 1"/>
              <a:gd name="f30" fmla="+- f23 0 f2"/>
              <a:gd name="f31" fmla="+- f24 0 f2"/>
              <a:gd name="f32" fmla="+- f25 0 f2"/>
              <a:gd name="f33" fmla="min f27 f26"/>
              <a:gd name="f34" fmla="*/ f28 1 f22"/>
              <a:gd name="f35" fmla="*/ f29 1 f22"/>
              <a:gd name="f36" fmla="val f34"/>
              <a:gd name="f37" fmla="val f35"/>
              <a:gd name="f38" fmla="*/ f15 f33 1"/>
              <a:gd name="f39" fmla="+- f37 0 f15"/>
              <a:gd name="f40" fmla="+- f36 0 f15"/>
              <a:gd name="f41" fmla="*/ f37 f33 1"/>
              <a:gd name="f42" fmla="*/ f36 f33 1"/>
              <a:gd name="f43" fmla="*/ f39 1 2"/>
              <a:gd name="f44" fmla="min f40 f39"/>
              <a:gd name="f45" fmla="+- f15 f43 0"/>
              <a:gd name="f46" fmla="*/ f44 f16 1"/>
              <a:gd name="f47" fmla="*/ f46 1 100000"/>
              <a:gd name="f48" fmla="*/ f45 f33 1"/>
              <a:gd name="f49" fmla="+- f36 0 f47"/>
              <a:gd name="f50" fmla="*/ f47 f33 1"/>
              <a:gd name="f51" fmla="*/ f49 1 2"/>
              <a:gd name="f52" fmla="+- f49 0 f47"/>
              <a:gd name="f53" fmla="*/ f49 f33 1"/>
              <a:gd name="f54" fmla="?: f52 f47 f15"/>
              <a:gd name="f55" fmla="?: f52 f49 f36"/>
              <a:gd name="f56" fmla="*/ f51 f33 1"/>
              <a:gd name="f57" fmla="*/ f54 f33 1"/>
              <a:gd name="f58" fmla="*/ f55 f33 1"/>
            </a:gdLst>
            <a:ahLst/>
            <a:cxnLst>
              <a:cxn ang="3cd4">
                <a:pos x="hc" y="t"/>
              </a:cxn>
              <a:cxn ang="0">
                <a:pos x="r" y="vc"/>
              </a:cxn>
              <a:cxn ang="cd4">
                <a:pos x="hc" y="b"/>
              </a:cxn>
              <a:cxn ang="cd2">
                <a:pos x="l" y="vc"/>
              </a:cxn>
              <a:cxn ang="f30">
                <a:pos x="f56" y="f38"/>
              </a:cxn>
              <a:cxn ang="f31">
                <a:pos x="f50" y="f48"/>
              </a:cxn>
              <a:cxn ang="f32">
                <a:pos x="f56" y="f41"/>
              </a:cxn>
            </a:cxnLst>
            <a:rect l="f57" t="f38" r="f58" b="f41"/>
            <a:pathLst>
              <a:path>
                <a:moveTo>
                  <a:pt x="f38" y="f38"/>
                </a:moveTo>
                <a:lnTo>
                  <a:pt x="f53" y="f38"/>
                </a:lnTo>
                <a:lnTo>
                  <a:pt x="f42" y="f48"/>
                </a:lnTo>
                <a:lnTo>
                  <a:pt x="f53" y="f41"/>
                </a:lnTo>
                <a:lnTo>
                  <a:pt x="f38" y="f41"/>
                </a:lnTo>
                <a:lnTo>
                  <a:pt x="f50" y="f48"/>
                </a:lnTo>
                <a:close/>
              </a:path>
            </a:pathLst>
          </a:custGeom>
          <a:solidFill>
            <a:srgbClr val="C55A11"/>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600" b="0" i="0" u="none" strike="noStrike" kern="1200" cap="none" spc="0" baseline="0">
              <a:solidFill>
                <a:srgbClr val="000000"/>
              </a:solidFill>
              <a:uFillTx/>
              <a:latin typeface="Segoe UI" pitchFamily="34"/>
              <a:cs typeface="Segoe UI" pitchFamily="34"/>
            </a:endParaRPr>
          </a:p>
        </p:txBody>
      </p:sp>
      <p:sp>
        <p:nvSpPr>
          <p:cNvPr id="13" name="Text 14">
            <a:extLst>
              <a:ext uri="{FF2B5EF4-FFF2-40B4-BE49-F238E27FC236}">
                <a16:creationId xmlns:a16="http://schemas.microsoft.com/office/drawing/2014/main" id="{1581F62F-39C2-4D4C-7F3D-58331B9F2F34}"/>
              </a:ext>
            </a:extLst>
          </p:cNvPr>
          <p:cNvSpPr txBox="1"/>
          <p:nvPr/>
        </p:nvSpPr>
        <p:spPr>
          <a:xfrm>
            <a:off x="7516404" y="1117351"/>
            <a:ext cx="1188720" cy="5486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800" b="1" i="0" u="none" strike="noStrike" kern="1200" cap="none" spc="0" baseline="0">
                <a:solidFill>
                  <a:srgbClr val="FFFFFF"/>
                </a:solidFill>
                <a:uFillTx/>
                <a:latin typeface="Segoe UI" pitchFamily="34"/>
                <a:ea typeface="Calibri" pitchFamily="34"/>
                <a:cs typeface="Segoe UI" pitchFamily="34"/>
              </a:rPr>
              <a:t>Doku + Präsentation</a:t>
            </a:r>
            <a:endParaRPr lang="en-US" sz="800" b="0" i="0" u="none" strike="noStrike" kern="1200" cap="none" spc="0" baseline="0">
              <a:solidFill>
                <a:srgbClr val="000000"/>
              </a:solidFill>
              <a:uFillTx/>
              <a:latin typeface="Segoe UI" pitchFamily="34"/>
              <a:cs typeface="Segoe UI" pitchFamily="34"/>
            </a:endParaRPr>
          </a:p>
        </p:txBody>
      </p:sp>
      <p:sp>
        <p:nvSpPr>
          <p:cNvPr id="14" name="Shape 16">
            <a:extLst>
              <a:ext uri="{FF2B5EF4-FFF2-40B4-BE49-F238E27FC236}">
                <a16:creationId xmlns:a16="http://schemas.microsoft.com/office/drawing/2014/main" id="{6A5AAF5F-B822-539C-99F0-D536F5C561EE}"/>
              </a:ext>
            </a:extLst>
          </p:cNvPr>
          <p:cNvSpPr/>
          <p:nvPr/>
        </p:nvSpPr>
        <p:spPr>
          <a:xfrm>
            <a:off x="640080" y="2077471"/>
            <a:ext cx="457200" cy="457200"/>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solidFill>
            <a:srgbClr val="843C0C"/>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800" b="0" i="0" u="none" strike="noStrike" kern="1200" cap="none" spc="0" baseline="0">
              <a:solidFill>
                <a:srgbClr val="000000"/>
              </a:solidFill>
              <a:uFillTx/>
              <a:latin typeface="Segoe UI" pitchFamily="34"/>
              <a:cs typeface="Segoe UI" pitchFamily="34"/>
            </a:endParaRPr>
          </a:p>
        </p:txBody>
      </p:sp>
      <p:pic>
        <p:nvPicPr>
          <p:cNvPr id="15" name="Image 0" descr="preencoded.png">
            <a:extLst>
              <a:ext uri="{FF2B5EF4-FFF2-40B4-BE49-F238E27FC236}">
                <a16:creationId xmlns:a16="http://schemas.microsoft.com/office/drawing/2014/main" id="{238EB642-18CF-75B9-03B8-0B458008FB83}"/>
              </a:ext>
            </a:extLst>
          </p:cNvPr>
          <p:cNvPicPr>
            <a:picLocks noChangeAspect="1"/>
          </p:cNvPicPr>
          <p:nvPr/>
        </p:nvPicPr>
        <p:blipFill>
          <a:blip r:embed="rId3"/>
          <a:stretch>
            <a:fillRect/>
          </a:stretch>
        </p:blipFill>
        <p:spPr>
          <a:xfrm>
            <a:off x="754380" y="2191771"/>
            <a:ext cx="228600" cy="228600"/>
          </a:xfrm>
          <a:prstGeom prst="rect">
            <a:avLst/>
          </a:prstGeom>
          <a:noFill/>
          <a:ln cap="flat">
            <a:noFill/>
          </a:ln>
        </p:spPr>
      </p:pic>
      <p:sp>
        <p:nvSpPr>
          <p:cNvPr id="16" name="Text 17">
            <a:extLst>
              <a:ext uri="{FF2B5EF4-FFF2-40B4-BE49-F238E27FC236}">
                <a16:creationId xmlns:a16="http://schemas.microsoft.com/office/drawing/2014/main" id="{4A961330-80E5-8459-8200-B24712986FE6}"/>
              </a:ext>
            </a:extLst>
          </p:cNvPr>
          <p:cNvSpPr txBox="1"/>
          <p:nvPr/>
        </p:nvSpPr>
        <p:spPr>
          <a:xfrm>
            <a:off x="1234440" y="2059183"/>
            <a:ext cx="173736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1B2430"/>
                </a:solidFill>
                <a:uFillTx/>
                <a:latin typeface="Segoe UI" pitchFamily="34"/>
                <a:ea typeface="Calibri" pitchFamily="34"/>
                <a:cs typeface="Segoe UI" pitchFamily="34"/>
              </a:rPr>
              <a:t>Rollen</a:t>
            </a:r>
            <a:endParaRPr lang="en-US" sz="1400" b="0" i="0" u="none" strike="noStrike" kern="1200" cap="none" spc="0" baseline="0">
              <a:solidFill>
                <a:srgbClr val="000000"/>
              </a:solidFill>
              <a:uFillTx/>
              <a:latin typeface="Segoe UI" pitchFamily="34"/>
              <a:cs typeface="Segoe UI" pitchFamily="34"/>
            </a:endParaRPr>
          </a:p>
        </p:txBody>
      </p:sp>
      <p:sp>
        <p:nvSpPr>
          <p:cNvPr id="17" name="Text 18">
            <a:extLst>
              <a:ext uri="{FF2B5EF4-FFF2-40B4-BE49-F238E27FC236}">
                <a16:creationId xmlns:a16="http://schemas.microsoft.com/office/drawing/2014/main" id="{24118104-3F0E-7E61-9568-2AC79479ECB3}"/>
              </a:ext>
            </a:extLst>
          </p:cNvPr>
          <p:cNvSpPr txBox="1"/>
          <p:nvPr/>
        </p:nvSpPr>
        <p:spPr>
          <a:xfrm>
            <a:off x="640080" y="2626111"/>
            <a:ext cx="2286000" cy="196596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1" i="0" u="none" strike="noStrike" kern="1200" cap="none" spc="0" baseline="0">
                <a:solidFill>
                  <a:srgbClr val="1B2430"/>
                </a:solidFill>
                <a:uFillTx/>
                <a:latin typeface="Segoe UI" pitchFamily="34"/>
                <a:ea typeface="Calibri" pitchFamily="34"/>
                <a:cs typeface="Segoe UI" pitchFamily="34"/>
              </a:rPr>
              <a:t>Nina: </a:t>
            </a:r>
            <a:r>
              <a:rPr lang="en-US" sz="1150" b="0" i="0" u="none" strike="noStrike" kern="1200" cap="none" spc="0" baseline="0">
                <a:solidFill>
                  <a:srgbClr val="1B2430"/>
                </a:solidFill>
                <a:uFillTx/>
                <a:latin typeface="Segoe UI" pitchFamily="34"/>
                <a:ea typeface="Calibri" pitchFamily="34"/>
                <a:cs typeface="Segoe UI" pitchFamily="34"/>
              </a:rPr>
              <a:t>Projektleitung</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1" i="0" u="none" strike="noStrike" kern="1200" cap="none" spc="0" baseline="0">
                <a:solidFill>
                  <a:srgbClr val="1B2430"/>
                </a:solidFill>
                <a:uFillTx/>
                <a:latin typeface="Segoe UI" pitchFamily="34"/>
                <a:ea typeface="Calibri" pitchFamily="34"/>
                <a:cs typeface="Segoe UI" pitchFamily="34"/>
              </a:rPr>
              <a:t>David: </a:t>
            </a:r>
            <a:r>
              <a:rPr lang="en-US" sz="1150" b="0" i="0" u="none" strike="noStrike" kern="1200" cap="none" spc="0" baseline="0">
                <a:solidFill>
                  <a:srgbClr val="1B2430"/>
                </a:solidFill>
                <a:uFillTx/>
                <a:latin typeface="Segoe UI" pitchFamily="34"/>
                <a:ea typeface="Calibri" pitchFamily="34"/>
                <a:cs typeface="Segoe UI" pitchFamily="34"/>
              </a:rPr>
              <a:t>Stellvertretung und UML</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1" i="0" u="none" strike="noStrike" kern="1200" cap="none" spc="0" baseline="0">
                <a:solidFill>
                  <a:srgbClr val="1B2430"/>
                </a:solidFill>
                <a:uFillTx/>
                <a:latin typeface="Segoe UI" pitchFamily="34"/>
                <a:ea typeface="Calibri" pitchFamily="34"/>
                <a:cs typeface="Segoe UI" pitchFamily="34"/>
              </a:rPr>
              <a:t>Adrian: </a:t>
            </a:r>
            <a:r>
              <a:rPr lang="en-US" sz="1150" b="0" i="0" u="none" strike="noStrike" kern="1200" cap="none" spc="0" baseline="0">
                <a:solidFill>
                  <a:srgbClr val="1B2430"/>
                </a:solidFill>
                <a:uFillTx/>
                <a:latin typeface="Segoe UI" pitchFamily="34"/>
                <a:ea typeface="Calibri" pitchFamily="34"/>
                <a:cs typeface="Segoe UI" pitchFamily="34"/>
              </a:rPr>
              <a:t>Product Owner</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1" i="0" u="none" strike="noStrike" kern="1200" cap="none" spc="0" baseline="0">
                <a:solidFill>
                  <a:srgbClr val="1B2430"/>
                </a:solidFill>
                <a:uFillTx/>
                <a:latin typeface="Segoe UI" pitchFamily="34"/>
                <a:ea typeface="Calibri" pitchFamily="34"/>
                <a:cs typeface="Segoe UI" pitchFamily="34"/>
              </a:rPr>
              <a:t>Kilian: </a:t>
            </a:r>
            <a:r>
              <a:rPr lang="en-US" sz="1150" b="0" i="0" u="none" strike="noStrike" kern="1200" cap="none" spc="0" baseline="0">
                <a:solidFill>
                  <a:srgbClr val="1B2430"/>
                </a:solidFill>
                <a:uFillTx/>
                <a:latin typeface="Segoe UI" pitchFamily="34"/>
                <a:ea typeface="Calibri" pitchFamily="34"/>
                <a:cs typeface="Segoe UI" pitchFamily="34"/>
              </a:rPr>
              <a:t>Scrum Master und UML</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1" i="0" u="none" strike="noStrike" kern="1200" cap="none" spc="0" baseline="0">
                <a:solidFill>
                  <a:srgbClr val="1B2430"/>
                </a:solidFill>
                <a:uFillTx/>
                <a:latin typeface="Segoe UI" pitchFamily="34"/>
                <a:ea typeface="Calibri" pitchFamily="34"/>
                <a:cs typeface="Segoe UI" pitchFamily="34"/>
              </a:rPr>
              <a:t>Maximilian: </a:t>
            </a:r>
            <a:r>
              <a:rPr lang="en-US" sz="1150" b="0" i="0" u="none" strike="noStrike" kern="1200" cap="none" spc="0" baseline="0">
                <a:solidFill>
                  <a:srgbClr val="1B2430"/>
                </a:solidFill>
                <a:uFillTx/>
                <a:latin typeface="Segoe UI" pitchFamily="34"/>
                <a:ea typeface="Calibri" pitchFamily="34"/>
                <a:cs typeface="Segoe UI" pitchFamily="34"/>
              </a:rPr>
              <a:t>BPMN</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1" i="0" u="none" strike="noStrike" kern="1200" cap="none" spc="0" baseline="0">
                <a:solidFill>
                  <a:srgbClr val="1B2430"/>
                </a:solidFill>
                <a:uFillTx/>
                <a:latin typeface="Segoe UI" pitchFamily="34"/>
                <a:ea typeface="Calibri" pitchFamily="34"/>
                <a:cs typeface="Segoe UI" pitchFamily="34"/>
              </a:rPr>
              <a:t>Jakob: </a:t>
            </a:r>
            <a:r>
              <a:rPr lang="en-US" sz="1150" b="0" i="0" u="none" strike="noStrike" kern="1200" cap="none" spc="0" baseline="0">
                <a:solidFill>
                  <a:srgbClr val="1B2430"/>
                </a:solidFill>
                <a:uFillTx/>
                <a:latin typeface="Segoe UI" pitchFamily="34"/>
                <a:ea typeface="Calibri" pitchFamily="34"/>
                <a:cs typeface="Segoe UI" pitchFamily="34"/>
              </a:rPr>
              <a:t>Qualität</a:t>
            </a:r>
          </a:p>
        </p:txBody>
      </p:sp>
      <p:sp>
        <p:nvSpPr>
          <p:cNvPr id="18" name="Shape 20">
            <a:extLst>
              <a:ext uri="{FF2B5EF4-FFF2-40B4-BE49-F238E27FC236}">
                <a16:creationId xmlns:a16="http://schemas.microsoft.com/office/drawing/2014/main" id="{20B135F6-6D87-5202-8417-8BE0DD46D856}"/>
              </a:ext>
            </a:extLst>
          </p:cNvPr>
          <p:cNvSpPr/>
          <p:nvPr/>
        </p:nvSpPr>
        <p:spPr>
          <a:xfrm>
            <a:off x="3429000" y="2077471"/>
            <a:ext cx="457200" cy="457200"/>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solidFill>
            <a:srgbClr val="843C0C"/>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800" b="0" i="0" u="none" strike="noStrike" kern="1200" cap="none" spc="0" baseline="0">
              <a:solidFill>
                <a:srgbClr val="000000"/>
              </a:solidFill>
              <a:uFillTx/>
              <a:latin typeface="Segoe UI" pitchFamily="34"/>
              <a:cs typeface="Segoe UI" pitchFamily="34"/>
            </a:endParaRPr>
          </a:p>
        </p:txBody>
      </p:sp>
      <p:pic>
        <p:nvPicPr>
          <p:cNvPr id="19" name="Image 1" descr="preencoded.png">
            <a:extLst>
              <a:ext uri="{FF2B5EF4-FFF2-40B4-BE49-F238E27FC236}">
                <a16:creationId xmlns:a16="http://schemas.microsoft.com/office/drawing/2014/main" id="{172320E5-E7C7-26B3-8DDC-C4D5B49DB391}"/>
              </a:ext>
            </a:extLst>
          </p:cNvPr>
          <p:cNvPicPr>
            <a:picLocks noChangeAspect="1"/>
          </p:cNvPicPr>
          <p:nvPr/>
        </p:nvPicPr>
        <p:blipFill>
          <a:blip r:embed="rId4"/>
          <a:stretch>
            <a:fillRect/>
          </a:stretch>
        </p:blipFill>
        <p:spPr>
          <a:xfrm>
            <a:off x="3543299" y="2191771"/>
            <a:ext cx="228600" cy="228600"/>
          </a:xfrm>
          <a:prstGeom prst="rect">
            <a:avLst/>
          </a:prstGeom>
          <a:noFill/>
          <a:ln cap="flat">
            <a:noFill/>
          </a:ln>
        </p:spPr>
      </p:pic>
      <p:sp>
        <p:nvSpPr>
          <p:cNvPr id="20" name="Text 21">
            <a:extLst>
              <a:ext uri="{FF2B5EF4-FFF2-40B4-BE49-F238E27FC236}">
                <a16:creationId xmlns:a16="http://schemas.microsoft.com/office/drawing/2014/main" id="{24CFCB3A-B24C-F9A2-4F9A-381C30E052E3}"/>
              </a:ext>
            </a:extLst>
          </p:cNvPr>
          <p:cNvSpPr txBox="1"/>
          <p:nvPr/>
        </p:nvSpPr>
        <p:spPr>
          <a:xfrm>
            <a:off x="4023360" y="2059183"/>
            <a:ext cx="173736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1B2430"/>
                </a:solidFill>
                <a:uFillTx/>
                <a:latin typeface="Segoe UI" pitchFamily="34"/>
                <a:ea typeface="Calibri" pitchFamily="34"/>
                <a:cs typeface="Segoe UI" pitchFamily="34"/>
              </a:rPr>
              <a:t>Zusammenarbeit</a:t>
            </a:r>
            <a:endParaRPr lang="en-US" sz="1400" b="0" i="0" u="none" strike="noStrike" kern="1200" cap="none" spc="0" baseline="0">
              <a:solidFill>
                <a:srgbClr val="000000"/>
              </a:solidFill>
              <a:uFillTx/>
              <a:latin typeface="Segoe UI" pitchFamily="34"/>
              <a:cs typeface="Segoe UI" pitchFamily="34"/>
            </a:endParaRPr>
          </a:p>
        </p:txBody>
      </p:sp>
      <p:sp>
        <p:nvSpPr>
          <p:cNvPr id="21" name="Text 22">
            <a:extLst>
              <a:ext uri="{FF2B5EF4-FFF2-40B4-BE49-F238E27FC236}">
                <a16:creationId xmlns:a16="http://schemas.microsoft.com/office/drawing/2014/main" id="{C1786FF8-2226-91B2-DDDF-E449ECAF5439}"/>
              </a:ext>
            </a:extLst>
          </p:cNvPr>
          <p:cNvSpPr txBox="1"/>
          <p:nvPr/>
        </p:nvSpPr>
        <p:spPr>
          <a:xfrm>
            <a:off x="3429000" y="2626111"/>
            <a:ext cx="2286000" cy="1965960"/>
          </a:xfrm>
          <a:prstGeom prst="rect">
            <a:avLst/>
          </a:prstGeom>
          <a:noFill/>
          <a:ln cap="flat">
            <a:noFill/>
          </a:ln>
        </p:spPr>
        <p:txBody>
          <a:bodyPr vert="horz" wrap="square" lIns="0" tIns="0" rIns="0" bIns="0" anchor="t" anchorCtr="0" compatLnSpc="1">
            <a:noAutofit/>
          </a:bodyPr>
          <a:lstStyle/>
          <a:p>
            <a:pPr marL="171450" marR="0" lvl="0" indent="-171450" algn="l" defTabSz="914400" rtl="0" fontAlgn="auto" hangingPunct="1">
              <a:lnSpc>
                <a:spcPct val="15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Scrum</a:t>
            </a:r>
          </a:p>
          <a:p>
            <a:pPr marL="171450" marR="0" lvl="0" indent="-171450" algn="l" defTabSz="914400" rtl="0" fontAlgn="auto" hangingPunct="1">
              <a:lnSpc>
                <a:spcPct val="15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Trello-Board </a:t>
            </a:r>
          </a:p>
          <a:p>
            <a:pPr marL="171450" marR="0" lvl="0" indent="-171450" algn="l" defTabSz="914400" rtl="0" fontAlgn="auto" hangingPunct="1">
              <a:lnSpc>
                <a:spcPct val="15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Prüfung</a:t>
            </a:r>
          </a:p>
          <a:p>
            <a:pPr marL="171450" marR="0" lvl="0" indent="-171450" algn="l" defTabSz="914400" rtl="0" fontAlgn="auto" hangingPunct="1">
              <a:lnSpc>
                <a:spcPct val="150000"/>
              </a:lnSpc>
              <a:spcBef>
                <a:spcPts val="0"/>
              </a:spcBef>
              <a:spcAft>
                <a:spcPts val="0"/>
              </a:spcAft>
              <a:buSzPct val="100000"/>
              <a:buFont typeface="Arial" pitchFamily="34"/>
              <a:buChar char="•"/>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GitHub Repo</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150" b="0" i="0" u="none" strike="noStrike" kern="1200" cap="none" spc="0" baseline="0">
              <a:solidFill>
                <a:srgbClr val="000000"/>
              </a:solidFill>
              <a:uFillTx/>
              <a:latin typeface="Segoe UI" pitchFamily="34"/>
              <a:cs typeface="Segoe UI" pitchFamily="34"/>
            </a:endParaRPr>
          </a:p>
        </p:txBody>
      </p:sp>
      <p:sp>
        <p:nvSpPr>
          <p:cNvPr id="22" name="Shape 24">
            <a:extLst>
              <a:ext uri="{FF2B5EF4-FFF2-40B4-BE49-F238E27FC236}">
                <a16:creationId xmlns:a16="http://schemas.microsoft.com/office/drawing/2014/main" id="{392D7EA4-7AD0-629A-7713-E0403CCB222A}"/>
              </a:ext>
            </a:extLst>
          </p:cNvPr>
          <p:cNvSpPr/>
          <p:nvPr/>
        </p:nvSpPr>
        <p:spPr>
          <a:xfrm>
            <a:off x="6217920" y="2077471"/>
            <a:ext cx="457200" cy="457200"/>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solidFill>
            <a:srgbClr val="843C0C"/>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de-DE" sz="1800" b="0" i="0" u="none" strike="noStrike" kern="1200" cap="none" spc="0" baseline="0">
              <a:solidFill>
                <a:srgbClr val="000000"/>
              </a:solidFill>
              <a:uFillTx/>
              <a:latin typeface="Segoe UI" pitchFamily="34"/>
              <a:cs typeface="Segoe UI" pitchFamily="34"/>
            </a:endParaRPr>
          </a:p>
        </p:txBody>
      </p:sp>
      <p:pic>
        <p:nvPicPr>
          <p:cNvPr id="23" name="Image 2" descr="preencoded.png">
            <a:extLst>
              <a:ext uri="{FF2B5EF4-FFF2-40B4-BE49-F238E27FC236}">
                <a16:creationId xmlns:a16="http://schemas.microsoft.com/office/drawing/2014/main" id="{EC4242D3-9FD9-6B47-69A7-797A87F0F87B}"/>
              </a:ext>
            </a:extLst>
          </p:cNvPr>
          <p:cNvPicPr>
            <a:picLocks noChangeAspect="1"/>
          </p:cNvPicPr>
          <p:nvPr/>
        </p:nvPicPr>
        <p:blipFill>
          <a:blip r:embed="rId5"/>
          <a:stretch>
            <a:fillRect/>
          </a:stretch>
        </p:blipFill>
        <p:spPr>
          <a:xfrm>
            <a:off x="6332220" y="2191771"/>
            <a:ext cx="228600" cy="228600"/>
          </a:xfrm>
          <a:prstGeom prst="rect">
            <a:avLst/>
          </a:prstGeom>
          <a:noFill/>
          <a:ln cap="flat">
            <a:noFill/>
          </a:ln>
        </p:spPr>
      </p:pic>
      <p:sp>
        <p:nvSpPr>
          <p:cNvPr id="24" name="Text 25">
            <a:extLst>
              <a:ext uri="{FF2B5EF4-FFF2-40B4-BE49-F238E27FC236}">
                <a16:creationId xmlns:a16="http://schemas.microsoft.com/office/drawing/2014/main" id="{DE045A7B-494C-B7D0-57E5-F8D3806F1FA2}"/>
              </a:ext>
            </a:extLst>
          </p:cNvPr>
          <p:cNvSpPr txBox="1"/>
          <p:nvPr/>
        </p:nvSpPr>
        <p:spPr>
          <a:xfrm>
            <a:off x="6812280" y="2059183"/>
            <a:ext cx="173736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1B2430"/>
                </a:solidFill>
                <a:uFillTx/>
                <a:latin typeface="Segoe UI" pitchFamily="34"/>
                <a:ea typeface="Calibri" pitchFamily="34"/>
                <a:cs typeface="Segoe UI" pitchFamily="34"/>
              </a:rPr>
              <a:t>Ablauf je Diagramm</a:t>
            </a:r>
          </a:p>
        </p:txBody>
      </p:sp>
      <p:sp>
        <p:nvSpPr>
          <p:cNvPr id="25" name="Text 26">
            <a:extLst>
              <a:ext uri="{FF2B5EF4-FFF2-40B4-BE49-F238E27FC236}">
                <a16:creationId xmlns:a16="http://schemas.microsoft.com/office/drawing/2014/main" id="{B2E1E983-C130-D709-8122-45EE088C08C4}"/>
              </a:ext>
            </a:extLst>
          </p:cNvPr>
          <p:cNvSpPr txBox="1"/>
          <p:nvPr/>
        </p:nvSpPr>
        <p:spPr>
          <a:xfrm>
            <a:off x="6217920" y="2626111"/>
            <a:ext cx="2286000" cy="196596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Entwurf </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Review</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Abstimmung </a:t>
            </a:r>
          </a:p>
          <a:p>
            <a:pPr marL="0" marR="0" lvl="0" indent="0" algn="l" defTabSz="914400" rtl="0" fontAlgn="auto" hangingPunct="1">
              <a:lnSpc>
                <a:spcPct val="150000"/>
              </a:lnSpc>
              <a:spcBef>
                <a:spcPts val="0"/>
              </a:spcBef>
              <a:spcAft>
                <a:spcPts val="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Pull Request mit Review. Entscheidungslog</a:t>
            </a:r>
            <a:endParaRPr lang="en-US" sz="1150" b="0" i="0" u="none" strike="noStrike" kern="1200" cap="none" spc="0" baseline="0">
              <a:solidFill>
                <a:srgbClr val="000000"/>
              </a:solidFill>
              <a:uFillTx/>
              <a:latin typeface="Segoe UI" pitchFamily="34"/>
              <a:cs typeface="Segoe UI" pitchFamily="34"/>
            </a:endParaRPr>
          </a:p>
        </p:txBody>
      </p:sp>
      <p:grpSp>
        <p:nvGrpSpPr>
          <p:cNvPr id="27" name="Group 2">
            <a:extLst>
              <a:ext uri="{FF2B5EF4-FFF2-40B4-BE49-F238E27FC236}">
                <a16:creationId xmlns:a16="http://schemas.microsoft.com/office/drawing/2014/main" id="{0CB9D190-D196-D335-516C-9B67917C1506}"/>
              </a:ext>
            </a:extLst>
          </p:cNvPr>
          <p:cNvGrpSpPr/>
          <p:nvPr/>
        </p:nvGrpSpPr>
        <p:grpSpPr>
          <a:xfrm>
            <a:off x="7680960" y="6668618"/>
            <a:ext cx="1336202" cy="3375590"/>
            <a:chOff x="7680960" y="6668618"/>
            <a:chExt cx="1336202" cy="3375590"/>
          </a:xfrm>
        </p:grpSpPr>
        <p:sp>
          <p:nvSpPr>
            <p:cNvPr id="28" name="Circular Arrow 3">
              <a:extLst>
                <a:ext uri="{FF2B5EF4-FFF2-40B4-BE49-F238E27FC236}">
                  <a16:creationId xmlns:a16="http://schemas.microsoft.com/office/drawing/2014/main" id="{908F9269-ADCA-D50B-596C-2FFA7D4B7A87}"/>
                </a:ext>
              </a:extLst>
            </p:cNvPr>
            <p:cNvSpPr/>
            <p:nvPr/>
          </p:nvSpPr>
          <p:spPr>
            <a:xfrm>
              <a:off x="7971464" y="6668618"/>
              <a:ext cx="1045698" cy="1045753"/>
            </a:xfrm>
            <a:custGeom>
              <a:avLst/>
              <a:gdLst>
                <a:gd name="f0" fmla="val 10800000"/>
                <a:gd name="f1" fmla="val 5400000"/>
                <a:gd name="f2" fmla="val 180"/>
                <a:gd name="f3" fmla="val w"/>
                <a:gd name="f4" fmla="val h"/>
                <a:gd name="f5" fmla="val 0"/>
                <a:gd name="f6" fmla="val 1045703"/>
                <a:gd name="f7" fmla="val 1045756"/>
                <a:gd name="f8" fmla="+- 0 0 15214134"/>
                <a:gd name="f9" fmla="val 62350"/>
                <a:gd name="f10" fmla="val 522878"/>
                <a:gd name="f11" fmla="val 460501"/>
                <a:gd name="f12" fmla="val 460528"/>
                <a:gd name="f13" fmla="val 15291814"/>
                <a:gd name="f14" fmla="val 639585"/>
                <a:gd name="f15" fmla="val 1028861"/>
                <a:gd name="f16" fmla="val 497357"/>
                <a:gd name="f17" fmla="val 968094"/>
                <a:gd name="f18" fmla="val 648382"/>
                <a:gd name="f19" fmla="val 875248"/>
                <a:gd name="f20" fmla="val 644867"/>
                <a:gd name="f21" fmla="val 936623"/>
                <a:gd name="f22" fmla="val 431337"/>
                <a:gd name="f23" fmla="val 431363"/>
                <a:gd name="f24" fmla="val 4414134"/>
                <a:gd name="f25" fmla="+- 0 0 -180"/>
                <a:gd name="f26" fmla="+- 0 0 -183"/>
                <a:gd name="f27" fmla="+- 0 0 -273"/>
                <a:gd name="f28" fmla="+- 0 0 -363"/>
                <a:gd name="f29" fmla="*/ f3 1 1045703"/>
                <a:gd name="f30" fmla="*/ f4 1 1045756"/>
                <a:gd name="f31" fmla="val f5"/>
                <a:gd name="f32" fmla="val f6"/>
                <a:gd name="f33" fmla="val f7"/>
                <a:gd name="f34" fmla="*/ f25 f0 1"/>
                <a:gd name="f35" fmla="*/ f26 f0 1"/>
                <a:gd name="f36" fmla="*/ f27 f0 1"/>
                <a:gd name="f37" fmla="*/ f28 f0 1"/>
                <a:gd name="f38" fmla="+- f33 0 f31"/>
                <a:gd name="f39" fmla="+- f32 0 f31"/>
                <a:gd name="f40" fmla="*/ f34 1 f2"/>
                <a:gd name="f41" fmla="*/ f35 1 f2"/>
                <a:gd name="f42" fmla="*/ f36 1 f2"/>
                <a:gd name="f43" fmla="*/ f37 1 f2"/>
                <a:gd name="f44" fmla="*/ f39 1 1045703"/>
                <a:gd name="f45" fmla="*/ f38 1 1045756"/>
                <a:gd name="f46" fmla="+- f40 0 f1"/>
                <a:gd name="f47" fmla="+- f41 0 f1"/>
                <a:gd name="f48" fmla="+- f42 0 f1"/>
                <a:gd name="f49" fmla="+- f43 0 f1"/>
                <a:gd name="f50" fmla="*/ 76932 1 f44"/>
                <a:gd name="f51" fmla="*/ 522878 1 f45"/>
                <a:gd name="f52" fmla="*/ 639585 1 f44"/>
                <a:gd name="f53" fmla="*/ 1028861 1 f45"/>
                <a:gd name="f54" fmla="*/ 497357 1 f44"/>
                <a:gd name="f55" fmla="*/ 968094 1 f45"/>
                <a:gd name="f56" fmla="*/ 648382 1 f44"/>
                <a:gd name="f57" fmla="*/ 875248 1 f45"/>
                <a:gd name="f58" fmla="*/ 197228 1 f44"/>
                <a:gd name="f59" fmla="*/ 848475 1 f44"/>
                <a:gd name="f60" fmla="*/ 197236 1 f45"/>
                <a:gd name="f61" fmla="*/ 848520 1 f45"/>
                <a:gd name="f62" fmla="*/ f58 f29 1"/>
                <a:gd name="f63" fmla="*/ f59 f29 1"/>
                <a:gd name="f64" fmla="*/ f61 f30 1"/>
                <a:gd name="f65" fmla="*/ f60 f30 1"/>
                <a:gd name="f66" fmla="*/ f50 f29 1"/>
                <a:gd name="f67" fmla="*/ f51 f30 1"/>
                <a:gd name="f68" fmla="*/ f52 f29 1"/>
                <a:gd name="f69" fmla="*/ f53 f30 1"/>
                <a:gd name="f70" fmla="*/ f54 f29 1"/>
                <a:gd name="f71" fmla="*/ f55 f30 1"/>
                <a:gd name="f72" fmla="*/ f56 f29 1"/>
                <a:gd name="f73" fmla="*/ f57 f30 1"/>
              </a:gdLst>
              <a:ahLst/>
              <a:cxnLst>
                <a:cxn ang="3cd4">
                  <a:pos x="hc" y="t"/>
                </a:cxn>
                <a:cxn ang="0">
                  <a:pos x="r" y="vc"/>
                </a:cxn>
                <a:cxn ang="cd4">
                  <a:pos x="hc" y="b"/>
                </a:cxn>
                <a:cxn ang="cd2">
                  <a:pos x="l" y="vc"/>
                </a:cxn>
                <a:cxn ang="f46">
                  <a:pos x="f66" y="f67"/>
                </a:cxn>
                <a:cxn ang="f47">
                  <a:pos x="f68" y="f69"/>
                </a:cxn>
                <a:cxn ang="f48">
                  <a:pos x="f70" y="f71"/>
                </a:cxn>
                <a:cxn ang="f49">
                  <a:pos x="f72" y="f73"/>
                </a:cxn>
              </a:cxnLst>
              <a:rect l="f62" t="f65" r="f63" b="f64"/>
              <a:pathLst>
                <a:path w="1045703" h="1045756">
                  <a:moveTo>
                    <a:pt x="f9" y="f10"/>
                  </a:moveTo>
                  <a:arcTo wR="f11" hR="f12" stAng="f0" swAng="f13"/>
                  <a:lnTo>
                    <a:pt x="f14" y="f15"/>
                  </a:lnTo>
                  <a:lnTo>
                    <a:pt x="f16" y="f17"/>
                  </a:lnTo>
                  <a:lnTo>
                    <a:pt x="f18" y="f19"/>
                  </a:lnTo>
                  <a:lnTo>
                    <a:pt x="f20" y="f21"/>
                  </a:lnTo>
                  <a:arcTo wR="f22" hR="f23" stAng="f24" swAng="f8"/>
                  <a:close/>
                </a:path>
              </a:pathLst>
            </a:custGeom>
            <a:solidFill>
              <a:srgbClr val="C65A11"/>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29" name="Freeform 17">
              <a:extLst>
                <a:ext uri="{FF2B5EF4-FFF2-40B4-BE49-F238E27FC236}">
                  <a16:creationId xmlns:a16="http://schemas.microsoft.com/office/drawing/2014/main" id="{877477B2-D36D-4000-2CE4-6FA72F6D96B4}"/>
                </a:ext>
              </a:extLst>
            </p:cNvPr>
            <p:cNvSpPr/>
            <p:nvPr/>
          </p:nvSpPr>
          <p:spPr>
            <a:xfrm>
              <a:off x="8202341" y="7045351"/>
              <a:ext cx="583560" cy="295662"/>
            </a:xfrm>
            <a:custGeom>
              <a:avLst/>
              <a:gdLst>
                <a:gd name="f0" fmla="val 10800000"/>
                <a:gd name="f1" fmla="val 5400000"/>
                <a:gd name="f2" fmla="val 180"/>
                <a:gd name="f3" fmla="val w"/>
                <a:gd name="f4" fmla="val h"/>
                <a:gd name="f5" fmla="val 0"/>
                <a:gd name="f6" fmla="val 583561"/>
                <a:gd name="f7" fmla="val 295666"/>
                <a:gd name="f8" fmla="+- 0 0 -90"/>
                <a:gd name="f9" fmla="*/ f3 1 583561"/>
                <a:gd name="f10" fmla="*/ f4 1 295666"/>
                <a:gd name="f11" fmla="val f5"/>
                <a:gd name="f12" fmla="val f6"/>
                <a:gd name="f13" fmla="val f7"/>
                <a:gd name="f14" fmla="*/ f8 f0 1"/>
                <a:gd name="f15" fmla="+- f13 0 f11"/>
                <a:gd name="f16" fmla="+- f12 0 f11"/>
                <a:gd name="f17" fmla="*/ f14 1 f2"/>
                <a:gd name="f18" fmla="*/ f16 1 583561"/>
                <a:gd name="f19" fmla="*/ f15 1 295666"/>
                <a:gd name="f20" fmla="*/ 0 f16 1"/>
                <a:gd name="f21" fmla="*/ 0 f15 1"/>
                <a:gd name="f22" fmla="*/ 583561 f16 1"/>
                <a:gd name="f23" fmla="*/ 295666 f15 1"/>
                <a:gd name="f24" fmla="+- f17 0 f1"/>
                <a:gd name="f25" fmla="*/ f20 1 583561"/>
                <a:gd name="f26" fmla="*/ f21 1 295666"/>
                <a:gd name="f27" fmla="*/ f22 1 583561"/>
                <a:gd name="f28" fmla="*/ f23 1 295666"/>
                <a:gd name="f29" fmla="*/ f11 1 f18"/>
                <a:gd name="f30" fmla="*/ f12 1 f18"/>
                <a:gd name="f31" fmla="*/ f11 1 f19"/>
                <a:gd name="f32" fmla="*/ f13 1 f19"/>
                <a:gd name="f33" fmla="*/ f25 1 f18"/>
                <a:gd name="f34" fmla="*/ f26 1 f19"/>
                <a:gd name="f35" fmla="*/ f27 1 f18"/>
                <a:gd name="f36" fmla="*/ f28 1 f19"/>
                <a:gd name="f37" fmla="*/ f29 f9 1"/>
                <a:gd name="f38" fmla="*/ f30 f9 1"/>
                <a:gd name="f39" fmla="*/ f32 f10 1"/>
                <a:gd name="f40" fmla="*/ f31 f10 1"/>
                <a:gd name="f41" fmla="*/ f33 f9 1"/>
                <a:gd name="f42" fmla="*/ f34 f10 1"/>
                <a:gd name="f43" fmla="*/ f35 f9 1"/>
                <a:gd name="f44" fmla="*/ f36 f10 1"/>
              </a:gdLst>
              <a:ahLst/>
              <a:cxnLst>
                <a:cxn ang="3cd4">
                  <a:pos x="hc" y="t"/>
                </a:cxn>
                <a:cxn ang="0">
                  <a:pos x="r" y="vc"/>
                </a:cxn>
                <a:cxn ang="cd4">
                  <a:pos x="hc" y="b"/>
                </a:cxn>
                <a:cxn ang="cd2">
                  <a:pos x="l" y="vc"/>
                </a:cxn>
                <a:cxn ang="f24">
                  <a:pos x="f41" y="f42"/>
                </a:cxn>
                <a:cxn ang="f24">
                  <a:pos x="f43" y="f42"/>
                </a:cxn>
                <a:cxn ang="f24">
                  <a:pos x="f43" y="f44"/>
                </a:cxn>
                <a:cxn ang="f24">
                  <a:pos x="f41" y="f44"/>
                </a:cxn>
                <a:cxn ang="f24">
                  <a:pos x="f41" y="f42"/>
                </a:cxn>
              </a:cxnLst>
              <a:rect l="f37" t="f40" r="f38" b="f39"/>
              <a:pathLst>
                <a:path w="583561" h="295666">
                  <a:moveTo>
                    <a:pt x="f5" y="f5"/>
                  </a:moveTo>
                  <a:lnTo>
                    <a:pt x="f6" y="f5"/>
                  </a:lnTo>
                  <a:lnTo>
                    <a:pt x="f6" y="f7"/>
                  </a:lnTo>
                  <a:lnTo>
                    <a:pt x="f5" y="f7"/>
                  </a:lnTo>
                  <a:lnTo>
                    <a:pt x="f5" y="f5"/>
                  </a:lnTo>
                  <a:close/>
                </a:path>
              </a:pathLst>
            </a:custGeom>
            <a:noFill/>
            <a:ln cap="flat">
              <a:noFill/>
              <a:prstDash val="solid"/>
            </a:ln>
          </p:spPr>
          <p:txBody>
            <a:bodyPr vert="horz" wrap="square" lIns="7616" tIns="7616" rIns="7616" bIns="7616" anchor="ctr" anchorCtr="1" compatLnSpc="1">
              <a:noAutofit/>
            </a:bodyPr>
            <a:lstStyle/>
            <a:p>
              <a:pPr marL="0" marR="0" lvl="0" indent="0" algn="ctr" defTabSz="511177" rtl="0" fontAlgn="auto" hangingPunct="1">
                <a:lnSpc>
                  <a:spcPct val="90000"/>
                </a:lnSpc>
                <a:spcBef>
                  <a:spcPts val="0"/>
                </a:spcBef>
                <a:spcAft>
                  <a:spcPts val="50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Entwurf </a:t>
              </a:r>
              <a:endParaRPr lang="en-GB" sz="1150" b="0" i="0" u="none" strike="noStrike" kern="1200" cap="none" spc="0" baseline="0">
                <a:solidFill>
                  <a:srgbClr val="000000"/>
                </a:solidFill>
                <a:uFillTx/>
                <a:latin typeface="Calibri"/>
              </a:endParaRPr>
            </a:p>
          </p:txBody>
        </p:sp>
        <p:sp>
          <p:nvSpPr>
            <p:cNvPr id="30" name="Shape 22">
              <a:extLst>
                <a:ext uri="{FF2B5EF4-FFF2-40B4-BE49-F238E27FC236}">
                  <a16:creationId xmlns:a16="http://schemas.microsoft.com/office/drawing/2014/main" id="{12290F0A-64B6-C3DE-5ECF-6EFC04208769}"/>
                </a:ext>
              </a:extLst>
            </p:cNvPr>
            <p:cNvSpPr/>
            <p:nvPr/>
          </p:nvSpPr>
          <p:spPr>
            <a:xfrm>
              <a:off x="7680960" y="7269470"/>
              <a:ext cx="1045698" cy="1045753"/>
            </a:xfrm>
            <a:custGeom>
              <a:avLst/>
              <a:gdLst>
                <a:gd name="f0" fmla="val 10800000"/>
                <a:gd name="f1" fmla="val 5400000"/>
                <a:gd name="f2" fmla="val 180"/>
                <a:gd name="f3" fmla="val w"/>
                <a:gd name="f4" fmla="val h"/>
                <a:gd name="f5" fmla="val 0"/>
                <a:gd name="f6" fmla="val 1045703"/>
                <a:gd name="f7" fmla="val 1045756"/>
                <a:gd name="f8" fmla="+- 0 0 12907131"/>
                <a:gd name="f9" fmla="val 881912"/>
                <a:gd name="f10" fmla="val 237812"/>
                <a:gd name="f11" fmla="val 859071"/>
                <a:gd name="f12" fmla="val 255946"/>
                <a:gd name="f13" fmla="val 429287"/>
                <a:gd name="f14" fmla="val 429314"/>
                <a:gd name="f15" fmla="val 19293191"/>
                <a:gd name="f16" fmla="val 397761"/>
                <a:gd name="f17" fmla="val 871230"/>
                <a:gd name="f18" fmla="val 548229"/>
                <a:gd name="f19" fmla="val 966048"/>
                <a:gd name="f20" fmla="val 406791"/>
                <a:gd name="f21" fmla="val 1028935"/>
                <a:gd name="f22" fmla="val 403156"/>
                <a:gd name="f23" fmla="val 965454"/>
                <a:gd name="f24" fmla="val 458452"/>
                <a:gd name="f25" fmla="val 458478"/>
                <a:gd name="f26" fmla="val 6308020"/>
                <a:gd name="f27" fmla="val 12985171"/>
                <a:gd name="f28" fmla="+- 0 0 -501"/>
                <a:gd name="f29" fmla="+- 0 0 -176"/>
                <a:gd name="f30" fmla="+- 0 0 -86"/>
                <a:gd name="f31" fmla="+- 0 0 -356"/>
                <a:gd name="f32" fmla="*/ f3 1 1045703"/>
                <a:gd name="f33" fmla="*/ f4 1 1045756"/>
                <a:gd name="f34" fmla="val f5"/>
                <a:gd name="f35" fmla="val f6"/>
                <a:gd name="f36" fmla="val f7"/>
                <a:gd name="f37" fmla="*/ f28 f0 1"/>
                <a:gd name="f38" fmla="*/ f29 f0 1"/>
                <a:gd name="f39" fmla="*/ f30 f0 1"/>
                <a:gd name="f40" fmla="*/ f31 f0 1"/>
                <a:gd name="f41" fmla="+- f36 0 f34"/>
                <a:gd name="f42" fmla="+- f35 0 f34"/>
                <a:gd name="f43" fmla="*/ f37 1 f2"/>
                <a:gd name="f44" fmla="*/ f38 1 f2"/>
                <a:gd name="f45" fmla="*/ f39 1 f2"/>
                <a:gd name="f46" fmla="*/ f40 1 f2"/>
                <a:gd name="f47" fmla="*/ f42 1 1045703"/>
                <a:gd name="f48" fmla="*/ f41 1 1045756"/>
                <a:gd name="f49" fmla="+- f43 0 f1"/>
                <a:gd name="f50" fmla="+- f44 0 f1"/>
                <a:gd name="f51" fmla="+- f45 0 f1"/>
                <a:gd name="f52" fmla="+- f46 0 f1"/>
                <a:gd name="f53" fmla="*/ 870492 1 f47"/>
                <a:gd name="f54" fmla="*/ 246879 1 f48"/>
                <a:gd name="f55" fmla="*/ 406791 1 f47"/>
                <a:gd name="f56" fmla="*/ 1028935 1 f48"/>
                <a:gd name="f57" fmla="*/ 548229 1 f47"/>
                <a:gd name="f58" fmla="*/ 966048 1 f48"/>
                <a:gd name="f59" fmla="*/ 397761 1 f47"/>
                <a:gd name="f60" fmla="*/ 871230 1 f48"/>
                <a:gd name="f61" fmla="*/ 198677 1 f47"/>
                <a:gd name="f62" fmla="*/ 847026 1 f47"/>
                <a:gd name="f63" fmla="*/ 198685 1 f48"/>
                <a:gd name="f64" fmla="*/ 847071 1 f48"/>
                <a:gd name="f65" fmla="*/ f61 f32 1"/>
                <a:gd name="f66" fmla="*/ f62 f32 1"/>
                <a:gd name="f67" fmla="*/ f64 f33 1"/>
                <a:gd name="f68" fmla="*/ f63 f33 1"/>
                <a:gd name="f69" fmla="*/ f53 f32 1"/>
                <a:gd name="f70" fmla="*/ f54 f33 1"/>
                <a:gd name="f71" fmla="*/ f55 f32 1"/>
                <a:gd name="f72" fmla="*/ f56 f33 1"/>
                <a:gd name="f73" fmla="*/ f57 f32 1"/>
                <a:gd name="f74" fmla="*/ f58 f33 1"/>
                <a:gd name="f75" fmla="*/ f59 f32 1"/>
                <a:gd name="f76" fmla="*/ f60 f33 1"/>
              </a:gdLst>
              <a:ahLst/>
              <a:cxnLst>
                <a:cxn ang="3cd4">
                  <a:pos x="hc" y="t"/>
                </a:cxn>
                <a:cxn ang="0">
                  <a:pos x="r" y="vc"/>
                </a:cxn>
                <a:cxn ang="cd4">
                  <a:pos x="hc" y="b"/>
                </a:cxn>
                <a:cxn ang="cd2">
                  <a:pos x="l" y="vc"/>
                </a:cxn>
                <a:cxn ang="f49">
                  <a:pos x="f69" y="f70"/>
                </a:cxn>
                <a:cxn ang="f50">
                  <a:pos x="f71" y="f72"/>
                </a:cxn>
                <a:cxn ang="f51">
                  <a:pos x="f73" y="f74"/>
                </a:cxn>
                <a:cxn ang="f52">
                  <a:pos x="f75" y="f76"/>
                </a:cxn>
              </a:cxnLst>
              <a:rect l="f65" t="f68" r="f66" b="f67"/>
              <a:pathLst>
                <a:path w="1045703" h="1045756">
                  <a:moveTo>
                    <a:pt x="f9" y="f10"/>
                  </a:moveTo>
                  <a:lnTo>
                    <a:pt x="f11" y="f12"/>
                  </a:lnTo>
                  <a:arcTo wR="f13" hR="f14" stAng="f15" swAng="f8"/>
                  <a:lnTo>
                    <a:pt x="f16" y="f17"/>
                  </a:lnTo>
                  <a:lnTo>
                    <a:pt x="f18" y="f19"/>
                  </a:lnTo>
                  <a:lnTo>
                    <a:pt x="f20" y="f21"/>
                  </a:lnTo>
                  <a:lnTo>
                    <a:pt x="f22" y="f23"/>
                  </a:lnTo>
                  <a:arcTo wR="f24" hR="f25" stAng="f26" swAng="f27"/>
                  <a:close/>
                </a:path>
              </a:pathLst>
            </a:custGeom>
            <a:solidFill>
              <a:srgbClr val="C65A11"/>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31" name="Freeform 27">
              <a:extLst>
                <a:ext uri="{FF2B5EF4-FFF2-40B4-BE49-F238E27FC236}">
                  <a16:creationId xmlns:a16="http://schemas.microsoft.com/office/drawing/2014/main" id="{1882F547-77C0-EEBF-63F5-F271375DBC8C}"/>
                </a:ext>
              </a:extLst>
            </p:cNvPr>
            <p:cNvSpPr/>
            <p:nvPr/>
          </p:nvSpPr>
          <p:spPr>
            <a:xfrm>
              <a:off x="7910657" y="7649559"/>
              <a:ext cx="583560" cy="291647"/>
            </a:xfrm>
            <a:custGeom>
              <a:avLst/>
              <a:gdLst>
                <a:gd name="f0" fmla="val 10800000"/>
                <a:gd name="f1" fmla="val 5400000"/>
                <a:gd name="f2" fmla="val 180"/>
                <a:gd name="f3" fmla="val w"/>
                <a:gd name="f4" fmla="val h"/>
                <a:gd name="f5" fmla="val 0"/>
                <a:gd name="f6" fmla="val 583561"/>
                <a:gd name="f7" fmla="val 291650"/>
                <a:gd name="f8" fmla="+- 0 0 -90"/>
                <a:gd name="f9" fmla="*/ f3 1 583561"/>
                <a:gd name="f10" fmla="*/ f4 1 291650"/>
                <a:gd name="f11" fmla="val f5"/>
                <a:gd name="f12" fmla="val f6"/>
                <a:gd name="f13" fmla="val f7"/>
                <a:gd name="f14" fmla="*/ f8 f0 1"/>
                <a:gd name="f15" fmla="+- f13 0 f11"/>
                <a:gd name="f16" fmla="+- f12 0 f11"/>
                <a:gd name="f17" fmla="*/ f14 1 f2"/>
                <a:gd name="f18" fmla="*/ f16 1 583561"/>
                <a:gd name="f19" fmla="*/ f15 1 291650"/>
                <a:gd name="f20" fmla="*/ 0 f16 1"/>
                <a:gd name="f21" fmla="*/ 0 f15 1"/>
                <a:gd name="f22" fmla="*/ 583561 f16 1"/>
                <a:gd name="f23" fmla="*/ 291650 f15 1"/>
                <a:gd name="f24" fmla="+- f17 0 f1"/>
                <a:gd name="f25" fmla="*/ f20 1 583561"/>
                <a:gd name="f26" fmla="*/ f21 1 291650"/>
                <a:gd name="f27" fmla="*/ f22 1 583561"/>
                <a:gd name="f28" fmla="*/ f23 1 291650"/>
                <a:gd name="f29" fmla="*/ f11 1 f18"/>
                <a:gd name="f30" fmla="*/ f12 1 f18"/>
                <a:gd name="f31" fmla="*/ f11 1 f19"/>
                <a:gd name="f32" fmla="*/ f13 1 f19"/>
                <a:gd name="f33" fmla="*/ f25 1 f18"/>
                <a:gd name="f34" fmla="*/ f26 1 f19"/>
                <a:gd name="f35" fmla="*/ f27 1 f18"/>
                <a:gd name="f36" fmla="*/ f28 1 f19"/>
                <a:gd name="f37" fmla="*/ f29 f9 1"/>
                <a:gd name="f38" fmla="*/ f30 f9 1"/>
                <a:gd name="f39" fmla="*/ f32 f10 1"/>
                <a:gd name="f40" fmla="*/ f31 f10 1"/>
                <a:gd name="f41" fmla="*/ f33 f9 1"/>
                <a:gd name="f42" fmla="*/ f34 f10 1"/>
                <a:gd name="f43" fmla="*/ f35 f9 1"/>
                <a:gd name="f44" fmla="*/ f36 f10 1"/>
              </a:gdLst>
              <a:ahLst/>
              <a:cxnLst>
                <a:cxn ang="3cd4">
                  <a:pos x="hc" y="t"/>
                </a:cxn>
                <a:cxn ang="0">
                  <a:pos x="r" y="vc"/>
                </a:cxn>
                <a:cxn ang="cd4">
                  <a:pos x="hc" y="b"/>
                </a:cxn>
                <a:cxn ang="cd2">
                  <a:pos x="l" y="vc"/>
                </a:cxn>
                <a:cxn ang="f24">
                  <a:pos x="f41" y="f42"/>
                </a:cxn>
                <a:cxn ang="f24">
                  <a:pos x="f43" y="f42"/>
                </a:cxn>
                <a:cxn ang="f24">
                  <a:pos x="f43" y="f44"/>
                </a:cxn>
                <a:cxn ang="f24">
                  <a:pos x="f41" y="f44"/>
                </a:cxn>
                <a:cxn ang="f24">
                  <a:pos x="f41" y="f42"/>
                </a:cxn>
              </a:cxnLst>
              <a:rect l="f37" t="f40" r="f38" b="f39"/>
              <a:pathLst>
                <a:path w="583561" h="291650">
                  <a:moveTo>
                    <a:pt x="f5" y="f5"/>
                  </a:moveTo>
                  <a:lnTo>
                    <a:pt x="f6" y="f5"/>
                  </a:lnTo>
                  <a:lnTo>
                    <a:pt x="f6" y="f7"/>
                  </a:lnTo>
                  <a:lnTo>
                    <a:pt x="f5" y="f7"/>
                  </a:lnTo>
                  <a:lnTo>
                    <a:pt x="f5" y="f5"/>
                  </a:lnTo>
                  <a:close/>
                </a:path>
              </a:pathLst>
            </a:custGeom>
            <a:noFill/>
            <a:ln cap="flat">
              <a:noFill/>
              <a:prstDash val="solid"/>
            </a:ln>
          </p:spPr>
          <p:txBody>
            <a:bodyPr vert="horz" wrap="square" lIns="3172" tIns="3172" rIns="3172" bIns="3172" anchor="ctr" anchorCtr="1" compatLnSpc="1">
              <a:noAutofit/>
            </a:bodyPr>
            <a:lstStyle/>
            <a:p>
              <a:pPr marL="0" marR="0" lvl="0" indent="0" algn="ctr" defTabSz="222254" rtl="0" fontAlgn="auto" hangingPunct="1">
                <a:lnSpc>
                  <a:spcPct val="90000"/>
                </a:lnSpc>
                <a:spcBef>
                  <a:spcPts val="0"/>
                </a:spcBef>
                <a:spcAft>
                  <a:spcPts val="50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Review</a:t>
              </a:r>
            </a:p>
          </p:txBody>
        </p:sp>
        <p:sp>
          <p:nvSpPr>
            <p:cNvPr id="32" name="Circular Arrow 32">
              <a:extLst>
                <a:ext uri="{FF2B5EF4-FFF2-40B4-BE49-F238E27FC236}">
                  <a16:creationId xmlns:a16="http://schemas.microsoft.com/office/drawing/2014/main" id="{A16810BB-CD92-EEA7-AAD7-F14B12EBD43D}"/>
                </a:ext>
              </a:extLst>
            </p:cNvPr>
            <p:cNvSpPr/>
            <p:nvPr/>
          </p:nvSpPr>
          <p:spPr>
            <a:xfrm>
              <a:off x="7971464" y="7873029"/>
              <a:ext cx="1045698" cy="1045753"/>
            </a:xfrm>
            <a:custGeom>
              <a:avLst/>
              <a:gdLst>
                <a:gd name="f0" fmla="val 10800000"/>
                <a:gd name="f1" fmla="val 5400000"/>
                <a:gd name="f2" fmla="val 180"/>
                <a:gd name="f3" fmla="val w"/>
                <a:gd name="f4" fmla="val h"/>
                <a:gd name="f5" fmla="val 0"/>
                <a:gd name="f6" fmla="val 1045703"/>
                <a:gd name="f7" fmla="val 1045756"/>
                <a:gd name="f8" fmla="+- 0 0 12445019"/>
                <a:gd name="f9" fmla="val 207644"/>
                <a:gd name="f10" fmla="val 207671"/>
                <a:gd name="f11" fmla="val 445757"/>
                <a:gd name="f12" fmla="val 445784"/>
                <a:gd name="f13" fmla="val 13500000"/>
                <a:gd name="f14" fmla="val 12515316"/>
                <a:gd name="f15" fmla="val 646054"/>
                <a:gd name="f16" fmla="val 1026824"/>
                <a:gd name="f17" fmla="val 507289"/>
                <a:gd name="f18" fmla="val 955567"/>
                <a:gd name="f19" fmla="val 652517"/>
                <a:gd name="f20" fmla="val 847121"/>
                <a:gd name="f21" fmla="val 649774"/>
                <a:gd name="f22" fmla="val 923400"/>
                <a:gd name="f23" fmla="val 420127"/>
                <a:gd name="f24" fmla="val 420153"/>
                <a:gd name="f25" fmla="val 4345019"/>
                <a:gd name="f26" fmla="+- 0 0 -225"/>
                <a:gd name="f27" fmla="+- 0 0 -182"/>
                <a:gd name="f28" fmla="+- 0 0 -272"/>
                <a:gd name="f29" fmla="+- 0 0 -362"/>
                <a:gd name="f30" fmla="*/ f3 1 1045703"/>
                <a:gd name="f31" fmla="*/ f4 1 1045756"/>
                <a:gd name="f32" fmla="val f5"/>
                <a:gd name="f33" fmla="val f6"/>
                <a:gd name="f34" fmla="val f7"/>
                <a:gd name="f35" fmla="*/ f26 f0 1"/>
                <a:gd name="f36" fmla="*/ f27 f0 1"/>
                <a:gd name="f37" fmla="*/ f28 f0 1"/>
                <a:gd name="f38" fmla="*/ f29 f0 1"/>
                <a:gd name="f39" fmla="+- f34 0 f32"/>
                <a:gd name="f40" fmla="+- f33 0 f32"/>
                <a:gd name="f41" fmla="*/ f35 1 f2"/>
                <a:gd name="f42" fmla="*/ f36 1 f2"/>
                <a:gd name="f43" fmla="*/ f37 1 f2"/>
                <a:gd name="f44" fmla="*/ f38 1 f2"/>
                <a:gd name="f45" fmla="*/ f40 1 1045703"/>
                <a:gd name="f46" fmla="*/ f39 1 1045756"/>
                <a:gd name="f47" fmla="+- f41 0 f1"/>
                <a:gd name="f48" fmla="+- f42 0 f1"/>
                <a:gd name="f49" fmla="+- f43 0 f1"/>
                <a:gd name="f50" fmla="+- f44 0 f1"/>
                <a:gd name="f51" fmla="*/ 216706 1 f45"/>
                <a:gd name="f52" fmla="*/ 216732 1 f46"/>
                <a:gd name="f53" fmla="*/ 646054 1 f45"/>
                <a:gd name="f54" fmla="*/ 1026824 1 f46"/>
                <a:gd name="f55" fmla="*/ 507289 1 f45"/>
                <a:gd name="f56" fmla="*/ 955567 1 f46"/>
                <a:gd name="f57" fmla="*/ 652517 1 f45"/>
                <a:gd name="f58" fmla="*/ 847121 1 f46"/>
                <a:gd name="f59" fmla="*/ 207654 1 f45"/>
                <a:gd name="f60" fmla="*/ 838049 1 f45"/>
                <a:gd name="f61" fmla="*/ 207661 1 f46"/>
                <a:gd name="f62" fmla="*/ 838095 1 f46"/>
                <a:gd name="f63" fmla="*/ f59 f30 1"/>
                <a:gd name="f64" fmla="*/ f60 f30 1"/>
                <a:gd name="f65" fmla="*/ f62 f31 1"/>
                <a:gd name="f66" fmla="*/ f61 f31 1"/>
                <a:gd name="f67" fmla="*/ f51 f30 1"/>
                <a:gd name="f68" fmla="*/ f52 f31 1"/>
                <a:gd name="f69" fmla="*/ f53 f30 1"/>
                <a:gd name="f70" fmla="*/ f54 f31 1"/>
                <a:gd name="f71" fmla="*/ f55 f30 1"/>
                <a:gd name="f72" fmla="*/ f56 f31 1"/>
                <a:gd name="f73" fmla="*/ f57 f30 1"/>
                <a:gd name="f74" fmla="*/ f58 f31 1"/>
              </a:gdLst>
              <a:ahLst/>
              <a:cxnLst>
                <a:cxn ang="3cd4">
                  <a:pos x="hc" y="t"/>
                </a:cxn>
                <a:cxn ang="0">
                  <a:pos x="r" y="vc"/>
                </a:cxn>
                <a:cxn ang="cd4">
                  <a:pos x="hc" y="b"/>
                </a:cxn>
                <a:cxn ang="cd2">
                  <a:pos x="l" y="vc"/>
                </a:cxn>
                <a:cxn ang="f47">
                  <a:pos x="f67" y="f68"/>
                </a:cxn>
                <a:cxn ang="f48">
                  <a:pos x="f69" y="f70"/>
                </a:cxn>
                <a:cxn ang="f49">
                  <a:pos x="f71" y="f72"/>
                </a:cxn>
                <a:cxn ang="f50">
                  <a:pos x="f73" y="f74"/>
                </a:cxn>
              </a:cxnLst>
              <a:rect l="f63" t="f66" r="f64" b="f65"/>
              <a:pathLst>
                <a:path w="1045703" h="1045756">
                  <a:moveTo>
                    <a:pt x="f9" y="f10"/>
                  </a:moveTo>
                  <a:arcTo wR="f11" hR="f12" stAng="f13" swAng="f14"/>
                  <a:lnTo>
                    <a:pt x="f15" y="f16"/>
                  </a:lnTo>
                  <a:lnTo>
                    <a:pt x="f17" y="f18"/>
                  </a:lnTo>
                  <a:lnTo>
                    <a:pt x="f19" y="f20"/>
                  </a:lnTo>
                  <a:lnTo>
                    <a:pt x="f21" y="f22"/>
                  </a:lnTo>
                  <a:arcTo wR="f23" hR="f24" stAng="f25" swAng="f8"/>
                  <a:close/>
                </a:path>
              </a:pathLst>
            </a:custGeom>
            <a:solidFill>
              <a:srgbClr val="C65A11"/>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33" name="Freeform 33">
              <a:extLst>
                <a:ext uri="{FF2B5EF4-FFF2-40B4-BE49-F238E27FC236}">
                  <a16:creationId xmlns:a16="http://schemas.microsoft.com/office/drawing/2014/main" id="{3F107652-F63B-7367-1315-2ECD5093CCDC}"/>
                </a:ext>
              </a:extLst>
            </p:cNvPr>
            <p:cNvSpPr/>
            <p:nvPr/>
          </p:nvSpPr>
          <p:spPr>
            <a:xfrm>
              <a:off x="8202341" y="8251426"/>
              <a:ext cx="583560" cy="291647"/>
            </a:xfrm>
            <a:custGeom>
              <a:avLst/>
              <a:gdLst>
                <a:gd name="f0" fmla="val 10800000"/>
                <a:gd name="f1" fmla="val 5400000"/>
                <a:gd name="f2" fmla="val 180"/>
                <a:gd name="f3" fmla="val w"/>
                <a:gd name="f4" fmla="val h"/>
                <a:gd name="f5" fmla="val 0"/>
                <a:gd name="f6" fmla="val 583561"/>
                <a:gd name="f7" fmla="val 291650"/>
                <a:gd name="f8" fmla="+- 0 0 -90"/>
                <a:gd name="f9" fmla="*/ f3 1 583561"/>
                <a:gd name="f10" fmla="*/ f4 1 291650"/>
                <a:gd name="f11" fmla="val f5"/>
                <a:gd name="f12" fmla="val f6"/>
                <a:gd name="f13" fmla="val f7"/>
                <a:gd name="f14" fmla="*/ f8 f0 1"/>
                <a:gd name="f15" fmla="+- f13 0 f11"/>
                <a:gd name="f16" fmla="+- f12 0 f11"/>
                <a:gd name="f17" fmla="*/ f14 1 f2"/>
                <a:gd name="f18" fmla="*/ f16 1 583561"/>
                <a:gd name="f19" fmla="*/ f15 1 291650"/>
                <a:gd name="f20" fmla="*/ 0 f16 1"/>
                <a:gd name="f21" fmla="*/ 0 f15 1"/>
                <a:gd name="f22" fmla="*/ 583561 f16 1"/>
                <a:gd name="f23" fmla="*/ 291650 f15 1"/>
                <a:gd name="f24" fmla="+- f17 0 f1"/>
                <a:gd name="f25" fmla="*/ f20 1 583561"/>
                <a:gd name="f26" fmla="*/ f21 1 291650"/>
                <a:gd name="f27" fmla="*/ f22 1 583561"/>
                <a:gd name="f28" fmla="*/ f23 1 291650"/>
                <a:gd name="f29" fmla="*/ f11 1 f18"/>
                <a:gd name="f30" fmla="*/ f12 1 f18"/>
                <a:gd name="f31" fmla="*/ f11 1 f19"/>
                <a:gd name="f32" fmla="*/ f13 1 f19"/>
                <a:gd name="f33" fmla="*/ f25 1 f18"/>
                <a:gd name="f34" fmla="*/ f26 1 f19"/>
                <a:gd name="f35" fmla="*/ f27 1 f18"/>
                <a:gd name="f36" fmla="*/ f28 1 f19"/>
                <a:gd name="f37" fmla="*/ f29 f9 1"/>
                <a:gd name="f38" fmla="*/ f30 f9 1"/>
                <a:gd name="f39" fmla="*/ f32 f10 1"/>
                <a:gd name="f40" fmla="*/ f31 f10 1"/>
                <a:gd name="f41" fmla="*/ f33 f9 1"/>
                <a:gd name="f42" fmla="*/ f34 f10 1"/>
                <a:gd name="f43" fmla="*/ f35 f9 1"/>
                <a:gd name="f44" fmla="*/ f36 f10 1"/>
              </a:gdLst>
              <a:ahLst/>
              <a:cxnLst>
                <a:cxn ang="3cd4">
                  <a:pos x="hc" y="t"/>
                </a:cxn>
                <a:cxn ang="0">
                  <a:pos x="r" y="vc"/>
                </a:cxn>
                <a:cxn ang="cd4">
                  <a:pos x="hc" y="b"/>
                </a:cxn>
                <a:cxn ang="cd2">
                  <a:pos x="l" y="vc"/>
                </a:cxn>
                <a:cxn ang="f24">
                  <a:pos x="f41" y="f42"/>
                </a:cxn>
                <a:cxn ang="f24">
                  <a:pos x="f43" y="f42"/>
                </a:cxn>
                <a:cxn ang="f24">
                  <a:pos x="f43" y="f44"/>
                </a:cxn>
                <a:cxn ang="f24">
                  <a:pos x="f41" y="f44"/>
                </a:cxn>
                <a:cxn ang="f24">
                  <a:pos x="f41" y="f42"/>
                </a:cxn>
              </a:cxnLst>
              <a:rect l="f37" t="f40" r="f38" b="f39"/>
              <a:pathLst>
                <a:path w="583561" h="291650">
                  <a:moveTo>
                    <a:pt x="f5" y="f5"/>
                  </a:moveTo>
                  <a:lnTo>
                    <a:pt x="f6" y="f5"/>
                  </a:lnTo>
                  <a:lnTo>
                    <a:pt x="f6" y="f7"/>
                  </a:lnTo>
                  <a:lnTo>
                    <a:pt x="f5" y="f7"/>
                  </a:lnTo>
                  <a:lnTo>
                    <a:pt x="f5" y="f5"/>
                  </a:lnTo>
                  <a:close/>
                </a:path>
              </a:pathLst>
            </a:custGeom>
            <a:noFill/>
            <a:ln cap="flat">
              <a:noFill/>
              <a:prstDash val="solid"/>
            </a:ln>
          </p:spPr>
          <p:txBody>
            <a:bodyPr vert="horz" wrap="square" lIns="3172" tIns="3172" rIns="3172" bIns="3172" anchor="ctr" anchorCtr="1" compatLnSpc="1">
              <a:noAutofit/>
            </a:bodyPr>
            <a:lstStyle/>
            <a:p>
              <a:pPr marL="0" marR="0" lvl="0" indent="0" algn="ctr" defTabSz="222254" rtl="0" fontAlgn="auto" hangingPunct="1">
                <a:lnSpc>
                  <a:spcPct val="90000"/>
                </a:lnSpc>
                <a:spcBef>
                  <a:spcPts val="0"/>
                </a:spcBef>
                <a:spcAft>
                  <a:spcPts val="50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Abstimmung</a:t>
              </a:r>
              <a:r>
                <a:rPr lang="en-US" sz="500" b="0" i="0" u="none" strike="noStrike" kern="1200" cap="none" spc="0" baseline="0">
                  <a:solidFill>
                    <a:srgbClr val="1B2430"/>
                  </a:solidFill>
                  <a:uFillTx/>
                  <a:latin typeface="Segoe UI" pitchFamily="34"/>
                  <a:ea typeface="Calibri" pitchFamily="34"/>
                  <a:cs typeface="Segoe UI" pitchFamily="34"/>
                </a:rPr>
                <a:t> </a:t>
              </a:r>
            </a:p>
          </p:txBody>
        </p:sp>
        <p:sp>
          <p:nvSpPr>
            <p:cNvPr id="34" name="Shape 34">
              <a:extLst>
                <a:ext uri="{FF2B5EF4-FFF2-40B4-BE49-F238E27FC236}">
                  <a16:creationId xmlns:a16="http://schemas.microsoft.com/office/drawing/2014/main" id="{A409CE2D-DC95-78FE-DDE1-F3F056927E67}"/>
                </a:ext>
              </a:extLst>
            </p:cNvPr>
            <p:cNvSpPr/>
            <p:nvPr/>
          </p:nvSpPr>
          <p:spPr>
            <a:xfrm>
              <a:off x="7680960" y="8474896"/>
              <a:ext cx="1045698" cy="1045753"/>
            </a:xfrm>
            <a:custGeom>
              <a:avLst/>
              <a:gdLst>
                <a:gd name="f0" fmla="val 10800000"/>
                <a:gd name="f1" fmla="val 5400000"/>
                <a:gd name="f2" fmla="val 180"/>
                <a:gd name="f3" fmla="val w"/>
                <a:gd name="f4" fmla="val h"/>
                <a:gd name="f5" fmla="val 0"/>
                <a:gd name="f6" fmla="val 1045703"/>
                <a:gd name="f7" fmla="val 1045756"/>
                <a:gd name="f8" fmla="+- 0 0 12484104"/>
                <a:gd name="f9" fmla="val 821363"/>
                <a:gd name="f10" fmla="val 224367"/>
                <a:gd name="f11" fmla="val 804881"/>
                <a:gd name="f12" fmla="val 240849"/>
                <a:gd name="f13" fmla="val 398836"/>
                <a:gd name="f14" fmla="val 398863"/>
                <a:gd name="f15" fmla="val 18900000"/>
                <a:gd name="f16" fmla="val 402005"/>
                <a:gd name="f17" fmla="val 804549"/>
                <a:gd name="f18" fmla="val 542088"/>
                <a:gd name="f19" fmla="val 932944"/>
                <a:gd name="f20" fmla="val 412535"/>
                <a:gd name="f21" fmla="val 1029023"/>
                <a:gd name="f22" fmla="val 407847"/>
                <a:gd name="f23" fmla="val 929081"/>
                <a:gd name="f24" fmla="val 422145"/>
                <a:gd name="f25" fmla="val 422172"/>
                <a:gd name="f26" fmla="val 6348476"/>
                <a:gd name="f27" fmla="val 12551524"/>
                <a:gd name="f28" fmla="+- 0 0 -495"/>
                <a:gd name="f29" fmla="+- 0 0 -177"/>
                <a:gd name="f30" fmla="+- 0 0 -87"/>
                <a:gd name="f31" fmla="+- 0 0 -357"/>
                <a:gd name="f32" fmla="*/ f3 1 1045703"/>
                <a:gd name="f33" fmla="*/ f4 1 1045756"/>
                <a:gd name="f34" fmla="val f5"/>
                <a:gd name="f35" fmla="val f6"/>
                <a:gd name="f36" fmla="val f7"/>
                <a:gd name="f37" fmla="*/ f28 f0 1"/>
                <a:gd name="f38" fmla="*/ f29 f0 1"/>
                <a:gd name="f39" fmla="*/ f30 f0 1"/>
                <a:gd name="f40" fmla="*/ f31 f0 1"/>
                <a:gd name="f41" fmla="+- f36 0 f34"/>
                <a:gd name="f42" fmla="+- f35 0 f34"/>
                <a:gd name="f43" fmla="*/ f37 1 f2"/>
                <a:gd name="f44" fmla="*/ f38 1 f2"/>
                <a:gd name="f45" fmla="*/ f39 1 f2"/>
                <a:gd name="f46" fmla="*/ f40 1 f2"/>
                <a:gd name="f47" fmla="*/ f42 1 1045703"/>
                <a:gd name="f48" fmla="*/ f41 1 1045756"/>
                <a:gd name="f49" fmla="+- f43 0 f1"/>
                <a:gd name="f50" fmla="+- f44 0 f1"/>
                <a:gd name="f51" fmla="+- f45 0 f1"/>
                <a:gd name="f52" fmla="+- f46 0 f1"/>
                <a:gd name="f53" fmla="*/ 813122 1 f47"/>
                <a:gd name="f54" fmla="*/ 232608 1 f48"/>
                <a:gd name="f55" fmla="*/ 412535 1 f47"/>
                <a:gd name="f56" fmla="*/ 1029023 1 f48"/>
                <a:gd name="f57" fmla="*/ 542088 1 f47"/>
                <a:gd name="f58" fmla="*/ 932944 1 f48"/>
                <a:gd name="f59" fmla="*/ 402005 1 f47"/>
                <a:gd name="f60" fmla="*/ 804549 1 f48"/>
                <a:gd name="f61" fmla="*/ 224350 1 f47"/>
                <a:gd name="f62" fmla="*/ 821353 1 f47"/>
                <a:gd name="f63" fmla="*/ 224358 1 f48"/>
                <a:gd name="f64" fmla="*/ 821398 1 f48"/>
                <a:gd name="f65" fmla="*/ f61 f32 1"/>
                <a:gd name="f66" fmla="*/ f62 f32 1"/>
                <a:gd name="f67" fmla="*/ f64 f33 1"/>
                <a:gd name="f68" fmla="*/ f63 f33 1"/>
                <a:gd name="f69" fmla="*/ f53 f32 1"/>
                <a:gd name="f70" fmla="*/ f54 f33 1"/>
                <a:gd name="f71" fmla="*/ f55 f32 1"/>
                <a:gd name="f72" fmla="*/ f56 f33 1"/>
                <a:gd name="f73" fmla="*/ f57 f32 1"/>
                <a:gd name="f74" fmla="*/ f58 f33 1"/>
                <a:gd name="f75" fmla="*/ f59 f32 1"/>
                <a:gd name="f76" fmla="*/ f60 f33 1"/>
              </a:gdLst>
              <a:ahLst/>
              <a:cxnLst>
                <a:cxn ang="3cd4">
                  <a:pos x="hc" y="t"/>
                </a:cxn>
                <a:cxn ang="0">
                  <a:pos x="r" y="vc"/>
                </a:cxn>
                <a:cxn ang="cd4">
                  <a:pos x="hc" y="b"/>
                </a:cxn>
                <a:cxn ang="cd2">
                  <a:pos x="l" y="vc"/>
                </a:cxn>
                <a:cxn ang="f49">
                  <a:pos x="f69" y="f70"/>
                </a:cxn>
                <a:cxn ang="f50">
                  <a:pos x="f71" y="f72"/>
                </a:cxn>
                <a:cxn ang="f51">
                  <a:pos x="f73" y="f74"/>
                </a:cxn>
                <a:cxn ang="f52">
                  <a:pos x="f75" y="f76"/>
                </a:cxn>
              </a:cxnLst>
              <a:rect l="f65" t="f68" r="f66" b="f67"/>
              <a:pathLst>
                <a:path w="1045703" h="1045756">
                  <a:moveTo>
                    <a:pt x="f9" y="f10"/>
                  </a:moveTo>
                  <a:lnTo>
                    <a:pt x="f11" y="f12"/>
                  </a:lnTo>
                  <a:arcTo wR="f13" hR="f14" stAng="f15" swAng="f8"/>
                  <a:lnTo>
                    <a:pt x="f16" y="f17"/>
                  </a:lnTo>
                  <a:lnTo>
                    <a:pt x="f18" y="f19"/>
                  </a:lnTo>
                  <a:lnTo>
                    <a:pt x="f20" y="f21"/>
                  </a:lnTo>
                  <a:lnTo>
                    <a:pt x="f22" y="f23"/>
                  </a:lnTo>
                  <a:arcTo wR="f24" hR="f25" stAng="f26" swAng="f27"/>
                  <a:close/>
                </a:path>
              </a:pathLst>
            </a:custGeom>
            <a:solidFill>
              <a:srgbClr val="C65A11"/>
            </a:solidFill>
            <a:ln cap="flat">
              <a:noFill/>
              <a:prstDash val="solid"/>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35" name="Freeform 35">
              <a:extLst>
                <a:ext uri="{FF2B5EF4-FFF2-40B4-BE49-F238E27FC236}">
                  <a16:creationId xmlns:a16="http://schemas.microsoft.com/office/drawing/2014/main" id="{122B224C-7CFE-B35E-E1B9-77ACDF50D424}"/>
                </a:ext>
              </a:extLst>
            </p:cNvPr>
            <p:cNvSpPr/>
            <p:nvPr/>
          </p:nvSpPr>
          <p:spPr>
            <a:xfrm>
              <a:off x="7910657" y="8853632"/>
              <a:ext cx="583560" cy="291647"/>
            </a:xfrm>
            <a:custGeom>
              <a:avLst/>
              <a:gdLst>
                <a:gd name="f0" fmla="val 10800000"/>
                <a:gd name="f1" fmla="val 5400000"/>
                <a:gd name="f2" fmla="val 180"/>
                <a:gd name="f3" fmla="val w"/>
                <a:gd name="f4" fmla="val h"/>
                <a:gd name="f5" fmla="val 0"/>
                <a:gd name="f6" fmla="val 583561"/>
                <a:gd name="f7" fmla="val 291650"/>
                <a:gd name="f8" fmla="+- 0 0 -90"/>
                <a:gd name="f9" fmla="*/ f3 1 583561"/>
                <a:gd name="f10" fmla="*/ f4 1 291650"/>
                <a:gd name="f11" fmla="val f5"/>
                <a:gd name="f12" fmla="val f6"/>
                <a:gd name="f13" fmla="val f7"/>
                <a:gd name="f14" fmla="*/ f8 f0 1"/>
                <a:gd name="f15" fmla="+- f13 0 f11"/>
                <a:gd name="f16" fmla="+- f12 0 f11"/>
                <a:gd name="f17" fmla="*/ f14 1 f2"/>
                <a:gd name="f18" fmla="*/ f16 1 583561"/>
                <a:gd name="f19" fmla="*/ f15 1 291650"/>
                <a:gd name="f20" fmla="*/ 0 f16 1"/>
                <a:gd name="f21" fmla="*/ 0 f15 1"/>
                <a:gd name="f22" fmla="*/ 583561 f16 1"/>
                <a:gd name="f23" fmla="*/ 291650 f15 1"/>
                <a:gd name="f24" fmla="+- f17 0 f1"/>
                <a:gd name="f25" fmla="*/ f20 1 583561"/>
                <a:gd name="f26" fmla="*/ f21 1 291650"/>
                <a:gd name="f27" fmla="*/ f22 1 583561"/>
                <a:gd name="f28" fmla="*/ f23 1 291650"/>
                <a:gd name="f29" fmla="*/ f11 1 f18"/>
                <a:gd name="f30" fmla="*/ f12 1 f18"/>
                <a:gd name="f31" fmla="*/ f11 1 f19"/>
                <a:gd name="f32" fmla="*/ f13 1 f19"/>
                <a:gd name="f33" fmla="*/ f25 1 f18"/>
                <a:gd name="f34" fmla="*/ f26 1 f19"/>
                <a:gd name="f35" fmla="*/ f27 1 f18"/>
                <a:gd name="f36" fmla="*/ f28 1 f19"/>
                <a:gd name="f37" fmla="*/ f29 f9 1"/>
                <a:gd name="f38" fmla="*/ f30 f9 1"/>
                <a:gd name="f39" fmla="*/ f32 f10 1"/>
                <a:gd name="f40" fmla="*/ f31 f10 1"/>
                <a:gd name="f41" fmla="*/ f33 f9 1"/>
                <a:gd name="f42" fmla="*/ f34 f10 1"/>
                <a:gd name="f43" fmla="*/ f35 f9 1"/>
                <a:gd name="f44" fmla="*/ f36 f10 1"/>
              </a:gdLst>
              <a:ahLst/>
              <a:cxnLst>
                <a:cxn ang="3cd4">
                  <a:pos x="hc" y="t"/>
                </a:cxn>
                <a:cxn ang="0">
                  <a:pos x="r" y="vc"/>
                </a:cxn>
                <a:cxn ang="cd4">
                  <a:pos x="hc" y="b"/>
                </a:cxn>
                <a:cxn ang="cd2">
                  <a:pos x="l" y="vc"/>
                </a:cxn>
                <a:cxn ang="f24">
                  <a:pos x="f41" y="f42"/>
                </a:cxn>
                <a:cxn ang="f24">
                  <a:pos x="f43" y="f42"/>
                </a:cxn>
                <a:cxn ang="f24">
                  <a:pos x="f43" y="f44"/>
                </a:cxn>
                <a:cxn ang="f24">
                  <a:pos x="f41" y="f44"/>
                </a:cxn>
                <a:cxn ang="f24">
                  <a:pos x="f41" y="f42"/>
                </a:cxn>
              </a:cxnLst>
              <a:rect l="f37" t="f40" r="f38" b="f39"/>
              <a:pathLst>
                <a:path w="583561" h="291650">
                  <a:moveTo>
                    <a:pt x="f5" y="f5"/>
                  </a:moveTo>
                  <a:lnTo>
                    <a:pt x="f6" y="f5"/>
                  </a:lnTo>
                  <a:lnTo>
                    <a:pt x="f6" y="f7"/>
                  </a:lnTo>
                  <a:lnTo>
                    <a:pt x="f5" y="f7"/>
                  </a:lnTo>
                  <a:lnTo>
                    <a:pt x="f5" y="f5"/>
                  </a:lnTo>
                  <a:close/>
                </a:path>
              </a:pathLst>
            </a:custGeom>
            <a:noFill/>
            <a:ln cap="flat">
              <a:noFill/>
              <a:prstDash val="solid"/>
            </a:ln>
          </p:spPr>
          <p:txBody>
            <a:bodyPr vert="horz" wrap="square" lIns="3172" tIns="3172" rIns="3172" bIns="3172" anchor="ctr" anchorCtr="1" compatLnSpc="1">
              <a:noAutofit/>
            </a:bodyPr>
            <a:lstStyle/>
            <a:p>
              <a:pPr marL="0" marR="0" lvl="0" indent="0" algn="ctr" defTabSz="222254" rtl="0" fontAlgn="auto" hangingPunct="1">
                <a:lnSpc>
                  <a:spcPct val="90000"/>
                </a:lnSpc>
                <a:spcBef>
                  <a:spcPts val="0"/>
                </a:spcBef>
                <a:spcAft>
                  <a:spcPts val="50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Pull Request mit Review</a:t>
              </a:r>
              <a:endParaRPr lang="en-US" sz="1150" b="0" i="0" u="none" strike="noStrike" kern="1200" cap="none" spc="0" baseline="0">
                <a:solidFill>
                  <a:srgbClr val="000000"/>
                </a:solidFill>
                <a:uFillTx/>
                <a:latin typeface="Segoe UI" pitchFamily="34"/>
                <a:cs typeface="Segoe UI" pitchFamily="34"/>
              </a:endParaRPr>
            </a:p>
          </p:txBody>
        </p:sp>
        <p:sp>
          <p:nvSpPr>
            <p:cNvPr id="36" name="Block Arc 36">
              <a:extLst>
                <a:ext uri="{FF2B5EF4-FFF2-40B4-BE49-F238E27FC236}">
                  <a16:creationId xmlns:a16="http://schemas.microsoft.com/office/drawing/2014/main" id="{0F6F244C-4576-C84F-1EB6-CA394A728D8D}"/>
                </a:ext>
              </a:extLst>
            </p:cNvPr>
            <p:cNvSpPr/>
            <p:nvPr/>
          </p:nvSpPr>
          <p:spPr>
            <a:xfrm>
              <a:off x="8045805" y="9145289"/>
              <a:ext cx="898388" cy="898919"/>
            </a:xfrm>
            <a:custGeom>
              <a:avLst>
                <a:gd name="f13" fmla="val 132"/>
                <a:gd name="f14" fmla="val 90"/>
                <a:gd name="f15" fmla="val 12740"/>
              </a:avLst>
              <a:gdLst>
                <a:gd name="f3" fmla="val 10800000"/>
                <a:gd name="f4" fmla="val 5400000"/>
                <a:gd name="f5" fmla="val 16200000"/>
                <a:gd name="f6" fmla="val 180"/>
                <a:gd name="f7" fmla="val w"/>
                <a:gd name="f8" fmla="val h"/>
                <a:gd name="f9" fmla="val ss"/>
                <a:gd name="f10" fmla="val 0"/>
                <a:gd name="f11" fmla="*/ 5419351 1 1725033"/>
                <a:gd name="f12" fmla="+- 0 0 1"/>
                <a:gd name="f13" fmla="val 132"/>
                <a:gd name="f14" fmla="val 90"/>
                <a:gd name="f15" fmla="val 12740"/>
                <a:gd name="f16" fmla="+- 0 0 -222"/>
                <a:gd name="f17" fmla="+- 0 0 -360"/>
                <a:gd name="f18" fmla="+- 0 0 -291"/>
                <a:gd name="f19" fmla="abs f7"/>
                <a:gd name="f20" fmla="abs f8"/>
                <a:gd name="f21" fmla="abs f9"/>
                <a:gd name="f22" fmla="val f10"/>
                <a:gd name="f23" fmla="val f15"/>
                <a:gd name="f24" fmla="+- 0 0 f13"/>
                <a:gd name="f25" fmla="+- 0 0 f14"/>
                <a:gd name="f26" fmla="*/ f16 f3 1"/>
                <a:gd name="f27" fmla="*/ f17 f3 1"/>
                <a:gd name="f28" fmla="*/ f18 f3 1"/>
                <a:gd name="f29" fmla="?: f19 f7 1"/>
                <a:gd name="f30" fmla="?: f20 f8 1"/>
                <a:gd name="f31" fmla="?: f21 f9 1"/>
                <a:gd name="f32" fmla="*/ f24 f3 1"/>
                <a:gd name="f33" fmla="*/ f25 f3 1"/>
                <a:gd name="f34" fmla="*/ f26 1 f6"/>
                <a:gd name="f35" fmla="*/ f27 1 f6"/>
                <a:gd name="f36" fmla="*/ f28 1 f6"/>
                <a:gd name="f37" fmla="*/ f29 1 21600"/>
                <a:gd name="f38" fmla="*/ f30 1 21600"/>
                <a:gd name="f39" fmla="*/ 21600 f29 1"/>
                <a:gd name="f40" fmla="*/ 21600 f30 1"/>
                <a:gd name="f41" fmla="*/ f32 1 f6"/>
                <a:gd name="f42" fmla="*/ f33 1 f6"/>
                <a:gd name="f43" fmla="+- f34 0 f4"/>
                <a:gd name="f44" fmla="+- f35 0 f4"/>
                <a:gd name="f45" fmla="+- f36 0 f4"/>
                <a:gd name="f46" fmla="min f38 f37"/>
                <a:gd name="f47" fmla="*/ f39 1 f31"/>
                <a:gd name="f48" fmla="*/ f40 1 f31"/>
                <a:gd name="f49" fmla="+- f41 0 f4"/>
                <a:gd name="f50" fmla="+- f42 0 f4"/>
                <a:gd name="f51" fmla="val f47"/>
                <a:gd name="f52" fmla="val f48"/>
                <a:gd name="f53" fmla="+- 0 0 f49"/>
                <a:gd name="f54" fmla="+- 0 0 f50"/>
                <a:gd name="f55" fmla="+- f52 0 f22"/>
                <a:gd name="f56" fmla="+- f51 0 f22"/>
                <a:gd name="f57" fmla="val f53"/>
                <a:gd name="f58" fmla="val f54"/>
                <a:gd name="f59" fmla="*/ f55 1 2"/>
                <a:gd name="f60" fmla="*/ f56 1 2"/>
                <a:gd name="f61" fmla="min f56 f55"/>
                <a:gd name="f62" fmla="+- f58 0 f57"/>
                <a:gd name="f63" fmla="+- f57 f4 0"/>
                <a:gd name="f64" fmla="+- f58 f4 0"/>
                <a:gd name="f65" fmla="+- 21600000 0 f57"/>
                <a:gd name="f66" fmla="+- f4 0 f57"/>
                <a:gd name="f67" fmla="+- 27000000 0 f57"/>
                <a:gd name="f68" fmla="+- f3 0 f57"/>
                <a:gd name="f69" fmla="+- 32400000 0 f57"/>
                <a:gd name="f70" fmla="+- f5 0 f57"/>
                <a:gd name="f71" fmla="+- 37800000 0 f57"/>
                <a:gd name="f72" fmla="+- f22 f59 0"/>
                <a:gd name="f73" fmla="+- f22 f60 0"/>
                <a:gd name="f74" fmla="+- f62 21600000 0"/>
                <a:gd name="f75" fmla="*/ f63 f11 1"/>
                <a:gd name="f76" fmla="*/ f64 f11 1"/>
                <a:gd name="f77" fmla="*/ f61 f23 1"/>
                <a:gd name="f78" fmla="?: f66 f66 f67"/>
                <a:gd name="f79" fmla="?: f68 f68 f69"/>
                <a:gd name="f80" fmla="?: f70 f70 f71"/>
                <a:gd name="f81" fmla="*/ f60 f46 1"/>
                <a:gd name="f82" fmla="*/ f59 f46 1"/>
                <a:gd name="f83" fmla="?: f62 f62 f74"/>
                <a:gd name="f84" fmla="*/ f75 1 f3"/>
                <a:gd name="f85" fmla="*/ f76 1 f3"/>
                <a:gd name="f86" fmla="*/ f77 1 100000"/>
                <a:gd name="f87" fmla="*/ f73 f46 1"/>
                <a:gd name="f88" fmla="*/ f72 f46 1"/>
                <a:gd name="f89" fmla="+- 0 0 f83"/>
                <a:gd name="f90" fmla="+- 0 0 f84"/>
                <a:gd name="f91" fmla="+- 0 0 f85"/>
                <a:gd name="f92" fmla="+- f60 0 f86"/>
                <a:gd name="f93" fmla="+- f59 0 f86"/>
                <a:gd name="f94" fmla="+- f83 0 f65"/>
                <a:gd name="f95" fmla="+- f83 0 f78"/>
                <a:gd name="f96" fmla="+- f83 0 f79"/>
                <a:gd name="f97" fmla="+- f83 0 f80"/>
                <a:gd name="f98" fmla="+- 0 0 f90"/>
                <a:gd name="f99" fmla="+- 0 0 f91"/>
                <a:gd name="f100" fmla="*/ f92 f46 1"/>
                <a:gd name="f101" fmla="*/ f93 f46 1"/>
                <a:gd name="f102" fmla="*/ f98 f3 1"/>
                <a:gd name="f103" fmla="*/ f99 f3 1"/>
                <a:gd name="f104" fmla="*/ f102 1 f11"/>
                <a:gd name="f105" fmla="*/ f103 1 f11"/>
                <a:gd name="f106" fmla="+- f104 0 f4"/>
                <a:gd name="f107" fmla="+- f105 0 f4"/>
                <a:gd name="f108" fmla="sin 1 f106"/>
                <a:gd name="f109" fmla="cos 1 f106"/>
                <a:gd name="f110" fmla="sin 1 f107"/>
                <a:gd name="f111" fmla="cos 1 f107"/>
                <a:gd name="f112" fmla="+- 0 0 f108"/>
                <a:gd name="f113" fmla="+- 0 0 f109"/>
                <a:gd name="f114" fmla="+- 0 0 f110"/>
                <a:gd name="f115" fmla="+- 0 0 f111"/>
                <a:gd name="f116" fmla="+- 0 0 f112"/>
                <a:gd name="f117" fmla="+- 0 0 f113"/>
                <a:gd name="f118" fmla="+- 0 0 f114"/>
                <a:gd name="f119" fmla="+- 0 0 f115"/>
                <a:gd name="f120" fmla="*/ f116 f60 1"/>
                <a:gd name="f121" fmla="*/ f117 f59 1"/>
                <a:gd name="f122" fmla="*/ f118 f60 1"/>
                <a:gd name="f123" fmla="*/ f119 f59 1"/>
                <a:gd name="f124" fmla="*/ f118 f92 1"/>
                <a:gd name="f125" fmla="*/ f119 f93 1"/>
                <a:gd name="f126" fmla="*/ f116 f92 1"/>
                <a:gd name="f127" fmla="*/ f117 f93 1"/>
                <a:gd name="f128" fmla="+- 0 0 f121"/>
                <a:gd name="f129" fmla="+- 0 0 f120"/>
                <a:gd name="f130" fmla="+- 0 0 f123"/>
                <a:gd name="f131" fmla="+- 0 0 f122"/>
                <a:gd name="f132" fmla="+- 0 0 f125"/>
                <a:gd name="f133" fmla="+- 0 0 f124"/>
                <a:gd name="f134" fmla="+- 0 0 f127"/>
                <a:gd name="f135" fmla="+- 0 0 f126"/>
                <a:gd name="f136" fmla="+- 0 0 f128"/>
                <a:gd name="f137" fmla="+- 0 0 f129"/>
                <a:gd name="f138" fmla="+- 0 0 f130"/>
                <a:gd name="f139" fmla="+- 0 0 f131"/>
                <a:gd name="f140" fmla="+- 0 0 f132"/>
                <a:gd name="f141" fmla="+- 0 0 f133"/>
                <a:gd name="f142" fmla="+- 0 0 f134"/>
                <a:gd name="f143" fmla="+- 0 0 f135"/>
                <a:gd name="f144" fmla="at2 f136 f137"/>
                <a:gd name="f145" fmla="at2 f138 f139"/>
                <a:gd name="f146" fmla="at2 f140 f141"/>
                <a:gd name="f147" fmla="at2 f142 f143"/>
                <a:gd name="f148" fmla="+- f144 f4 0"/>
                <a:gd name="f149" fmla="+- f145 f4 0"/>
                <a:gd name="f150" fmla="+- f146 f4 0"/>
                <a:gd name="f151" fmla="+- f147 f4 0"/>
                <a:gd name="f152" fmla="*/ f148 f11 1"/>
                <a:gd name="f153" fmla="*/ f149 f11 1"/>
                <a:gd name="f154" fmla="*/ f150 f11 1"/>
                <a:gd name="f155" fmla="*/ f151 f11 1"/>
                <a:gd name="f156" fmla="*/ f152 1 f3"/>
                <a:gd name="f157" fmla="*/ f153 1 f3"/>
                <a:gd name="f158" fmla="*/ f154 1 f3"/>
                <a:gd name="f159" fmla="*/ f155 1 f3"/>
                <a:gd name="f160" fmla="+- 0 0 f156"/>
                <a:gd name="f161" fmla="+- 0 0 f157"/>
                <a:gd name="f162" fmla="+- 0 0 f158"/>
                <a:gd name="f163" fmla="+- 0 0 f159"/>
                <a:gd name="f164" fmla="val f160"/>
                <a:gd name="f165" fmla="val f161"/>
                <a:gd name="f166" fmla="val f162"/>
                <a:gd name="f167" fmla="val f163"/>
                <a:gd name="f168" fmla="+- 0 0 f164"/>
                <a:gd name="f169" fmla="+- 0 0 f165"/>
                <a:gd name="f170" fmla="+- 0 0 f166"/>
                <a:gd name="f171" fmla="+- 0 0 f167"/>
                <a:gd name="f172" fmla="*/ f168 f3 1"/>
                <a:gd name="f173" fmla="*/ f169 f3 1"/>
                <a:gd name="f174" fmla="*/ f170 f3 1"/>
                <a:gd name="f175" fmla="*/ f171 f3 1"/>
                <a:gd name="f176" fmla="*/ f172 1 f11"/>
                <a:gd name="f177" fmla="*/ f173 1 f11"/>
                <a:gd name="f178" fmla="*/ f174 1 f11"/>
                <a:gd name="f179" fmla="*/ f175 1 f11"/>
                <a:gd name="f180" fmla="+- f176 0 f4"/>
                <a:gd name="f181" fmla="+- f177 0 f4"/>
                <a:gd name="f182" fmla="+- f178 0 f4"/>
                <a:gd name="f183" fmla="+- f179 0 f4"/>
                <a:gd name="f184" fmla="cos 1 f180"/>
                <a:gd name="f185" fmla="sin 1 f180"/>
                <a:gd name="f186" fmla="cos 1 f181"/>
                <a:gd name="f187" fmla="sin 1 f181"/>
                <a:gd name="f188" fmla="cos 1 f182"/>
                <a:gd name="f189" fmla="sin 1 f182"/>
                <a:gd name="f190" fmla="cos 1 f183"/>
                <a:gd name="f191" fmla="sin 1 f183"/>
                <a:gd name="f192" fmla="+- 0 0 f184"/>
                <a:gd name="f193" fmla="+- 0 0 f185"/>
                <a:gd name="f194" fmla="+- 0 0 f186"/>
                <a:gd name="f195" fmla="+- 0 0 f187"/>
                <a:gd name="f196" fmla="+- 0 0 f188"/>
                <a:gd name="f197" fmla="+- 0 0 f189"/>
                <a:gd name="f198" fmla="+- 0 0 f190"/>
                <a:gd name="f199" fmla="+- 0 0 f191"/>
                <a:gd name="f200" fmla="*/ f12 f192 1"/>
                <a:gd name="f201" fmla="*/ f12 f193 1"/>
                <a:gd name="f202" fmla="*/ f12 f194 1"/>
                <a:gd name="f203" fmla="*/ f12 f195 1"/>
                <a:gd name="f204" fmla="*/ f12 f196 1"/>
                <a:gd name="f205" fmla="*/ f12 f197 1"/>
                <a:gd name="f206" fmla="*/ f12 f198 1"/>
                <a:gd name="f207" fmla="*/ f12 f199 1"/>
                <a:gd name="f208" fmla="*/ f200 f60 1"/>
                <a:gd name="f209" fmla="*/ f201 f59 1"/>
                <a:gd name="f210" fmla="*/ f202 f60 1"/>
                <a:gd name="f211" fmla="*/ f203 f59 1"/>
                <a:gd name="f212" fmla="*/ f204 f92 1"/>
                <a:gd name="f213" fmla="*/ f205 f93 1"/>
                <a:gd name="f214" fmla="*/ f206 f92 1"/>
                <a:gd name="f215" fmla="*/ f207 f93 1"/>
                <a:gd name="f216" fmla="+- f73 f208 0"/>
                <a:gd name="f217" fmla="+- f72 f209 0"/>
                <a:gd name="f218" fmla="+- f73 f210 0"/>
                <a:gd name="f219" fmla="+- f72 f211 0"/>
                <a:gd name="f220" fmla="+- f73 f212 0"/>
                <a:gd name="f221" fmla="+- f72 f213 0"/>
                <a:gd name="f222" fmla="+- f73 f214 0"/>
                <a:gd name="f223" fmla="+- f72 f215 0"/>
                <a:gd name="f224" fmla="max f216 f220"/>
                <a:gd name="f225" fmla="max f218 f222"/>
                <a:gd name="f226" fmla="max f217 f221"/>
                <a:gd name="f227" fmla="max f219 f223"/>
                <a:gd name="f228" fmla="min f216 f220"/>
                <a:gd name="f229" fmla="min f218 f222"/>
                <a:gd name="f230" fmla="min f217 f221"/>
                <a:gd name="f231" fmla="min f219 f223"/>
                <a:gd name="f232" fmla="+- f216 f222 0"/>
                <a:gd name="f233" fmla="+- f217 f223 0"/>
                <a:gd name="f234" fmla="+- f218 f220 0"/>
                <a:gd name="f235" fmla="+- f219 f221 0"/>
                <a:gd name="f236" fmla="*/ f216 f46 1"/>
                <a:gd name="f237" fmla="*/ f217 f46 1"/>
                <a:gd name="f238" fmla="*/ f220 f46 1"/>
                <a:gd name="f239" fmla="*/ f221 f46 1"/>
                <a:gd name="f240" fmla="max f224 f225"/>
                <a:gd name="f241" fmla="max f226 f227"/>
                <a:gd name="f242" fmla="min f228 f229"/>
                <a:gd name="f243" fmla="min f230 f231"/>
                <a:gd name="f244" fmla="*/ f232 1 2"/>
                <a:gd name="f245" fmla="*/ f233 1 2"/>
                <a:gd name="f246" fmla="*/ f234 1 2"/>
                <a:gd name="f247" fmla="*/ f235 1 2"/>
                <a:gd name="f248" fmla="?: f94 f51 f240"/>
                <a:gd name="f249" fmla="?: f95 f52 f241"/>
                <a:gd name="f250" fmla="?: f96 f22 f242"/>
                <a:gd name="f251" fmla="?: f97 f22 f243"/>
                <a:gd name="f252" fmla="*/ f244 f46 1"/>
                <a:gd name="f253" fmla="*/ f245 f46 1"/>
                <a:gd name="f254" fmla="*/ f246 f46 1"/>
                <a:gd name="f255" fmla="*/ f247 f46 1"/>
                <a:gd name="f256" fmla="*/ f250 f46 1"/>
                <a:gd name="f257" fmla="*/ f251 f46 1"/>
                <a:gd name="f258" fmla="*/ f248 f46 1"/>
                <a:gd name="f259" fmla="*/ f249 f46 1"/>
              </a:gdLst>
              <a:ahLst/>
              <a:cxnLst>
                <a:cxn ang="3cd4">
                  <a:pos x="hc" y="t"/>
                </a:cxn>
                <a:cxn ang="0">
                  <a:pos x="r" y="vc"/>
                </a:cxn>
                <a:cxn ang="cd4">
                  <a:pos x="hc" y="b"/>
                </a:cxn>
                <a:cxn ang="cd2">
                  <a:pos x="l" y="vc"/>
                </a:cxn>
                <a:cxn ang="f43">
                  <a:pos x="f252" y="f253"/>
                </a:cxn>
                <a:cxn ang="f44">
                  <a:pos x="f254" y="f255"/>
                </a:cxn>
                <a:cxn ang="f45">
                  <a:pos x="f87" y="f88"/>
                </a:cxn>
              </a:cxnLst>
              <a:rect l="f256" t="f257" r="f258" b="f259"/>
              <a:pathLst>
                <a:path>
                  <a:moveTo>
                    <a:pt x="f236" y="f237"/>
                  </a:moveTo>
                  <a:arcTo wR="f81" hR="f82" stAng="f57" swAng="f83"/>
                  <a:lnTo>
                    <a:pt x="f238" y="f239"/>
                  </a:lnTo>
                  <a:arcTo wR="f100" hR="f101" stAng="f58" swAng="f89"/>
                  <a:close/>
                </a:path>
              </a:pathLst>
            </a:custGeom>
            <a:solidFill>
              <a:srgbClr val="C65A11"/>
            </a:solidFill>
            <a:ln w="12701" cap="flat">
              <a:solidFill>
                <a:srgbClr val="FFFFFF"/>
              </a:solidFill>
              <a:prstDash val="solid"/>
              <a:miter/>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37" name="Freeform 37">
              <a:extLst>
                <a:ext uri="{FF2B5EF4-FFF2-40B4-BE49-F238E27FC236}">
                  <a16:creationId xmlns:a16="http://schemas.microsoft.com/office/drawing/2014/main" id="{CE3386AD-2BDD-47C2-F695-31BC14722167}"/>
                </a:ext>
              </a:extLst>
            </p:cNvPr>
            <p:cNvSpPr/>
            <p:nvPr/>
          </p:nvSpPr>
          <p:spPr>
            <a:xfrm>
              <a:off x="8202341" y="9455837"/>
              <a:ext cx="583560" cy="291647"/>
            </a:xfrm>
            <a:custGeom>
              <a:avLst/>
              <a:gdLst>
                <a:gd name="f0" fmla="val 10800000"/>
                <a:gd name="f1" fmla="val 5400000"/>
                <a:gd name="f2" fmla="val 180"/>
                <a:gd name="f3" fmla="val w"/>
                <a:gd name="f4" fmla="val h"/>
                <a:gd name="f5" fmla="val 0"/>
                <a:gd name="f6" fmla="val 583561"/>
                <a:gd name="f7" fmla="val 291650"/>
                <a:gd name="f8" fmla="+- 0 0 -90"/>
                <a:gd name="f9" fmla="*/ f3 1 583561"/>
                <a:gd name="f10" fmla="*/ f4 1 291650"/>
                <a:gd name="f11" fmla="val f5"/>
                <a:gd name="f12" fmla="val f6"/>
                <a:gd name="f13" fmla="val f7"/>
                <a:gd name="f14" fmla="*/ f8 f0 1"/>
                <a:gd name="f15" fmla="+- f13 0 f11"/>
                <a:gd name="f16" fmla="+- f12 0 f11"/>
                <a:gd name="f17" fmla="*/ f14 1 f2"/>
                <a:gd name="f18" fmla="*/ f16 1 583561"/>
                <a:gd name="f19" fmla="*/ f15 1 291650"/>
                <a:gd name="f20" fmla="*/ 0 f16 1"/>
                <a:gd name="f21" fmla="*/ 0 f15 1"/>
                <a:gd name="f22" fmla="*/ 583561 f16 1"/>
                <a:gd name="f23" fmla="*/ 291650 f15 1"/>
                <a:gd name="f24" fmla="+- f17 0 f1"/>
                <a:gd name="f25" fmla="*/ f20 1 583561"/>
                <a:gd name="f26" fmla="*/ f21 1 291650"/>
                <a:gd name="f27" fmla="*/ f22 1 583561"/>
                <a:gd name="f28" fmla="*/ f23 1 291650"/>
                <a:gd name="f29" fmla="*/ f11 1 f18"/>
                <a:gd name="f30" fmla="*/ f12 1 f18"/>
                <a:gd name="f31" fmla="*/ f11 1 f19"/>
                <a:gd name="f32" fmla="*/ f13 1 f19"/>
                <a:gd name="f33" fmla="*/ f25 1 f18"/>
                <a:gd name="f34" fmla="*/ f26 1 f19"/>
                <a:gd name="f35" fmla="*/ f27 1 f18"/>
                <a:gd name="f36" fmla="*/ f28 1 f19"/>
                <a:gd name="f37" fmla="*/ f29 f9 1"/>
                <a:gd name="f38" fmla="*/ f30 f9 1"/>
                <a:gd name="f39" fmla="*/ f32 f10 1"/>
                <a:gd name="f40" fmla="*/ f31 f10 1"/>
                <a:gd name="f41" fmla="*/ f33 f9 1"/>
                <a:gd name="f42" fmla="*/ f34 f10 1"/>
                <a:gd name="f43" fmla="*/ f35 f9 1"/>
                <a:gd name="f44" fmla="*/ f36 f10 1"/>
              </a:gdLst>
              <a:ahLst/>
              <a:cxnLst>
                <a:cxn ang="3cd4">
                  <a:pos x="hc" y="t"/>
                </a:cxn>
                <a:cxn ang="0">
                  <a:pos x="r" y="vc"/>
                </a:cxn>
                <a:cxn ang="cd4">
                  <a:pos x="hc" y="b"/>
                </a:cxn>
                <a:cxn ang="cd2">
                  <a:pos x="l" y="vc"/>
                </a:cxn>
                <a:cxn ang="f24">
                  <a:pos x="f41" y="f42"/>
                </a:cxn>
                <a:cxn ang="f24">
                  <a:pos x="f43" y="f42"/>
                </a:cxn>
                <a:cxn ang="f24">
                  <a:pos x="f43" y="f44"/>
                </a:cxn>
                <a:cxn ang="f24">
                  <a:pos x="f41" y="f44"/>
                </a:cxn>
                <a:cxn ang="f24">
                  <a:pos x="f41" y="f42"/>
                </a:cxn>
              </a:cxnLst>
              <a:rect l="f37" t="f40" r="f38" b="f39"/>
              <a:pathLst>
                <a:path w="583561" h="291650">
                  <a:moveTo>
                    <a:pt x="f5" y="f5"/>
                  </a:moveTo>
                  <a:lnTo>
                    <a:pt x="f6" y="f5"/>
                  </a:lnTo>
                  <a:lnTo>
                    <a:pt x="f6" y="f7"/>
                  </a:lnTo>
                  <a:lnTo>
                    <a:pt x="f5" y="f7"/>
                  </a:lnTo>
                  <a:lnTo>
                    <a:pt x="f5" y="f5"/>
                  </a:lnTo>
                  <a:close/>
                </a:path>
              </a:pathLst>
            </a:custGeom>
            <a:noFill/>
            <a:ln cap="flat">
              <a:noFill/>
              <a:prstDash val="solid"/>
            </a:ln>
          </p:spPr>
          <p:txBody>
            <a:bodyPr vert="horz" wrap="square" lIns="3172" tIns="3172" rIns="3172" bIns="3172" anchor="ctr" anchorCtr="1" compatLnSpc="1">
              <a:noAutofit/>
            </a:bodyPr>
            <a:lstStyle/>
            <a:p>
              <a:pPr marL="0" marR="0" lvl="0" indent="0" algn="ctr" defTabSz="222254" rtl="0" fontAlgn="auto" hangingPunct="1">
                <a:lnSpc>
                  <a:spcPct val="90000"/>
                </a:lnSpc>
                <a:spcBef>
                  <a:spcPts val="0"/>
                </a:spcBef>
                <a:spcAft>
                  <a:spcPts val="500"/>
                </a:spcAft>
                <a:buNone/>
                <a:tabLst/>
                <a:defRPr sz="1800" b="0" i="0" u="none" strike="noStrike" kern="0" cap="none" spc="0" baseline="0">
                  <a:solidFill>
                    <a:srgbClr val="000000"/>
                  </a:solidFill>
                  <a:uFillTx/>
                </a:defRPr>
              </a:pPr>
              <a:r>
                <a:rPr lang="en-US" sz="500" b="0" i="0" u="none" strike="noStrike" kern="1200" cap="none" spc="0" baseline="0">
                  <a:solidFill>
                    <a:srgbClr val="1B2430"/>
                  </a:solidFill>
                  <a:uFillTx/>
                  <a:latin typeface="Segoe UI" pitchFamily="34"/>
                  <a:ea typeface="Calibri" pitchFamily="34"/>
                  <a:cs typeface="Segoe UI" pitchFamily="34"/>
                </a:rPr>
                <a:t> </a:t>
              </a:r>
              <a:r>
                <a:rPr lang="en-US" sz="1150" b="0" i="0" u="none" strike="noStrike" kern="1200" cap="none" spc="0" baseline="0">
                  <a:solidFill>
                    <a:srgbClr val="1B2430"/>
                  </a:solidFill>
                  <a:uFillTx/>
                  <a:latin typeface="Segoe UI" pitchFamily="34"/>
                  <a:ea typeface="Calibri" pitchFamily="34"/>
                  <a:cs typeface="Segoe UI" pitchFamily="34"/>
                </a:rPr>
                <a:t>Entscheidungslog</a:t>
              </a:r>
              <a:endParaRPr lang="en-US" sz="1150" b="0" i="0" u="none" strike="noStrike" kern="1200" cap="none" spc="0" baseline="0">
                <a:solidFill>
                  <a:srgbClr val="000000"/>
                </a:solidFill>
                <a:uFillTx/>
                <a:latin typeface="Segoe UI" pitchFamily="34"/>
                <a:cs typeface="Segoe UI" pitchFamily="34"/>
              </a:endParaRPr>
            </a:p>
          </p:txBody>
        </p:sp>
      </p:grpSp>
      <p:sp>
        <p:nvSpPr>
          <p:cNvPr id="38" name="Text 6">
            <a:extLst>
              <a:ext uri="{FF2B5EF4-FFF2-40B4-BE49-F238E27FC236}">
                <a16:creationId xmlns:a16="http://schemas.microsoft.com/office/drawing/2014/main" id="{4FF74423-2AAA-3723-C658-09F9D495514C}"/>
              </a:ext>
            </a:extLst>
          </p:cNvPr>
          <p:cNvSpPr txBox="1"/>
          <p:nvPr/>
        </p:nvSpPr>
        <p:spPr>
          <a:xfrm>
            <a:off x="3347737" y="1117351"/>
            <a:ext cx="1188720" cy="54864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800" b="1" i="0" u="none" strike="noStrike" kern="1200" cap="none" spc="0" baseline="0">
                <a:solidFill>
                  <a:srgbClr val="FFFFFF"/>
                </a:solidFill>
                <a:uFillTx/>
                <a:latin typeface="Segoe UI" pitchFamily="34"/>
                <a:ea typeface="Calibri" pitchFamily="34"/>
                <a:cs typeface="Segoe UI" pitchFamily="34"/>
              </a:rPr>
              <a:t>Prozessanalyse</a:t>
            </a:r>
            <a:endParaRPr lang="en-US" sz="800" b="0" i="0" u="none" strike="noStrike" kern="1200" cap="none" spc="0" baseline="0">
              <a:solidFill>
                <a:srgbClr val="000000"/>
              </a:solidFill>
              <a:uFillTx/>
              <a:latin typeface="Segoe UI" pitchFamily="34"/>
              <a:cs typeface="Segoe UI" pitchFamily="34"/>
            </a:endParaRPr>
          </a:p>
        </p:txBody>
      </p:sp>
      <p:sp>
        <p:nvSpPr>
          <p:cNvPr id="39" name="Down Arrow 44">
            <a:extLst>
              <a:ext uri="{FF2B5EF4-FFF2-40B4-BE49-F238E27FC236}">
                <a16:creationId xmlns:a16="http://schemas.microsoft.com/office/drawing/2014/main" id="{339F8795-F6BA-5684-390A-AD5D0F0F261D}"/>
              </a:ext>
            </a:extLst>
          </p:cNvPr>
          <p:cNvSpPr/>
          <p:nvPr/>
        </p:nvSpPr>
        <p:spPr>
          <a:xfrm>
            <a:off x="6053327" y="2726420"/>
            <a:ext cx="45720" cy="1151997"/>
          </a:xfrm>
          <a:custGeom>
            <a:avLst>
              <a:gd name="f0" fmla="val 21171"/>
              <a:gd name="f1" fmla="val 5400"/>
            </a:avLst>
            <a:gdLst>
              <a:gd name="f2" fmla="val 10800000"/>
              <a:gd name="f3" fmla="val 5400000"/>
              <a:gd name="f4" fmla="val 180"/>
              <a:gd name="f5" fmla="val w"/>
              <a:gd name="f6" fmla="val h"/>
              <a:gd name="f7" fmla="val 0"/>
              <a:gd name="f8" fmla="val 21600"/>
              <a:gd name="f9" fmla="val 10800"/>
              <a:gd name="f10" fmla="+- 0 0 -270"/>
              <a:gd name="f11" fmla="+- 0 0 -90"/>
              <a:gd name="f12" fmla="*/ f5 1 21600"/>
              <a:gd name="f13" fmla="*/ f6 1 21600"/>
              <a:gd name="f14" fmla="pin 0 f1 10800"/>
              <a:gd name="f15" fmla="pin 0 f0 21600"/>
              <a:gd name="f16" fmla="*/ f10 f2 1"/>
              <a:gd name="f17" fmla="*/ f11 f2 1"/>
              <a:gd name="f18" fmla="val f14"/>
              <a:gd name="f19" fmla="val f15"/>
              <a:gd name="f20" fmla="+- 21600 0 f14"/>
              <a:gd name="f21" fmla="*/ f14 f12 1"/>
              <a:gd name="f22" fmla="*/ f15 f13 1"/>
              <a:gd name="f23" fmla="*/ 0 f13 1"/>
              <a:gd name="f24" fmla="*/ 0 f12 1"/>
              <a:gd name="f25" fmla="*/ f16 1 f4"/>
              <a:gd name="f26" fmla="*/ 21600 f12 1"/>
              <a:gd name="f27" fmla="*/ f17 1 f4"/>
              <a:gd name="f28" fmla="+- 21600 0 f19"/>
              <a:gd name="f29" fmla="*/ f18 f12 1"/>
              <a:gd name="f30" fmla="*/ f20 f12 1"/>
              <a:gd name="f31" fmla="*/ f19 f13 1"/>
              <a:gd name="f32" fmla="+- f25 0 f3"/>
              <a:gd name="f33" fmla="+- f27 0 f3"/>
              <a:gd name="f34" fmla="*/ f28 f18 1"/>
              <a:gd name="f35" fmla="*/ f34 1 10800"/>
              <a:gd name="f36" fmla="+- f19 f35 0"/>
              <a:gd name="f37" fmla="*/ f36 f13 1"/>
            </a:gdLst>
            <a:ahLst>
              <a:ahXY gdRefX="f1" minX="f7" maxX="f9" gdRefY="f0" minY="f7" maxY="f8">
                <a:pos x="f21" y="f22"/>
              </a:ahXY>
            </a:ahLst>
            <a:cxnLst>
              <a:cxn ang="3cd4">
                <a:pos x="hc" y="t"/>
              </a:cxn>
              <a:cxn ang="0">
                <a:pos x="r" y="vc"/>
              </a:cxn>
              <a:cxn ang="cd4">
                <a:pos x="hc" y="b"/>
              </a:cxn>
              <a:cxn ang="cd2">
                <a:pos x="l" y="vc"/>
              </a:cxn>
              <a:cxn ang="f32">
                <a:pos x="f24" y="f31"/>
              </a:cxn>
              <a:cxn ang="f33">
                <a:pos x="f26" y="f31"/>
              </a:cxn>
            </a:cxnLst>
            <a:rect l="f29" t="f23" r="f30" b="f37"/>
            <a:pathLst>
              <a:path w="21600" h="21600">
                <a:moveTo>
                  <a:pt x="f18" y="f7"/>
                </a:moveTo>
                <a:lnTo>
                  <a:pt x="f18" y="f19"/>
                </a:lnTo>
                <a:lnTo>
                  <a:pt x="f7" y="f19"/>
                </a:lnTo>
                <a:lnTo>
                  <a:pt x="f9" y="f8"/>
                </a:lnTo>
                <a:lnTo>
                  <a:pt x="f8" y="f19"/>
                </a:lnTo>
                <a:lnTo>
                  <a:pt x="f20" y="f19"/>
                </a:lnTo>
                <a:lnTo>
                  <a:pt x="f20" y="f7"/>
                </a:lnTo>
                <a:close/>
              </a:path>
            </a:pathLst>
          </a:custGeom>
          <a:solidFill>
            <a:srgbClr val="C65A11"/>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40" name="Triangle 45">
            <a:extLst>
              <a:ext uri="{FF2B5EF4-FFF2-40B4-BE49-F238E27FC236}">
                <a16:creationId xmlns:a16="http://schemas.microsoft.com/office/drawing/2014/main" id="{96E28B4C-D2C8-3C98-FB31-CDB93F74BBCA}"/>
              </a:ext>
            </a:extLst>
          </p:cNvPr>
          <p:cNvSpPr/>
          <p:nvPr/>
        </p:nvSpPr>
        <p:spPr>
          <a:xfrm rot="10643298">
            <a:off x="6047265" y="3844512"/>
            <a:ext cx="63294" cy="59033"/>
          </a:xfrm>
          <a:custGeom>
            <a:avLst>
              <a:gd name="f8" fmla="val 50000"/>
            </a:avLst>
            <a:gdLst>
              <a:gd name="f1" fmla="val 10800000"/>
              <a:gd name="f2" fmla="val 5400000"/>
              <a:gd name="f3" fmla="val 180"/>
              <a:gd name="f4" fmla="val w"/>
              <a:gd name="f5" fmla="val h"/>
              <a:gd name="f6" fmla="val ss"/>
              <a:gd name="f7" fmla="val 0"/>
              <a:gd name="f8" fmla="val 50000"/>
              <a:gd name="f9" fmla="+- 0 0 -360"/>
              <a:gd name="f10" fmla="+- 0 0 -270"/>
              <a:gd name="f11" fmla="+- 0 0 -180"/>
              <a:gd name="f12" fmla="+- 0 0 -90"/>
              <a:gd name="f13" fmla="abs f4"/>
              <a:gd name="f14" fmla="abs f5"/>
              <a:gd name="f15" fmla="abs f6"/>
              <a:gd name="f16" fmla="val f7"/>
              <a:gd name="f17" fmla="val f8"/>
              <a:gd name="f18" fmla="*/ f9 f1 1"/>
              <a:gd name="f19" fmla="*/ f10 f1 1"/>
              <a:gd name="f20" fmla="*/ f11 f1 1"/>
              <a:gd name="f21" fmla="*/ f12 f1 1"/>
              <a:gd name="f22" fmla="?: f13 f4 1"/>
              <a:gd name="f23" fmla="?: f14 f5 1"/>
              <a:gd name="f24" fmla="?: f15 f6 1"/>
              <a:gd name="f25" fmla="*/ f18 1 f3"/>
              <a:gd name="f26" fmla="*/ f19 1 f3"/>
              <a:gd name="f27" fmla="*/ f20 1 f3"/>
              <a:gd name="f28" fmla="*/ f21 1 f3"/>
              <a:gd name="f29" fmla="*/ f22 1 21600"/>
              <a:gd name="f30" fmla="*/ f23 1 21600"/>
              <a:gd name="f31" fmla="*/ 21600 f22 1"/>
              <a:gd name="f32" fmla="*/ 21600 f23 1"/>
              <a:gd name="f33" fmla="+- f25 0 f2"/>
              <a:gd name="f34" fmla="+- f26 0 f2"/>
              <a:gd name="f35" fmla="+- f27 0 f2"/>
              <a:gd name="f36" fmla="+- f28 0 f2"/>
              <a:gd name="f37" fmla="min f30 f29"/>
              <a:gd name="f38" fmla="*/ f31 1 f24"/>
              <a:gd name="f39" fmla="*/ f32 1 f24"/>
              <a:gd name="f40" fmla="val f38"/>
              <a:gd name="f41" fmla="val f39"/>
              <a:gd name="f42" fmla="*/ f16 f37 1"/>
              <a:gd name="f43" fmla="+- f41 0 f16"/>
              <a:gd name="f44" fmla="+- f40 0 f16"/>
              <a:gd name="f45" fmla="*/ f41 f37 1"/>
              <a:gd name="f46" fmla="*/ f40 f37 1"/>
              <a:gd name="f47" fmla="*/ f43 1 2"/>
              <a:gd name="f48" fmla="*/ f44 1 2"/>
              <a:gd name="f49" fmla="*/ f44 f17 1"/>
              <a:gd name="f50" fmla="+- f16 f47 0"/>
              <a:gd name="f51" fmla="*/ f49 1 200000"/>
              <a:gd name="f52" fmla="*/ f49 1 100000"/>
              <a:gd name="f53" fmla="+- f51 f48 0"/>
              <a:gd name="f54" fmla="*/ f51 f37 1"/>
              <a:gd name="f55" fmla="*/ f50 f37 1"/>
              <a:gd name="f56" fmla="*/ f52 f37 1"/>
              <a:gd name="f57" fmla="*/ f53 f37 1"/>
            </a:gdLst>
            <a:ahLst/>
            <a:cxnLst>
              <a:cxn ang="3cd4">
                <a:pos x="hc" y="t"/>
              </a:cxn>
              <a:cxn ang="0">
                <a:pos x="r" y="vc"/>
              </a:cxn>
              <a:cxn ang="cd4">
                <a:pos x="hc" y="b"/>
              </a:cxn>
              <a:cxn ang="cd2">
                <a:pos x="l" y="vc"/>
              </a:cxn>
              <a:cxn ang="f33">
                <a:pos x="f56" y="f42"/>
              </a:cxn>
              <a:cxn ang="f34">
                <a:pos x="f54" y="f55"/>
              </a:cxn>
              <a:cxn ang="f35">
                <a:pos x="f42" y="f45"/>
              </a:cxn>
              <a:cxn ang="f35">
                <a:pos x="f56" y="f45"/>
              </a:cxn>
              <a:cxn ang="f35">
                <a:pos x="f46" y="f45"/>
              </a:cxn>
              <a:cxn ang="f36">
                <a:pos x="f57" y="f55"/>
              </a:cxn>
            </a:cxnLst>
            <a:rect l="f54" t="f55" r="f57" b="f45"/>
            <a:pathLst>
              <a:path>
                <a:moveTo>
                  <a:pt x="f42" y="f45"/>
                </a:moveTo>
                <a:lnTo>
                  <a:pt x="f56" y="f42"/>
                </a:lnTo>
                <a:lnTo>
                  <a:pt x="f46" y="f45"/>
                </a:lnTo>
                <a:close/>
              </a:path>
            </a:pathLst>
          </a:custGeom>
          <a:solidFill>
            <a:srgbClr val="C65A11"/>
          </a:solidFill>
          <a:ln cap="flat">
            <a:noFill/>
            <a:prstDash val="solid"/>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solidFill>
                <a:srgbClr val="FFFFFF"/>
              </a:solidFill>
              <a:uFillTx/>
              <a:latin typeface="Calibri"/>
            </a:endParaRPr>
          </a:p>
        </p:txBody>
      </p:sp>
      <p:sp>
        <p:nvSpPr>
          <p:cNvPr id="41" name="Text 0">
            <a:extLst>
              <a:ext uri="{FF2B5EF4-FFF2-40B4-BE49-F238E27FC236}">
                <a16:creationId xmlns:a16="http://schemas.microsoft.com/office/drawing/2014/main" id="{ECEEE19F-3A5E-2EC8-9B2F-6C42D722B77B}"/>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Vorgehen und Projektmanagement</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5">
            <a:extLst>
              <a:ext uri="{FF2B5EF4-FFF2-40B4-BE49-F238E27FC236}">
                <a16:creationId xmlns:a16="http://schemas.microsoft.com/office/drawing/2014/main" id="{4D3E15AD-368F-CE04-73C9-99068796AFF9}"/>
              </a:ext>
            </a:extLst>
          </p:cNvPr>
          <p:cNvSpPr txBox="1"/>
          <p:nvPr/>
        </p:nvSpPr>
        <p:spPr>
          <a:xfrm>
            <a:off x="457200" y="1837322"/>
            <a:ext cx="3063239" cy="45720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Abo je Filiale</a:t>
            </a:r>
            <a:endParaRPr lang="en-US" sz="1400" b="0" i="0" u="none" strike="noStrike" kern="1200" cap="none" spc="0" baseline="0">
              <a:solidFill>
                <a:srgbClr val="843C0C"/>
              </a:solidFill>
              <a:uFillTx/>
              <a:latin typeface="Segoe UI" pitchFamily="34"/>
              <a:cs typeface="Segoe UI" pitchFamily="34"/>
            </a:endParaRPr>
          </a:p>
        </p:txBody>
      </p:sp>
      <p:sp>
        <p:nvSpPr>
          <p:cNvPr id="4" name="Text 6">
            <a:extLst>
              <a:ext uri="{FF2B5EF4-FFF2-40B4-BE49-F238E27FC236}">
                <a16:creationId xmlns:a16="http://schemas.microsoft.com/office/drawing/2014/main" id="{D459108D-C045-96E2-4BAF-D62B13AA6E2D}"/>
              </a:ext>
            </a:extLst>
          </p:cNvPr>
          <p:cNvSpPr txBox="1"/>
          <p:nvPr/>
        </p:nvSpPr>
        <p:spPr>
          <a:xfrm>
            <a:off x="1134176" y="2271881"/>
            <a:ext cx="1709287" cy="731520"/>
          </a:xfrm>
          <a:prstGeom prst="rect">
            <a:avLst/>
          </a:prstGeom>
          <a:noFill/>
          <a:ln cap="flat">
            <a:noFill/>
          </a:ln>
        </p:spPr>
        <p:txBody>
          <a:bodyPr vert="horz" wrap="square" lIns="0" tIns="0" rIns="0" bIns="0" anchor="t"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Basis und Pro</a:t>
            </a:r>
            <a:endParaRPr lang="en-US" sz="1150" b="0" i="0" u="none" strike="noStrike" kern="1200" cap="none" spc="0" baseline="0">
              <a:solidFill>
                <a:srgbClr val="000000"/>
              </a:solidFill>
              <a:uFillTx/>
              <a:latin typeface="Segoe UI" pitchFamily="34"/>
              <a:cs typeface="Segoe UI" pitchFamily="34"/>
            </a:endParaRPr>
          </a:p>
        </p:txBody>
      </p:sp>
      <p:sp>
        <p:nvSpPr>
          <p:cNvPr id="5" name="Text 9">
            <a:extLst>
              <a:ext uri="{FF2B5EF4-FFF2-40B4-BE49-F238E27FC236}">
                <a16:creationId xmlns:a16="http://schemas.microsoft.com/office/drawing/2014/main" id="{68F7B41D-6226-1F4E-2597-8438C344718C}"/>
              </a:ext>
            </a:extLst>
          </p:cNvPr>
          <p:cNvSpPr txBox="1"/>
          <p:nvPr/>
        </p:nvSpPr>
        <p:spPr>
          <a:xfrm>
            <a:off x="4824566" y="1837322"/>
            <a:ext cx="3063239" cy="457200"/>
          </a:xfrm>
          <a:prstGeom prst="rect">
            <a:avLst/>
          </a:prstGeom>
          <a:noFill/>
          <a:ln cap="flat">
            <a:noFill/>
          </a:ln>
        </p:spPr>
        <p:txBody>
          <a:bodyPr vert="horz" wrap="square" lIns="0" tIns="0" rIns="0" bIns="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Zielkunden</a:t>
            </a:r>
            <a:endParaRPr lang="en-US" sz="1400" b="0" i="0" u="none" strike="noStrike" kern="1200" cap="none" spc="0" baseline="0">
              <a:solidFill>
                <a:srgbClr val="843C0C"/>
              </a:solidFill>
              <a:uFillTx/>
              <a:latin typeface="Segoe UI" pitchFamily="34"/>
              <a:cs typeface="Segoe UI" pitchFamily="34"/>
            </a:endParaRPr>
          </a:p>
        </p:txBody>
      </p:sp>
      <p:sp>
        <p:nvSpPr>
          <p:cNvPr id="6" name="Text 10">
            <a:extLst>
              <a:ext uri="{FF2B5EF4-FFF2-40B4-BE49-F238E27FC236}">
                <a16:creationId xmlns:a16="http://schemas.microsoft.com/office/drawing/2014/main" id="{3140BBEF-331F-3121-C3B9-B523438A9FCA}"/>
              </a:ext>
            </a:extLst>
          </p:cNvPr>
          <p:cNvSpPr txBox="1"/>
          <p:nvPr/>
        </p:nvSpPr>
        <p:spPr>
          <a:xfrm>
            <a:off x="4844125" y="2271881"/>
            <a:ext cx="3063239" cy="731520"/>
          </a:xfrm>
          <a:prstGeom prst="rect">
            <a:avLst/>
          </a:prstGeom>
          <a:noFill/>
          <a:ln cap="flat">
            <a:noFill/>
          </a:ln>
        </p:spPr>
        <p:txBody>
          <a:bodyPr vert="horz" wrap="square" lIns="0" tIns="0" rIns="0" bIns="0" anchor="t"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150" b="0" i="0" u="none" strike="noStrike" kern="1200" cap="none" spc="0" baseline="0">
                <a:solidFill>
                  <a:srgbClr val="1B2430"/>
                </a:solidFill>
                <a:uFillTx/>
                <a:latin typeface="Segoe UI" pitchFamily="34"/>
                <a:ea typeface="Calibri" pitchFamily="34"/>
                <a:cs typeface="Segoe UI" pitchFamily="34"/>
              </a:rPr>
              <a:t>Unabhängige Werkstätten und kleine Ketten</a:t>
            </a:r>
            <a:endParaRPr lang="en-US" sz="1150" b="0" i="0" u="none" strike="noStrike" kern="1200" cap="none" spc="0" baseline="0">
              <a:solidFill>
                <a:srgbClr val="000000"/>
              </a:solidFill>
              <a:uFillTx/>
              <a:latin typeface="Segoe UI" pitchFamily="34"/>
              <a:cs typeface="Segoe UI" pitchFamily="34"/>
            </a:endParaRPr>
          </a:p>
        </p:txBody>
      </p:sp>
      <p:sp>
        <p:nvSpPr>
          <p:cNvPr id="7" name="Text 11">
            <a:extLst>
              <a:ext uri="{FF2B5EF4-FFF2-40B4-BE49-F238E27FC236}">
                <a16:creationId xmlns:a16="http://schemas.microsoft.com/office/drawing/2014/main" id="{30FFA2DF-2CC8-45D5-716A-4DDC26A89692}"/>
              </a:ext>
            </a:extLst>
          </p:cNvPr>
          <p:cNvSpPr txBox="1"/>
          <p:nvPr/>
        </p:nvSpPr>
        <p:spPr>
          <a:xfrm>
            <a:off x="457200" y="2993544"/>
            <a:ext cx="8229600" cy="27432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600" b="1" i="0" u="none" strike="noStrike" kern="1200" cap="none" spc="0" baseline="0">
                <a:solidFill>
                  <a:srgbClr val="C55A11"/>
                </a:solidFill>
                <a:uFillTx/>
                <a:latin typeface="Segoe UI" pitchFamily="34"/>
                <a:ea typeface="Calibri" pitchFamily="34"/>
                <a:cs typeface="Segoe UI" pitchFamily="34"/>
              </a:rPr>
              <a:t>Ausblick</a:t>
            </a:r>
            <a:endParaRPr lang="en-US" sz="1600" b="0" i="0" u="none" strike="noStrike" kern="1200" cap="none" spc="0" baseline="0">
              <a:solidFill>
                <a:srgbClr val="C55A11"/>
              </a:solidFill>
              <a:uFillTx/>
              <a:latin typeface="Segoe UI" pitchFamily="34"/>
              <a:cs typeface="Segoe UI" pitchFamily="34"/>
            </a:endParaRPr>
          </a:p>
        </p:txBody>
      </p:sp>
      <p:sp>
        <p:nvSpPr>
          <p:cNvPr id="8" name="Text 14">
            <a:extLst>
              <a:ext uri="{FF2B5EF4-FFF2-40B4-BE49-F238E27FC236}">
                <a16:creationId xmlns:a16="http://schemas.microsoft.com/office/drawing/2014/main" id="{C95390B7-8C4C-CD87-0849-16F47F537D2E}"/>
              </a:ext>
            </a:extLst>
          </p:cNvPr>
          <p:cNvSpPr txBox="1"/>
          <p:nvPr/>
        </p:nvSpPr>
        <p:spPr>
          <a:xfrm>
            <a:off x="457200" y="3440823"/>
            <a:ext cx="233172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KI-gestütze Disposition</a:t>
            </a:r>
            <a:endParaRPr lang="en-US" sz="1400" b="0" i="0" u="none" strike="noStrike" kern="1200" cap="none" spc="0" baseline="0">
              <a:solidFill>
                <a:srgbClr val="843C0C"/>
              </a:solidFill>
              <a:uFillTx/>
              <a:latin typeface="Segoe UI" pitchFamily="34"/>
              <a:cs typeface="Segoe UI" pitchFamily="34"/>
            </a:endParaRPr>
          </a:p>
        </p:txBody>
      </p:sp>
      <p:sp>
        <p:nvSpPr>
          <p:cNvPr id="9" name="Text 15">
            <a:extLst>
              <a:ext uri="{FF2B5EF4-FFF2-40B4-BE49-F238E27FC236}">
                <a16:creationId xmlns:a16="http://schemas.microsoft.com/office/drawing/2014/main" id="{18D6883D-9476-92E1-DF6C-B28118F6FD45}"/>
              </a:ext>
            </a:extLst>
          </p:cNvPr>
          <p:cNvSpPr txBox="1"/>
          <p:nvPr/>
        </p:nvSpPr>
        <p:spPr>
          <a:xfrm>
            <a:off x="457200" y="3839071"/>
            <a:ext cx="2286000" cy="64008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Bedarfsprognose je Filiale und Saison, damit Teile vor der Nachfrage im Lager liegen.</a:t>
            </a:r>
            <a:endParaRPr lang="en-US" sz="1050" b="0" i="0" u="none" strike="noStrike" kern="1200" cap="none" spc="0" baseline="0">
              <a:solidFill>
                <a:srgbClr val="000000"/>
              </a:solidFill>
              <a:uFillTx/>
              <a:latin typeface="Segoe UI" pitchFamily="34"/>
              <a:cs typeface="Segoe UI" pitchFamily="34"/>
            </a:endParaRPr>
          </a:p>
        </p:txBody>
      </p:sp>
      <p:sp>
        <p:nvSpPr>
          <p:cNvPr id="10" name="Text 18">
            <a:extLst>
              <a:ext uri="{FF2B5EF4-FFF2-40B4-BE49-F238E27FC236}">
                <a16:creationId xmlns:a16="http://schemas.microsoft.com/office/drawing/2014/main" id="{B37E8CA5-3879-4498-453A-8488DA2E83F5}"/>
              </a:ext>
            </a:extLst>
          </p:cNvPr>
          <p:cNvSpPr txBox="1"/>
          <p:nvPr/>
        </p:nvSpPr>
        <p:spPr>
          <a:xfrm>
            <a:off x="3429000" y="3440823"/>
            <a:ext cx="233172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Techniker-Copilot</a:t>
            </a:r>
            <a:endParaRPr lang="en-US" sz="1400" b="0" i="0" u="none" strike="noStrike" kern="1200" cap="none" spc="0" baseline="0">
              <a:solidFill>
                <a:srgbClr val="843C0C"/>
              </a:solidFill>
              <a:uFillTx/>
              <a:latin typeface="Segoe UI" pitchFamily="34"/>
              <a:cs typeface="Segoe UI" pitchFamily="34"/>
            </a:endParaRPr>
          </a:p>
        </p:txBody>
      </p:sp>
      <p:sp>
        <p:nvSpPr>
          <p:cNvPr id="11" name="Text 19">
            <a:extLst>
              <a:ext uri="{FF2B5EF4-FFF2-40B4-BE49-F238E27FC236}">
                <a16:creationId xmlns:a16="http://schemas.microsoft.com/office/drawing/2014/main" id="{8980495C-7228-D2C4-C014-5B906D44BB98}"/>
              </a:ext>
            </a:extLst>
          </p:cNvPr>
          <p:cNvSpPr txBox="1"/>
          <p:nvPr/>
        </p:nvSpPr>
        <p:spPr>
          <a:xfrm>
            <a:off x="3429000" y="3839071"/>
            <a:ext cx="2286000" cy="64008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Schritt-für-Schritt-Empfehlung und Aufwand aus der Historie ähnlicher Aufträge vorschlagen.</a:t>
            </a:r>
            <a:endParaRPr lang="en-US" sz="1050" b="0" i="0" u="none" strike="noStrike" kern="1200" cap="none" spc="0" baseline="0">
              <a:solidFill>
                <a:srgbClr val="000000"/>
              </a:solidFill>
              <a:uFillTx/>
              <a:latin typeface="Segoe UI" pitchFamily="34"/>
              <a:cs typeface="Segoe UI" pitchFamily="34"/>
            </a:endParaRPr>
          </a:p>
        </p:txBody>
      </p:sp>
      <p:sp>
        <p:nvSpPr>
          <p:cNvPr id="12" name="Text 22">
            <a:extLst>
              <a:ext uri="{FF2B5EF4-FFF2-40B4-BE49-F238E27FC236}">
                <a16:creationId xmlns:a16="http://schemas.microsoft.com/office/drawing/2014/main" id="{16BF45CB-4771-0AE8-66FA-56CF0715FC63}"/>
              </a:ext>
            </a:extLst>
          </p:cNvPr>
          <p:cNvSpPr txBox="1"/>
          <p:nvPr/>
        </p:nvSpPr>
        <p:spPr>
          <a:xfrm>
            <a:off x="6288941" y="3440823"/>
            <a:ext cx="233172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400" b="1" i="0" u="none" strike="noStrike" kern="1200" cap="none" spc="0" baseline="0">
                <a:solidFill>
                  <a:srgbClr val="843C0C"/>
                </a:solidFill>
                <a:uFillTx/>
                <a:latin typeface="Segoe UI" pitchFamily="34"/>
                <a:ea typeface="Calibri" pitchFamily="34"/>
                <a:cs typeface="Segoe UI" pitchFamily="34"/>
              </a:rPr>
              <a:t>Digitale Geräteakte</a:t>
            </a:r>
            <a:endParaRPr lang="en-US" sz="1400" b="0" i="0" u="none" strike="noStrike" kern="1200" cap="none" spc="0" baseline="0">
              <a:solidFill>
                <a:srgbClr val="843C0C"/>
              </a:solidFill>
              <a:uFillTx/>
              <a:latin typeface="Segoe UI" pitchFamily="34"/>
              <a:cs typeface="Segoe UI" pitchFamily="34"/>
            </a:endParaRPr>
          </a:p>
        </p:txBody>
      </p:sp>
      <p:sp>
        <p:nvSpPr>
          <p:cNvPr id="13" name="Text 23">
            <a:extLst>
              <a:ext uri="{FF2B5EF4-FFF2-40B4-BE49-F238E27FC236}">
                <a16:creationId xmlns:a16="http://schemas.microsoft.com/office/drawing/2014/main" id="{05AE42A2-850F-669D-6659-F541E61CC266}"/>
              </a:ext>
            </a:extLst>
          </p:cNvPr>
          <p:cNvSpPr txBox="1"/>
          <p:nvPr/>
        </p:nvSpPr>
        <p:spPr>
          <a:xfrm>
            <a:off x="6288941" y="3839071"/>
            <a:ext cx="2286000" cy="64008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1050" b="0" i="0" u="none" strike="noStrike" kern="1200" cap="none" spc="0" baseline="0">
                <a:solidFill>
                  <a:srgbClr val="1B2430"/>
                </a:solidFill>
                <a:uFillTx/>
                <a:latin typeface="Segoe UI" pitchFamily="34"/>
                <a:ea typeface="Calibri" pitchFamily="34"/>
                <a:cs typeface="Segoe UI" pitchFamily="34"/>
              </a:rPr>
              <a:t>Jedes Gerät behält seine Reparaturgeschichte über alle Filialen und Besitzer.</a:t>
            </a:r>
            <a:endParaRPr lang="en-US" sz="1050" b="0" i="0" u="none" strike="noStrike" kern="1200" cap="none" spc="0" baseline="0">
              <a:solidFill>
                <a:srgbClr val="000000"/>
              </a:solidFill>
              <a:uFillTx/>
              <a:latin typeface="Segoe UI" pitchFamily="34"/>
              <a:cs typeface="Segoe UI" pitchFamily="34"/>
            </a:endParaRPr>
          </a:p>
        </p:txBody>
      </p:sp>
      <p:pic>
        <p:nvPicPr>
          <p:cNvPr id="14" name="Grafik 3" descr="Geld mit einfarbiger Füllung">
            <a:extLst>
              <a:ext uri="{FF2B5EF4-FFF2-40B4-BE49-F238E27FC236}">
                <a16:creationId xmlns:a16="http://schemas.microsoft.com/office/drawing/2014/main" id="{8C97A78B-18B6-B11F-36C8-2D57305FF52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531620" y="995982"/>
            <a:ext cx="914400" cy="914400"/>
          </a:xfrm>
          <a:prstGeom prst="rect">
            <a:avLst/>
          </a:prstGeom>
          <a:noFill/>
          <a:ln cap="flat">
            <a:noFill/>
          </a:ln>
        </p:spPr>
      </p:pic>
      <p:pic>
        <p:nvPicPr>
          <p:cNvPr id="15" name="Grafik 31" descr="Laden mit einfarbiger Füllung">
            <a:extLst>
              <a:ext uri="{FF2B5EF4-FFF2-40B4-BE49-F238E27FC236}">
                <a16:creationId xmlns:a16="http://schemas.microsoft.com/office/drawing/2014/main" id="{9AEEDA26-4408-0528-F4D1-743C894C39B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898986" y="995982"/>
            <a:ext cx="914400" cy="914400"/>
          </a:xfrm>
          <a:prstGeom prst="rect">
            <a:avLst/>
          </a:prstGeom>
          <a:noFill/>
          <a:ln cap="flat">
            <a:noFill/>
          </a:ln>
        </p:spPr>
      </p:pic>
      <p:sp>
        <p:nvSpPr>
          <p:cNvPr id="16" name="Text 0">
            <a:extLst>
              <a:ext uri="{FF2B5EF4-FFF2-40B4-BE49-F238E27FC236}">
                <a16:creationId xmlns:a16="http://schemas.microsoft.com/office/drawing/2014/main" id="{8A33FC5F-94E9-F866-FDB6-A98E29F922D9}"/>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Geschäftsmodell und Ausblick</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5">
            <a:extLst>
              <a:ext uri="{FF2B5EF4-FFF2-40B4-BE49-F238E27FC236}">
                <a16:creationId xmlns:a16="http://schemas.microsoft.com/office/drawing/2014/main" id="{33AA7A71-0C97-9185-2CB9-6814DF8F4326}"/>
              </a:ext>
            </a:extLst>
          </p:cNvPr>
          <p:cNvSpPr txBox="1"/>
          <p:nvPr/>
        </p:nvSpPr>
        <p:spPr>
          <a:xfrm>
            <a:off x="548640" y="3975235"/>
            <a:ext cx="7315200" cy="457200"/>
          </a:xfrm>
          <a:prstGeom prst="rect">
            <a:avLst/>
          </a:prstGeom>
          <a:noFill/>
          <a:ln cap="flat">
            <a:noFill/>
          </a:ln>
        </p:spPr>
        <p:txBody>
          <a:bodyPr vert="horz" wrap="square" lIns="0" tIns="0" rIns="0" bIns="0" anchor="ctr"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US" sz="2200" b="1" i="0" u="none" strike="noStrike" kern="1200" cap="none" spc="0" baseline="0" dirty="0" err="1">
                <a:uFillTx/>
                <a:latin typeface="Segoe UI" pitchFamily="34"/>
                <a:ea typeface="Calibri" pitchFamily="34"/>
                <a:cs typeface="Segoe UI" pitchFamily="34"/>
              </a:rPr>
              <a:t>Fragen</a:t>
            </a:r>
            <a:r>
              <a:rPr lang="en-US" sz="2200" b="1" i="0" u="none" strike="noStrike" kern="1200" cap="none" spc="0" baseline="0" dirty="0">
                <a:uFillTx/>
                <a:latin typeface="Segoe UI" pitchFamily="34"/>
                <a:ea typeface="Calibri" pitchFamily="34"/>
                <a:cs typeface="Segoe UI" pitchFamily="34"/>
              </a:rPr>
              <a:t>?</a:t>
            </a:r>
            <a:endParaRPr lang="en-US" sz="2200" b="1" i="0" u="none" strike="noStrike" kern="1200" cap="none" spc="0" baseline="0" dirty="0">
              <a:uFillTx/>
              <a:latin typeface="Segoe UI" pitchFamily="34"/>
              <a:cs typeface="Segoe UI" pitchFamily="34"/>
            </a:endParaRPr>
          </a:p>
        </p:txBody>
      </p:sp>
      <p:sp>
        <p:nvSpPr>
          <p:cNvPr id="7" name="Text 3">
            <a:extLst>
              <a:ext uri="{FF2B5EF4-FFF2-40B4-BE49-F238E27FC236}">
                <a16:creationId xmlns:a16="http://schemas.microsoft.com/office/drawing/2014/main" id="{9AC99BFE-C724-D5A0-56E3-D0BE14D8B6BE}"/>
              </a:ext>
            </a:extLst>
          </p:cNvPr>
          <p:cNvSpPr txBox="1"/>
          <p:nvPr/>
        </p:nvSpPr>
        <p:spPr>
          <a:xfrm>
            <a:off x="4807814" y="2528233"/>
            <a:ext cx="3774707" cy="45880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DE" sz="1800" b="0" i="0" u="none" strike="noStrike" kern="1200" cap="none" spc="0" baseline="0">
                <a:uFillTx/>
                <a:latin typeface="Calibri"/>
              </a:rPr>
              <a:t>Disposition + KI-Sofortdiagnose als Kern</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uFillTx/>
              <a:latin typeface="Calibri"/>
            </a:endParaRP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uFillTx/>
              <a:latin typeface="Calibri"/>
            </a:endParaRPr>
          </a:p>
        </p:txBody>
      </p:sp>
      <p:sp>
        <p:nvSpPr>
          <p:cNvPr id="8" name="Text 3">
            <a:extLst>
              <a:ext uri="{FF2B5EF4-FFF2-40B4-BE49-F238E27FC236}">
                <a16:creationId xmlns:a16="http://schemas.microsoft.com/office/drawing/2014/main" id="{D34D3C46-532C-F28C-F879-8CA89FE726AA}"/>
              </a:ext>
            </a:extLst>
          </p:cNvPr>
          <p:cNvSpPr txBox="1"/>
          <p:nvPr/>
        </p:nvSpPr>
        <p:spPr>
          <a:xfrm>
            <a:off x="444370" y="2528233"/>
            <a:ext cx="4215868" cy="458800"/>
          </a:xfrm>
          <a:prstGeom prst="rect">
            <a:avLst/>
          </a:prstGeom>
          <a:noFill/>
          <a:ln cap="flat">
            <a:noFill/>
          </a:ln>
        </p:spPr>
        <p:txBody>
          <a:bodyPr vert="horz" wrap="square" lIns="0" tIns="0" rIns="0" bIns="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r>
              <a:rPr lang="en-DE" sz="1800" b="0" i="0" u="none" strike="noStrike" kern="1200" cap="none" spc="0" baseline="0">
                <a:uFillTx/>
                <a:latin typeface="Calibri"/>
              </a:rPr>
              <a:t>Medienbruch → digitaler Zustandsautomat</a:t>
            </a: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uFillTx/>
              <a:latin typeface="Calibri"/>
            </a:endParaRPr>
          </a:p>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DE" sz="1800" b="0" i="0" u="none" strike="noStrike" kern="1200" cap="none" spc="0" baseline="0">
              <a:uFillTx/>
              <a:latin typeface="Calibri"/>
            </a:endParaRPr>
          </a:p>
        </p:txBody>
      </p:sp>
      <p:pic>
        <p:nvPicPr>
          <p:cNvPr id="9" name="Grafik 30" descr="Smartphone mit einfarbiger Füllung">
            <a:extLst>
              <a:ext uri="{FF2B5EF4-FFF2-40B4-BE49-F238E27FC236}">
                <a16:creationId xmlns:a16="http://schemas.microsoft.com/office/drawing/2014/main" id="{70032EDA-B631-0BEA-6E5B-074E1F07C3C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095100" y="1615433"/>
            <a:ext cx="821359" cy="821359"/>
          </a:xfrm>
          <a:prstGeom prst="rect">
            <a:avLst/>
          </a:prstGeom>
          <a:noFill/>
          <a:ln cap="flat">
            <a:noFill/>
          </a:ln>
        </p:spPr>
      </p:pic>
      <p:pic>
        <p:nvPicPr>
          <p:cNvPr id="10" name="Grafik 40" descr="Künstliche Intelligenz mit einfarbiger Füllung">
            <a:extLst>
              <a:ext uri="{FF2B5EF4-FFF2-40B4-BE49-F238E27FC236}">
                <a16:creationId xmlns:a16="http://schemas.microsoft.com/office/drawing/2014/main" id="{D2E4D0E0-98A5-8B09-9621-B1B6559717C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284497" y="1615433"/>
            <a:ext cx="821350" cy="821350"/>
          </a:xfrm>
          <a:prstGeom prst="rect">
            <a:avLst/>
          </a:prstGeom>
          <a:noFill/>
          <a:ln cap="flat">
            <a:noFill/>
          </a:ln>
        </p:spPr>
      </p:pic>
      <p:sp>
        <p:nvSpPr>
          <p:cNvPr id="2" name="Text 0">
            <a:extLst>
              <a:ext uri="{FF2B5EF4-FFF2-40B4-BE49-F238E27FC236}">
                <a16:creationId xmlns:a16="http://schemas.microsoft.com/office/drawing/2014/main" id="{50DD4609-FFC9-B8CB-8FAB-EC2F212AA42D}"/>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Fazit</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0">
            <a:extLst>
              <a:ext uri="{FF2B5EF4-FFF2-40B4-BE49-F238E27FC236}">
                <a16:creationId xmlns:a16="http://schemas.microsoft.com/office/drawing/2014/main" id="{DDAF1801-8C24-1B07-B2D0-07CBFDF03FD6}"/>
              </a:ext>
            </a:extLst>
          </p:cNvPr>
          <p:cNvGraphicFramePr>
            <a:graphicFrameLocks noGrp="1"/>
          </p:cNvGraphicFramePr>
          <p:nvPr>
            <p:extLst>
              <p:ext uri="{D42A27DB-BD31-4B8C-83A1-F6EECF244321}">
                <p14:modId xmlns:p14="http://schemas.microsoft.com/office/powerpoint/2010/main" val="2706901512"/>
              </p:ext>
            </p:extLst>
          </p:nvPr>
        </p:nvGraphicFramePr>
        <p:xfrm>
          <a:off x="457200" y="1244379"/>
          <a:ext cx="8428008" cy="3200400"/>
        </p:xfrm>
        <a:graphic>
          <a:graphicData uri="http://schemas.openxmlformats.org/drawingml/2006/table">
            <a:tbl>
              <a:tblPr>
                <a:effectLst/>
              </a:tblPr>
              <a:tblGrid>
                <a:gridCol w="1302589">
                  <a:extLst>
                    <a:ext uri="{9D8B030D-6E8A-4147-A177-3AD203B41FA5}">
                      <a16:colId xmlns:a16="http://schemas.microsoft.com/office/drawing/2014/main" val="3183296244"/>
                    </a:ext>
                  </a:extLst>
                </a:gridCol>
                <a:gridCol w="672860">
                  <a:extLst>
                    <a:ext uri="{9D8B030D-6E8A-4147-A177-3AD203B41FA5}">
                      <a16:colId xmlns:a16="http://schemas.microsoft.com/office/drawing/2014/main" val="1666109314"/>
                    </a:ext>
                  </a:extLst>
                </a:gridCol>
                <a:gridCol w="6452559">
                  <a:extLst>
                    <a:ext uri="{9D8B030D-6E8A-4147-A177-3AD203B41FA5}">
                      <a16:colId xmlns:a16="http://schemas.microsoft.com/office/drawing/2014/main" val="711286121"/>
                    </a:ext>
                  </a:extLst>
                </a:gridCol>
              </a:tblGrid>
              <a:tr h="457200">
                <a:tc>
                  <a:txBody>
                    <a:bodyPr/>
                    <a:lstStyle/>
                    <a:p>
                      <a:pPr marL="0" lvl="0" indent="0">
                        <a:buNone/>
                      </a:pPr>
                      <a:r>
                        <a:rPr lang="en-US" sz="1050" b="1" dirty="0" err="1">
                          <a:solidFill>
                            <a:srgbClr val="FFFFFF"/>
                          </a:solidFill>
                          <a:latin typeface="Segoe UI" panose="020B0502040204020203" pitchFamily="34" charset="0"/>
                          <a:ea typeface="Calibri" pitchFamily="34"/>
                          <a:cs typeface="Segoe UI" panose="020B0502040204020203" pitchFamily="34" charset="0"/>
                        </a:rPr>
                        <a:t>Vortragende</a:t>
                      </a:r>
                      <a:r>
                        <a:rPr lang="en-US" sz="1050" b="1" dirty="0">
                          <a:solidFill>
                            <a:srgbClr val="FFFFFF"/>
                          </a:solidFill>
                          <a:latin typeface="Segoe UI" panose="020B0502040204020203" pitchFamily="34" charset="0"/>
                          <a:ea typeface="Calibri" pitchFamily="34"/>
                          <a:cs typeface="Segoe UI" panose="020B0502040204020203" pitchFamily="34" charset="0"/>
                        </a:rPr>
                        <a:t>(r)</a:t>
                      </a:r>
                      <a:endParaRPr lang="en-US" sz="1050" b="1" dirty="0">
                        <a:latin typeface="Segoe UI" panose="020B0502040204020203" pitchFamily="34" charset="0"/>
                        <a:ea typeface="Calibri"/>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lvl="0" indent="0">
                        <a:buNone/>
                      </a:pPr>
                      <a:r>
                        <a:rPr lang="en-US" sz="1050" b="1" dirty="0" err="1">
                          <a:solidFill>
                            <a:srgbClr val="FFFFFF"/>
                          </a:solidFill>
                          <a:latin typeface="Segoe UI" panose="020B0502040204020203" pitchFamily="34" charset="0"/>
                          <a:ea typeface="Calibri" pitchFamily="34"/>
                          <a:cs typeface="Segoe UI" panose="020B0502040204020203" pitchFamily="34" charset="0"/>
                        </a:rPr>
                        <a:t>Folien</a:t>
                      </a:r>
                      <a:endParaRPr lang="en-US" sz="1050" b="1" dirty="0">
                        <a:latin typeface="Segoe UI" panose="020B0502040204020203" pitchFamily="34" charset="0"/>
                        <a:ea typeface="Calibri"/>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chemeClr val="accent2">
                        <a:lumMod val="75000"/>
                      </a:schemeClr>
                    </a:solidFill>
                  </a:tcPr>
                </a:tc>
                <a:tc>
                  <a:txBody>
                    <a:bodyPr/>
                    <a:lstStyle/>
                    <a:p>
                      <a:pPr marL="0" lvl="0" indent="0">
                        <a:buNone/>
                      </a:pPr>
                      <a:r>
                        <a:rPr lang="en-US" sz="1050" b="1" dirty="0" err="1">
                          <a:solidFill>
                            <a:srgbClr val="FFFFFF"/>
                          </a:solidFill>
                          <a:latin typeface="Segoe UI" panose="020B0502040204020203" pitchFamily="34" charset="0"/>
                          <a:ea typeface="Calibri" pitchFamily="34"/>
                          <a:cs typeface="Segoe UI" panose="020B0502040204020203" pitchFamily="34" charset="0"/>
                        </a:rPr>
                        <a:t>Verantworteter</a:t>
                      </a:r>
                      <a:r>
                        <a:rPr lang="en-US" sz="1050" b="1" dirty="0">
                          <a:solidFill>
                            <a:srgbClr val="FFFFFF"/>
                          </a:solidFill>
                          <a:latin typeface="Segoe UI" panose="020B0502040204020203" pitchFamily="34" charset="0"/>
                          <a:ea typeface="Calibri" pitchFamily="34"/>
                          <a:cs typeface="Segoe UI" panose="020B0502040204020203" pitchFamily="34" charset="0"/>
                        </a:rPr>
                        <a:t> </a:t>
                      </a:r>
                      <a:r>
                        <a:rPr lang="en-US" sz="1050" b="1" dirty="0" err="1">
                          <a:solidFill>
                            <a:srgbClr val="FFFFFF"/>
                          </a:solidFill>
                          <a:latin typeface="Segoe UI" panose="020B0502040204020203" pitchFamily="34" charset="0"/>
                          <a:ea typeface="Calibri" pitchFamily="34"/>
                          <a:cs typeface="Segoe UI" panose="020B0502040204020203" pitchFamily="34" charset="0"/>
                        </a:rPr>
                        <a:t>Beitrag</a:t>
                      </a:r>
                      <a:endParaRPr lang="en-US" sz="1050" b="1" dirty="0">
                        <a:latin typeface="Segoe UI" panose="020B0502040204020203" pitchFamily="34" charset="0"/>
                        <a:ea typeface="Calibri"/>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solidFill>
                      <a:schemeClr val="accent2">
                        <a:lumMod val="75000"/>
                      </a:schemeClr>
                    </a:solidFill>
                  </a:tcPr>
                </a:tc>
                <a:extLst>
                  <a:ext uri="{0D108BD9-81ED-4DB2-BD59-A6C34878D82A}">
                    <a16:rowId xmlns:a16="http://schemas.microsoft.com/office/drawing/2014/main" val="3998739638"/>
                  </a:ext>
                </a:extLst>
              </a:tr>
              <a:tr h="457200">
                <a:tc>
                  <a:txBody>
                    <a:bodyPr/>
                    <a:lstStyle/>
                    <a:p>
                      <a:pPr marL="0" lvl="0" indent="0">
                        <a:buNone/>
                      </a:pPr>
                      <a:r>
                        <a:rPr lang="en-US" sz="1050" b="1" dirty="0">
                          <a:solidFill>
                            <a:schemeClr val="tx1"/>
                          </a:solidFill>
                          <a:latin typeface="Segoe UI" panose="020B0502040204020203" pitchFamily="34" charset="0"/>
                          <a:ea typeface="Calibri"/>
                          <a:cs typeface="Segoe UI" panose="020B0502040204020203" pitchFamily="34" charset="0"/>
                        </a:rPr>
                        <a:t>David Leismann</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1050" b="0" dirty="0">
                          <a:solidFill>
                            <a:schemeClr val="tx1"/>
                          </a:solidFill>
                          <a:latin typeface="Segoe UI" panose="020B0502040204020203" pitchFamily="34" charset="0"/>
                          <a:ea typeface="Calibri"/>
                          <a:cs typeface="Segoe UI" panose="020B0502040204020203" pitchFamily="34" charset="0"/>
                        </a:rPr>
                        <a:t>1-4</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dirty="0">
                          <a:solidFill>
                            <a:schemeClr val="tx1"/>
                          </a:solidFill>
                          <a:latin typeface="Segoe UI" panose="020B0502040204020203" pitchFamily="34" charset="0"/>
                          <a:ea typeface="Calibri" pitchFamily="34" charset="-122"/>
                          <a:cs typeface="Segoe UI" panose="020B0502040204020203" pitchFamily="34" charset="0"/>
                        </a:rPr>
                        <a:t>Agenda | Das Problem: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Werkstätten</a:t>
                      </a:r>
                      <a:r>
                        <a:rPr lang="en-US" sz="1050" b="0" dirty="0">
                          <a:solidFill>
                            <a:schemeClr val="tx1"/>
                          </a:solidFill>
                          <a:latin typeface="Segoe UI" panose="020B0502040204020203" pitchFamily="34" charset="0"/>
                          <a:ea typeface="Calibri" pitchFamily="34" charset="-122"/>
                          <a:cs typeface="Segoe UI" panose="020B0502040204020203" pitchFamily="34" charset="0"/>
                        </a:rPr>
                        <a:t>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heute</a:t>
                      </a:r>
                      <a:r>
                        <a:rPr lang="en-US" sz="1050" b="0" dirty="0">
                          <a:solidFill>
                            <a:schemeClr val="tx1"/>
                          </a:solidFill>
                          <a:latin typeface="Segoe UI" panose="020B0502040204020203" pitchFamily="34" charset="0"/>
                          <a:ea typeface="Calibri" pitchFamily="34" charset="-122"/>
                          <a:cs typeface="Segoe UI" panose="020B0502040204020203" pitchFamily="34" charset="0"/>
                        </a:rPr>
                        <a:t> |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RepairFlow</a:t>
                      </a:r>
                      <a:r>
                        <a:rPr lang="en-US" sz="1050" b="0" dirty="0">
                          <a:solidFill>
                            <a:schemeClr val="tx1"/>
                          </a:solidFill>
                          <a:latin typeface="Segoe UI" panose="020B0502040204020203" pitchFamily="34" charset="0"/>
                          <a:ea typeface="Calibri" pitchFamily="34" charset="-122"/>
                          <a:cs typeface="Segoe UI" panose="020B0502040204020203" pitchFamily="34" charset="0"/>
                        </a:rPr>
                        <a:t>: die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Lösung</a:t>
                      </a:r>
                      <a:endParaRPr lang="en-US" sz="1050" b="0" dirty="0">
                        <a:solidFill>
                          <a:schemeClr val="tx1"/>
                        </a:solidFill>
                        <a:latin typeface="Segoe UI" panose="020B0502040204020203" pitchFamily="34" charset="0"/>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3752079000"/>
                  </a:ext>
                </a:extLst>
              </a:tr>
              <a:tr h="457200">
                <a:tc>
                  <a:txBody>
                    <a:bodyPr/>
                    <a:lstStyle/>
                    <a:p>
                      <a:pPr marL="0" lvl="0" indent="0">
                        <a:buNone/>
                      </a:pPr>
                      <a:r>
                        <a:rPr lang="en-US" sz="1050" b="1" dirty="0">
                          <a:solidFill>
                            <a:schemeClr val="tx1"/>
                          </a:solidFill>
                          <a:latin typeface="Segoe UI" panose="020B0502040204020203" pitchFamily="34" charset="0"/>
                          <a:ea typeface="Calibri"/>
                          <a:cs typeface="Segoe UI" panose="020B0502040204020203" pitchFamily="34" charset="0"/>
                        </a:rPr>
                        <a:t>Kilian Platter</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1050" b="0" dirty="0">
                          <a:solidFill>
                            <a:schemeClr val="tx1"/>
                          </a:solidFill>
                          <a:latin typeface="Segoe UI" panose="020B0502040204020203" pitchFamily="34" charset="0"/>
                          <a:ea typeface="Calibri"/>
                          <a:cs typeface="Segoe UI" panose="020B0502040204020203" pitchFamily="34" charset="0"/>
                        </a:rPr>
                        <a:t>5, 23-24</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dirty="0">
                          <a:solidFill>
                            <a:schemeClr val="tx1"/>
                          </a:solidFill>
                          <a:latin typeface="Segoe UI" panose="020B0502040204020203" pitchFamily="34" charset="0"/>
                          <a:ea typeface="Calibri" pitchFamily="34" charset="-122"/>
                          <a:cs typeface="Segoe UI" panose="020B0502040204020203" pitchFamily="34" charset="0"/>
                        </a:rPr>
                        <a:t>Drei Nutzenversprechen</a:t>
                      </a:r>
                      <a:r>
                        <a:rPr lang="en-US" sz="1050" b="0" dirty="0">
                          <a:solidFill>
                            <a:schemeClr val="tx1"/>
                          </a:solidFill>
                          <a:latin typeface="Segoe UI" panose="020B0502040204020203" pitchFamily="34" charset="0"/>
                          <a:ea typeface="Calibri" pitchFamily="34" charset="-122"/>
                          <a:cs typeface="Segoe UI" panose="020B0502040204020203" pitchFamily="34" charset="0"/>
                        </a:rPr>
                        <a:t> | </a:t>
                      </a:r>
                      <a:r>
                        <a:rPr lang="de-DE" sz="1050" b="0" dirty="0">
                          <a:solidFill>
                            <a:schemeClr val="tx1"/>
                          </a:solidFill>
                          <a:latin typeface="Segoe UI" panose="020B0502040204020203" pitchFamily="34" charset="0"/>
                          <a:ea typeface="Calibri" pitchFamily="34" charset="-122"/>
                          <a:cs typeface="Segoe UI" panose="020B0502040204020203" pitchFamily="34" charset="0"/>
                        </a:rPr>
                        <a:t>Wer macht was im System? | Das Datenmodell: fünf Entscheidungen</a:t>
                      </a:r>
                      <a:endParaRPr lang="de-DE" sz="1050" b="0" dirty="0">
                        <a:solidFill>
                          <a:schemeClr val="tx1"/>
                        </a:solidFill>
                        <a:latin typeface="Segoe UI" panose="020B0502040204020203" pitchFamily="34" charset="0"/>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094914016"/>
                  </a:ext>
                </a:extLst>
              </a:tr>
              <a:tr h="457200">
                <a:tc>
                  <a:txBody>
                    <a:bodyPr/>
                    <a:lstStyle/>
                    <a:p>
                      <a:pPr marL="0" lvl="0" indent="0">
                        <a:buNone/>
                      </a:pPr>
                      <a:r>
                        <a:rPr lang="en-US" sz="1050" b="1" dirty="0">
                          <a:solidFill>
                            <a:schemeClr val="tx1"/>
                          </a:solidFill>
                          <a:latin typeface="Segoe UI" panose="020B0502040204020203" pitchFamily="34" charset="0"/>
                          <a:ea typeface="Calibri"/>
                          <a:cs typeface="Segoe UI" panose="020B0502040204020203" pitchFamily="34" charset="0"/>
                        </a:rPr>
                        <a:t>Maximilian Ewald</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1050" b="0" dirty="0">
                          <a:solidFill>
                            <a:schemeClr val="tx1"/>
                          </a:solidFill>
                          <a:latin typeface="Segoe UI" panose="020B0502040204020203" pitchFamily="34" charset="0"/>
                          <a:ea typeface="Calibri"/>
                          <a:cs typeface="Segoe UI" panose="020B0502040204020203" pitchFamily="34" charset="0"/>
                        </a:rPr>
                        <a:t>6-18</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dirty="0" err="1">
                          <a:solidFill>
                            <a:schemeClr val="tx1"/>
                          </a:solidFill>
                          <a:latin typeface="Segoe UI" panose="020B0502040204020203" pitchFamily="34" charset="0"/>
                          <a:ea typeface="Calibri" pitchFamily="34" charset="-122"/>
                          <a:cs typeface="Segoe UI" panose="020B0502040204020203" pitchFamily="34" charset="0"/>
                        </a:rPr>
                        <a:t>Auftragsreise</a:t>
                      </a:r>
                      <a:r>
                        <a:rPr lang="en-US" sz="1050" b="0" dirty="0">
                          <a:solidFill>
                            <a:schemeClr val="tx1"/>
                          </a:solidFill>
                          <a:latin typeface="Segoe UI" panose="020B0502040204020203" pitchFamily="34" charset="0"/>
                          <a:ea typeface="Calibri" pitchFamily="34" charset="-122"/>
                          <a:cs typeface="Segoe UI" panose="020B0502040204020203" pitchFamily="34" charset="0"/>
                        </a:rPr>
                        <a:t> | Drei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Prozess</a:t>
                      </a:r>
                      <a:r>
                        <a:rPr lang="en-US" sz="1050" b="0" dirty="0">
                          <a:solidFill>
                            <a:schemeClr val="tx1"/>
                          </a:solidFill>
                          <a:latin typeface="Segoe UI" panose="020B0502040204020203" pitchFamily="34" charset="0"/>
                          <a:ea typeface="Calibri" pitchFamily="34" charset="-122"/>
                          <a:cs typeface="Segoe UI" panose="020B0502040204020203" pitchFamily="34" charset="0"/>
                        </a:rPr>
                        <a:t>-Highlights | Live-Demo </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1373779146"/>
                  </a:ext>
                </a:extLst>
              </a:tr>
              <a:tr h="457200">
                <a:tc>
                  <a:txBody>
                    <a:bodyPr/>
                    <a:lstStyle/>
                    <a:p>
                      <a:pPr marL="0" lvl="0" indent="0">
                        <a:buNone/>
                      </a:pPr>
                      <a:r>
                        <a:rPr lang="en-US" sz="1050" b="1" dirty="0">
                          <a:solidFill>
                            <a:schemeClr val="tx1"/>
                          </a:solidFill>
                          <a:latin typeface="Segoe UI" panose="020B0502040204020203" pitchFamily="34" charset="0"/>
                          <a:ea typeface="Calibri"/>
                          <a:cs typeface="Segoe UI" panose="020B0502040204020203" pitchFamily="34" charset="0"/>
                        </a:rPr>
                        <a:t>Adrian Wenzler</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1050" b="0" dirty="0">
                          <a:solidFill>
                            <a:schemeClr val="tx1"/>
                          </a:solidFill>
                          <a:latin typeface="Segoe UI" panose="020B0502040204020203" pitchFamily="34" charset="0"/>
                          <a:ea typeface="Calibri"/>
                          <a:cs typeface="Segoe UI" panose="020B0502040204020203" pitchFamily="34" charset="0"/>
                        </a:rPr>
                        <a:t>19-22</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KI-</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Sofortdiagnose</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 Was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wir</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gebaut</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haben</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Ergebnisse</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in Zahlen | Zehn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Prozesse</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61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Prozent</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automatisiert</a:t>
                      </a:r>
                      <a:endParaRPr lang="en-US" sz="1050" b="0" i="0" u="none" strike="noStrike" kern="1200" cap="none" spc="0" baseline="0" dirty="0">
                        <a:solidFill>
                          <a:schemeClr val="tx1"/>
                        </a:solidFill>
                        <a:uFillTx/>
                        <a:latin typeface="Segoe UI" panose="020B0502040204020203" pitchFamily="34" charset="0"/>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227503125"/>
                  </a:ext>
                </a:extLst>
              </a:tr>
              <a:tr h="457200">
                <a:tc>
                  <a:txBody>
                    <a:bodyPr/>
                    <a:lstStyle/>
                    <a:p>
                      <a:pPr marL="0" lvl="0" indent="0">
                        <a:buNone/>
                      </a:pPr>
                      <a:r>
                        <a:rPr lang="en-US" sz="1050" b="1" dirty="0">
                          <a:solidFill>
                            <a:schemeClr val="tx1"/>
                          </a:solidFill>
                          <a:latin typeface="Segoe UI" panose="020B0502040204020203" pitchFamily="34" charset="0"/>
                          <a:ea typeface="Calibri"/>
                          <a:cs typeface="Segoe UI" panose="020B0502040204020203" pitchFamily="34" charset="0"/>
                        </a:rPr>
                        <a:t>Jakob Schwan</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1050" b="0" dirty="0">
                          <a:solidFill>
                            <a:schemeClr val="tx1"/>
                          </a:solidFill>
                          <a:latin typeface="Segoe UI" panose="020B0502040204020203" pitchFamily="34" charset="0"/>
                          <a:ea typeface="Calibri"/>
                          <a:cs typeface="Segoe UI" panose="020B0502040204020203" pitchFamily="34" charset="0"/>
                        </a:rPr>
                        <a:t>25-26</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050" b="0" dirty="0">
                          <a:solidFill>
                            <a:schemeClr val="tx1"/>
                          </a:solidFill>
                          <a:latin typeface="Segoe UI" panose="020B0502040204020203" pitchFamily="34" charset="0"/>
                          <a:ea typeface="Calibri" pitchFamily="34" charset="-122"/>
                          <a:cs typeface="Segoe UI" panose="020B0502040204020203" pitchFamily="34" charset="0"/>
                        </a:rPr>
                        <a:t>Qualität: Regeln, Werkzeuge, Reviews</a:t>
                      </a:r>
                      <a:r>
                        <a:rPr lang="en-US" sz="1050" b="0" dirty="0">
                          <a:solidFill>
                            <a:schemeClr val="tx1"/>
                          </a:solidFill>
                          <a:latin typeface="Segoe UI" panose="020B0502040204020203" pitchFamily="34" charset="0"/>
                          <a:ea typeface="Calibri" pitchFamily="34" charset="-122"/>
                          <a:cs typeface="Segoe UI" panose="020B0502040204020203" pitchFamily="34" charset="0"/>
                        </a:rPr>
                        <a:t> |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Herausforderungen</a:t>
                      </a:r>
                      <a:r>
                        <a:rPr lang="en-US" sz="1050" b="0" dirty="0">
                          <a:solidFill>
                            <a:schemeClr val="tx1"/>
                          </a:solidFill>
                          <a:latin typeface="Segoe UI" panose="020B0502040204020203" pitchFamily="34" charset="0"/>
                          <a:ea typeface="Calibri" pitchFamily="34" charset="-122"/>
                          <a:cs typeface="Segoe UI" panose="020B0502040204020203" pitchFamily="34" charset="0"/>
                        </a:rPr>
                        <a:t> und </a:t>
                      </a:r>
                      <a:r>
                        <a:rPr lang="en-US" sz="1050" b="0" dirty="0" err="1">
                          <a:solidFill>
                            <a:schemeClr val="tx1"/>
                          </a:solidFill>
                          <a:latin typeface="Segoe UI" panose="020B0502040204020203" pitchFamily="34" charset="0"/>
                          <a:ea typeface="Calibri" pitchFamily="34" charset="-122"/>
                          <a:cs typeface="Segoe UI" panose="020B0502040204020203" pitchFamily="34" charset="0"/>
                        </a:rPr>
                        <a:t>Lernerfahrungen</a:t>
                      </a:r>
                      <a:endParaRPr lang="en-US" sz="1050" b="0" dirty="0">
                        <a:solidFill>
                          <a:schemeClr val="tx1"/>
                        </a:solidFill>
                        <a:latin typeface="Segoe UI" panose="020B0502040204020203" pitchFamily="34" charset="0"/>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2691047344"/>
                  </a:ext>
                </a:extLst>
              </a:tr>
              <a:tr h="457200">
                <a:tc>
                  <a:txBody>
                    <a:bodyPr/>
                    <a:lstStyle/>
                    <a:p>
                      <a:pPr marL="0" lvl="0" indent="0">
                        <a:buNone/>
                      </a:pPr>
                      <a:r>
                        <a:rPr lang="en-US" sz="1050" b="1" dirty="0">
                          <a:solidFill>
                            <a:schemeClr val="tx1"/>
                          </a:solidFill>
                          <a:latin typeface="Segoe UI" panose="020B0502040204020203" pitchFamily="34" charset="0"/>
                          <a:ea typeface="Calibri"/>
                          <a:cs typeface="Segoe UI" panose="020B0502040204020203" pitchFamily="34" charset="0"/>
                        </a:rPr>
                        <a:t>Nina Sattler</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lvl="0" indent="0">
                        <a:buNone/>
                      </a:pPr>
                      <a:r>
                        <a:rPr lang="en-US" sz="1050" b="0" dirty="0">
                          <a:solidFill>
                            <a:schemeClr val="tx1"/>
                          </a:solidFill>
                          <a:latin typeface="Segoe UI" panose="020B0502040204020203" pitchFamily="34" charset="0"/>
                          <a:ea typeface="Calibri"/>
                          <a:cs typeface="Segoe UI" panose="020B0502040204020203" pitchFamily="34" charset="0"/>
                        </a:rPr>
                        <a:t>27-29</a:t>
                      </a: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Vorgehen</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und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Projektmanagement</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Geschäftsmodell</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und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Ausblick</a:t>
                      </a:r>
                      <a:r>
                        <a:rPr lang="en-US" sz="1050" b="0" i="0" u="none" strike="noStrike" kern="1200" cap="none" spc="0" baseline="0" dirty="0">
                          <a:solidFill>
                            <a:schemeClr val="tx1"/>
                          </a:solidFill>
                          <a:uFillTx/>
                          <a:latin typeface="Segoe UI" panose="020B0502040204020203" pitchFamily="34" charset="0"/>
                          <a:ea typeface="Calibri" pitchFamily="34"/>
                          <a:cs typeface="Segoe UI" panose="020B0502040204020203" pitchFamily="34" charset="0"/>
                        </a:rPr>
                        <a:t> | </a:t>
                      </a:r>
                      <a:r>
                        <a:rPr lang="en-US" sz="1050" b="0" i="0" u="none" strike="noStrike" kern="1200" cap="none" spc="0" baseline="0" dirty="0" err="1">
                          <a:solidFill>
                            <a:schemeClr val="tx1"/>
                          </a:solidFill>
                          <a:uFillTx/>
                          <a:latin typeface="Segoe UI" panose="020B0502040204020203" pitchFamily="34" charset="0"/>
                          <a:ea typeface="Calibri" pitchFamily="34"/>
                          <a:cs typeface="Segoe UI" panose="020B0502040204020203" pitchFamily="34" charset="0"/>
                        </a:rPr>
                        <a:t>Fazit</a:t>
                      </a:r>
                      <a:endParaRPr lang="en-US" sz="1050" b="0" i="0" u="none" strike="noStrike" kern="1200" cap="none" spc="0" baseline="0" dirty="0">
                        <a:solidFill>
                          <a:schemeClr val="tx1"/>
                        </a:solidFill>
                        <a:uFillTx/>
                        <a:latin typeface="Segoe UI" panose="020B0502040204020203" pitchFamily="34" charset="0"/>
                        <a:cs typeface="Segoe UI" panose="020B0502040204020203" pitchFamily="34" charset="0"/>
                      </a:endParaRPr>
                    </a:p>
                  </a:txBody>
                  <a:tcPr anchor="ctr">
                    <a:lnL w="6345" cap="flat" cmpd="sng" algn="ctr">
                      <a:solidFill>
                        <a:srgbClr val="D5DEDE"/>
                      </a:solidFill>
                      <a:prstDash val="solid"/>
                      <a:round/>
                      <a:headEnd type="none" w="med" len="med"/>
                      <a:tailEnd type="none" w="med" len="med"/>
                    </a:lnL>
                    <a:lnR w="6345" cap="flat" cmpd="sng" algn="ctr">
                      <a:solidFill>
                        <a:srgbClr val="D5DEDE"/>
                      </a:solidFill>
                      <a:prstDash val="solid"/>
                      <a:round/>
                      <a:headEnd type="none" w="med" len="med"/>
                      <a:tailEnd type="none" w="med" len="med"/>
                    </a:lnR>
                    <a:lnT w="6345" cap="flat" cmpd="sng" algn="ctr">
                      <a:solidFill>
                        <a:srgbClr val="D5DEDE"/>
                      </a:solidFill>
                      <a:prstDash val="solid"/>
                      <a:round/>
                      <a:headEnd type="none" w="med" len="med"/>
                      <a:tailEnd type="none" w="med" len="med"/>
                    </a:lnT>
                    <a:lnB w="6345" cap="flat" cmpd="sng" algn="ctr">
                      <a:solidFill>
                        <a:srgbClr val="D5DEDE"/>
                      </a:solidFill>
                      <a:prstDash val="solid"/>
                      <a:round/>
                      <a:headEnd type="none" w="med" len="med"/>
                      <a:tailEnd type="none" w="med" len="med"/>
                    </a:lnB>
                  </a:tcPr>
                </a:tc>
                <a:extLst>
                  <a:ext uri="{0D108BD9-81ED-4DB2-BD59-A6C34878D82A}">
                    <a16:rowId xmlns:a16="http://schemas.microsoft.com/office/drawing/2014/main" val="3631611191"/>
                  </a:ext>
                </a:extLst>
              </a:tr>
            </a:tbl>
          </a:graphicData>
        </a:graphic>
      </p:graphicFrame>
      <p:sp>
        <p:nvSpPr>
          <p:cNvPr id="4" name="Text 0">
            <a:extLst>
              <a:ext uri="{FF2B5EF4-FFF2-40B4-BE49-F238E27FC236}">
                <a16:creationId xmlns:a16="http://schemas.microsoft.com/office/drawing/2014/main" id="{941B6FA6-054A-CCCA-B431-05056CDD4B16}"/>
              </a:ext>
            </a:extLst>
          </p:cNvPr>
          <p:cNvSpPr txBox="1"/>
          <p:nvPr/>
        </p:nvSpPr>
        <p:spPr>
          <a:xfrm>
            <a:off x="339437" y="249382"/>
            <a:ext cx="8229600" cy="914400"/>
          </a:xfrm>
          <a:prstGeom prst="rect">
            <a:avLst/>
          </a:prstGeom>
          <a:noFill/>
          <a:ln/>
        </p:spPr>
        <p:txBody>
          <a:bodyPr wrap="square" lIns="0" tIns="0" rIns="0" bIns="0" rtlCol="0" anchor="t"/>
          <a:lstStyle/>
          <a:p>
            <a:pPr marL="0" indent="0">
              <a:spcAft>
                <a:spcPts val="600"/>
              </a:spcAft>
              <a:buNone/>
            </a:pPr>
            <a:r>
              <a:rPr lang="de-DE" sz="2800" b="1" dirty="0">
                <a:solidFill>
                  <a:schemeClr val="accent2">
                    <a:lumMod val="75000"/>
                  </a:schemeClr>
                </a:solidFill>
                <a:latin typeface="Segoe UI" panose="020B0502040204020203" pitchFamily="34" charset="0"/>
                <a:ea typeface="Calibri" pitchFamily="34" charset="-122"/>
                <a:cs typeface="Segoe UI" panose="020B0502040204020203" pitchFamily="34" charset="0"/>
              </a:rPr>
              <a:t>Beiträge der Vortragenden</a:t>
            </a:r>
            <a:endParaRPr lang="de-DE" sz="2800" dirty="0">
              <a:latin typeface="Segoe UI" panose="020B0502040204020203" pitchFamily="34" charset="0"/>
              <a:cs typeface="Segoe UI" panose="020B0502040204020203" pitchFamily="34"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0cf7ac0a-4681-4823-ab0b-04ef02c5f873}" enabled="1" method="Standard" siteId="{42f7676c-f455-423c-82f6-dc2d99791af7}" contentBits="0" removed="0"/>
</clbl:labelList>
</file>

<file path=docProps/app.xml><?xml version="1.0" encoding="utf-8"?>
<Properties xmlns="http://schemas.openxmlformats.org/officeDocument/2006/extended-properties" xmlns:vt="http://schemas.openxmlformats.org/officeDocument/2006/docPropsVTypes">
  <TotalTime>0</TotalTime>
  <Words>1738</Words>
  <Application>Microsoft Macintosh PowerPoint</Application>
  <PresentationFormat>Bildschirmpräsentation (16:9)</PresentationFormat>
  <Paragraphs>360</Paragraphs>
  <Slides>30</Slides>
  <Notes>28</Notes>
  <HiddenSlides>9</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30</vt:i4>
      </vt:variant>
    </vt:vector>
  </HeadingPairs>
  <TitlesOfParts>
    <vt:vector size="35" baseType="lpstr">
      <vt:lpstr>Aptos</vt:lpstr>
      <vt:lpstr>Arial</vt:lpstr>
      <vt:lpstr>Calibri</vt:lpstr>
      <vt:lpstr>Segoe UI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RepairFlow – Abschlusspräsentation Fallstudie Systemanalyse</dc:title>
  <dc:subject>PptxGenJS Presentation</dc:subject>
  <dc:creator>Gruppe 1 WWI25B4</dc:creator>
  <cp:lastModifiedBy>Ewald, Maximilian</cp:lastModifiedBy>
  <cp:revision>19</cp:revision>
  <dcterms:created xsi:type="dcterms:W3CDTF">2026-10-15T07:59:30Z</dcterms:created>
  <dcterms:modified xsi:type="dcterms:W3CDTF">2026-10-24T15:52:52Z</dcterms:modified>
</cp:coreProperties>
</file>