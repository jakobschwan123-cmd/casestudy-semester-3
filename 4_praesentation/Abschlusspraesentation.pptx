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1.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74"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978"/>
    <p:restoredTop sz="94610"/>
  </p:normalViewPr>
  <p:slideViewPr>
    <p:cSldViewPr snapToGrid="0" snapToObjects="1">
      <p:cViewPr varScale="1">
        <p:scale>
          <a:sx n="168" d="100"/>
          <a:sy n="168" d="100"/>
        </p:scale>
        <p:origin x="75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Guten Morgen zusammen. Wir sind Gruppe 1 und stellen Ihnen RepairFlow vor: eine Plattform, mit der Reparaturwerkstätten ihre Aufträge, Ersatzteile und Kunden an einer Stelle steuern. Den Anfang macht David mit dem Problem, das wir lösen wollen. Danach zeigt Adrian die Lösung, Maximilian, Kilian und Jakob fassen zusammen, was wir dafür modelliert haben, und ich schließe mit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(40 s)
Unsere Präsentation hat zwei Hälften. In der ersten erzählen wir RepairFlow so, wie wir es einer Werkstatt vorstellen würden: Problem, Lösung, Nutzen, die Reparatur aus Kundensicht und unser Alleinstellungsmerkmal, die KI-Sofortdiagnose. In der zweiten Hälfte zeigen wir, was dahintersteckt: zehn Geschäftsprozesse, Rollen und Use Cases, das Datenmodell, unser Vorgehen und die Qualitätssicherung. Die Diagramme selbst finden Sie in der Projektdokumentation und im Abgabepaket; hier konzentrieren wir uns auf die Ergebnisse. Fragen gern am Ende, wir haben Zeit dafür eingeplant.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(70 s)
RepairFlow ist unsere Antwort darauf. Wichtig für die Einordnung: Wir sind nicht die Werkstatt, wir sind das Software-Startup. FixWerk ist unser Pilotkunde, an dessen Abläufen wir die Plattform entworfen haben. Diese Perspektive haben wir nach der Rückfrage des Dozenten bei der Konzeptvorstellung bewusst festgelegt.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Außerhalb der Plattform bleiben die physische Reparatur, die Systeme der Lieferanten und die Buchhaltung; dorthin gibt es Schnittstellen, mehr nicht.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So sieht eine Reparatur mit RepairFlow aus. Der Kunde schickt per App ein Foto oder Video und bekommt innerhalb einer Minute Vorschlag, vorläufigen Kostenvoranschlag und Terminvorschlag. Bestätigt er, sind die Teile schon vorreserviert. In der Filiale wird das Gerät registriert und der Auftrag angelegt. Der Techniker prüft den Vorschlag, stellt die Diagnose und erstellt den Kostenvoranschlag, den der Kunde wieder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Und falls doch etwas nicht passt: Die Reklamation startet einen eigenen Prozess, im Gewährleistungsfall kostenfrei.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(80 s)
Unser Alleinstellungsmerkmal ist die KI-Sofortdiagnose, die Sie gerade in der Auftragsreise gesehen haben.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Uns war wichtig, das glaubwürdig zu halten.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und erst dann wird daraus ein verbindlicher Kostenvoranschlag. Die Medien werden nur mit Einwilligung verarbeitet und nach Abschluss gelöscht.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(50 s)
Damit zur zweiten Hälfte: Was steckt hinter dieser Geschichte? Wir haben drei Modelle erstellt, die zusammenpassen. Zehn BPMN-Kollaborationsdiagramme mit 133 Aktivitäten im Werkstatt-Pool, dazu die Abläufe des Kunden mit 26 weiteren Aktivitäten. Ein Use-Case-Diagramm mit 19 Use Cases und 17 Akteuren. Ein vollständiges Klassendiagramm mit 27 Klassen und 36 Assoziationen. Sechs Sequenzdiagramme, gefordert waren fünf, und als Zugabe ein Zustandsdiagramm für den Reparaturauftrag. Alle Modelle liegen im Camunda Modeler und in Visual Paradigm und werden mit der Dokumentation abgegeben. Ich beginne mit den Geschäftsprozessen.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(70 s)
Die zehn Prozesse decken den gesamten Lebenszyklus ab. Prozesse 01 bis 08 sind die durchgehende Auftragsreise: Sofortdiagnose, Annahme, Diagnose, Kostenvoranschlag, Ersatzteilreservierung, Bestellung, Reparatur und Abholung. 09 und 10 sind die Folgeprozesse Reklamation und Retoure. Jedes Diagramm ist eine Kollaboration: Der Werkstattbetrieb ist der ausführbare Pool mit den Lanes Service, Techniker, Werkstattleitung und Disposition, der Kunde hat seinen eigenen Ablauf, der Lieferant bleibt eine Black Box. Die wichtigste Zahl: 61 Prozent der Aktivitäten führt RepairFlow ohne manuelle Arbeit aus, also Statuswechsel, Benachrichtigungen, Verfügbarkeitsprüfungen, Berechnungen und Regeln. Was Handwerk ist, bleibt Handwerk: Diagnose, Reparatur und Endkontrolle sind Aktivitäten des Technikers mit Unterstützung durch das System.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(80 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So bleibt das Modell schlank, weil die Reklamation keine eigene Reparaturlogik braucht.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(70 s)
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jetzt Diagnoseprüfer, Diagnostiker, Kalkulator, Reparateur und Endkontrolleur. Welche Person welche Rolle ausfüllt, regelt die Werkstatt selbst; im Datenmodell sind die Rollen den Mitarbeitertypen zugeordnet. Das Diagramm ist dadurch sofort lesbar, und die Rollen tauchen in den Sequenzdiagrammen wieder auf. Dazu kommen der Kunde und der KI-Diagnosedienst als externes System. Der Lieferant ist bewusst kein Akteur: Er hat keinen Zugang zu RepairFlow und bleibt eine Black Box, mit der nur Nachrichten ausgetauscht werden.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(80 s)
Das Klassendiagramm ist ein einziges, vollständiges Modell mit 27 Klassen. Fünf Entscheidungen prägen es. Erstens: Der Reparaturauftrag ist die Aggregatwurzel. Befund und Reparaturschritte existieren nur mit ihrem Auftrag und sind deshalb Kompositionen, Kostenvoranschlag und Gerät sind nur zugeordnet, weil der Vorab-KVA schon vor dem Auftrag entsteht. Zweitens: Der Lagerbestand ist eine eigene Klasse zwischen Ersatzteil und Filiale. Nur so lässt sich die Verfügbarkeit über alle Filialen prüfen. Drittens: Die Reservierung ist eine eigene Klasse mit Lebenszyklus, vorreserviert, reserviert, entnommen, storniert. Viertens: Der Werkstattbetrieb ist der Mandant, und die Mitarbeiter sind nach Typ spezialisiert, Servicemitarbeiter, Techniker, Disponent und Werkstattleiter, passend zu den Lanes in BPMN und zu den Rollen im Use-Case-Diagramm. Fünftens: Voranmeldung, Medienanhang und KI-Diagnosevorschlag tragen die Sofortdiagnose. Die sechs Sequenzdiagramme verwenden ausschließlich Operationen dieser Klassen; jede Botschaft an ein Objekt ist eine Operation des Klassendiagramms.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(70 s)
Gearbeitet haben wir in Sprints, die sich am Takt der vier Gruppentermine orientiert haben, mit Review, Retrospektive und Planning je Termin. Nina hat die Projektleitung, David die Stellvertretung und die Sicherungen, Adrian ist Product Owner, ich Scrum Master, Maximilian verantwortet BPMN, Jakob die Qualität. Alles Schriftliche liegt in einem GitHub-Repository; jede Änderung geht über einen eigenen Branch, einen Pull Request und ein Review durch eine zweite Person, bisher 27 gemergte Pull Requests. Das Trello-Board hat eine Liste je Termin und eine Karte je Person und Aufgabe. Jedes Diagramm wurde im Zweierteam geprüft. Die Meilensteine: Am 02.09. standen alle Diagramme im Entwurf, am 05.10. die Korrekturen aus zwei Gesamtprüfungen, am 15.10. haben wir die Rollenstruktur umgesetzt, am 22.10. war die Generalprobe. Die Abgabe folgt am 13.11.</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Drei Modelle, die sich auf dieselben Dinge beziehen, laufen schnell auseinander. Dagegen hatten wir drei Mittel. Erstens Konventionen: Datenobjekte in BPMN tragen die Klassennamen, Aktivitäten heißen Verb plus Objekt, jede Rolle ist genau einer Lane und einer Klasse zugeordnet, und die Statuswerte sind in allen Modellen identisch. Zweitens Werkzeuge: Die BPMN-Dateien sind für Camunda 8 angereichert, mit Task-Definitionen, Timern und Bedingungen. Der Camunda-Linter und bpmnlint melden null Befunde. Drittens Prüfrunden: Eine Gesamtprüfung am 26.09., eine zweite Prüfrunde am 05.10. und der QA-Abgleich am 08.10.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deshalb die Trennung in heute machbar und Vision. Gelernt haben wir, dass Konsistenz keine Prüfung am Ende ist, sondern eine Regel bei jeder Änderung. Und dass ein klarer Hinweis von außen, wie der zum Use-Case-Diagramm, ein Modell deutlich besser machen kann.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(70 s)
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Das sind Betriebe, die heute genau die vier Probleme vom Anfang haben und für die ein großes Werkstattsystem zu schwer ist. Der Ausblick geht in drei Richtungen: Predictive Disposition, also eine Bedarfsprognose je Filiale und Saison, damit Teile vor der Nachfrage im Lager liegen.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svg"/><Relationship Id="rId3" Type="http://schemas.openxmlformats.org/officeDocument/2006/relationships/image" Target="../media/image10.sv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4.png"/><Relationship Id="rId4" Type="http://schemas.openxmlformats.org/officeDocument/2006/relationships/image" Target="../media/image18.png"/><Relationship Id="rId5" Type="http://schemas.openxmlformats.org/officeDocument/2006/relationships/image" Target="../media/image35.png"/><Relationship Id="rId6" Type="http://schemas.openxmlformats.org/officeDocument/2006/relationships/image" Target="../media/image3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6.png"/><Relationship Id="rId4" Type="http://schemas.openxmlformats.org/officeDocument/2006/relationships/image" Target="../media/image13.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Agenda</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2</a:t>
            </a:r>
            <a:endParaRPr lang="en-US" sz="900" dirty="0"/>
          </a:p>
        </p:txBody>
      </p:sp>
      <p:sp>
        <p:nvSpPr>
          <p:cNvPr id="6" name="Text 3"/>
          <p:cNvSpPr txBox="1"/>
          <p:nvPr/>
        </p:nvSpPr>
        <p:spPr>
          <a:xfrm>
            <a:off x="548640" y="914400"/>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1: der Pitch</a:t>
            </a:r>
            <a:endParaRPr lang="en-US" sz="1100" dirty="0"/>
          </a:p>
        </p:txBody>
      </p:sp>
      <p:sp>
        <p:nvSpPr>
          <p:cNvPr id="7" name="Shape 4"/>
          <p:cNvSpPr/>
          <p:nvPr/>
        </p:nvSpPr>
        <p:spPr>
          <a:xfrm>
            <a:off x="548640" y="1234440"/>
            <a:ext cx="384048" cy="384048"/>
          </a:xfrm>
          <a:prstGeom prst="ellipse">
            <a:avLst/>
          </a:prstGeom>
          <a:solidFill>
            <a:srgbClr val="0E5E5E"/>
          </a:solidFill>
          <a:ln w="12700">
            <a:solidFill>
              <a:srgbClr val="0E5E5E"/>
            </a:solidFill>
            <a:prstDash val="solid"/>
          </a:ln>
        </p:spPr>
        <p:txBody>
          <a:bodyPr/>
          <a:lstStyle/>
          <a:p>
            <a:endParaRPr lang="de-DE"/>
          </a:p>
        </p:txBody>
      </p:sp>
      <p:sp>
        <p:nvSpPr>
          <p:cNvPr id="8" name="Text 5"/>
          <p:cNvSpPr txBox="1"/>
          <p:nvPr/>
        </p:nvSpPr>
        <p:spPr>
          <a:xfrm>
            <a:off x="548640" y="12344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097280" y="12344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309360" y="12344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664208"/>
            <a:ext cx="384048" cy="384048"/>
          </a:xfrm>
          <a:prstGeom prst="ellipse">
            <a:avLst/>
          </a:prstGeom>
          <a:solidFill>
            <a:srgbClr val="0E5E5E"/>
          </a:solidFill>
          <a:ln w="12700">
            <a:solidFill>
              <a:srgbClr val="0E5E5E"/>
            </a:solidFill>
            <a:prstDash val="solid"/>
          </a:ln>
        </p:spPr>
        <p:txBody>
          <a:bodyPr/>
          <a:lstStyle/>
          <a:p>
            <a:endParaRPr lang="de-DE"/>
          </a:p>
        </p:txBody>
      </p:sp>
      <p:sp>
        <p:nvSpPr>
          <p:cNvPr id="12" name="Text 9"/>
          <p:cNvSpPr txBox="1"/>
          <p:nvPr/>
        </p:nvSpPr>
        <p:spPr>
          <a:xfrm>
            <a:off x="548640" y="16642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1097280" y="166420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a:t>
            </a:r>
            <a:endParaRPr lang="en-US" sz="1500" dirty="0"/>
          </a:p>
        </p:txBody>
      </p:sp>
      <p:sp>
        <p:nvSpPr>
          <p:cNvPr id="14" name="Text 11"/>
          <p:cNvSpPr txBox="1"/>
          <p:nvPr/>
        </p:nvSpPr>
        <p:spPr>
          <a:xfrm>
            <a:off x="6309360" y="166420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Adrian</a:t>
            </a:r>
            <a:endParaRPr lang="en-US" sz="1200" dirty="0"/>
          </a:p>
        </p:txBody>
      </p:sp>
      <p:sp>
        <p:nvSpPr>
          <p:cNvPr id="15" name="Text 12"/>
          <p:cNvSpPr txBox="1"/>
          <p:nvPr/>
        </p:nvSpPr>
        <p:spPr>
          <a:xfrm>
            <a:off x="548640" y="2075688"/>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2: was dahintersteckt</a:t>
            </a:r>
            <a:endParaRPr lang="en-US" sz="1100" dirty="0"/>
          </a:p>
        </p:txBody>
      </p:sp>
      <p:sp>
        <p:nvSpPr>
          <p:cNvPr id="16" name="Shape 13"/>
          <p:cNvSpPr/>
          <p:nvPr/>
        </p:nvSpPr>
        <p:spPr>
          <a:xfrm>
            <a:off x="548640" y="2368296"/>
            <a:ext cx="384048" cy="384048"/>
          </a:xfrm>
          <a:prstGeom prst="ellipse">
            <a:avLst/>
          </a:prstGeom>
          <a:solidFill>
            <a:srgbClr val="0E5E5E"/>
          </a:solidFill>
          <a:ln w="12700">
            <a:solidFill>
              <a:srgbClr val="0E5E5E"/>
            </a:solidFill>
            <a:prstDash val="solid"/>
          </a:ln>
        </p:spPr>
        <p:txBody>
          <a:bodyPr/>
          <a:lstStyle/>
          <a:p>
            <a:endParaRPr lang="de-DE"/>
          </a:p>
        </p:txBody>
      </p:sp>
      <p:sp>
        <p:nvSpPr>
          <p:cNvPr id="17" name="Text 14"/>
          <p:cNvSpPr txBox="1"/>
          <p:nvPr/>
        </p:nvSpPr>
        <p:spPr>
          <a:xfrm>
            <a:off x="548640" y="23682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1097280" y="2368296"/>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309360" y="2368296"/>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Maximilian</a:t>
            </a:r>
            <a:endParaRPr lang="en-US" sz="1200" dirty="0"/>
          </a:p>
        </p:txBody>
      </p:sp>
      <p:sp>
        <p:nvSpPr>
          <p:cNvPr id="20" name="Shape 17"/>
          <p:cNvSpPr/>
          <p:nvPr/>
        </p:nvSpPr>
        <p:spPr>
          <a:xfrm>
            <a:off x="548640" y="2798064"/>
            <a:ext cx="384048" cy="384048"/>
          </a:xfrm>
          <a:prstGeom prst="ellipse">
            <a:avLst/>
          </a:prstGeom>
          <a:solidFill>
            <a:srgbClr val="0E5E5E"/>
          </a:solidFill>
          <a:ln w="12700">
            <a:solidFill>
              <a:srgbClr val="0E5E5E"/>
            </a:solidFill>
            <a:prstDash val="solid"/>
          </a:ln>
        </p:spPr>
        <p:txBody>
          <a:bodyPr/>
          <a:lstStyle/>
          <a:p>
            <a:endParaRPr lang="de-DE"/>
          </a:p>
        </p:txBody>
      </p:sp>
      <p:sp>
        <p:nvSpPr>
          <p:cNvPr id="21" name="Text 18"/>
          <p:cNvSpPr txBox="1"/>
          <p:nvPr/>
        </p:nvSpPr>
        <p:spPr>
          <a:xfrm>
            <a:off x="548640" y="279806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1097280" y="2798064"/>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309360" y="2798064"/>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a:t>
            </a:r>
            <a:endParaRPr lang="en-US" sz="1200" dirty="0"/>
          </a:p>
        </p:txBody>
      </p:sp>
      <p:sp>
        <p:nvSpPr>
          <p:cNvPr id="24" name="Shape 21"/>
          <p:cNvSpPr/>
          <p:nvPr/>
        </p:nvSpPr>
        <p:spPr>
          <a:xfrm>
            <a:off x="548640" y="3227832"/>
            <a:ext cx="384048" cy="384048"/>
          </a:xfrm>
          <a:prstGeom prst="ellipse">
            <a:avLst/>
          </a:prstGeom>
          <a:solidFill>
            <a:srgbClr val="0E5E5E"/>
          </a:solidFill>
          <a:ln w="12700">
            <a:solidFill>
              <a:srgbClr val="0E5E5E"/>
            </a:solidFill>
            <a:prstDash val="solid"/>
          </a:ln>
        </p:spPr>
        <p:txBody>
          <a:bodyPr/>
          <a:lstStyle/>
          <a:p>
            <a:endParaRPr lang="de-DE"/>
          </a:p>
        </p:txBody>
      </p:sp>
      <p:sp>
        <p:nvSpPr>
          <p:cNvPr id="25" name="Text 22"/>
          <p:cNvSpPr txBox="1"/>
          <p:nvPr/>
        </p:nvSpPr>
        <p:spPr>
          <a:xfrm>
            <a:off x="548640" y="322783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6" name="Text 23"/>
          <p:cNvSpPr txBox="1"/>
          <p:nvPr/>
        </p:nvSpPr>
        <p:spPr>
          <a:xfrm>
            <a:off x="1097280" y="322783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Vorgehen und Projektmanagement</a:t>
            </a:r>
            <a:endParaRPr lang="en-US" sz="1500" dirty="0"/>
          </a:p>
        </p:txBody>
      </p:sp>
      <p:sp>
        <p:nvSpPr>
          <p:cNvPr id="27" name="Text 24"/>
          <p:cNvSpPr txBox="1"/>
          <p:nvPr/>
        </p:nvSpPr>
        <p:spPr>
          <a:xfrm>
            <a:off x="6309360" y="322783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657600"/>
            <a:ext cx="384048" cy="384048"/>
          </a:xfrm>
          <a:prstGeom prst="ellipse">
            <a:avLst/>
          </a:prstGeom>
          <a:solidFill>
            <a:srgbClr val="0E5E5E"/>
          </a:solidFill>
          <a:ln w="12700">
            <a:solidFill>
              <a:srgbClr val="0E5E5E"/>
            </a:solidFill>
            <a:prstDash val="solid"/>
          </a:ln>
        </p:spPr>
        <p:txBody>
          <a:bodyPr/>
          <a:lstStyle/>
          <a:p>
            <a:endParaRPr lang="de-DE"/>
          </a:p>
        </p:txBody>
      </p:sp>
      <p:sp>
        <p:nvSpPr>
          <p:cNvPr id="29" name="Text 26"/>
          <p:cNvSpPr txBox="1"/>
          <p:nvPr/>
        </p:nvSpPr>
        <p:spPr>
          <a:xfrm>
            <a:off x="548640" y="36576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0" name="Text 27"/>
          <p:cNvSpPr txBox="1"/>
          <p:nvPr/>
        </p:nvSpPr>
        <p:spPr>
          <a:xfrm>
            <a:off x="1097280" y="365760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Herausforderungen und Lernerfahrungen</a:t>
            </a:r>
            <a:endParaRPr lang="en-US" sz="1500" dirty="0"/>
          </a:p>
        </p:txBody>
      </p:sp>
      <p:sp>
        <p:nvSpPr>
          <p:cNvPr id="31" name="Text 28"/>
          <p:cNvSpPr txBox="1"/>
          <p:nvPr/>
        </p:nvSpPr>
        <p:spPr>
          <a:xfrm>
            <a:off x="6309360" y="365760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a:t>
            </a:r>
            <a:endParaRPr lang="en-US" sz="1200" dirty="0"/>
          </a:p>
        </p:txBody>
      </p:sp>
      <p:sp>
        <p:nvSpPr>
          <p:cNvPr id="32" name="Shape 29"/>
          <p:cNvSpPr/>
          <p:nvPr/>
        </p:nvSpPr>
        <p:spPr>
          <a:xfrm>
            <a:off x="548640" y="4087368"/>
            <a:ext cx="384048" cy="384048"/>
          </a:xfrm>
          <a:prstGeom prst="ellipse">
            <a:avLst/>
          </a:prstGeom>
          <a:solidFill>
            <a:srgbClr val="0E5E5E"/>
          </a:solidFill>
          <a:ln w="12700">
            <a:solidFill>
              <a:srgbClr val="0E5E5E"/>
            </a:solidFill>
            <a:prstDash val="solid"/>
          </a:ln>
        </p:spPr>
        <p:txBody>
          <a:bodyPr/>
          <a:lstStyle/>
          <a:p>
            <a:endParaRPr lang="de-DE"/>
          </a:p>
        </p:txBody>
      </p:sp>
      <p:sp>
        <p:nvSpPr>
          <p:cNvPr id="33" name="Text 30"/>
          <p:cNvSpPr txBox="1"/>
          <p:nvPr/>
        </p:nvSpPr>
        <p:spPr>
          <a:xfrm>
            <a:off x="548640" y="408736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4" name="Text 31"/>
          <p:cNvSpPr txBox="1"/>
          <p:nvPr/>
        </p:nvSpPr>
        <p:spPr>
          <a:xfrm>
            <a:off x="1097280" y="408736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309360" y="408736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
        <p:nvSpPr>
          <p:cNvPr id="36" name="Text 33"/>
          <p:cNvSpPr txBox="1"/>
          <p:nvPr/>
        </p:nvSpPr>
        <p:spPr>
          <a:xfrm>
            <a:off x="548640" y="4389120"/>
            <a:ext cx="7772400" cy="274320"/>
          </a:xfrm>
          <a:prstGeom prst="rect">
            <a:avLst/>
          </a:prstGeom>
          <a:noFill/>
          <a:ln/>
        </p:spPr>
        <p:txBody>
          <a:bodyPr wrap="square" lIns="0" tIns="0" rIns="0" bIns="0" rtlCol="0" anchor="ctr"/>
          <a:lstStyle/>
          <a:p>
            <a:pPr marL="0" indent="0">
              <a:buNone/>
            </a:pPr>
            <a:r>
              <a:rPr lang="en-US" sz="1100" i="1" dirty="0">
                <a:solidFill>
                  <a:srgbClr val="5F6B7A"/>
                </a:solidFill>
                <a:latin typeface="Calibri" pitchFamily="34" charset="0"/>
                <a:ea typeface="Calibri" pitchFamily="34" charset="-122"/>
                <a:cs typeface="Calibri" pitchFamily="34" charset="-120"/>
              </a:rPr>
              <a:t>15 bis 20 Minuten · alle Gruppenmitglieder tragen vor · Diagramme in Dokumentation und Abgabepaket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Problem: Werkstätten heute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3</a:t>
            </a:r>
            <a:endParaRPr lang="en-US" sz="900" dirty="0"/>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Unser Szenario: Die Werkstattkette FixWerk GmbH (vier Filialen, Fahrrad, E-Bike und Elektronik) arbeitet mit Papier, Excel-Listen und Telefon. Daraus folgen vier Probleme:</a:t>
            </a:r>
            <a:endParaRPr lang="en-US" sz="1300" dirty="0"/>
          </a:p>
        </p:txBody>
      </p:sp>
      <p:sp>
        <p:nvSpPr>
          <p:cNvPr id="7" name="Shape 4"/>
          <p:cNvSpPr/>
          <p:nvPr/>
        </p:nvSpPr>
        <p:spPr>
          <a:xfrm>
            <a:off x="45720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8" name="Shape 5"/>
          <p:cNvSpPr/>
          <p:nvPr/>
        </p:nvSpPr>
        <p:spPr>
          <a:xfrm>
            <a:off x="64008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 hören nichts</a:t>
            </a:r>
            <a:endParaRPr lang="en-US" sz="1400" dirty="0"/>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Keine zuverlässige Info, wann ein Kostenvoranschlag freizugeben oder das Gerät abholbereit ist. Rückfragen per Telefon, Geräte stehen wochenlang im Lager.</a:t>
            </a:r>
            <a:endParaRPr lang="en-US" sz="1150" dirty="0"/>
          </a:p>
        </p:txBody>
      </p:sp>
      <p:sp>
        <p:nvSpPr>
          <p:cNvPr id="12" name="Shape 8"/>
          <p:cNvSpPr/>
          <p:nvPr/>
        </p:nvSpPr>
        <p:spPr>
          <a:xfrm>
            <a:off x="470916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489204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Kein Auftragsstatus</a:t>
            </a:r>
            <a:endParaRPr lang="en-US" sz="1400" dirty="0"/>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 wissen will, wo ein Gerät steht, fragt in der Werkstatt nach. Papierzettel und Excel-Listen laufen auseinander.</a:t>
            </a:r>
            <a:endParaRPr lang="en-US" sz="1150" dirty="0"/>
          </a:p>
        </p:txBody>
      </p:sp>
      <p:sp>
        <p:nvSpPr>
          <p:cNvPr id="17" name="Shape 12"/>
          <p:cNvSpPr/>
          <p:nvPr/>
        </p:nvSpPr>
        <p:spPr>
          <a:xfrm>
            <a:off x="45720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64008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Teile doppelt bestellt</a:t>
            </a:r>
            <a:endParaRPr lang="en-US" sz="1400" dirty="0"/>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Jede Filiale bestellt für sich, obwohl das Teil in der Nachbarfiliale liegt. Das kostet Lieferzeit und Geld.</a:t>
            </a:r>
            <a:endParaRPr lang="en-US" sz="1150" dirty="0"/>
          </a:p>
        </p:txBody>
      </p:sp>
      <p:sp>
        <p:nvSpPr>
          <p:cNvPr id="22" name="Shape 16"/>
          <p:cNvSpPr/>
          <p:nvPr/>
        </p:nvSpPr>
        <p:spPr>
          <a:xfrm>
            <a:off x="470916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489204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Auslastung unsichtbar</a:t>
            </a:r>
            <a:endParaRPr lang="en-US" sz="1400" dirty="0"/>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Termine werden nach Gefühl zugesagt, die Kapazität der Techniker kennt niemand genau.</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RepairFlow: die Lösung</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4</a:t>
            </a:r>
            <a:endParaRPr lang="en-US" sz="900" dirty="0"/>
          </a:p>
        </p:txBody>
      </p:sp>
      <p:sp>
        <p:nvSpPr>
          <p:cNvPr id="6" name="Shape 3"/>
          <p:cNvSpPr/>
          <p:nvPr/>
        </p:nvSpPr>
        <p:spPr>
          <a:xfrm>
            <a:off x="457200" y="960120"/>
            <a:ext cx="8229600" cy="777240"/>
          </a:xfrm>
          <a:prstGeom prst="roundRect">
            <a:avLst>
              <a:gd name="adj" fmla="val 9412"/>
            </a:avLst>
          </a:prstGeom>
          <a:solidFill>
            <a:srgbClr val="0E5E5E"/>
          </a:solidFill>
          <a:ln w="12700">
            <a:solidFill>
              <a:srgbClr val="0E5E5E"/>
            </a:solidFill>
            <a:prstDash val="solid"/>
          </a:ln>
        </p:spPr>
        <p:txBody>
          <a:bodyPr/>
          <a:lstStyle/>
          <a:p>
            <a:endParaRPr lang="de-DE"/>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Eine Cloud-Plattform für den gesamten Reparatur-Lebenszyklus: von der Anfrage per App bis zur Abholung und Reklamation. Wir sind das Software-Startup, FixWerk ist unser Pilotkunde.</a:t>
            </a:r>
            <a:endParaRPr lang="en-US" sz="1400" dirty="0"/>
          </a:p>
        </p:txBody>
      </p:sp>
      <p:sp>
        <p:nvSpPr>
          <p:cNvPr id="8" name="Shape 5"/>
          <p:cNvSpPr/>
          <p:nvPr/>
        </p:nvSpPr>
        <p:spPr>
          <a:xfrm>
            <a:off x="45720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9" name="Shape 6"/>
          <p:cNvSpPr/>
          <p:nvPr/>
        </p:nvSpPr>
        <p:spPr>
          <a:xfrm>
            <a:off x="64008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Kundenportal</a:t>
            </a:r>
            <a:endParaRPr lang="en-US" sz="1400" dirty="0"/>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App mit Sofortdiagnose, Voranmeldung, KVA-Freigabe und Statusmeldungen</a:t>
            </a:r>
            <a:endParaRPr lang="en-US" sz="1050" dirty="0"/>
          </a:p>
        </p:txBody>
      </p:sp>
      <p:sp>
        <p:nvSpPr>
          <p:cNvPr id="13" name="Shape 9"/>
          <p:cNvSpPr/>
          <p:nvPr/>
        </p:nvSpPr>
        <p:spPr>
          <a:xfrm>
            <a:off x="256032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4" name="Shape 10"/>
          <p:cNvSpPr/>
          <p:nvPr/>
        </p:nvSpPr>
        <p:spPr>
          <a:xfrm>
            <a:off x="274320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Auftrag und Werkstatt</a:t>
            </a:r>
            <a:endParaRPr lang="en-US" sz="1400" dirty="0"/>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Auftragsstatus, Diagnose, Kostenvoranschlag, Reparaturschritte, Endkontrolle</a:t>
            </a:r>
            <a:endParaRPr lang="en-US" sz="1050" dirty="0"/>
          </a:p>
        </p:txBody>
      </p:sp>
      <p:sp>
        <p:nvSpPr>
          <p:cNvPr id="18" name="Shape 13"/>
          <p:cNvSpPr/>
          <p:nvPr/>
        </p:nvSpPr>
        <p:spPr>
          <a:xfrm>
            <a:off x="466344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9" name="Shape 14"/>
          <p:cNvSpPr/>
          <p:nvPr/>
        </p:nvSpPr>
        <p:spPr>
          <a:xfrm>
            <a:off x="484632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a:t>
            </a:r>
            <a:endParaRPr lang="en-US" sz="1400" dirty="0"/>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Bestände aller Filialen, Reservierung, Umlagerung, Bestellung, Retoure</a:t>
            </a:r>
            <a:endParaRPr lang="en-US" sz="1050" dirty="0"/>
          </a:p>
        </p:txBody>
      </p:sp>
      <p:sp>
        <p:nvSpPr>
          <p:cNvPr id="23" name="Shape 17"/>
          <p:cNvSpPr/>
          <p:nvPr/>
        </p:nvSpPr>
        <p:spPr>
          <a:xfrm>
            <a:off x="676656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24" name="Shape 18"/>
          <p:cNvSpPr/>
          <p:nvPr/>
        </p:nvSpPr>
        <p:spPr>
          <a:xfrm>
            <a:off x="694944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Abrechnung</a:t>
            </a:r>
            <a:endParaRPr lang="en-US" sz="1400" dirty="0"/>
          </a:p>
        </p:txBody>
      </p:sp>
      <p:sp>
        <p:nvSpPr>
          <p:cNvPr id="27" name="Text 20"/>
          <p:cNvSpPr txBox="1"/>
          <p:nvPr/>
        </p:nvSpPr>
        <p:spPr>
          <a:xfrm>
            <a:off x="694944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Rechnung, Zahlung, Übergabe an die Buchhaltung</a:t>
            </a:r>
            <a:endParaRPr lang="en-US" sz="1050" dirty="0"/>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Zielkunden: unabhängige Werkstätten und kleine Ketten mit 2 bis 10 Filialen im DACH-Raum</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Außerhalb der Plattform: physische Reparatur, Lieferantensysteme, Buchhaltung (nur Schnittstellen)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ctr"/>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Fahrrad, E-Bike und Elektronik mit einer Kundenbasis und einem gemeinsamen Ersatzteillager. Ein Auftragsstatus für alle.</a:t>
            </a:r>
            <a:endParaRPr lang="en-US" sz="1150" dirty="0"/>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Bestände, Reservierungen und Umlagerungen über alle Standorte. Bestellt wird nur, was nirgends liegt.</a:t>
            </a:r>
            <a:endParaRPr lang="en-US" sz="1150" dirty="0"/>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Foto aus der App, Diagnosevorschlag, vorläufiger Kostenvoranschlag und Termin, bevor der Kunde die Werkstatt betritt.</a:t>
            </a:r>
            <a:endParaRPr lang="en-US" sz="1150" dirty="0"/>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Die Auftragsreise mit RepairFlow</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6</a:t>
            </a:r>
            <a:endParaRPr lang="en-US" sz="900" dirty="0"/>
          </a:p>
        </p:txBody>
      </p:sp>
      <p:sp>
        <p:nvSpPr>
          <p:cNvPr id="6" name="Shape 3"/>
          <p:cNvSpPr/>
          <p:nvPr/>
        </p:nvSpPr>
        <p:spPr>
          <a:xfrm>
            <a:off x="457200" y="1005840"/>
            <a:ext cx="1417320" cy="50292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640080"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P01</a:t>
            </a:r>
            <a:endParaRPr lang="en-US" sz="1000" dirty="0"/>
          </a:p>
        </p:txBody>
      </p:sp>
      <p:sp>
        <p:nvSpPr>
          <p:cNvPr id="8" name="Shape 5"/>
          <p:cNvSpPr/>
          <p:nvPr/>
        </p:nvSpPr>
        <p:spPr>
          <a:xfrm>
            <a:off x="457200" y="1645920"/>
            <a:ext cx="1298448" cy="1828800"/>
          </a:xfrm>
          <a:prstGeom prst="roundRect">
            <a:avLst>
              <a:gd name="adj" fmla="val 5634"/>
            </a:avLst>
          </a:prstGeom>
          <a:solidFill>
            <a:srgbClr val="FFF4D6"/>
          </a:solidFill>
          <a:ln w="12700">
            <a:solidFill>
              <a:srgbClr val="FFF4D6"/>
            </a:solidFill>
            <a:prstDash val="solid"/>
          </a:ln>
        </p:spPr>
        <p:txBody>
          <a:bodyPr/>
          <a:lstStyle/>
          <a:p>
            <a:endParaRPr lang="de-DE"/>
          </a:p>
        </p:txBody>
      </p:sp>
      <p:sp>
        <p:nvSpPr>
          <p:cNvPr id="9" name="Shape 6"/>
          <p:cNvSpPr/>
          <p:nvPr/>
        </p:nvSpPr>
        <p:spPr>
          <a:xfrm>
            <a:off x="850392" y="1755648"/>
            <a:ext cx="502920" cy="502920"/>
          </a:xfrm>
          <a:prstGeom prst="ellipse">
            <a:avLst/>
          </a:prstGeom>
          <a:solidFill>
            <a:srgbClr val="F2A900"/>
          </a:solidFill>
          <a:ln w="12700">
            <a:solidFill>
              <a:srgbClr val="F2A900"/>
            </a:solidFill>
            <a:prstDash val="solid"/>
          </a:ln>
        </p:spPr>
        <p:txBody>
          <a:bodyPr/>
          <a:lstStyle/>
          <a:p>
            <a:endParaRPr lang="de-DE"/>
          </a:p>
        </p:txBody>
      </p:sp>
      <p:pic>
        <p:nvPicPr>
          <p:cNvPr id="10" name="Image 0" descr="preencoded.png"/>
          <p:cNvPicPr>
            <a:picLocks noChangeAspect="1"/>
          </p:cNvPicPr>
          <p:nvPr/>
        </p:nvPicPr>
        <p:blipFill>
          <a:blip r:embed="rId3"/>
          <a:stretch>
            <a:fillRect/>
          </a:stretch>
        </p:blipFill>
        <p:spPr>
          <a:xfrm>
            <a:off x="976122" y="1881378"/>
            <a:ext cx="251460" cy="251460"/>
          </a:xfrm>
          <a:prstGeom prst="rect">
            <a:avLst/>
          </a:prstGeom>
        </p:spPr>
      </p:pic>
      <p:sp>
        <p:nvSpPr>
          <p:cNvPr id="11" name="Text 7"/>
          <p:cNvSpPr txBox="1"/>
          <p:nvPr/>
        </p:nvSpPr>
        <p:spPr>
          <a:xfrm>
            <a:off x="502920"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Anfrage per App</a:t>
            </a:r>
            <a:endParaRPr lang="en-US" sz="1100" dirty="0"/>
          </a:p>
        </p:txBody>
      </p:sp>
      <p:sp>
        <p:nvSpPr>
          <p:cNvPr id="12" name="Text 8"/>
          <p:cNvSpPr txBox="1"/>
          <p:nvPr/>
        </p:nvSpPr>
        <p:spPr>
          <a:xfrm>
            <a:off x="530352"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KI-Vorschlag, Vorab-KVA, Termin</a:t>
            </a:r>
            <a:endParaRPr lang="en-US" sz="950" dirty="0"/>
          </a:p>
        </p:txBody>
      </p:sp>
      <p:sp>
        <p:nvSpPr>
          <p:cNvPr id="13" name="Shape 9"/>
          <p:cNvSpPr/>
          <p:nvPr/>
        </p:nvSpPr>
        <p:spPr>
          <a:xfrm>
            <a:off x="1847088" y="1005840"/>
            <a:ext cx="1417320" cy="502920"/>
          </a:xfrm>
          <a:prstGeom prst="chevron">
            <a:avLst/>
          </a:prstGeom>
          <a:solidFill>
            <a:srgbClr val="147A7A"/>
          </a:solidFill>
          <a:ln w="12700">
            <a:solidFill>
              <a:srgbClr val="FFFFFF"/>
            </a:solidFill>
            <a:prstDash val="solid"/>
          </a:ln>
        </p:spPr>
        <p:txBody>
          <a:bodyPr/>
          <a:lstStyle/>
          <a:p>
            <a:endParaRPr lang="de-DE"/>
          </a:p>
        </p:txBody>
      </p:sp>
      <p:sp>
        <p:nvSpPr>
          <p:cNvPr id="14" name="Text 10"/>
          <p:cNvSpPr txBox="1"/>
          <p:nvPr/>
        </p:nvSpPr>
        <p:spPr>
          <a:xfrm>
            <a:off x="2029968"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P02</a:t>
            </a:r>
            <a:endParaRPr lang="en-US" sz="1000" dirty="0"/>
          </a:p>
        </p:txBody>
      </p:sp>
      <p:sp>
        <p:nvSpPr>
          <p:cNvPr id="15" name="Shape 11"/>
          <p:cNvSpPr/>
          <p:nvPr/>
        </p:nvSpPr>
        <p:spPr>
          <a:xfrm>
            <a:off x="1847088"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16" name="Shape 12"/>
          <p:cNvSpPr/>
          <p:nvPr/>
        </p:nvSpPr>
        <p:spPr>
          <a:xfrm>
            <a:off x="2240280"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17" name="Image 1" descr="preencoded.png"/>
          <p:cNvPicPr>
            <a:picLocks noChangeAspect="1"/>
          </p:cNvPicPr>
          <p:nvPr/>
        </p:nvPicPr>
        <p:blipFill>
          <a:blip r:embed="rId4"/>
          <a:stretch>
            <a:fillRect/>
          </a:stretch>
        </p:blipFill>
        <p:spPr>
          <a:xfrm>
            <a:off x="2366010" y="1881378"/>
            <a:ext cx="251460" cy="251460"/>
          </a:xfrm>
          <a:prstGeom prst="rect">
            <a:avLst/>
          </a:prstGeom>
        </p:spPr>
      </p:pic>
      <p:sp>
        <p:nvSpPr>
          <p:cNvPr id="18" name="Text 13"/>
          <p:cNvSpPr txBox="1"/>
          <p:nvPr/>
        </p:nvSpPr>
        <p:spPr>
          <a:xfrm>
            <a:off x="1892808"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Annahme</a:t>
            </a:r>
            <a:endParaRPr lang="en-US" sz="1100" dirty="0"/>
          </a:p>
        </p:txBody>
      </p:sp>
      <p:sp>
        <p:nvSpPr>
          <p:cNvPr id="19" name="Text 14"/>
          <p:cNvSpPr txBox="1"/>
          <p:nvPr/>
        </p:nvSpPr>
        <p:spPr>
          <a:xfrm>
            <a:off x="1920240"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Gerät registriert, Auftrag angelegt</a:t>
            </a:r>
            <a:endParaRPr lang="en-US" sz="950" dirty="0"/>
          </a:p>
        </p:txBody>
      </p:sp>
      <p:sp>
        <p:nvSpPr>
          <p:cNvPr id="20" name="Shape 15"/>
          <p:cNvSpPr/>
          <p:nvPr/>
        </p:nvSpPr>
        <p:spPr>
          <a:xfrm>
            <a:off x="3236976" y="1005840"/>
            <a:ext cx="1417320" cy="502920"/>
          </a:xfrm>
          <a:prstGeom prst="chevron">
            <a:avLst/>
          </a:prstGeom>
          <a:solidFill>
            <a:srgbClr val="0E5E5E"/>
          </a:solidFill>
          <a:ln w="12700">
            <a:solidFill>
              <a:srgbClr val="FFFFFF"/>
            </a:solidFill>
            <a:prstDash val="solid"/>
          </a:ln>
        </p:spPr>
        <p:txBody>
          <a:bodyPr/>
          <a:lstStyle/>
          <a:p>
            <a:endParaRPr lang="de-DE"/>
          </a:p>
        </p:txBody>
      </p:sp>
      <p:sp>
        <p:nvSpPr>
          <p:cNvPr id="21" name="Text 16"/>
          <p:cNvSpPr txBox="1"/>
          <p:nvPr/>
        </p:nvSpPr>
        <p:spPr>
          <a:xfrm>
            <a:off x="3419856"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P03, P04</a:t>
            </a:r>
            <a:endParaRPr lang="en-US" sz="1000" dirty="0"/>
          </a:p>
        </p:txBody>
      </p:sp>
      <p:sp>
        <p:nvSpPr>
          <p:cNvPr id="22" name="Shape 17"/>
          <p:cNvSpPr/>
          <p:nvPr/>
        </p:nvSpPr>
        <p:spPr>
          <a:xfrm>
            <a:off x="3236976"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23" name="Shape 18"/>
          <p:cNvSpPr/>
          <p:nvPr/>
        </p:nvSpPr>
        <p:spPr>
          <a:xfrm>
            <a:off x="3630168"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24" name="Image 2" descr="preencoded.png"/>
          <p:cNvPicPr>
            <a:picLocks noChangeAspect="1"/>
          </p:cNvPicPr>
          <p:nvPr/>
        </p:nvPicPr>
        <p:blipFill>
          <a:blip r:embed="rId5"/>
          <a:stretch>
            <a:fillRect/>
          </a:stretch>
        </p:blipFill>
        <p:spPr>
          <a:xfrm>
            <a:off x="3755898" y="1881378"/>
            <a:ext cx="251460" cy="251460"/>
          </a:xfrm>
          <a:prstGeom prst="rect">
            <a:avLst/>
          </a:prstGeom>
        </p:spPr>
      </p:pic>
      <p:sp>
        <p:nvSpPr>
          <p:cNvPr id="25" name="Text 19"/>
          <p:cNvSpPr txBox="1"/>
          <p:nvPr/>
        </p:nvSpPr>
        <p:spPr>
          <a:xfrm>
            <a:off x="3282696"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Diagnose und KVA</a:t>
            </a:r>
            <a:endParaRPr lang="en-US" sz="1100" dirty="0"/>
          </a:p>
        </p:txBody>
      </p:sp>
      <p:sp>
        <p:nvSpPr>
          <p:cNvPr id="26" name="Text 20"/>
          <p:cNvSpPr txBox="1"/>
          <p:nvPr/>
        </p:nvSpPr>
        <p:spPr>
          <a:xfrm>
            <a:off x="3310128"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Techniker prüft, Kunde gibt frei</a:t>
            </a:r>
            <a:endParaRPr lang="en-US" sz="950" dirty="0"/>
          </a:p>
        </p:txBody>
      </p:sp>
      <p:sp>
        <p:nvSpPr>
          <p:cNvPr id="27" name="Shape 21"/>
          <p:cNvSpPr/>
          <p:nvPr/>
        </p:nvSpPr>
        <p:spPr>
          <a:xfrm>
            <a:off x="4626864" y="1005840"/>
            <a:ext cx="1417320" cy="502920"/>
          </a:xfrm>
          <a:prstGeom prst="chevron">
            <a:avLst/>
          </a:prstGeom>
          <a:solidFill>
            <a:srgbClr val="147A7A"/>
          </a:solidFill>
          <a:ln w="12700">
            <a:solidFill>
              <a:srgbClr val="FFFFFF"/>
            </a:solidFill>
            <a:prstDash val="solid"/>
          </a:ln>
        </p:spPr>
        <p:txBody>
          <a:bodyPr/>
          <a:lstStyle/>
          <a:p>
            <a:endParaRPr lang="de-DE"/>
          </a:p>
        </p:txBody>
      </p:sp>
      <p:sp>
        <p:nvSpPr>
          <p:cNvPr id="28" name="Text 22"/>
          <p:cNvSpPr txBox="1"/>
          <p:nvPr/>
        </p:nvSpPr>
        <p:spPr>
          <a:xfrm>
            <a:off x="4809744"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P05, P06</a:t>
            </a:r>
            <a:endParaRPr lang="en-US" sz="1000" dirty="0"/>
          </a:p>
        </p:txBody>
      </p:sp>
      <p:sp>
        <p:nvSpPr>
          <p:cNvPr id="29" name="Shape 23"/>
          <p:cNvSpPr/>
          <p:nvPr/>
        </p:nvSpPr>
        <p:spPr>
          <a:xfrm>
            <a:off x="4626864"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30" name="Shape 24"/>
          <p:cNvSpPr/>
          <p:nvPr/>
        </p:nvSpPr>
        <p:spPr>
          <a:xfrm>
            <a:off x="5020056"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31" name="Image 3" descr="preencoded.png"/>
          <p:cNvPicPr>
            <a:picLocks noChangeAspect="1"/>
          </p:cNvPicPr>
          <p:nvPr/>
        </p:nvPicPr>
        <p:blipFill>
          <a:blip r:embed="rId6"/>
          <a:stretch>
            <a:fillRect/>
          </a:stretch>
        </p:blipFill>
        <p:spPr>
          <a:xfrm>
            <a:off x="5145786" y="1881378"/>
            <a:ext cx="251460" cy="251460"/>
          </a:xfrm>
          <a:prstGeom prst="rect">
            <a:avLst/>
          </a:prstGeom>
        </p:spPr>
      </p:pic>
      <p:sp>
        <p:nvSpPr>
          <p:cNvPr id="32" name="Text 25"/>
          <p:cNvSpPr txBox="1"/>
          <p:nvPr/>
        </p:nvSpPr>
        <p:spPr>
          <a:xfrm>
            <a:off x="4672584"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Teile disponieren</a:t>
            </a:r>
            <a:endParaRPr lang="en-US" sz="1100" dirty="0"/>
          </a:p>
        </p:txBody>
      </p:sp>
      <p:sp>
        <p:nvSpPr>
          <p:cNvPr id="33" name="Text 26"/>
          <p:cNvSpPr txBox="1"/>
          <p:nvPr/>
        </p:nvSpPr>
        <p:spPr>
          <a:xfrm>
            <a:off x="4700016"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alle Filialen, Fehlteile bestellen</a:t>
            </a:r>
            <a:endParaRPr lang="en-US" sz="950" dirty="0"/>
          </a:p>
        </p:txBody>
      </p:sp>
      <p:sp>
        <p:nvSpPr>
          <p:cNvPr id="34" name="Shape 27"/>
          <p:cNvSpPr/>
          <p:nvPr/>
        </p:nvSpPr>
        <p:spPr>
          <a:xfrm>
            <a:off x="6016752" y="1005840"/>
            <a:ext cx="1417320" cy="502920"/>
          </a:xfrm>
          <a:prstGeom prst="chevron">
            <a:avLst/>
          </a:prstGeom>
          <a:solidFill>
            <a:srgbClr val="0E5E5E"/>
          </a:solidFill>
          <a:ln w="12700">
            <a:solidFill>
              <a:srgbClr val="FFFFFF"/>
            </a:solidFill>
            <a:prstDash val="solid"/>
          </a:ln>
        </p:spPr>
        <p:txBody>
          <a:bodyPr/>
          <a:lstStyle/>
          <a:p>
            <a:endParaRPr lang="de-DE"/>
          </a:p>
        </p:txBody>
      </p:sp>
      <p:sp>
        <p:nvSpPr>
          <p:cNvPr id="35" name="Text 28"/>
          <p:cNvSpPr txBox="1"/>
          <p:nvPr/>
        </p:nvSpPr>
        <p:spPr>
          <a:xfrm>
            <a:off x="6199632"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P07</a:t>
            </a:r>
            <a:endParaRPr lang="en-US" sz="1000" dirty="0"/>
          </a:p>
        </p:txBody>
      </p:sp>
      <p:sp>
        <p:nvSpPr>
          <p:cNvPr id="36" name="Shape 29"/>
          <p:cNvSpPr/>
          <p:nvPr/>
        </p:nvSpPr>
        <p:spPr>
          <a:xfrm>
            <a:off x="6016752"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37" name="Shape 30"/>
          <p:cNvSpPr/>
          <p:nvPr/>
        </p:nvSpPr>
        <p:spPr>
          <a:xfrm>
            <a:off x="6409944"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38" name="Image 4" descr="preencoded.png"/>
          <p:cNvPicPr>
            <a:picLocks noChangeAspect="1"/>
          </p:cNvPicPr>
          <p:nvPr/>
        </p:nvPicPr>
        <p:blipFill>
          <a:blip r:embed="rId7"/>
          <a:stretch>
            <a:fillRect/>
          </a:stretch>
        </p:blipFill>
        <p:spPr>
          <a:xfrm>
            <a:off x="6535674" y="1881378"/>
            <a:ext cx="251460" cy="251460"/>
          </a:xfrm>
          <a:prstGeom prst="rect">
            <a:avLst/>
          </a:prstGeom>
        </p:spPr>
      </p:pic>
      <p:sp>
        <p:nvSpPr>
          <p:cNvPr id="39" name="Text 31"/>
          <p:cNvSpPr txBox="1"/>
          <p:nvPr/>
        </p:nvSpPr>
        <p:spPr>
          <a:xfrm>
            <a:off x="6062472"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Reparatur</a:t>
            </a:r>
            <a:endParaRPr lang="en-US" sz="1100" dirty="0"/>
          </a:p>
        </p:txBody>
      </p:sp>
      <p:sp>
        <p:nvSpPr>
          <p:cNvPr id="40" name="Text 32"/>
          <p:cNvSpPr txBox="1"/>
          <p:nvPr/>
        </p:nvSpPr>
        <p:spPr>
          <a:xfrm>
            <a:off x="6089904"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Schritte, Arbeitszeit, Endkontrolle</a:t>
            </a:r>
            <a:endParaRPr lang="en-US" sz="950" dirty="0"/>
          </a:p>
        </p:txBody>
      </p:sp>
      <p:sp>
        <p:nvSpPr>
          <p:cNvPr id="41" name="Shape 33"/>
          <p:cNvSpPr/>
          <p:nvPr/>
        </p:nvSpPr>
        <p:spPr>
          <a:xfrm>
            <a:off x="7406640" y="1005840"/>
            <a:ext cx="1417320" cy="502920"/>
          </a:xfrm>
          <a:prstGeom prst="chevron">
            <a:avLst/>
          </a:prstGeom>
          <a:solidFill>
            <a:srgbClr val="147A7A"/>
          </a:solidFill>
          <a:ln w="12700">
            <a:solidFill>
              <a:srgbClr val="FFFFFF"/>
            </a:solidFill>
            <a:prstDash val="solid"/>
          </a:ln>
        </p:spPr>
        <p:txBody>
          <a:bodyPr/>
          <a:lstStyle/>
          <a:p>
            <a:endParaRPr lang="de-DE"/>
          </a:p>
        </p:txBody>
      </p:sp>
      <p:sp>
        <p:nvSpPr>
          <p:cNvPr id="42" name="Text 34"/>
          <p:cNvSpPr txBox="1"/>
          <p:nvPr/>
        </p:nvSpPr>
        <p:spPr>
          <a:xfrm>
            <a:off x="7589520" y="1005840"/>
            <a:ext cx="105156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P08</a:t>
            </a:r>
            <a:endParaRPr lang="en-US" sz="1000" dirty="0"/>
          </a:p>
        </p:txBody>
      </p:sp>
      <p:sp>
        <p:nvSpPr>
          <p:cNvPr id="43" name="Shape 35"/>
          <p:cNvSpPr/>
          <p:nvPr/>
        </p:nvSpPr>
        <p:spPr>
          <a:xfrm>
            <a:off x="7406640" y="1645920"/>
            <a:ext cx="1298448" cy="1828800"/>
          </a:xfrm>
          <a:prstGeom prst="roundRect">
            <a:avLst>
              <a:gd name="adj" fmla="val 5634"/>
            </a:avLst>
          </a:prstGeom>
          <a:solidFill>
            <a:srgbClr val="EEF4F4"/>
          </a:solidFill>
          <a:ln w="12700">
            <a:solidFill>
              <a:srgbClr val="EEF4F4"/>
            </a:solidFill>
            <a:prstDash val="solid"/>
          </a:ln>
        </p:spPr>
        <p:txBody>
          <a:bodyPr/>
          <a:lstStyle/>
          <a:p>
            <a:endParaRPr lang="de-DE"/>
          </a:p>
        </p:txBody>
      </p:sp>
      <p:sp>
        <p:nvSpPr>
          <p:cNvPr id="44" name="Shape 36"/>
          <p:cNvSpPr/>
          <p:nvPr/>
        </p:nvSpPr>
        <p:spPr>
          <a:xfrm>
            <a:off x="7799832" y="1755648"/>
            <a:ext cx="502920" cy="502920"/>
          </a:xfrm>
          <a:prstGeom prst="ellipse">
            <a:avLst/>
          </a:prstGeom>
          <a:solidFill>
            <a:srgbClr val="0E5E5E"/>
          </a:solidFill>
          <a:ln w="12700">
            <a:solidFill>
              <a:srgbClr val="0E5E5E"/>
            </a:solidFill>
            <a:prstDash val="solid"/>
          </a:ln>
        </p:spPr>
        <p:txBody>
          <a:bodyPr/>
          <a:lstStyle/>
          <a:p>
            <a:endParaRPr lang="de-DE"/>
          </a:p>
        </p:txBody>
      </p:sp>
      <p:pic>
        <p:nvPicPr>
          <p:cNvPr id="45" name="Image 5" descr="preencoded.png"/>
          <p:cNvPicPr>
            <a:picLocks noChangeAspect="1"/>
          </p:cNvPicPr>
          <p:nvPr/>
        </p:nvPicPr>
        <p:blipFill>
          <a:blip r:embed="rId8"/>
          <a:stretch>
            <a:fillRect/>
          </a:stretch>
        </p:blipFill>
        <p:spPr>
          <a:xfrm>
            <a:off x="7925562" y="1881378"/>
            <a:ext cx="251460" cy="251460"/>
          </a:xfrm>
          <a:prstGeom prst="rect">
            <a:avLst/>
          </a:prstGeom>
        </p:spPr>
      </p:pic>
      <p:sp>
        <p:nvSpPr>
          <p:cNvPr id="46" name="Text 37"/>
          <p:cNvSpPr txBox="1"/>
          <p:nvPr/>
        </p:nvSpPr>
        <p:spPr>
          <a:xfrm>
            <a:off x="7452360" y="2331720"/>
            <a:ext cx="1207008" cy="365760"/>
          </a:xfrm>
          <a:prstGeom prst="rect">
            <a:avLst/>
          </a:prstGeom>
          <a:noFill/>
          <a:ln/>
        </p:spPr>
        <p:txBody>
          <a:bodyPr wrap="square" lIns="0" tIns="0" rIns="0" bIns="0" rtlCol="0" anchor="ctr"/>
          <a:lstStyle/>
          <a:p>
            <a:pPr marL="0" indent="0" algn="ctr">
              <a:buNone/>
            </a:pPr>
            <a:r>
              <a:rPr lang="en-US" sz="1100" b="1" dirty="0">
                <a:solidFill>
                  <a:srgbClr val="1B2430"/>
                </a:solidFill>
                <a:latin typeface="Calibri" pitchFamily="34" charset="0"/>
                <a:ea typeface="Calibri" pitchFamily="34" charset="-122"/>
                <a:cs typeface="Calibri" pitchFamily="34" charset="-120"/>
              </a:rPr>
              <a:t>Abholung</a:t>
            </a:r>
            <a:endParaRPr lang="en-US" sz="1100" dirty="0"/>
          </a:p>
        </p:txBody>
      </p:sp>
      <p:sp>
        <p:nvSpPr>
          <p:cNvPr id="47" name="Text 38"/>
          <p:cNvSpPr txBox="1"/>
          <p:nvPr/>
        </p:nvSpPr>
        <p:spPr>
          <a:xfrm>
            <a:off x="7479792" y="2697480"/>
            <a:ext cx="1152144" cy="731520"/>
          </a:xfrm>
          <a:prstGeom prst="rect">
            <a:avLst/>
          </a:prstGeom>
          <a:noFill/>
          <a:ln/>
        </p:spPr>
        <p:txBody>
          <a:bodyPr wrap="square" lIns="0" tIns="0" rIns="0" bIns="0" rtlCol="0" anchor="ctr"/>
          <a:lstStyle/>
          <a:p>
            <a:pPr marL="0" indent="0" algn="ctr">
              <a:buNone/>
            </a:pPr>
            <a:r>
              <a:rPr lang="en-US" sz="950" dirty="0">
                <a:solidFill>
                  <a:srgbClr val="1B2430"/>
                </a:solidFill>
                <a:latin typeface="Calibri" pitchFamily="34" charset="0"/>
                <a:ea typeface="Calibri" pitchFamily="34" charset="-122"/>
                <a:cs typeface="Calibri" pitchFamily="34" charset="-120"/>
              </a:rPr>
              <a:t>Benachrichtigung, Rechnung, Zahlung</a:t>
            </a:r>
            <a:endParaRPr lang="en-US" sz="950" dirty="0"/>
          </a:p>
        </p:txBody>
      </p:sp>
      <p:sp>
        <p:nvSpPr>
          <p:cNvPr id="48" name="Text 39"/>
          <p:cNvSpPr txBox="1"/>
          <p:nvPr/>
        </p:nvSpPr>
        <p:spPr>
          <a:xfrm>
            <a:off x="457200" y="3611880"/>
            <a:ext cx="2743200" cy="274320"/>
          </a:xfrm>
          <a:prstGeom prst="rect">
            <a:avLst/>
          </a:prstGeom>
          <a:noFill/>
          <a:ln/>
        </p:spPr>
        <p:txBody>
          <a:bodyPr wrap="square" lIns="0" tIns="0" rIns="0" bIns="0" rtlCol="0" anchor="ctr"/>
          <a:lstStyle/>
          <a:p>
            <a:pPr marL="0" indent="0">
              <a:buNone/>
            </a:pPr>
            <a:r>
              <a:rPr lang="en-US" sz="1100" b="1" dirty="0">
                <a:solidFill>
                  <a:srgbClr val="0E5E5E"/>
                </a:solidFill>
                <a:latin typeface="Calibri" pitchFamily="34" charset="0"/>
                <a:ea typeface="Calibri" pitchFamily="34" charset="-122"/>
                <a:cs typeface="Calibri" pitchFamily="34" charset="-120"/>
              </a:rPr>
              <a:t>Status des Reparaturauftrags:</a:t>
            </a:r>
            <a:endParaRPr lang="en-US" sz="1100" dirty="0"/>
          </a:p>
        </p:txBody>
      </p:sp>
      <p:sp>
        <p:nvSpPr>
          <p:cNvPr id="49" name="Shape 40"/>
          <p:cNvSpPr/>
          <p:nvPr/>
        </p:nvSpPr>
        <p:spPr>
          <a:xfrm>
            <a:off x="457200"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0" name="Text 41"/>
          <p:cNvSpPr txBox="1"/>
          <p:nvPr/>
        </p:nvSpPr>
        <p:spPr>
          <a:xfrm>
            <a:off x="457200"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angenommen</a:t>
            </a:r>
            <a:endParaRPr lang="en-US" sz="900" dirty="0"/>
          </a:p>
        </p:txBody>
      </p:sp>
      <p:sp>
        <p:nvSpPr>
          <p:cNvPr id="51" name="Shape 42"/>
          <p:cNvSpPr/>
          <p:nvPr/>
        </p:nvSpPr>
        <p:spPr>
          <a:xfrm>
            <a:off x="1490472"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2" name="Text 43"/>
          <p:cNvSpPr txBox="1"/>
          <p:nvPr/>
        </p:nvSpPr>
        <p:spPr>
          <a:xfrm>
            <a:off x="1490472"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in Diagnose</a:t>
            </a:r>
            <a:endParaRPr lang="en-US" sz="900" dirty="0"/>
          </a:p>
        </p:txBody>
      </p:sp>
      <p:sp>
        <p:nvSpPr>
          <p:cNvPr id="53" name="Shape 44"/>
          <p:cNvSpPr/>
          <p:nvPr/>
        </p:nvSpPr>
        <p:spPr>
          <a:xfrm>
            <a:off x="2523744"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4" name="Text 45"/>
          <p:cNvSpPr txBox="1"/>
          <p:nvPr/>
        </p:nvSpPr>
        <p:spPr>
          <a:xfrm>
            <a:off x="2523744"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KVA offen</a:t>
            </a:r>
            <a:endParaRPr lang="en-US" sz="900" dirty="0"/>
          </a:p>
        </p:txBody>
      </p:sp>
      <p:sp>
        <p:nvSpPr>
          <p:cNvPr id="55" name="Shape 46"/>
          <p:cNvSpPr/>
          <p:nvPr/>
        </p:nvSpPr>
        <p:spPr>
          <a:xfrm>
            <a:off x="3557016"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6" name="Text 47"/>
          <p:cNvSpPr txBox="1"/>
          <p:nvPr/>
        </p:nvSpPr>
        <p:spPr>
          <a:xfrm>
            <a:off x="3557016"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freigegeben</a:t>
            </a:r>
            <a:endParaRPr lang="en-US" sz="900" dirty="0"/>
          </a:p>
        </p:txBody>
      </p:sp>
      <p:sp>
        <p:nvSpPr>
          <p:cNvPr id="57" name="Shape 48"/>
          <p:cNvSpPr/>
          <p:nvPr/>
        </p:nvSpPr>
        <p:spPr>
          <a:xfrm>
            <a:off x="4590288"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58" name="Text 49"/>
          <p:cNvSpPr txBox="1"/>
          <p:nvPr/>
        </p:nvSpPr>
        <p:spPr>
          <a:xfrm>
            <a:off x="4590288"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Teile bestellt</a:t>
            </a:r>
            <a:endParaRPr lang="en-US" sz="900" dirty="0"/>
          </a:p>
        </p:txBody>
      </p:sp>
      <p:sp>
        <p:nvSpPr>
          <p:cNvPr id="59" name="Shape 50"/>
          <p:cNvSpPr/>
          <p:nvPr/>
        </p:nvSpPr>
        <p:spPr>
          <a:xfrm>
            <a:off x="5623560"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60" name="Text 51"/>
          <p:cNvSpPr txBox="1"/>
          <p:nvPr/>
        </p:nvSpPr>
        <p:spPr>
          <a:xfrm>
            <a:off x="5623560"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in Reparatur</a:t>
            </a:r>
            <a:endParaRPr lang="en-US" sz="900" dirty="0"/>
          </a:p>
        </p:txBody>
      </p:sp>
      <p:sp>
        <p:nvSpPr>
          <p:cNvPr id="61" name="Shape 52"/>
          <p:cNvSpPr/>
          <p:nvPr/>
        </p:nvSpPr>
        <p:spPr>
          <a:xfrm>
            <a:off x="6656832"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62" name="Text 53"/>
          <p:cNvSpPr txBox="1"/>
          <p:nvPr/>
        </p:nvSpPr>
        <p:spPr>
          <a:xfrm>
            <a:off x="6656832"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fertig</a:t>
            </a:r>
            <a:endParaRPr lang="en-US" sz="900" dirty="0"/>
          </a:p>
        </p:txBody>
      </p:sp>
      <p:sp>
        <p:nvSpPr>
          <p:cNvPr id="63" name="Shape 54"/>
          <p:cNvSpPr/>
          <p:nvPr/>
        </p:nvSpPr>
        <p:spPr>
          <a:xfrm>
            <a:off x="7690104" y="3913632"/>
            <a:ext cx="960120" cy="329184"/>
          </a:xfrm>
          <a:prstGeom prst="roundRect">
            <a:avLst>
              <a:gd name="adj" fmla="val 50000"/>
            </a:avLst>
          </a:prstGeom>
          <a:solidFill>
            <a:srgbClr val="FFFFFF"/>
          </a:solidFill>
          <a:ln w="12700">
            <a:solidFill>
              <a:srgbClr val="0E5E5E"/>
            </a:solidFill>
            <a:prstDash val="solid"/>
          </a:ln>
        </p:spPr>
        <p:txBody>
          <a:bodyPr/>
          <a:lstStyle/>
          <a:p>
            <a:endParaRPr lang="de-DE"/>
          </a:p>
        </p:txBody>
      </p:sp>
      <p:sp>
        <p:nvSpPr>
          <p:cNvPr id="64" name="Text 55"/>
          <p:cNvSpPr txBox="1"/>
          <p:nvPr/>
        </p:nvSpPr>
        <p:spPr>
          <a:xfrm>
            <a:off x="7690104" y="3913632"/>
            <a:ext cx="960120" cy="329184"/>
          </a:xfrm>
          <a:prstGeom prst="rect">
            <a:avLst/>
          </a:prstGeom>
          <a:noFill/>
          <a:ln/>
        </p:spPr>
        <p:txBody>
          <a:bodyPr wrap="square" lIns="0" tIns="0" rIns="0" bIns="0" rtlCol="0" anchor="ctr"/>
          <a:lstStyle/>
          <a:p>
            <a:pPr marL="0" indent="0" algn="ctr">
              <a:buNone/>
            </a:pPr>
            <a:r>
              <a:rPr lang="en-US" sz="900" dirty="0">
                <a:solidFill>
                  <a:srgbClr val="0E5E5E"/>
                </a:solidFill>
                <a:latin typeface="Calibri" pitchFamily="34" charset="0"/>
                <a:ea typeface="Calibri" pitchFamily="34" charset="-122"/>
                <a:cs typeface="Calibri" pitchFamily="34" charset="-120"/>
              </a:rPr>
              <a:t>abgeholt</a:t>
            </a:r>
            <a:endParaRPr lang="en-US" sz="900" dirty="0"/>
          </a:p>
        </p:txBody>
      </p:sp>
      <p:sp>
        <p:nvSpPr>
          <p:cNvPr id="65" name="Text 56"/>
          <p:cNvSpPr txBox="1"/>
          <p:nvPr/>
        </p:nvSpPr>
        <p:spPr>
          <a:xfrm>
            <a:off x="457200" y="4343400"/>
            <a:ext cx="8229600" cy="2743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Reklamation (P09) und Retoure (P10) sind Folgeprozesse; im Gewährleistungsfall startet ein kostenfreier Nacharbeitsauftrag.</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KI-Sofortdiagnose: KVA in 60 Sekunden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7</a:t>
            </a:r>
            <a:endParaRPr lang="en-US" sz="900" dirty="0"/>
          </a:p>
        </p:txBody>
      </p:sp>
      <p:sp>
        <p:nvSpPr>
          <p:cNvPr id="6" name="Shape 3"/>
          <p:cNvSpPr/>
          <p:nvPr/>
        </p:nvSpPr>
        <p:spPr>
          <a:xfrm>
            <a:off x="457200"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960120"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1097280" y="1325880"/>
            <a:ext cx="274320" cy="274320"/>
          </a:xfrm>
          <a:prstGeom prst="rect">
            <a:avLst/>
          </a:prstGeom>
        </p:spPr>
      </p:pic>
      <p:sp>
        <p:nvSpPr>
          <p:cNvPr id="9" name="Text 5"/>
          <p:cNvSpPr txBox="1"/>
          <p:nvPr/>
        </p:nvSpPr>
        <p:spPr>
          <a:xfrm>
            <a:off x="457200"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Aufnehmen</a:t>
            </a:r>
            <a:endParaRPr lang="en-US" sz="1300" dirty="0"/>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Kunde lädt Foto, Video oder Ton in der App hoch</a:t>
            </a:r>
            <a:endParaRPr lang="en-US" sz="1000" dirty="0"/>
          </a:p>
        </p:txBody>
      </p:sp>
      <p:sp>
        <p:nvSpPr>
          <p:cNvPr id="11" name="Shape 7"/>
          <p:cNvSpPr/>
          <p:nvPr/>
        </p:nvSpPr>
        <p:spPr>
          <a:xfrm>
            <a:off x="2139696" y="1051560"/>
            <a:ext cx="1554480" cy="1920240"/>
          </a:xfrm>
          <a:prstGeom prst="roundRect">
            <a:avLst>
              <a:gd name="adj" fmla="val 4706"/>
            </a:avLst>
          </a:prstGeom>
          <a:solidFill>
            <a:srgbClr val="FFF4D6"/>
          </a:solidFill>
          <a:ln w="12700">
            <a:solidFill>
              <a:srgbClr val="FFF4D6"/>
            </a:solidFill>
            <a:prstDash val="solid"/>
          </a:ln>
        </p:spPr>
        <p:txBody>
          <a:bodyPr/>
          <a:lstStyle/>
          <a:p>
            <a:endParaRPr lang="de-DE"/>
          </a:p>
        </p:txBody>
      </p:sp>
      <p:sp>
        <p:nvSpPr>
          <p:cNvPr id="12" name="Shape 8"/>
          <p:cNvSpPr/>
          <p:nvPr/>
        </p:nvSpPr>
        <p:spPr>
          <a:xfrm>
            <a:off x="2642616" y="1188720"/>
            <a:ext cx="548640" cy="548640"/>
          </a:xfrm>
          <a:prstGeom prst="ellipse">
            <a:avLst/>
          </a:prstGeom>
          <a:solidFill>
            <a:srgbClr val="F2A900"/>
          </a:solidFill>
          <a:ln w="12700">
            <a:solidFill>
              <a:srgbClr val="F2A900"/>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2779776" y="1325880"/>
            <a:ext cx="274320" cy="274320"/>
          </a:xfrm>
          <a:prstGeom prst="rect">
            <a:avLst/>
          </a:prstGeom>
        </p:spPr>
      </p:pic>
      <p:sp>
        <p:nvSpPr>
          <p:cNvPr id="14" name="Text 9"/>
          <p:cNvSpPr txBox="1"/>
          <p:nvPr/>
        </p:nvSpPr>
        <p:spPr>
          <a:xfrm>
            <a:off x="2139696"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Erkennen</a:t>
            </a:r>
            <a:endParaRPr lang="en-US" sz="1300" dirty="0"/>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KI-Dienst nennt Gerätetyp, Ursache und Ersatzteile</a:t>
            </a:r>
            <a:endParaRPr lang="en-US" sz="1000" dirty="0"/>
          </a:p>
        </p:txBody>
      </p:sp>
      <p:sp>
        <p:nvSpPr>
          <p:cNvPr id="16" name="Shape 11"/>
          <p:cNvSpPr/>
          <p:nvPr/>
        </p:nvSpPr>
        <p:spPr>
          <a:xfrm>
            <a:off x="3822192"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4325112"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4462272" y="1325880"/>
            <a:ext cx="274320" cy="274320"/>
          </a:xfrm>
          <a:prstGeom prst="rect">
            <a:avLst/>
          </a:prstGeom>
        </p:spPr>
      </p:pic>
      <p:sp>
        <p:nvSpPr>
          <p:cNvPr id="19" name="Text 13"/>
          <p:cNvSpPr txBox="1"/>
          <p:nvPr/>
        </p:nvSpPr>
        <p:spPr>
          <a:xfrm>
            <a:off x="3822192"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Kalkulieren</a:t>
            </a:r>
            <a:endParaRPr lang="en-US" sz="1300" dirty="0"/>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RepairFlow berechnet einen vorläufigen KVA</a:t>
            </a:r>
            <a:endParaRPr lang="en-US" sz="1000" dirty="0"/>
          </a:p>
        </p:txBody>
      </p:sp>
      <p:sp>
        <p:nvSpPr>
          <p:cNvPr id="21" name="Shape 15"/>
          <p:cNvSpPr/>
          <p:nvPr/>
        </p:nvSpPr>
        <p:spPr>
          <a:xfrm>
            <a:off x="5504688"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6007608"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6144768" y="1325880"/>
            <a:ext cx="274320" cy="274320"/>
          </a:xfrm>
          <a:prstGeom prst="rect">
            <a:avLst/>
          </a:prstGeom>
        </p:spPr>
      </p:pic>
      <p:sp>
        <p:nvSpPr>
          <p:cNvPr id="24" name="Text 17"/>
          <p:cNvSpPr txBox="1"/>
          <p:nvPr/>
        </p:nvSpPr>
        <p:spPr>
          <a:xfrm>
            <a:off x="5504688"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Reservieren</a:t>
            </a:r>
            <a:endParaRPr lang="en-US" sz="1300" dirty="0"/>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Verfügbarkeit in allen Filialen, Teile vorreserviert</a:t>
            </a:r>
            <a:endParaRPr lang="en-US" sz="1000" dirty="0"/>
          </a:p>
        </p:txBody>
      </p:sp>
      <p:sp>
        <p:nvSpPr>
          <p:cNvPr id="26" name="Shape 19"/>
          <p:cNvSpPr/>
          <p:nvPr/>
        </p:nvSpPr>
        <p:spPr>
          <a:xfrm>
            <a:off x="7187184"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7690104"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827264" y="1325880"/>
            <a:ext cx="274320" cy="274320"/>
          </a:xfrm>
          <a:prstGeom prst="rect">
            <a:avLst/>
          </a:prstGeom>
        </p:spPr>
      </p:pic>
      <p:sp>
        <p:nvSpPr>
          <p:cNvPr id="29" name="Text 21"/>
          <p:cNvSpPr txBox="1"/>
          <p:nvPr/>
        </p:nvSpPr>
        <p:spPr>
          <a:xfrm>
            <a:off x="7187184"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Termin</a:t>
            </a:r>
            <a:endParaRPr lang="en-US" sz="1300" dirty="0"/>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Filiale und Termin vorgeschlagen, Kunde bestätigt</a:t>
            </a:r>
            <a:endParaRPr lang="en-US" sz="1000" dirty="0"/>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rgbClr val="0E5E5E"/>
                </a:solidFill>
                <a:latin typeface="Calibri" pitchFamily="34" charset="0"/>
                <a:ea typeface="Calibri" pitchFamily="34" charset="-122"/>
                <a:cs typeface="Calibri" pitchFamily="34" charset="-120"/>
              </a:rPr>
              <a:t>Heute machbar</a:t>
            </a:r>
            <a:endParaRPr lang="en-US" sz="1300" dirty="0"/>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Sichtbare Schäden per Bildanalyse: gebrochenes Display, gerissene Kette</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Vorab-KVA aus Teilepreisen und Aufwandsrichtwerten</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Verfügbarkeitsprüfung und Vorreservierung</a:t>
            </a:r>
            <a:endParaRPr lang="en-US" sz="1100" dirty="0"/>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Vision und Absicherung</a:t>
            </a:r>
            <a:endParaRPr lang="en-US" sz="1300" dirty="0"/>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Geräuschanalyse von E-Bike-Motoren, Aufwand aus Video</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Vorschlag bleibt vorläufig, der Techniker bestätigt oder korrigiert</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Medien nur mit Einwilligung, Löschung nach Abschluss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Was wir gebaut haben: Ergebnisse in Zahlen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8</a:t>
            </a:r>
            <a:endParaRPr lang="en-US" sz="900" dirty="0"/>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10</a:t>
            </a:r>
            <a:endParaRPr lang="en-US" sz="4000" dirty="0"/>
          </a:p>
        </p:txBody>
      </p:sp>
      <p:sp>
        <p:nvSpPr>
          <p:cNvPr id="7" name="Text 4"/>
          <p:cNvSpPr txBox="1"/>
          <p:nvPr/>
        </p:nvSpPr>
        <p:spPr>
          <a:xfrm>
            <a:off x="45720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BPMN-Kollaborationsdiagramme</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133 Aktivitäten im Werkstatt-Pool</a:t>
            </a:r>
            <a:endParaRPr lang="en-US" sz="1100" dirty="0"/>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19</a:t>
            </a:r>
            <a:endParaRPr lang="en-US" sz="4000" dirty="0"/>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Use Cases</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17 Rollen und Akteure</a:t>
            </a:r>
            <a:endParaRPr lang="en-US" sz="1100" dirty="0"/>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27</a:t>
            </a:r>
            <a:endParaRPr lang="en-US" sz="4000" dirty="0"/>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Klassen</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36 Assoziationen, 7 Aufzählungen</a:t>
            </a:r>
            <a:endParaRPr lang="en-US" sz="1100" dirty="0"/>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a:t>
            </a:r>
            <a:endParaRPr lang="en-US" sz="4000" dirty="0"/>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Sequenzdiagramme</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 Zustandsdiagramm</a:t>
            </a:r>
            <a:endParaRPr lang="en-US" sz="1100" dirty="0"/>
          </a:p>
        </p:txBody>
      </p:sp>
      <p:sp>
        <p:nvSpPr>
          <p:cNvPr id="14" name="Shape 11"/>
          <p:cNvSpPr/>
          <p:nvPr/>
        </p:nvSpPr>
        <p:spPr>
          <a:xfrm>
            <a:off x="45720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15" name="Shape 12"/>
          <p:cNvSpPr/>
          <p:nvPr/>
        </p:nvSpPr>
        <p:spPr>
          <a:xfrm>
            <a:off x="64008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6" name="Image 0" descr="preencoded.png"/>
          <p:cNvPicPr>
            <a:picLocks noChangeAspect="1"/>
          </p:cNvPicPr>
          <p:nvPr/>
        </p:nvPicPr>
        <p:blipFill>
          <a:blip r:embed="rId3"/>
          <a:stretch>
            <a:fillRect/>
          </a:stretch>
        </p:blipFill>
        <p:spPr>
          <a:xfrm>
            <a:off x="754380" y="2994660"/>
            <a:ext cx="228600" cy="228600"/>
          </a:xfrm>
          <a:prstGeom prst="rect">
            <a:avLst/>
          </a:prstGeom>
        </p:spPr>
      </p:pic>
      <p:sp>
        <p:nvSpPr>
          <p:cNvPr id="17" name="Text 13"/>
          <p:cNvSpPr txBox="1"/>
          <p:nvPr/>
        </p:nvSpPr>
        <p:spPr>
          <a:xfrm>
            <a:off x="123444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Geschäftsprozesse</a:t>
            </a:r>
            <a:endParaRPr lang="en-US" sz="1400" dirty="0"/>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Camunda Modeler, BPMN 2.0, angereichert für Camunda 8. Zehn Prozesse vom ersten Foto bis zur Retoure. 42 Nachrichtenflüsse, 51 Datenobjekte, 12 Datenspeicher.</a:t>
            </a:r>
            <a:endParaRPr lang="en-US" sz="1050" dirty="0"/>
          </a:p>
        </p:txBody>
      </p:sp>
      <p:sp>
        <p:nvSpPr>
          <p:cNvPr id="19" name="Shape 15"/>
          <p:cNvSpPr/>
          <p:nvPr/>
        </p:nvSpPr>
        <p:spPr>
          <a:xfrm>
            <a:off x="324612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0" name="Shape 16"/>
          <p:cNvSpPr/>
          <p:nvPr/>
        </p:nvSpPr>
        <p:spPr>
          <a:xfrm>
            <a:off x="342900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1" name="Image 1" descr="preencoded.png"/>
          <p:cNvPicPr>
            <a:picLocks noChangeAspect="1"/>
          </p:cNvPicPr>
          <p:nvPr/>
        </p:nvPicPr>
        <p:blipFill>
          <a:blip r:embed="rId4"/>
          <a:stretch>
            <a:fillRect/>
          </a:stretch>
        </p:blipFill>
        <p:spPr>
          <a:xfrm>
            <a:off x="3543300" y="2994660"/>
            <a:ext cx="228600" cy="228600"/>
          </a:xfrm>
          <a:prstGeom prst="rect">
            <a:avLst/>
          </a:prstGeom>
        </p:spPr>
      </p:pic>
      <p:sp>
        <p:nvSpPr>
          <p:cNvPr id="22" name="Text 17"/>
          <p:cNvSpPr txBox="1"/>
          <p:nvPr/>
        </p:nvSpPr>
        <p:spPr>
          <a:xfrm>
            <a:off x="402336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Objektorientierte Analyse</a:t>
            </a:r>
            <a:endParaRPr lang="en-US" sz="1400" dirty="0"/>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Visual Paradigm: Use-Case-Diagramm, ein vollständiges Klassendiagramm, sechs Sequenzdiagramme als Unterdiagramme der Use Cases, Zustandsdiagramm des Reparaturauftrags.</a:t>
            </a:r>
            <a:endParaRPr lang="en-US" sz="1050" dirty="0"/>
          </a:p>
        </p:txBody>
      </p:sp>
      <p:sp>
        <p:nvSpPr>
          <p:cNvPr id="24" name="Shape 19"/>
          <p:cNvSpPr/>
          <p:nvPr/>
        </p:nvSpPr>
        <p:spPr>
          <a:xfrm>
            <a:off x="603504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5" name="Shape 20"/>
          <p:cNvSpPr/>
          <p:nvPr/>
        </p:nvSpPr>
        <p:spPr>
          <a:xfrm>
            <a:off x="621792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6" name="Image 2" descr="preencoded.png"/>
          <p:cNvPicPr>
            <a:picLocks noChangeAspect="1"/>
          </p:cNvPicPr>
          <p:nvPr/>
        </p:nvPicPr>
        <p:blipFill>
          <a:blip r:embed="rId5"/>
          <a:stretch>
            <a:fillRect/>
          </a:stretch>
        </p:blipFill>
        <p:spPr>
          <a:xfrm>
            <a:off x="6332220" y="2994660"/>
            <a:ext cx="228600" cy="228600"/>
          </a:xfrm>
          <a:prstGeom prst="rect">
            <a:avLst/>
          </a:prstGeom>
        </p:spPr>
      </p:pic>
      <p:sp>
        <p:nvSpPr>
          <p:cNvPr id="27" name="Text 21"/>
          <p:cNvSpPr txBox="1"/>
          <p:nvPr/>
        </p:nvSpPr>
        <p:spPr>
          <a:xfrm>
            <a:off x="681228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Dokumentation</a:t>
            </a:r>
            <a:endParaRPr lang="en-US" sz="1400" dirty="0"/>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Rund 20 Seiten: Projekt, Vorgehen, Projektmanagement, alle Artefakte, Konsistenz der Modelle, Herausforderungen und Feedback.</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Zehn Prozesse, 61 Prozent automatisiert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80 %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0515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133</a:t>
            </a:r>
            <a:endParaRPr lang="en-US" sz="4000" dirty="0"/>
          </a:p>
        </p:txBody>
      </p:sp>
      <p:sp>
        <p:nvSpPr>
          <p:cNvPr id="8" name="Text 4"/>
          <p:cNvSpPr txBox="1"/>
          <p:nvPr/>
        </p:nvSpPr>
        <p:spPr>
          <a:xfrm>
            <a:off x="5943600" y="17830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Aktivitäten im Werkstatt-Pool, im Schnitt 13,3 je Diagramm</a:t>
            </a:r>
            <a:endParaRPr lang="en-US" sz="1100" dirty="0"/>
          </a:p>
        </p:txBody>
      </p:sp>
      <p:sp>
        <p:nvSpPr>
          <p:cNvPr id="9" name="Text 5"/>
          <p:cNvSpPr txBox="1"/>
          <p:nvPr/>
        </p:nvSpPr>
        <p:spPr>
          <a:xfrm>
            <a:off x="5943600" y="24231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61 %</a:t>
            </a:r>
            <a:endParaRPr lang="en-US" sz="4000" dirty="0"/>
          </a:p>
        </p:txBody>
      </p:sp>
      <p:sp>
        <p:nvSpPr>
          <p:cNvPr id="5" name="Text 6"/>
          <p:cNvSpPr txBox="1"/>
          <p:nvPr/>
        </p:nvSpPr>
        <p:spPr>
          <a:xfrm>
            <a:off x="5943600" y="31546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davon führt RepairFlow ohne manuelle Arbeit aus: Status, Benachrichtigung, Prüfung, Berechnung, Regel</a:t>
            </a:r>
            <a:endParaRPr lang="en-US" sz="1100" dirty="0"/>
          </a:p>
        </p:txBody>
      </p:sp>
      <p:sp>
        <p:nvSpPr>
          <p:cNvPr id="11" name="Text 7"/>
          <p:cNvSpPr txBox="1"/>
          <p:nvPr/>
        </p:nvSpPr>
        <p:spPr>
          <a:xfrm>
            <a:off x="5943600" y="3840480"/>
            <a:ext cx="2743200" cy="7315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Handwerk bleibt Handwerk: Diagnose, Reparatur und Endkontrolle sind Aktivitäten des Technikers mit Unterstützung durch das System.</a:t>
            </a:r>
            <a:endParaRPr lang="en-US" sz="1000" dirty="0"/>
          </a:p>
        </p:txBody>
      </p:sp>
      <p:sp>
        <p:nvSpPr>
          <p:cNvPr id="12" name="Text 8"/>
          <p:cNvSpPr txBox="1"/>
          <p:nvPr/>
        </p:nvSpPr>
        <p:spPr>
          <a:xfrm>
            <a:off x="457200" y="4069080"/>
            <a:ext cx="5120640" cy="548640"/>
          </a:xfrm>
          <a:prstGeom prst="rect">
            <a:avLst/>
          </a:prstGeom>
          <a:noFill/>
          <a:ln/>
        </p:spPr>
        <p:txBody>
          <a:bodyPr wrap="square" lIns="0" tIns="0" rIns="0" bIns="0" rtlCol="0" anchor="ctr"/>
          <a:lstStyle/>
          <a:p>
            <a:pPr marL="0" indent="0">
              <a:buNone/>
            </a:pPr>
            <a:r>
              <a:rPr lang="en-US" sz="950" i="1" dirty="0">
                <a:solidFill>
                  <a:srgbClr val="5F6B7A"/>
                </a:solidFill>
                <a:latin typeface="Calibri" pitchFamily="34" charset="0"/>
                <a:ea typeface="Calibri" pitchFamily="34" charset="-122"/>
                <a:cs typeface="Calibri" pitchFamily="34" charset="-120"/>
              </a:rPr>
              <a:t>01 bis 08: durchgehende Auftragsreise · 09 und 10: Reklamation und Retoure · Pool Werkstattbetrieb mit Lanes Service, Techniker, Werkstattleitung, Disposition; Kunde mit eigenem Ablauf, Lieferant als Black Box</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Drei Prozess-Highlights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10</a:t>
            </a:r>
            <a:endParaRPr lang="en-US" sz="900" dirty="0"/>
          </a:p>
        </p:txBody>
      </p:sp>
      <p:sp>
        <p:nvSpPr>
          <p:cNvPr id="6" name="Shape 3"/>
          <p:cNvSpPr/>
          <p:nvPr/>
        </p:nvSpPr>
        <p:spPr>
          <a:xfrm>
            <a:off x="45720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KVA-Freigabe (P04)</a:t>
            </a:r>
            <a:endParaRPr lang="en-US" sz="1400" dirty="0"/>
          </a:p>
        </p:txBody>
      </p:sp>
      <p:sp>
        <p:nvSpPr>
          <p:cNvPr id="10" name="Text 6"/>
          <p:cNvSpPr txBox="1"/>
          <p:nvPr/>
        </p:nvSpPr>
        <p:spPr>
          <a:xfrm>
            <a:off x="64008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Nach dem Versand wartet ein ereignisbasiertes Gateway auf Freigabe, Ablehnung oder drei Tage Frist.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Bei Fristablauf erinnert RepairFlow, höchstens zweimal. Nach dem dritten Fristablauf ohne Antwort gilt der KVA als abgelehnt, das Gerät geht mit Diagnosepauschale zur Abholung.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Kein Auftrag bleibt liegen.</a:t>
            </a:r>
            <a:endParaRPr lang="en-US" sz="1150" dirty="0"/>
          </a:p>
        </p:txBody>
      </p:sp>
      <p:sp>
        <p:nvSpPr>
          <p:cNvPr id="11" name="Shape 7"/>
          <p:cNvSpPr/>
          <p:nvPr/>
        </p:nvSpPr>
        <p:spPr>
          <a:xfrm>
            <a:off x="324612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 (P05)</a:t>
            </a:r>
            <a:endParaRPr lang="en-US" sz="1400" dirty="0"/>
          </a:p>
        </p:txBody>
      </p:sp>
      <p:sp>
        <p:nvSpPr>
          <p:cNvPr id="15" name="Text 10"/>
          <p:cNvSpPr txBox="1"/>
          <p:nvPr/>
        </p:nvSpPr>
        <p:spPr>
          <a:xfrm>
            <a:off x="342900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 Teil läuft parallel eine Prüfung: erst das eigene Lager, dann die anderen Filialen.</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Lokal vorhanden: reservieren. Anderswo vorhanden: umlagern. Nirgends: als Fehlteil markieren und erst dann bestellen (P06).</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Meldebestand unterschritten: Nachbestellvorschlag.</a:t>
            </a:r>
            <a:endParaRPr lang="en-US" sz="1150" dirty="0"/>
          </a:p>
        </p:txBody>
      </p:sp>
      <p:sp>
        <p:nvSpPr>
          <p:cNvPr id="16" name="Shape 11"/>
          <p:cNvSpPr/>
          <p:nvPr/>
        </p:nvSpPr>
        <p:spPr>
          <a:xfrm>
            <a:off x="603504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Reklamation (P09)</a:t>
            </a:r>
            <a:endParaRPr lang="en-US" sz="1400" dirty="0"/>
          </a:p>
        </p:txBody>
      </p:sp>
      <p:sp>
        <p:nvSpPr>
          <p:cNvPr id="20" name="Text 14"/>
          <p:cNvSpPr txBox="1"/>
          <p:nvPr/>
        </p:nvSpPr>
        <p:spPr>
          <a:xfrm>
            <a:off x="621792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Techniker prüft den Mangel, eine Geschäftsregel entscheidet über Gewährleistung.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Gewährleistung: kostenfreier Nacharbeitsauftrag, der durch die normale Auftragsreise läuft. Sonst: kostenpflichtiges Angebot.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Das Modell bleibt schlank, weil die Reklamation keine eigene Reparaturlogik braucht.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Wer macht was im System: Rollen und Use Cases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11</a:t>
            </a:r>
            <a:endParaRPr lang="en-US" sz="900" dirty="0"/>
          </a:p>
        </p:txBody>
      </p:sp>
      <p:sp>
        <p:nvSpPr>
          <p:cNvPr id="6" name="Text 3"/>
          <p:cNvSpPr txBox="1"/>
          <p:nvPr/>
        </p:nvSpPr>
        <p:spPr>
          <a:xfrm>
            <a:off x="457200" y="960120"/>
            <a:ext cx="8229600" cy="54864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19 Use Cases in vier Bereichen. Jeder Use Case hat genau eine Rolle (Hinweis aus dem Coaching): lesbar, und die Rollen kehren in den Sequenzdiagrammen wieder.</a:t>
            </a:r>
            <a:endParaRPr lang="en-US" sz="1300" dirty="0"/>
          </a:p>
        </p:txBody>
      </p:sp>
      <p:sp>
        <p:nvSpPr>
          <p:cNvPr id="7" name="Shape 4"/>
          <p:cNvSpPr/>
          <p:nvPr/>
        </p:nvSpPr>
        <p:spPr>
          <a:xfrm>
            <a:off x="457200" y="1600200"/>
            <a:ext cx="1965960" cy="2971800"/>
          </a:xfrm>
          <a:prstGeom prst="roundRect">
            <a:avLst>
              <a:gd name="adj" fmla="val 3721"/>
            </a:avLst>
          </a:prstGeom>
          <a:solidFill>
            <a:srgbClr val="FFF4D6"/>
          </a:solidFill>
          <a:ln w="12700">
            <a:solidFill>
              <a:srgbClr val="FFF4D6"/>
            </a:solidFill>
            <a:prstDash val="solid"/>
          </a:ln>
        </p:spPr>
        <p:txBody>
          <a:bodyPr/>
          <a:lstStyle/>
          <a:p>
            <a:endParaRPr lang="de-DE"/>
          </a:p>
        </p:txBody>
      </p:sp>
      <p:sp>
        <p:nvSpPr>
          <p:cNvPr id="8" name="Shape 5"/>
          <p:cNvSpPr/>
          <p:nvPr/>
        </p:nvSpPr>
        <p:spPr>
          <a:xfrm>
            <a:off x="640080" y="17830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1897380"/>
            <a:ext cx="228600" cy="228600"/>
          </a:xfrm>
          <a:prstGeom prst="rect">
            <a:avLst/>
          </a:prstGeom>
        </p:spPr>
      </p:pic>
      <p:sp>
        <p:nvSpPr>
          <p:cNvPr id="10" name="Text 6"/>
          <p:cNvSpPr txBox="1"/>
          <p:nvPr/>
        </p:nvSpPr>
        <p:spPr>
          <a:xfrm>
            <a:off x="123444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Kundenportal</a:t>
            </a:r>
            <a:endParaRPr lang="en-US" sz="1200" dirty="0"/>
          </a:p>
        </p:txBody>
      </p:sp>
      <p:sp>
        <p:nvSpPr>
          <p:cNvPr id="11" name="Text 7"/>
          <p:cNvSpPr txBox="1"/>
          <p:nvPr/>
        </p:nvSpPr>
        <p:spPr>
          <a:xfrm>
            <a:off x="64008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3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Kunde: Sofortdiagnose anfordern, Voranmeldung bestätigen, KVA freigeben / ablehnen</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extern: KI-Diagnosedienst</a:t>
            </a:r>
            <a:endParaRPr lang="en-US" sz="1000" dirty="0"/>
          </a:p>
        </p:txBody>
      </p:sp>
      <p:sp>
        <p:nvSpPr>
          <p:cNvPr id="12" name="Shape 8"/>
          <p:cNvSpPr/>
          <p:nvPr/>
        </p:nvSpPr>
        <p:spPr>
          <a:xfrm>
            <a:off x="256032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274320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2857500" y="1897380"/>
            <a:ext cx="228600" cy="228600"/>
          </a:xfrm>
          <a:prstGeom prst="rect">
            <a:avLst/>
          </a:prstGeom>
        </p:spPr>
      </p:pic>
      <p:sp>
        <p:nvSpPr>
          <p:cNvPr id="15" name="Text 10"/>
          <p:cNvSpPr txBox="1"/>
          <p:nvPr/>
        </p:nvSpPr>
        <p:spPr>
          <a:xfrm>
            <a:off x="333756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Auftrag und Werkstatt</a:t>
            </a:r>
            <a:endParaRPr lang="en-US" sz="1200" dirty="0"/>
          </a:p>
        </p:txBody>
      </p:sp>
      <p:sp>
        <p:nvSpPr>
          <p:cNvPr id="16" name="Text 11"/>
          <p:cNvSpPr txBox="1"/>
          <p:nvPr/>
        </p:nvSpPr>
        <p:spPr>
          <a:xfrm>
            <a:off x="274320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9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Serviceannahme, Diagnoseprüfer, Diagnostiker, Kalkulator, Werkstattplaner, Reparateur, Endkontrolleur, Geräteausgabe, Reklamationsbearbeiter</a:t>
            </a:r>
            <a:endParaRPr lang="en-US" sz="1000" dirty="0"/>
          </a:p>
        </p:txBody>
      </p:sp>
      <p:sp>
        <p:nvSpPr>
          <p:cNvPr id="17" name="Shape 12"/>
          <p:cNvSpPr/>
          <p:nvPr/>
        </p:nvSpPr>
        <p:spPr>
          <a:xfrm>
            <a:off x="466344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484632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4960620" y="1897380"/>
            <a:ext cx="228600" cy="228600"/>
          </a:xfrm>
          <a:prstGeom prst="rect">
            <a:avLst/>
          </a:prstGeom>
        </p:spPr>
      </p:pic>
      <p:sp>
        <p:nvSpPr>
          <p:cNvPr id="20" name="Text 14"/>
          <p:cNvSpPr txBox="1"/>
          <p:nvPr/>
        </p:nvSpPr>
        <p:spPr>
          <a:xfrm>
            <a:off x="544068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Ersatzteil-Disposition</a:t>
            </a:r>
            <a:endParaRPr lang="en-US" sz="1200" dirty="0"/>
          </a:p>
        </p:txBody>
      </p:sp>
      <p:sp>
        <p:nvSpPr>
          <p:cNvPr id="21" name="Text 15"/>
          <p:cNvSpPr txBox="1"/>
          <p:nvPr/>
        </p:nvSpPr>
        <p:spPr>
          <a:xfrm>
            <a:off x="484632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6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Teiledisponent, Bestandsplaner, Einkäufer, Wareneingang, Retourenbearbeiter</a:t>
            </a:r>
            <a:endParaRPr lang="en-US" sz="1000" dirty="0"/>
          </a:p>
          <a:p>
            <a:pPr marL="0" indent="0">
              <a:buNone/>
            </a:pPr>
            <a:endParaRPr lang="en-US" sz="1000" dirty="0"/>
          </a:p>
          <a:p>
            <a:pPr marL="0" indent="0">
              <a:buNone/>
            </a:pPr>
            <a:r>
              <a:rPr lang="en-US" sz="1000" dirty="0" err="1">
                <a:solidFill>
                  <a:srgbClr val="1B2430"/>
                </a:solidFill>
                <a:latin typeface="Calibri" pitchFamily="34" charset="0"/>
                <a:ea typeface="Calibri" pitchFamily="34" charset="-122"/>
                <a:cs typeface="Calibri" pitchFamily="34" charset="-120"/>
              </a:rPr>
              <a:t>Lieferant</a:t>
            </a:r>
            <a:r>
              <a:rPr lang="en-US" sz="1000" dirty="0">
                <a:solidFill>
                  <a:srgbClr val="1B2430"/>
                </a:solidFill>
                <a:latin typeface="Calibri" pitchFamily="34" charset="0"/>
                <a:ea typeface="Calibri" pitchFamily="34" charset="-122"/>
                <a:cs typeface="Calibri" pitchFamily="34" charset="-120"/>
              </a:rPr>
              <a:t>: Black Box, </a:t>
            </a:r>
            <a:r>
              <a:rPr lang="en-US" sz="1000" dirty="0" err="1">
                <a:solidFill>
                  <a:srgbClr val="1B2430"/>
                </a:solidFill>
                <a:latin typeface="Calibri" pitchFamily="34" charset="0"/>
                <a:ea typeface="Calibri" pitchFamily="34" charset="-122"/>
                <a:cs typeface="Calibri" pitchFamily="34" charset="-120"/>
              </a:rPr>
              <a:t>kein</a:t>
            </a:r>
            <a:r>
              <a:rPr lang="en-US" sz="1000" dirty="0">
                <a:solidFill>
                  <a:srgbClr val="1B2430"/>
                </a:solidFill>
                <a:latin typeface="Calibri" pitchFamily="34" charset="0"/>
                <a:ea typeface="Calibri" pitchFamily="34" charset="-122"/>
                <a:cs typeface="Calibri" pitchFamily="34" charset="-120"/>
              </a:rPr>
              <a:t> </a:t>
            </a:r>
            <a:r>
              <a:rPr lang="en-US" sz="1000" dirty="0" err="1">
                <a:solidFill>
                  <a:srgbClr val="1B2430"/>
                </a:solidFill>
                <a:latin typeface="Calibri" pitchFamily="34" charset="0"/>
                <a:ea typeface="Calibri" pitchFamily="34" charset="-122"/>
                <a:cs typeface="Calibri" pitchFamily="34" charset="-120"/>
              </a:rPr>
              <a:t>Akteur</a:t>
            </a:r>
            <a:endParaRPr lang="en-US" sz="1000" dirty="0"/>
          </a:p>
        </p:txBody>
      </p:sp>
      <p:sp>
        <p:nvSpPr>
          <p:cNvPr id="22" name="Shape 16"/>
          <p:cNvSpPr/>
          <p:nvPr/>
        </p:nvSpPr>
        <p:spPr>
          <a:xfrm>
            <a:off x="6766560" y="1600200"/>
            <a:ext cx="1920240" cy="2971800"/>
          </a:xfrm>
          <a:prstGeom prst="roundRect">
            <a:avLst>
              <a:gd name="adj" fmla="val 3810"/>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694944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7063740" y="1897380"/>
            <a:ext cx="228600" cy="228600"/>
          </a:xfrm>
          <a:prstGeom prst="rect">
            <a:avLst/>
          </a:prstGeom>
        </p:spPr>
      </p:pic>
      <p:sp>
        <p:nvSpPr>
          <p:cNvPr id="25" name="Text 18"/>
          <p:cNvSpPr txBox="1"/>
          <p:nvPr/>
        </p:nvSpPr>
        <p:spPr>
          <a:xfrm>
            <a:off x="7543800" y="1764792"/>
            <a:ext cx="100584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Administration</a:t>
            </a:r>
            <a:endParaRPr lang="en-US" sz="1200" dirty="0"/>
          </a:p>
        </p:txBody>
      </p:sp>
      <p:sp>
        <p:nvSpPr>
          <p:cNvPr id="26" name="Text 19"/>
          <p:cNvSpPr txBox="1"/>
          <p:nvPr/>
        </p:nvSpPr>
        <p:spPr>
          <a:xfrm>
            <a:off x="6949440" y="2331720"/>
            <a:ext cx="155448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1 Use Case</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Betriebsadministrator: Werkstattbetrieb und Filialen verwalten (Mandant)</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Rolle → Mitarbeitertyp → Lane: Tabelle 7 der Doku</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Datenmodell: fünf Entwurfsentscheidungen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12</a:t>
            </a:r>
            <a:endParaRPr lang="en-US" sz="900" dirty="0"/>
          </a:p>
        </p:txBody>
      </p:sp>
      <p:sp>
        <p:nvSpPr>
          <p:cNvPr id="6" name="Shape 3"/>
          <p:cNvSpPr/>
          <p:nvPr/>
        </p:nvSpPr>
        <p:spPr>
          <a:xfrm>
            <a:off x="45720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Reparaturauftrag als Aggregatwurzel</a:t>
            </a:r>
            <a:endParaRPr lang="en-US" sz="1400" dirty="0"/>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Befund und Reparaturschritte sind Kompositionen; KVA und Gerät nur zugeordnet, weil der Vorab-KVA vor dem Auftrag entsteht.</a:t>
            </a:r>
            <a:endParaRPr lang="en-US" sz="1000" dirty="0"/>
          </a:p>
        </p:txBody>
      </p:sp>
      <p:sp>
        <p:nvSpPr>
          <p:cNvPr id="11" name="Shape 7"/>
          <p:cNvSpPr/>
          <p:nvPr/>
        </p:nvSpPr>
        <p:spPr>
          <a:xfrm>
            <a:off x="470916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Lagerbestand je Filiale</a:t>
            </a:r>
            <a:endParaRPr lang="en-US" sz="1400" dirty="0"/>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Eigene Klasse zwischen Ersatzteil und Filiale. Nur so lässt sich die Verfügbarkeit über alle Filialen prüfen.</a:t>
            </a:r>
            <a:endParaRPr lang="en-US" sz="1000" dirty="0"/>
          </a:p>
        </p:txBody>
      </p:sp>
      <p:sp>
        <p:nvSpPr>
          <p:cNvPr id="16" name="Shape 11"/>
          <p:cNvSpPr/>
          <p:nvPr/>
        </p:nvSpPr>
        <p:spPr>
          <a:xfrm>
            <a:off x="45720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Reservierung mit Lebenszyklus</a:t>
            </a:r>
            <a:endParaRPr lang="en-US" sz="1400" dirty="0"/>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vorreserviert, reserviert, entnommen, storniert: eine Beziehung mit eigenen Daten wird zur Klasse.</a:t>
            </a:r>
            <a:endParaRPr lang="en-US" sz="1000" dirty="0"/>
          </a:p>
        </p:txBody>
      </p:sp>
      <p:sp>
        <p:nvSpPr>
          <p:cNvPr id="21" name="Shape 15"/>
          <p:cNvSpPr/>
          <p:nvPr/>
        </p:nvSpPr>
        <p:spPr>
          <a:xfrm>
            <a:off x="470916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Mandant und Mitarbeitertypen</a:t>
            </a:r>
            <a:endParaRPr lang="en-US" sz="1400" dirty="0"/>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Werkstattbetrieb als Mandant; Servicemitarbeiter, Techniker, Disponent, Werkstattleiter als Unterklassen von Mitarbeiter, passend zu Lanes und Rollen.</a:t>
            </a:r>
            <a:endParaRPr lang="en-US" sz="1000" dirty="0"/>
          </a:p>
        </p:txBody>
      </p:sp>
      <p:sp>
        <p:nvSpPr>
          <p:cNvPr id="26" name="Shape 19"/>
          <p:cNvSpPr/>
          <p:nvPr/>
        </p:nvSpPr>
        <p:spPr>
          <a:xfrm>
            <a:off x="457200" y="3438144"/>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640080" y="3621024"/>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Klassen für die Sofortdiagnose</a:t>
            </a:r>
            <a:endParaRPr lang="en-US" sz="1400" dirty="0"/>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Voranmeldung, Medienanhang und KIDiagnosevorschlag tragen das Alleinstellungsmerkmal im Modell.</a:t>
            </a:r>
            <a:endParaRPr lang="en-US" sz="1000" dirty="0"/>
          </a:p>
        </p:txBody>
      </p:sp>
      <p:sp>
        <p:nvSpPr>
          <p:cNvPr id="31" name="Shape 23"/>
          <p:cNvSpPr/>
          <p:nvPr/>
        </p:nvSpPr>
        <p:spPr>
          <a:xfrm>
            <a:off x="4709160" y="3438144"/>
            <a:ext cx="3977640" cy="1115568"/>
          </a:xfrm>
          <a:prstGeom prst="roundRect">
            <a:avLst>
              <a:gd name="adj" fmla="val 6557"/>
            </a:avLst>
          </a:prstGeom>
          <a:solidFill>
            <a:srgbClr val="0E5E5E"/>
          </a:solidFill>
          <a:ln w="12700">
            <a:solidFill>
              <a:srgbClr val="0E5E5E"/>
            </a:solidFill>
            <a:prstDash val="solid"/>
          </a:ln>
        </p:spPr>
        <p:txBody>
          <a:bodyPr/>
          <a:lstStyle/>
          <a:p>
            <a:endParaRPr lang="de-DE"/>
          </a:p>
        </p:txBody>
      </p:sp>
      <p:sp>
        <p:nvSpPr>
          <p:cNvPr id="32" name="Text 24"/>
          <p:cNvSpPr txBox="1"/>
          <p:nvPr/>
        </p:nvSpPr>
        <p:spPr>
          <a:xfrm>
            <a:off x="4892040" y="3474720"/>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27 Klassen · 36 Assoziationen · 7 Aufzählungen</a:t>
            </a:r>
            <a:endParaRPr lang="en-US" sz="1050" dirty="0"/>
          </a:p>
          <a:p>
            <a:pPr marL="0" indent="0">
              <a:buNone/>
            </a:pPr>
            <a:r>
              <a:rPr lang="en-US" sz="1050" dirty="0">
                <a:solidFill>
                  <a:srgbClr val="FFFFFF"/>
                </a:solidFill>
                <a:latin typeface="Calibri" pitchFamily="34" charset="0"/>
                <a:ea typeface="Calibri" pitchFamily="34" charset="-122"/>
                <a:cs typeface="Calibri" pitchFamily="34" charset="-120"/>
              </a:rPr>
              <a:t>Botschaft = Operation: Die sechs Sequenzdiagramme verwenden ausschließlich Operationen dieser Klassen. Der Reparaturauftrag führt den Status als Attribut, das Zustandsdiagramm beschreibt seine Übergänge.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Vorgehen und Projektmanagement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sp>
        <p:nvSpPr>
          <p:cNvPr id="6" name="Shape 3"/>
          <p:cNvSpPr/>
          <p:nvPr/>
        </p:nvSpPr>
        <p:spPr>
          <a:xfrm>
            <a:off x="4572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566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Themenwahl</a:t>
            </a:r>
            <a:endParaRPr lang="en-US" sz="900" dirty="0"/>
          </a:p>
        </p:txBody>
      </p:sp>
      <p:sp>
        <p:nvSpPr>
          <p:cNvPr id="8" name="Shape 5"/>
          <p:cNvSpPr/>
          <p:nvPr/>
        </p:nvSpPr>
        <p:spPr>
          <a:xfrm>
            <a:off x="18288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9" name="Text 6"/>
          <p:cNvSpPr txBox="1"/>
          <p:nvPr/>
        </p:nvSpPr>
        <p:spPr>
          <a:xfrm>
            <a:off x="19385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Konzept + Feedback</a:t>
            </a:r>
            <a:endParaRPr lang="en-US" sz="900" dirty="0"/>
          </a:p>
        </p:txBody>
      </p:sp>
      <p:sp>
        <p:nvSpPr>
          <p:cNvPr id="10" name="Shape 7"/>
          <p:cNvSpPr/>
          <p:nvPr/>
        </p:nvSpPr>
        <p:spPr>
          <a:xfrm>
            <a:off x="32004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1" name="Text 8"/>
          <p:cNvSpPr txBox="1"/>
          <p:nvPr/>
        </p:nvSpPr>
        <p:spPr>
          <a:xfrm>
            <a:off x="33101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Prozessanalyse</a:t>
            </a:r>
            <a:endParaRPr lang="en-US" sz="900" dirty="0"/>
          </a:p>
        </p:txBody>
      </p:sp>
      <p:sp>
        <p:nvSpPr>
          <p:cNvPr id="12" name="Shape 9"/>
          <p:cNvSpPr/>
          <p:nvPr/>
        </p:nvSpPr>
        <p:spPr>
          <a:xfrm>
            <a:off x="45720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3" name="Text 10"/>
          <p:cNvSpPr txBox="1"/>
          <p:nvPr/>
        </p:nvSpPr>
        <p:spPr>
          <a:xfrm>
            <a:off x="46817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BPMN</a:t>
            </a:r>
            <a:endParaRPr lang="en-US" sz="900" dirty="0"/>
          </a:p>
        </p:txBody>
      </p:sp>
      <p:sp>
        <p:nvSpPr>
          <p:cNvPr id="14" name="Shape 11"/>
          <p:cNvSpPr/>
          <p:nvPr/>
        </p:nvSpPr>
        <p:spPr>
          <a:xfrm>
            <a:off x="59436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5" name="Text 12"/>
          <p:cNvSpPr txBox="1"/>
          <p:nvPr/>
        </p:nvSpPr>
        <p:spPr>
          <a:xfrm>
            <a:off x="60533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OOA (UML)</a:t>
            </a:r>
            <a:endParaRPr lang="en-US" sz="900" dirty="0"/>
          </a:p>
        </p:txBody>
      </p:sp>
      <p:sp>
        <p:nvSpPr>
          <p:cNvPr id="16" name="Shape 13"/>
          <p:cNvSpPr/>
          <p:nvPr/>
        </p:nvSpPr>
        <p:spPr>
          <a:xfrm>
            <a:off x="73152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7" name="Text 14"/>
          <p:cNvSpPr txBox="1"/>
          <p:nvPr/>
        </p:nvSpPr>
        <p:spPr>
          <a:xfrm>
            <a:off x="7424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Doku + Präsentation</a:t>
            </a:r>
            <a:endParaRPr lang="en-US" sz="900" dirty="0"/>
          </a:p>
        </p:txBody>
      </p:sp>
      <p:sp>
        <p:nvSpPr>
          <p:cNvPr id="18" name="Shape 15"/>
          <p:cNvSpPr/>
          <p:nvPr/>
        </p:nvSpPr>
        <p:spPr>
          <a:xfrm>
            <a:off x="45720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9" name="Shape 16"/>
          <p:cNvSpPr/>
          <p:nvPr/>
        </p:nvSpPr>
        <p:spPr>
          <a:xfrm>
            <a:off x="64008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0" descr="preencoded.png"/>
          <p:cNvPicPr>
            <a:picLocks noChangeAspect="1"/>
          </p:cNvPicPr>
          <p:nvPr/>
        </p:nvPicPr>
        <p:blipFill>
          <a:blip r:embed="rId3"/>
          <a:stretch>
            <a:fillRect/>
          </a:stretch>
        </p:blipFill>
        <p:spPr>
          <a:xfrm>
            <a:off x="754380" y="2080260"/>
            <a:ext cx="228600" cy="228600"/>
          </a:xfrm>
          <a:prstGeom prst="rect">
            <a:avLst/>
          </a:prstGeom>
        </p:spPr>
      </p:pic>
      <p:sp>
        <p:nvSpPr>
          <p:cNvPr id="21" name="Text 17"/>
          <p:cNvSpPr txBox="1"/>
          <p:nvPr/>
        </p:nvSpPr>
        <p:spPr>
          <a:xfrm>
            <a:off x="123444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Rollen</a:t>
            </a:r>
            <a:endParaRPr lang="en-US" sz="1400" dirty="0"/>
          </a:p>
        </p:txBody>
      </p:sp>
      <p:sp>
        <p:nvSpPr>
          <p:cNvPr id="22" name="Text 18"/>
          <p:cNvSpPr txBox="1"/>
          <p:nvPr/>
        </p:nvSpPr>
        <p:spPr>
          <a:xfrm>
            <a:off x="64008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Projektleitung Nina (Stellvertretung und Backups David), Product Owner Adrian, Scrum Master Kilian, UML Kilian und David, BPMN Maximilian, Qualität Jakob.</a:t>
            </a:r>
            <a:endParaRPr lang="en-US" sz="1150" dirty="0"/>
          </a:p>
        </p:txBody>
      </p:sp>
      <p:sp>
        <p:nvSpPr>
          <p:cNvPr id="23" name="Shape 19"/>
          <p:cNvSpPr/>
          <p:nvPr/>
        </p:nvSpPr>
        <p:spPr>
          <a:xfrm>
            <a:off x="324612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4" name="Shape 20"/>
          <p:cNvSpPr/>
          <p:nvPr/>
        </p:nvSpPr>
        <p:spPr>
          <a:xfrm>
            <a:off x="342900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1" descr="preencoded.png"/>
          <p:cNvPicPr>
            <a:picLocks noChangeAspect="1"/>
          </p:cNvPicPr>
          <p:nvPr/>
        </p:nvPicPr>
        <p:blipFill>
          <a:blip r:embed="rId4"/>
          <a:stretch>
            <a:fillRect/>
          </a:stretch>
        </p:blipFill>
        <p:spPr>
          <a:xfrm>
            <a:off x="3543300" y="2080260"/>
            <a:ext cx="228600" cy="228600"/>
          </a:xfrm>
          <a:prstGeom prst="rect">
            <a:avLst/>
          </a:prstGeom>
        </p:spPr>
      </p:pic>
      <p:sp>
        <p:nvSpPr>
          <p:cNvPr id="26" name="Text 21"/>
          <p:cNvSpPr txBox="1"/>
          <p:nvPr/>
        </p:nvSpPr>
        <p:spPr>
          <a:xfrm>
            <a:off x="402336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Zusammenarbeit</a:t>
            </a:r>
            <a:endParaRPr lang="en-US" sz="1400" dirty="0"/>
          </a:p>
        </p:txBody>
      </p:sp>
      <p:sp>
        <p:nvSpPr>
          <p:cNvPr id="27" name="Text 22"/>
          <p:cNvSpPr txBox="1"/>
          <p:nvPr/>
        </p:nvSpPr>
        <p:spPr>
          <a:xfrm>
            <a:off x="342900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Scrum im Takt der vier Gruppentermine, Trello-Board mit einer Liste je Termin und einer Karte je Person und Aufgabe, Prüfung jedes Diagramms im Zweierteam, GitHub mit Branches, Pull Requests und Review.</a:t>
            </a:r>
            <a:endParaRPr lang="en-US" sz="1150" dirty="0"/>
          </a:p>
        </p:txBody>
      </p:sp>
      <p:sp>
        <p:nvSpPr>
          <p:cNvPr id="28" name="Shape 23"/>
          <p:cNvSpPr/>
          <p:nvPr/>
        </p:nvSpPr>
        <p:spPr>
          <a:xfrm>
            <a:off x="603504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9" name="Shape 24"/>
          <p:cNvSpPr/>
          <p:nvPr/>
        </p:nvSpPr>
        <p:spPr>
          <a:xfrm>
            <a:off x="621792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30" name="Image 2" descr="preencoded.png"/>
          <p:cNvPicPr>
            <a:picLocks noChangeAspect="1"/>
          </p:cNvPicPr>
          <p:nvPr/>
        </p:nvPicPr>
        <p:blipFill>
          <a:blip r:embed="rId5"/>
          <a:stretch>
            <a:fillRect/>
          </a:stretch>
        </p:blipFill>
        <p:spPr>
          <a:xfrm>
            <a:off x="6332220" y="2080260"/>
            <a:ext cx="228600" cy="228600"/>
          </a:xfrm>
          <a:prstGeom prst="rect">
            <a:avLst/>
          </a:prstGeom>
        </p:spPr>
      </p:pic>
      <p:sp>
        <p:nvSpPr>
          <p:cNvPr id="31" name="Text 25"/>
          <p:cNvSpPr txBox="1"/>
          <p:nvPr/>
        </p:nvSpPr>
        <p:spPr>
          <a:xfrm>
            <a:off x="681228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Meilensteine</a:t>
            </a:r>
            <a:endParaRPr lang="en-US" sz="1400" dirty="0"/>
          </a:p>
        </p:txBody>
      </p:sp>
      <p:sp>
        <p:nvSpPr>
          <p:cNvPr id="32" name="Text 26"/>
          <p:cNvSpPr txBox="1"/>
          <p:nvPr/>
        </p:nvSpPr>
        <p:spPr>
          <a:xfrm>
            <a:off x="621792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02.09. alle Diagramme im Entwurf, 05.10. Korrekturen aus zwei Gesamtprüfungen, 15.10. Rollenstruktur und Zuständigkeiten, 22.10. Generalprobe, 27.10. Präsentation, 13.11. Abgabe.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Qualität: Konventionen, Linter, Konsistenz</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sp>
        <p:nvSpPr>
          <p:cNvPr id="6" name="Shape 3"/>
          <p:cNvSpPr/>
          <p:nvPr/>
        </p:nvSpPr>
        <p:spPr>
          <a:xfrm>
            <a:off x="45720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Konventionen</a:t>
            </a:r>
            <a:endParaRPr lang="en-US" sz="1400" dirty="0"/>
          </a:p>
        </p:txBody>
      </p:sp>
      <p:sp>
        <p:nvSpPr>
          <p:cNvPr id="10" name="Text 6"/>
          <p:cNvSpPr txBox="1"/>
          <p:nvPr/>
        </p:nvSpPr>
        <p:spPr>
          <a:xfrm>
            <a:off x="64008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Datenobjekte tragen Klassennamen. Aktivität = Verb + Objekt, Ereignis im Partizip Perfekt. Jede Rolle gehört zu genau einer Lane und einer Klasse. Statuswerte in allen Modellen identisch.</a:t>
            </a:r>
            <a:endParaRPr lang="en-US" sz="1050" dirty="0"/>
          </a:p>
        </p:txBody>
      </p:sp>
      <p:sp>
        <p:nvSpPr>
          <p:cNvPr id="11" name="Shape 7"/>
          <p:cNvSpPr/>
          <p:nvPr/>
        </p:nvSpPr>
        <p:spPr>
          <a:xfrm>
            <a:off x="324612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Werkzeuge</a:t>
            </a:r>
            <a:endParaRPr lang="en-US" sz="1400" dirty="0"/>
          </a:p>
        </p:txBody>
      </p:sp>
      <p:sp>
        <p:nvSpPr>
          <p:cNvPr id="15" name="Text 10"/>
          <p:cNvSpPr txBox="1"/>
          <p:nvPr/>
        </p:nvSpPr>
        <p:spPr>
          <a:xfrm>
            <a:off x="342900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BPMN-Dateien angereichert für Camunda 8: Task-Definitionen, Subscriptions, Timer, FEEL-Bedingungen. Camunda-Linter und bpmnlint: 0 Befunde.</a:t>
            </a:r>
            <a:endParaRPr lang="en-US" sz="1050" dirty="0"/>
          </a:p>
        </p:txBody>
      </p:sp>
      <p:sp>
        <p:nvSpPr>
          <p:cNvPr id="16" name="Shape 11"/>
          <p:cNvSpPr/>
          <p:nvPr/>
        </p:nvSpPr>
        <p:spPr>
          <a:xfrm>
            <a:off x="603504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Prüfrunden</a:t>
            </a:r>
            <a:endParaRPr lang="en-US" sz="1400" dirty="0"/>
          </a:p>
        </p:txBody>
      </p:sp>
      <p:sp>
        <p:nvSpPr>
          <p:cNvPr id="20" name="Text 14"/>
          <p:cNvSpPr txBox="1"/>
          <p:nvPr/>
        </p:nvSpPr>
        <p:spPr>
          <a:xfrm>
            <a:off x="621792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Gesamtprüfung 26.09., zweite Prüfrunde 05.10., QA-Abgleich 08.10. Jeder Pull Request wird gegen die QA-Checkliste geprüft, bevor er gemergt wird.</a:t>
            </a:r>
            <a:endParaRPr lang="en-US" sz="1050" dirty="0"/>
          </a:p>
        </p:txBody>
      </p:sp>
      <p:sp>
        <p:nvSpPr>
          <p:cNvPr id="21" name="Shape 15"/>
          <p:cNvSpPr/>
          <p:nvPr/>
        </p:nvSpPr>
        <p:spPr>
          <a:xfrm>
            <a:off x="457200" y="3429000"/>
            <a:ext cx="8229600" cy="1143000"/>
          </a:xfrm>
          <a:prstGeom prst="roundRect">
            <a:avLst>
              <a:gd name="adj" fmla="val 6400"/>
            </a:avLst>
          </a:prstGeom>
          <a:solidFill>
            <a:srgbClr val="FFF4D6"/>
          </a:solidFill>
          <a:ln w="12700">
            <a:solidFill>
              <a:srgbClr val="FFF4D6"/>
            </a:solidFill>
            <a:prstDash val="solid"/>
          </a:ln>
        </p:spPr>
        <p:txBody>
          <a:bodyPr/>
          <a:lstStyle/>
          <a:p>
            <a:endParaRPr lang="de-DE"/>
          </a:p>
        </p:txBody>
      </p:sp>
      <p:sp>
        <p:nvSpPr>
          <p:cNvPr id="22" name="Shape 16"/>
          <p:cNvSpPr/>
          <p:nvPr/>
        </p:nvSpPr>
        <p:spPr>
          <a:xfrm>
            <a:off x="640080" y="36118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754380" y="3726180"/>
            <a:ext cx="228600" cy="228600"/>
          </a:xfrm>
          <a:prstGeom prst="rect">
            <a:avLst/>
          </a:prstGeom>
        </p:spPr>
      </p:pic>
      <p:sp>
        <p:nvSpPr>
          <p:cNvPr id="24" name="Text 17"/>
          <p:cNvSpPr txBox="1"/>
          <p:nvPr/>
        </p:nvSpPr>
        <p:spPr>
          <a:xfrm>
            <a:off x="1234440" y="347472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Beispiel: </a:t>
            </a:r>
            <a:r>
              <a:rPr lang="en-US" sz="1100" dirty="0">
                <a:solidFill>
                  <a:srgbClr val="1B2430"/>
                </a:solidFill>
                <a:latin typeface="Calibri" pitchFamily="34" charset="0"/>
                <a:ea typeface="Calibri" pitchFamily="34" charset="-122"/>
                <a:cs typeface="Calibri" pitchFamily="34" charset="-120"/>
              </a:rPr>
              <a:t>Als die Nacharbeit in Prozess 07 auf zwei Durchläufe begrenzt wurde, musste Sequenzdiagramm SD4 nachziehen (loop 0..2, danach Status abgelehnt). Genau solche Stellen findet die Checkliste: Botschaft = Operation, Lebenslinie = Rolle oder Klasse, Zustand = AuftragStatus.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Herausforderungen und Lernerfahrungen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sp>
        <p:nvSpPr>
          <p:cNvPr id="6" name="Shape 3"/>
          <p:cNvSpPr/>
          <p:nvPr/>
        </p:nvSpPr>
        <p:spPr>
          <a:xfrm>
            <a:off x="45720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Perspektive klären</a:t>
            </a:r>
            <a:endParaRPr lang="en-US" sz="1400" dirty="0"/>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1" name="Shape 7"/>
          <p:cNvSpPr/>
          <p:nvPr/>
        </p:nvSpPr>
        <p:spPr>
          <a:xfrm>
            <a:off x="470916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Modelle, ein Vokabular</a:t>
            </a:r>
            <a:endParaRPr lang="en-US" sz="1400" dirty="0"/>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6" name="Shape 11"/>
          <p:cNvSpPr/>
          <p:nvPr/>
        </p:nvSpPr>
        <p:spPr>
          <a:xfrm>
            <a:off x="45720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Engine-ready statt Fehlerliste</a:t>
            </a:r>
            <a:endParaRPr lang="en-US" sz="1400" dirty="0"/>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1" name="Shape 15"/>
          <p:cNvSpPr/>
          <p:nvPr/>
        </p:nvSpPr>
        <p:spPr>
          <a:xfrm>
            <a:off x="470916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Hinweise von außen nutzen</a:t>
            </a:r>
            <a:endParaRPr lang="en-US" sz="1400" dirty="0"/>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Geschäftsmodell und Ausblick</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16</a:t>
            </a:r>
            <a:endParaRPr lang="en-US" sz="900" dirty="0"/>
          </a:p>
        </p:txBody>
      </p:sp>
      <p:sp>
        <p:nvSpPr>
          <p:cNvPr id="6" name="Shape 3"/>
          <p:cNvSpPr/>
          <p:nvPr/>
        </p:nvSpPr>
        <p:spPr>
          <a:xfrm>
            <a:off x="45720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Abo je Filiale</a:t>
            </a:r>
            <a:endParaRPr lang="en-US" sz="1400" dirty="0"/>
          </a:p>
        </p:txBody>
      </p:sp>
      <p:sp>
        <p:nvSpPr>
          <p:cNvPr id="10" name="Text 6"/>
          <p:cNvSpPr txBox="1"/>
          <p:nvPr/>
        </p:nvSpPr>
        <p:spPr>
          <a:xfrm>
            <a:off x="64008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Basis: Auftrags- und Kundenverwaltung mit Kundenportal. Pro: zusätzlich filialübergreifende Disposition und KI-Sofortdiagnose.</a:t>
            </a:r>
            <a:endParaRPr lang="en-US" sz="1150" dirty="0"/>
          </a:p>
        </p:txBody>
      </p:sp>
      <p:sp>
        <p:nvSpPr>
          <p:cNvPr id="11" name="Shape 7"/>
          <p:cNvSpPr/>
          <p:nvPr/>
        </p:nvSpPr>
        <p:spPr>
          <a:xfrm>
            <a:off x="470916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Zielkunden</a:t>
            </a:r>
            <a:endParaRPr lang="en-US" sz="1400" dirty="0"/>
          </a:p>
        </p:txBody>
      </p:sp>
      <p:sp>
        <p:nvSpPr>
          <p:cNvPr id="15" name="Text 10"/>
          <p:cNvSpPr txBox="1"/>
          <p:nvPr/>
        </p:nvSpPr>
        <p:spPr>
          <a:xfrm>
            <a:off x="489204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Unabhängige Werkstätten und kleine Ketten mit 2 bis 10 Filialen im DACH-Raum, für die ein großes Werkstattsystem zu schwer ist.</a:t>
            </a:r>
            <a:endParaRPr lang="en-US" sz="1150" dirty="0"/>
          </a:p>
        </p:txBody>
      </p:sp>
      <p:sp>
        <p:nvSpPr>
          <p:cNvPr id="16" name="Text 11"/>
          <p:cNvSpPr txBox="1"/>
          <p:nvPr/>
        </p:nvSpPr>
        <p:spPr>
          <a:xfrm>
            <a:off x="457200" y="2743200"/>
            <a:ext cx="822960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Ausblick (Vision, nicht modelliert)</a:t>
            </a:r>
            <a:endParaRPr lang="en-US" sz="1300" dirty="0"/>
          </a:p>
        </p:txBody>
      </p:sp>
      <p:sp>
        <p:nvSpPr>
          <p:cNvPr id="17" name="Shape 12"/>
          <p:cNvSpPr/>
          <p:nvPr/>
        </p:nvSpPr>
        <p:spPr>
          <a:xfrm>
            <a:off x="45720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18" name="Shape 13"/>
          <p:cNvSpPr/>
          <p:nvPr/>
        </p:nvSpPr>
        <p:spPr>
          <a:xfrm>
            <a:off x="64008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360420"/>
            <a:ext cx="228600" cy="228600"/>
          </a:xfrm>
          <a:prstGeom prst="rect">
            <a:avLst/>
          </a:prstGeom>
        </p:spPr>
      </p:pic>
      <p:sp>
        <p:nvSpPr>
          <p:cNvPr id="20" name="Text 14"/>
          <p:cNvSpPr txBox="1"/>
          <p:nvPr/>
        </p:nvSpPr>
        <p:spPr>
          <a:xfrm>
            <a:off x="123444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Predictive Disposition</a:t>
            </a:r>
            <a:endParaRPr lang="en-US" sz="1400" dirty="0"/>
          </a:p>
        </p:txBody>
      </p:sp>
      <p:sp>
        <p:nvSpPr>
          <p:cNvPr id="21" name="Text 15"/>
          <p:cNvSpPr txBox="1"/>
          <p:nvPr/>
        </p:nvSpPr>
        <p:spPr>
          <a:xfrm>
            <a:off x="64008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Bedarfsprognose je Filiale und Saison, damit Teile vor der Nachfrage im Lager liegen.</a:t>
            </a:r>
            <a:endParaRPr lang="en-US" sz="1050" dirty="0"/>
          </a:p>
        </p:txBody>
      </p:sp>
      <p:sp>
        <p:nvSpPr>
          <p:cNvPr id="22" name="Shape 16"/>
          <p:cNvSpPr/>
          <p:nvPr/>
        </p:nvSpPr>
        <p:spPr>
          <a:xfrm>
            <a:off x="324612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3" name="Shape 17"/>
          <p:cNvSpPr/>
          <p:nvPr/>
        </p:nvSpPr>
        <p:spPr>
          <a:xfrm>
            <a:off x="342900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3543300" y="3360420"/>
            <a:ext cx="228600" cy="228600"/>
          </a:xfrm>
          <a:prstGeom prst="rect">
            <a:avLst/>
          </a:prstGeom>
        </p:spPr>
      </p:pic>
      <p:sp>
        <p:nvSpPr>
          <p:cNvPr id="25" name="Text 18"/>
          <p:cNvSpPr txBox="1"/>
          <p:nvPr/>
        </p:nvSpPr>
        <p:spPr>
          <a:xfrm>
            <a:off x="402336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Techniker-Copilot</a:t>
            </a:r>
            <a:endParaRPr lang="en-US" sz="1400" dirty="0"/>
          </a:p>
        </p:txBody>
      </p:sp>
      <p:sp>
        <p:nvSpPr>
          <p:cNvPr id="26" name="Text 19"/>
          <p:cNvSpPr txBox="1"/>
          <p:nvPr/>
        </p:nvSpPr>
        <p:spPr>
          <a:xfrm>
            <a:off x="342900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Reparaturschritte und Aufwand aus der Historie ähnlicher Aufträge vorschlagen.</a:t>
            </a:r>
            <a:endParaRPr lang="en-US" sz="1050" dirty="0"/>
          </a:p>
        </p:txBody>
      </p:sp>
      <p:sp>
        <p:nvSpPr>
          <p:cNvPr id="27" name="Shape 20"/>
          <p:cNvSpPr/>
          <p:nvPr/>
        </p:nvSpPr>
        <p:spPr>
          <a:xfrm>
            <a:off x="603504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8" name="Shape 21"/>
          <p:cNvSpPr/>
          <p:nvPr/>
        </p:nvSpPr>
        <p:spPr>
          <a:xfrm>
            <a:off x="621792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9" name="Image 4" descr="preencoded.png"/>
          <p:cNvPicPr>
            <a:picLocks noChangeAspect="1"/>
          </p:cNvPicPr>
          <p:nvPr/>
        </p:nvPicPr>
        <p:blipFill>
          <a:blip r:embed="rId7"/>
          <a:stretch>
            <a:fillRect/>
          </a:stretch>
        </p:blipFill>
        <p:spPr>
          <a:xfrm>
            <a:off x="6332220" y="3360420"/>
            <a:ext cx="228600" cy="228600"/>
          </a:xfrm>
          <a:prstGeom prst="rect">
            <a:avLst/>
          </a:prstGeom>
        </p:spPr>
      </p:pic>
      <p:sp>
        <p:nvSpPr>
          <p:cNvPr id="30" name="Text 22"/>
          <p:cNvSpPr txBox="1"/>
          <p:nvPr/>
        </p:nvSpPr>
        <p:spPr>
          <a:xfrm>
            <a:off x="681228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Digitale Geräteakte</a:t>
            </a:r>
            <a:endParaRPr lang="en-US" sz="1400" dirty="0"/>
          </a:p>
        </p:txBody>
      </p:sp>
      <p:sp>
        <p:nvSpPr>
          <p:cNvPr id="31" name="Text 23"/>
          <p:cNvSpPr txBox="1"/>
          <p:nvPr/>
        </p:nvSpPr>
        <p:spPr>
          <a:xfrm>
            <a:off x="621792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Jedes Gerät behält seine Reparaturgeschichte über alle Filialen und Besitzer.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Fazit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17</a:t>
            </a:r>
            <a:endParaRPr lang="en-US" sz="900" dirty="0"/>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RepairFlow löst den Medienbruch aus Papier, Excel und Telefon und macht den Reparaturauftrag zum zentralen Zustandsautomaten.</a:t>
            </a:r>
            <a:endParaRPr lang="en-US" sz="1600" dirty="0"/>
          </a:p>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Der fachliche Mehrwert liegt in der filialübergreifenden Disposition und in der KI-Sofortdiagnose, die dem Kunden Klarheit gibt, bevor er die Werkstatt betritt.</a:t>
            </a:r>
            <a:endParaRPr lang="en-US" sz="1600" dirty="0"/>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Vielen Dank</a:t>
            </a:r>
            <a:endParaRPr lang="en-US" sz="4000" dirty="0"/>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Calibri" pitchFamily="34" charset="0"/>
                <a:ea typeface="Calibri" pitchFamily="34" charset="-122"/>
                <a:cs typeface="Calibri" pitchFamily="34" charset="-120"/>
              </a:rPr>
              <a:t>Fragen?</a:t>
            </a:r>
            <a:endParaRPr lang="en-US" sz="2200" dirty="0"/>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Gruppe 1 · WWI25B4 · RepairFlow · Diagramme und Details in der Projektdokumentation</a:t>
            </a:r>
            <a:endParaRPr lang="en-US" sz="1200" dirty="0"/>
          </a:p>
        </p:txBody>
      </p:sp>
      <p:sp>
        <p:nvSpPr>
          <p:cNvPr id="10" name="Shape 7"/>
          <p:cNvSpPr/>
          <p:nvPr/>
        </p:nvSpPr>
        <p:spPr>
          <a:xfrm>
            <a:off x="7315200" y="283464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1" name="Image 0" descr="preencoded.png"/>
          <p:cNvPicPr>
            <a:picLocks noChangeAspect="1"/>
          </p:cNvPicPr>
          <p:nvPr/>
        </p:nvPicPr>
        <p:blipFill>
          <a:blip r:embed="rId3"/>
          <a:stretch>
            <a:fillRect/>
          </a:stretch>
        </p:blipFill>
        <p:spPr>
          <a:xfrm>
            <a:off x="7543800" y="3063240"/>
            <a:ext cx="457200" cy="4572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Anhang: Beiträge der Vortragenden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3, 6, 11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Auftragsreise, Rollen und Use Cases; Use-Case-Diagramm und Sequenzdiagramme SD2, SD3, SD5,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4–5, 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Lösung, Nutzenversprechen, KI-Sofortdiagnose;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8–10</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Prozess-Highlights;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Datenmodell, Vorgehen und Projektmanagement; Klassendiagramm, SD1,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7" name="Text 3"/>
          <p:cNvSpPr txBox="1"/>
          <p:nvPr/>
        </p:nvSpPr>
        <p:spPr>
          <a:xfrm>
            <a:off x="457200" y="4251960"/>
            <a:ext cx="8229600" cy="2743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Zuordnung nach der Zuständigkeitsverteilung vom Gruppentermin 15.10.2026 (E-23): Jede Person trägt vor, was sie verantwortet.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4491</Words>
  <Application>Microsoft Macintosh PowerPoint</Application>
  <PresentationFormat>Bildschirmpräsentation (16:9)</PresentationFormat>
  <Paragraphs>373</Paragraphs>
  <Slides>18</Slides>
  <Notes>17</Notes>
  <HiddenSlides>3</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18</vt:i4>
      </vt:variant>
    </vt:vector>
  </HeadingPairs>
  <TitlesOfParts>
    <vt:vector size="22" baseType="lpstr">
      <vt:lpstr>Arial</vt:lpstr>
      <vt:lpstr>Calibri</vt:lpstr>
      <vt:lpstr>Segoe UI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3</cp:revision>
  <dcterms:created xsi:type="dcterms:W3CDTF">2026-10-15T07:59:30Z</dcterms:created>
  <dcterms:modified xsi:type="dcterms:W3CDTF">2026-10-15T14:52:06Z</dcterms:modified>
</cp:coreProperties>
</file>