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4"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978"/>
    <p:restoredTop sz="94610"/>
  </p:normalViewPr>
  <p:slideViewPr>
    <p:cSldViewPr snapToGrid="0" snapToObjects="1">
      <p:cViewPr varScale="1">
        <p:scale>
          <a:sx n="168" d="100"/>
          <a:sy n="168" d="100"/>
        </p:scale>
        <p:origin x="75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(40 s)
Unsere Präsentation hat zwei Hälften. In der ersten erzählen wir RepairFlow so, wie wir es einer Werkstatt vorstellen würden: Problem, Lösung, Nutzen, die Reparatur aus Kundensicht und unser Alleinstellungsmerkmal, die KI-Sofortdiagnose.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 wir haben Zeit dafür eingeplant.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(70 s)
RepairFlow ist unsere Antwort darauf. Wichtig für die Einordnung: Wir sind nicht die Werkstatt, wir sind das Software-Startup. FixWerk ist unser Pilotkunde, an dessen Abläufen wir die Plattform entworfen haben. Diese Perspektive haben wir nach der Rückfrage des Dozenten bei der Konzeptvorstellung bewusst festgelegt.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Außerhalb der Plattform bleiben die physische Reparatur, die Systeme der Lieferanten und die Buchhaltung; dorthin gibt es Schnittstellen, mehr nicht.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(50 s)
Damit zur zweiten Hälfte: Was steckt hinter dieser Geschichte? Wir haben drei Modelle erstellt, die zusammenpassen. Zehn BPMN-Kollaborationsdiagramme mit 131 Aktivitäten im Werkstatt-Pool, dazu die Abläufe des Kunden mit 26 weiteren Aktivitäten. Ein Use-Case-Diagramm mit 19 Use Cases und 18 Akteuren. Ein vollständiges Klassendiagramm mit 27 Klassen und 36 Assoziationen. Sechs Sequenzdiagramme, gefordert waren fünf, und als Zugabe ein Zustandsdiagramm für den Reparaturauftrag.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60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zwei externe Akteure, der Lieferant und der KI-Diagnosedienst.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(80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(70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bisher zehn gemergte Pull Requests. Das Trello-Board hat eine Liste je Termin und eine Karte je Person und Aufgabe. Jedes Diagramm wurde im Zweierteam geprüft. Die Meilensteine: Am 02.09. standen alle Diagramme im Entwurf, am 05.10. die Korrekturen aus zwei Gesamtprüfungen, am 15.10. haben wir die Rollenstruktur umgesetzt, am 22.10. war die Generalprobe. Die Abgabe folgt am 13.11.</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Prüfrunden: Eine Gesamtprüfung am 26.09., ein Komplettcheck am 05.10. mit 39 Befunden und der QA-Abgleich am 08.10.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2.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4.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5.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Agenda</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548640" y="914400"/>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1: der Pitch</a:t>
            </a:r>
            <a:endParaRPr lang="en-US" sz="1100" dirty="0"/>
          </a:p>
        </p:txBody>
      </p:sp>
      <p:sp>
        <p:nvSpPr>
          <p:cNvPr id="7" name="Shape 4"/>
          <p:cNvSpPr/>
          <p:nvPr/>
        </p:nvSpPr>
        <p:spPr>
          <a:xfrm>
            <a:off x="548640" y="1234440"/>
            <a:ext cx="384048" cy="384048"/>
          </a:xfrm>
          <a:prstGeom prst="ellipse">
            <a:avLst/>
          </a:prstGeom>
          <a:solidFill>
            <a:srgbClr val="0E5E5E"/>
          </a:solidFill>
          <a:ln w="12700">
            <a:solidFill>
              <a:srgbClr val="0E5E5E"/>
            </a:solidFill>
            <a:prstDash val="solid"/>
          </a:ln>
        </p:spPr>
        <p:txBody>
          <a:bodyPr/>
          <a:lstStyle/>
          <a:p>
            <a:endParaRPr lang="de-DE"/>
          </a:p>
        </p:txBody>
      </p:sp>
      <p:sp>
        <p:nvSpPr>
          <p:cNvPr id="8" name="Text 5"/>
          <p:cNvSpPr txBox="1"/>
          <p:nvPr/>
        </p:nvSpPr>
        <p:spPr>
          <a:xfrm>
            <a:off x="548640" y="1234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664208"/>
            <a:ext cx="384048" cy="384048"/>
          </a:xfrm>
          <a:prstGeom prst="ellipse">
            <a:avLst/>
          </a:prstGeom>
          <a:solidFill>
            <a:srgbClr val="0E5E5E"/>
          </a:solidFill>
          <a:ln w="12700">
            <a:solidFill>
              <a:srgbClr val="0E5E5E"/>
            </a:solidFill>
            <a:prstDash val="solid"/>
          </a:ln>
        </p:spPr>
        <p:txBody>
          <a:bodyPr/>
          <a:lstStyle/>
          <a:p>
            <a:endParaRPr lang="de-DE"/>
          </a:p>
        </p:txBody>
      </p:sp>
      <p:sp>
        <p:nvSpPr>
          <p:cNvPr id="12" name="Text 9"/>
          <p:cNvSpPr txBox="1"/>
          <p:nvPr/>
        </p:nvSpPr>
        <p:spPr>
          <a:xfrm>
            <a:off x="548640" y="16642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a:t>
            </a:r>
            <a:endParaRPr lang="en-US" sz="1500" dirty="0"/>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Adrian</a:t>
            </a:r>
            <a:endParaRPr lang="en-US" sz="1200" dirty="0"/>
          </a:p>
        </p:txBody>
      </p:sp>
      <p:sp>
        <p:nvSpPr>
          <p:cNvPr id="15" name="Text 12"/>
          <p:cNvSpPr txBox="1"/>
          <p:nvPr/>
        </p:nvSpPr>
        <p:spPr>
          <a:xfrm>
            <a:off x="548640" y="2075688"/>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2: was dahintersteckt</a:t>
            </a:r>
            <a:endParaRPr lang="en-US" sz="1100" dirty="0"/>
          </a:p>
        </p:txBody>
      </p:sp>
      <p:sp>
        <p:nvSpPr>
          <p:cNvPr id="16" name="Shape 13"/>
          <p:cNvSpPr/>
          <p:nvPr/>
        </p:nvSpPr>
        <p:spPr>
          <a:xfrm>
            <a:off x="548640" y="2368296"/>
            <a:ext cx="384048" cy="384048"/>
          </a:xfrm>
          <a:prstGeom prst="ellipse">
            <a:avLst/>
          </a:prstGeom>
          <a:solidFill>
            <a:srgbClr val="0E5E5E"/>
          </a:solidFill>
          <a:ln w="12700">
            <a:solidFill>
              <a:srgbClr val="0E5E5E"/>
            </a:solidFill>
            <a:prstDash val="solid"/>
          </a:ln>
        </p:spPr>
        <p:txBody>
          <a:bodyPr/>
          <a:lstStyle/>
          <a:p>
            <a:endParaRPr lang="de-DE"/>
          </a:p>
        </p:txBody>
      </p:sp>
      <p:sp>
        <p:nvSpPr>
          <p:cNvPr id="17" name="Text 14"/>
          <p:cNvSpPr txBox="1"/>
          <p:nvPr/>
        </p:nvSpPr>
        <p:spPr>
          <a:xfrm>
            <a:off x="548640" y="23682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a:t>
            </a:r>
            <a:endParaRPr lang="en-US" sz="1200" dirty="0"/>
          </a:p>
        </p:txBody>
      </p:sp>
      <p:sp>
        <p:nvSpPr>
          <p:cNvPr id="20" name="Shape 17"/>
          <p:cNvSpPr/>
          <p:nvPr/>
        </p:nvSpPr>
        <p:spPr>
          <a:xfrm>
            <a:off x="548640" y="2798064"/>
            <a:ext cx="384048" cy="384048"/>
          </a:xfrm>
          <a:prstGeom prst="ellipse">
            <a:avLst/>
          </a:prstGeom>
          <a:solidFill>
            <a:srgbClr val="0E5E5E"/>
          </a:solidFill>
          <a:ln w="12700">
            <a:solidFill>
              <a:srgbClr val="0E5E5E"/>
            </a:solidFill>
            <a:prstDash val="solid"/>
          </a:ln>
        </p:spPr>
        <p:txBody>
          <a:bodyPr/>
          <a:lstStyle/>
          <a:p>
            <a:endParaRPr lang="de-DE"/>
          </a:p>
        </p:txBody>
      </p:sp>
      <p:sp>
        <p:nvSpPr>
          <p:cNvPr id="21" name="Text 18"/>
          <p:cNvSpPr txBox="1"/>
          <p:nvPr/>
        </p:nvSpPr>
        <p:spPr>
          <a:xfrm>
            <a:off x="548640" y="27980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a:t>
            </a:r>
            <a:endParaRPr lang="en-US" sz="1200" dirty="0"/>
          </a:p>
        </p:txBody>
      </p:sp>
      <p:sp>
        <p:nvSpPr>
          <p:cNvPr id="24" name="Shape 21"/>
          <p:cNvSpPr/>
          <p:nvPr/>
        </p:nvSpPr>
        <p:spPr>
          <a:xfrm>
            <a:off x="548640" y="3227832"/>
            <a:ext cx="384048" cy="384048"/>
          </a:xfrm>
          <a:prstGeom prst="ellipse">
            <a:avLst/>
          </a:prstGeom>
          <a:solidFill>
            <a:srgbClr val="0E5E5E"/>
          </a:solidFill>
          <a:ln w="12700">
            <a:solidFill>
              <a:srgbClr val="0E5E5E"/>
            </a:solidFill>
            <a:prstDash val="solid"/>
          </a:ln>
        </p:spPr>
        <p:txBody>
          <a:bodyPr/>
          <a:lstStyle/>
          <a:p>
            <a:endParaRPr lang="de-DE"/>
          </a:p>
        </p:txBody>
      </p:sp>
      <p:sp>
        <p:nvSpPr>
          <p:cNvPr id="25" name="Text 22"/>
          <p:cNvSpPr txBox="1"/>
          <p:nvPr/>
        </p:nvSpPr>
        <p:spPr>
          <a:xfrm>
            <a:off x="548640" y="32278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Vorgehen und Projektmanagement</a:t>
            </a:r>
            <a:endParaRPr lang="en-US" sz="1500" dirty="0"/>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657600"/>
            <a:ext cx="384048" cy="384048"/>
          </a:xfrm>
          <a:prstGeom prst="ellipse">
            <a:avLst/>
          </a:prstGeom>
          <a:solidFill>
            <a:srgbClr val="0E5E5E"/>
          </a:solidFill>
          <a:ln w="12700">
            <a:solidFill>
              <a:srgbClr val="0E5E5E"/>
            </a:solidFill>
            <a:prstDash val="solid"/>
          </a:ln>
        </p:spPr>
        <p:txBody>
          <a:bodyPr/>
          <a:lstStyle/>
          <a:p>
            <a:endParaRPr lang="de-DE"/>
          </a:p>
        </p:txBody>
      </p:sp>
      <p:sp>
        <p:nvSpPr>
          <p:cNvPr id="29" name="Text 26"/>
          <p:cNvSpPr txBox="1"/>
          <p:nvPr/>
        </p:nvSpPr>
        <p:spPr>
          <a:xfrm>
            <a:off x="548640" y="36576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Herausforderungen und Lernerfahrungen</a:t>
            </a:r>
            <a:endParaRPr lang="en-US" sz="1500" dirty="0"/>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a:t>
            </a:r>
            <a:endParaRPr lang="en-US" sz="1200" dirty="0"/>
          </a:p>
        </p:txBody>
      </p:sp>
      <p:sp>
        <p:nvSpPr>
          <p:cNvPr id="32" name="Shape 29"/>
          <p:cNvSpPr/>
          <p:nvPr/>
        </p:nvSpPr>
        <p:spPr>
          <a:xfrm>
            <a:off x="548640" y="4087368"/>
            <a:ext cx="384048" cy="384048"/>
          </a:xfrm>
          <a:prstGeom prst="ellipse">
            <a:avLst/>
          </a:prstGeom>
          <a:solidFill>
            <a:srgbClr val="0E5E5E"/>
          </a:solidFill>
          <a:ln w="12700">
            <a:solidFill>
              <a:srgbClr val="0E5E5E"/>
            </a:solidFill>
            <a:prstDash val="solid"/>
          </a:ln>
        </p:spPr>
        <p:txBody>
          <a:bodyPr/>
          <a:lstStyle/>
          <a:p>
            <a:endParaRPr lang="de-DE"/>
          </a:p>
        </p:txBody>
      </p:sp>
      <p:sp>
        <p:nvSpPr>
          <p:cNvPr id="33" name="Text 30"/>
          <p:cNvSpPr txBox="1"/>
          <p:nvPr/>
        </p:nvSpPr>
        <p:spPr>
          <a:xfrm>
            <a:off x="548640" y="408736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36" name="Text 33"/>
          <p:cNvSpPr txBox="1"/>
          <p:nvPr/>
        </p:nvSpPr>
        <p:spPr>
          <a:xfrm>
            <a:off x="548640" y="4389120"/>
            <a:ext cx="7772400" cy="274320"/>
          </a:xfrm>
          <a:prstGeom prst="rect">
            <a:avLst/>
          </a:prstGeom>
          <a:noFill/>
          <a:ln/>
        </p:spPr>
        <p:txBody>
          <a:bodyPr wrap="square" lIns="0" tIns="0" rIns="0" bIns="0" rtlCol="0" anchor="ctr"/>
          <a:lstStyle/>
          <a:p>
            <a:pPr marL="0" indent="0">
              <a:buNone/>
            </a:pPr>
            <a:r>
              <a:rPr lang="en-US" sz="1100" i="1" dirty="0">
                <a:solidFill>
                  <a:srgbClr val="5F6B7A"/>
                </a:solidFill>
                <a:latin typeface="Calibri" pitchFamily="34" charset="0"/>
                <a:ea typeface="Calibri" pitchFamily="34" charset="-122"/>
                <a:cs typeface="Calibri" pitchFamily="34" charset="-120"/>
              </a:rPr>
              <a:t>15 bis 20 Minuten · alle Gruppenmitglieder tragen vor · Diagramme in Dokumentation und Abgabepaket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Problem: Werkstätten heute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Unser Szenario: Die Werkstattkette FixWerk GmbH (vier Filialen, Fahrrad, E-Bike und Elektronik) arbeitet mit Papier, Excel-Listen und Telefon. Daraus folgen vier Probleme:</a:t>
            </a:r>
            <a:endParaRPr lang="en-US" sz="1300" dirty="0"/>
          </a:p>
        </p:txBody>
      </p:sp>
      <p:sp>
        <p:nvSpPr>
          <p:cNvPr id="7" name="Shape 4"/>
          <p:cNvSpPr/>
          <p:nvPr/>
        </p:nvSpPr>
        <p:spPr>
          <a:xfrm>
            <a:off x="45720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8" name="Shape 5"/>
          <p:cNvSpPr/>
          <p:nvPr/>
        </p:nvSpPr>
        <p:spPr>
          <a:xfrm>
            <a:off x="64008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 hören nichts</a:t>
            </a:r>
            <a:endParaRPr lang="en-US" sz="1400" dirty="0"/>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Keine zuverlässige Info, wann ein Kostenvoranschlag freizugeben oder das Gerät abholbereit ist. Rückfragen per Telefon, Geräte stehen wochenlang im Lager.</a:t>
            </a:r>
            <a:endParaRPr lang="en-US" sz="1150" dirty="0"/>
          </a:p>
        </p:txBody>
      </p:sp>
      <p:sp>
        <p:nvSpPr>
          <p:cNvPr id="12" name="Shape 8"/>
          <p:cNvSpPr/>
          <p:nvPr/>
        </p:nvSpPr>
        <p:spPr>
          <a:xfrm>
            <a:off x="470916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489204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Kein Auftragsstatus</a:t>
            </a:r>
            <a:endParaRPr lang="en-US" sz="1400" dirty="0"/>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 wissen will, wo ein Gerät steht, fragt in der Werkstatt nach. Papierzettel und Excel-Listen laufen auseinander.</a:t>
            </a:r>
            <a:endParaRPr lang="en-US" sz="1150" dirty="0"/>
          </a:p>
        </p:txBody>
      </p:sp>
      <p:sp>
        <p:nvSpPr>
          <p:cNvPr id="17" name="Shape 12"/>
          <p:cNvSpPr/>
          <p:nvPr/>
        </p:nvSpPr>
        <p:spPr>
          <a:xfrm>
            <a:off x="45720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64008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Teile doppelt bestellt</a:t>
            </a:r>
            <a:endParaRPr lang="en-US" sz="1400" dirty="0"/>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Jede Filiale bestellt für sich, obwohl das Teil in der Nachbarfiliale liegt. Das kostet Lieferzeit und Geld.</a:t>
            </a:r>
            <a:endParaRPr lang="en-US" sz="1150" dirty="0"/>
          </a:p>
        </p:txBody>
      </p:sp>
      <p:sp>
        <p:nvSpPr>
          <p:cNvPr id="22" name="Shape 16"/>
          <p:cNvSpPr/>
          <p:nvPr/>
        </p:nvSpPr>
        <p:spPr>
          <a:xfrm>
            <a:off x="470916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489204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Auslastung unsichtbar</a:t>
            </a:r>
            <a:endParaRPr lang="en-US" sz="1400" dirty="0"/>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Termine werden nach Gefühl zugesagt, die Kapazität der Techniker kennt niemand genau.</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RepairFlow: die Lösung</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960120"/>
            <a:ext cx="8229600" cy="777240"/>
          </a:xfrm>
          <a:prstGeom prst="roundRect">
            <a:avLst>
              <a:gd name="adj" fmla="val 9412"/>
            </a:avLst>
          </a:prstGeom>
          <a:solidFill>
            <a:srgbClr val="0E5E5E"/>
          </a:solidFill>
          <a:ln w="12700">
            <a:solidFill>
              <a:srgbClr val="0E5E5E"/>
            </a:solidFill>
            <a:prstDash val="solid"/>
          </a:ln>
        </p:spPr>
        <p:txBody>
          <a:bodyPr/>
          <a:lstStyle/>
          <a:p>
            <a:endParaRPr lang="de-DE"/>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Eine Cloud-Plattform für den gesamten Reparatur-Lebenszyklus: von der Anfrage per App bis zur Abholung und Reklamation. Wir sind das Software-Startup, FixWerk ist unser Pilotkunde.</a:t>
            </a:r>
            <a:endParaRPr lang="en-US" sz="1400" dirty="0"/>
          </a:p>
        </p:txBody>
      </p:sp>
      <p:sp>
        <p:nvSpPr>
          <p:cNvPr id="8" name="Shape 5"/>
          <p:cNvSpPr/>
          <p:nvPr/>
        </p:nvSpPr>
        <p:spPr>
          <a:xfrm>
            <a:off x="45720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9" name="Shape 6"/>
          <p:cNvSpPr/>
          <p:nvPr/>
        </p:nvSpPr>
        <p:spPr>
          <a:xfrm>
            <a:off x="64008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Kundenportal</a:t>
            </a:r>
            <a:endParaRPr lang="en-US" sz="1400" dirty="0"/>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App mit Sofortdiagnose, Voranmeldung, KVA-Freigabe und Statusmeldungen</a:t>
            </a:r>
            <a:endParaRPr lang="en-US" sz="1050" dirty="0"/>
          </a:p>
        </p:txBody>
      </p:sp>
      <p:sp>
        <p:nvSpPr>
          <p:cNvPr id="13" name="Shape 9"/>
          <p:cNvSpPr/>
          <p:nvPr/>
        </p:nvSpPr>
        <p:spPr>
          <a:xfrm>
            <a:off x="256032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4" name="Shape 10"/>
          <p:cNvSpPr/>
          <p:nvPr/>
        </p:nvSpPr>
        <p:spPr>
          <a:xfrm>
            <a:off x="274320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Auftrag und Werkstatt</a:t>
            </a:r>
            <a:endParaRPr lang="en-US" sz="1400" dirty="0"/>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Auftragsstatus, Diagnose, Kostenvoranschlag, Reparaturschritte, Endkontrolle</a:t>
            </a:r>
            <a:endParaRPr lang="en-US" sz="1050" dirty="0"/>
          </a:p>
        </p:txBody>
      </p:sp>
      <p:sp>
        <p:nvSpPr>
          <p:cNvPr id="18" name="Shape 13"/>
          <p:cNvSpPr/>
          <p:nvPr/>
        </p:nvSpPr>
        <p:spPr>
          <a:xfrm>
            <a:off x="466344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9" name="Shape 14"/>
          <p:cNvSpPr/>
          <p:nvPr/>
        </p:nvSpPr>
        <p:spPr>
          <a:xfrm>
            <a:off x="484632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a:t>
            </a:r>
            <a:endParaRPr lang="en-US" sz="1400" dirty="0"/>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Bestände aller Filialen, Reservierung, Umlagerung, Bestellung, Retoure</a:t>
            </a:r>
            <a:endParaRPr lang="en-US" sz="1050" dirty="0"/>
          </a:p>
        </p:txBody>
      </p:sp>
      <p:sp>
        <p:nvSpPr>
          <p:cNvPr id="23" name="Shape 17"/>
          <p:cNvSpPr/>
          <p:nvPr/>
        </p:nvSpPr>
        <p:spPr>
          <a:xfrm>
            <a:off x="676656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24" name="Shape 18"/>
          <p:cNvSpPr/>
          <p:nvPr/>
        </p:nvSpPr>
        <p:spPr>
          <a:xfrm>
            <a:off x="694944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Abrechnung</a:t>
            </a:r>
            <a:endParaRPr lang="en-US" sz="1400" dirty="0"/>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Rechnung, Zahlung, Übergabe an die Buchhaltung</a:t>
            </a:r>
            <a:endParaRPr lang="en-US" sz="1050" dirty="0"/>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Zielkunden: unabhängige Werkstätten und kleine Ketten mit 2 bis 10 Filialen im DACH-Raum</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Außerhalb der Plattform: physische Reparatur, Lieferantensysteme, Buchhaltung (nur Schnittstellen)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ctr"/>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Fahrrad, E-Bike und Elektronik mit einer Kundenbasis und einem gemeinsamen Ersatzteillager. Ein Auftragsstatus für alle.</a:t>
            </a:r>
            <a:endParaRPr lang="en-US" sz="1150" dirty="0"/>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Bestände, Reservierungen und Umlagerungen über alle Standorte. Bestellt wird nur, was nirgends liegt.</a:t>
            </a:r>
            <a:endParaRPr lang="en-US" sz="1150" dirty="0"/>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Foto aus der App, Diagnosevorschlag, vorläufiger Kostenvoranschlag und Termin, bevor der Kunde die Werkstatt betritt.</a:t>
            </a:r>
            <a:endParaRPr lang="en-US" sz="1150" dirty="0"/>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Die Auftragsreise mit RepairFlow</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6</a:t>
            </a:r>
            <a:endParaRPr lang="en-US" sz="900" dirty="0"/>
          </a:p>
        </p:txBody>
      </p:sp>
      <p:sp>
        <p:nvSpPr>
          <p:cNvPr id="6" name="Shape 3"/>
          <p:cNvSpPr/>
          <p:nvPr/>
        </p:nvSpPr>
        <p:spPr>
          <a:xfrm>
            <a:off x="457200"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640080"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P01</a:t>
            </a:r>
            <a:endParaRPr lang="en-US" sz="1000" dirty="0"/>
          </a:p>
        </p:txBody>
      </p:sp>
      <p:sp>
        <p:nvSpPr>
          <p:cNvPr id="8" name="Shape 5"/>
          <p:cNvSpPr/>
          <p:nvPr/>
        </p:nvSpPr>
        <p:spPr>
          <a:xfrm>
            <a:off x="457200" y="1645920"/>
            <a:ext cx="1298448" cy="1828800"/>
          </a:xfrm>
          <a:prstGeom prst="roundRect">
            <a:avLst>
              <a:gd name="adj" fmla="val 5634"/>
            </a:avLst>
          </a:prstGeom>
          <a:solidFill>
            <a:srgbClr val="FFF4D6"/>
          </a:solidFill>
          <a:ln w="12700">
            <a:solidFill>
              <a:srgbClr val="FFF4D6"/>
            </a:solidFill>
            <a:prstDash val="solid"/>
          </a:ln>
        </p:spPr>
        <p:txBody>
          <a:bodyPr/>
          <a:lstStyle/>
          <a:p>
            <a:endParaRPr lang="de-DE"/>
          </a:p>
        </p:txBody>
      </p:sp>
      <p:sp>
        <p:nvSpPr>
          <p:cNvPr id="9" name="Shape 6"/>
          <p:cNvSpPr/>
          <p:nvPr/>
        </p:nvSpPr>
        <p:spPr>
          <a:xfrm>
            <a:off x="850392" y="1755648"/>
            <a:ext cx="502920" cy="502920"/>
          </a:xfrm>
          <a:prstGeom prst="ellipse">
            <a:avLst/>
          </a:prstGeom>
          <a:solidFill>
            <a:srgbClr val="F2A900"/>
          </a:solidFill>
          <a:ln w="12700">
            <a:solidFill>
              <a:srgbClr val="F2A900"/>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976122" y="1881378"/>
            <a:ext cx="251460" cy="251460"/>
          </a:xfrm>
          <a:prstGeom prst="rect">
            <a:avLst/>
          </a:prstGeom>
        </p:spPr>
      </p:pic>
      <p:sp>
        <p:nvSpPr>
          <p:cNvPr id="11" name="Text 7"/>
          <p:cNvSpPr txBox="1"/>
          <p:nvPr/>
        </p:nvSpPr>
        <p:spPr>
          <a:xfrm>
            <a:off x="502920"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Anfrage per App</a:t>
            </a:r>
            <a:endParaRPr lang="en-US" sz="1100" dirty="0"/>
          </a:p>
        </p:txBody>
      </p:sp>
      <p:sp>
        <p:nvSpPr>
          <p:cNvPr id="12" name="Text 8"/>
          <p:cNvSpPr txBox="1"/>
          <p:nvPr/>
        </p:nvSpPr>
        <p:spPr>
          <a:xfrm>
            <a:off x="530352"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KI-Vorschlag, Vorab-KVA, Termin</a:t>
            </a:r>
            <a:endParaRPr lang="en-US" sz="950" dirty="0"/>
          </a:p>
        </p:txBody>
      </p:sp>
      <p:sp>
        <p:nvSpPr>
          <p:cNvPr id="13" name="Shape 9"/>
          <p:cNvSpPr/>
          <p:nvPr/>
        </p:nvSpPr>
        <p:spPr>
          <a:xfrm>
            <a:off x="1847088"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14" name="Text 10"/>
          <p:cNvSpPr txBox="1"/>
          <p:nvPr/>
        </p:nvSpPr>
        <p:spPr>
          <a:xfrm>
            <a:off x="2029968"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P02</a:t>
            </a:r>
            <a:endParaRPr lang="en-US" sz="1000" dirty="0"/>
          </a:p>
        </p:txBody>
      </p:sp>
      <p:sp>
        <p:nvSpPr>
          <p:cNvPr id="15" name="Shape 11"/>
          <p:cNvSpPr/>
          <p:nvPr/>
        </p:nvSpPr>
        <p:spPr>
          <a:xfrm>
            <a:off x="1847088"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16" name="Shape 12"/>
          <p:cNvSpPr/>
          <p:nvPr/>
        </p:nvSpPr>
        <p:spPr>
          <a:xfrm>
            <a:off x="2240280"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17" name="Image 1" descr="preencoded.png"/>
          <p:cNvPicPr>
            <a:picLocks noChangeAspect="1"/>
          </p:cNvPicPr>
          <p:nvPr/>
        </p:nvPicPr>
        <p:blipFill>
          <a:blip r:embed="rId4"/>
          <a:stretch>
            <a:fillRect/>
          </a:stretch>
        </p:blipFill>
        <p:spPr>
          <a:xfrm>
            <a:off x="2366010" y="1881378"/>
            <a:ext cx="251460" cy="251460"/>
          </a:xfrm>
          <a:prstGeom prst="rect">
            <a:avLst/>
          </a:prstGeom>
        </p:spPr>
      </p:pic>
      <p:sp>
        <p:nvSpPr>
          <p:cNvPr id="18" name="Text 13"/>
          <p:cNvSpPr txBox="1"/>
          <p:nvPr/>
        </p:nvSpPr>
        <p:spPr>
          <a:xfrm>
            <a:off x="1892808"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Annahme</a:t>
            </a:r>
            <a:endParaRPr lang="en-US" sz="1100" dirty="0"/>
          </a:p>
        </p:txBody>
      </p:sp>
      <p:sp>
        <p:nvSpPr>
          <p:cNvPr id="19" name="Text 14"/>
          <p:cNvSpPr txBox="1"/>
          <p:nvPr/>
        </p:nvSpPr>
        <p:spPr>
          <a:xfrm>
            <a:off x="1920240"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Gerät registriert, Auftrag angelegt</a:t>
            </a:r>
            <a:endParaRPr lang="en-US" sz="950" dirty="0"/>
          </a:p>
        </p:txBody>
      </p:sp>
      <p:sp>
        <p:nvSpPr>
          <p:cNvPr id="20" name="Shape 15"/>
          <p:cNvSpPr/>
          <p:nvPr/>
        </p:nvSpPr>
        <p:spPr>
          <a:xfrm>
            <a:off x="3236976"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21" name="Text 16"/>
          <p:cNvSpPr txBox="1"/>
          <p:nvPr/>
        </p:nvSpPr>
        <p:spPr>
          <a:xfrm>
            <a:off x="3419856"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P03, P04</a:t>
            </a:r>
            <a:endParaRPr lang="en-US" sz="1000" dirty="0"/>
          </a:p>
        </p:txBody>
      </p:sp>
      <p:sp>
        <p:nvSpPr>
          <p:cNvPr id="22" name="Shape 17"/>
          <p:cNvSpPr/>
          <p:nvPr/>
        </p:nvSpPr>
        <p:spPr>
          <a:xfrm>
            <a:off x="3236976"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23" name="Shape 18"/>
          <p:cNvSpPr/>
          <p:nvPr/>
        </p:nvSpPr>
        <p:spPr>
          <a:xfrm>
            <a:off x="3630168"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24" name="Image 2" descr="preencoded.png"/>
          <p:cNvPicPr>
            <a:picLocks noChangeAspect="1"/>
          </p:cNvPicPr>
          <p:nvPr/>
        </p:nvPicPr>
        <p:blipFill>
          <a:blip r:embed="rId5"/>
          <a:stretch>
            <a:fillRect/>
          </a:stretch>
        </p:blipFill>
        <p:spPr>
          <a:xfrm>
            <a:off x="3755898" y="1881378"/>
            <a:ext cx="251460" cy="251460"/>
          </a:xfrm>
          <a:prstGeom prst="rect">
            <a:avLst/>
          </a:prstGeom>
        </p:spPr>
      </p:pic>
      <p:sp>
        <p:nvSpPr>
          <p:cNvPr id="25" name="Text 19"/>
          <p:cNvSpPr txBox="1"/>
          <p:nvPr/>
        </p:nvSpPr>
        <p:spPr>
          <a:xfrm>
            <a:off x="3282696"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Diagnose und KVA</a:t>
            </a:r>
            <a:endParaRPr lang="en-US" sz="1100" dirty="0"/>
          </a:p>
        </p:txBody>
      </p:sp>
      <p:sp>
        <p:nvSpPr>
          <p:cNvPr id="26" name="Text 20"/>
          <p:cNvSpPr txBox="1"/>
          <p:nvPr/>
        </p:nvSpPr>
        <p:spPr>
          <a:xfrm>
            <a:off x="3310128"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Techniker prüft, Kunde gibt frei</a:t>
            </a:r>
            <a:endParaRPr lang="en-US" sz="950" dirty="0"/>
          </a:p>
        </p:txBody>
      </p:sp>
      <p:sp>
        <p:nvSpPr>
          <p:cNvPr id="27" name="Shape 21"/>
          <p:cNvSpPr/>
          <p:nvPr/>
        </p:nvSpPr>
        <p:spPr>
          <a:xfrm>
            <a:off x="4626864"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28" name="Text 22"/>
          <p:cNvSpPr txBox="1"/>
          <p:nvPr/>
        </p:nvSpPr>
        <p:spPr>
          <a:xfrm>
            <a:off x="4809744"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P05, P06</a:t>
            </a:r>
            <a:endParaRPr lang="en-US" sz="1000" dirty="0"/>
          </a:p>
        </p:txBody>
      </p:sp>
      <p:sp>
        <p:nvSpPr>
          <p:cNvPr id="29" name="Shape 23"/>
          <p:cNvSpPr/>
          <p:nvPr/>
        </p:nvSpPr>
        <p:spPr>
          <a:xfrm>
            <a:off x="4626864"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30" name="Shape 24"/>
          <p:cNvSpPr/>
          <p:nvPr/>
        </p:nvSpPr>
        <p:spPr>
          <a:xfrm>
            <a:off x="5020056"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31" name="Image 3" descr="preencoded.png"/>
          <p:cNvPicPr>
            <a:picLocks noChangeAspect="1"/>
          </p:cNvPicPr>
          <p:nvPr/>
        </p:nvPicPr>
        <p:blipFill>
          <a:blip r:embed="rId6"/>
          <a:stretch>
            <a:fillRect/>
          </a:stretch>
        </p:blipFill>
        <p:spPr>
          <a:xfrm>
            <a:off x="5145786" y="1881378"/>
            <a:ext cx="251460" cy="251460"/>
          </a:xfrm>
          <a:prstGeom prst="rect">
            <a:avLst/>
          </a:prstGeom>
        </p:spPr>
      </p:pic>
      <p:sp>
        <p:nvSpPr>
          <p:cNvPr id="32" name="Text 25"/>
          <p:cNvSpPr txBox="1"/>
          <p:nvPr/>
        </p:nvSpPr>
        <p:spPr>
          <a:xfrm>
            <a:off x="4672584"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Teile disponieren</a:t>
            </a:r>
            <a:endParaRPr lang="en-US" sz="1100" dirty="0"/>
          </a:p>
        </p:txBody>
      </p:sp>
      <p:sp>
        <p:nvSpPr>
          <p:cNvPr id="33" name="Text 26"/>
          <p:cNvSpPr txBox="1"/>
          <p:nvPr/>
        </p:nvSpPr>
        <p:spPr>
          <a:xfrm>
            <a:off x="4700016"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alle Filialen, Fehlteile bestellen</a:t>
            </a:r>
            <a:endParaRPr lang="en-US" sz="950" dirty="0"/>
          </a:p>
        </p:txBody>
      </p:sp>
      <p:sp>
        <p:nvSpPr>
          <p:cNvPr id="34" name="Shape 27"/>
          <p:cNvSpPr/>
          <p:nvPr/>
        </p:nvSpPr>
        <p:spPr>
          <a:xfrm>
            <a:off x="6016752"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35" name="Text 28"/>
          <p:cNvSpPr txBox="1"/>
          <p:nvPr/>
        </p:nvSpPr>
        <p:spPr>
          <a:xfrm>
            <a:off x="6199632"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P07</a:t>
            </a:r>
            <a:endParaRPr lang="en-US" sz="1000" dirty="0"/>
          </a:p>
        </p:txBody>
      </p:sp>
      <p:sp>
        <p:nvSpPr>
          <p:cNvPr id="36" name="Shape 29"/>
          <p:cNvSpPr/>
          <p:nvPr/>
        </p:nvSpPr>
        <p:spPr>
          <a:xfrm>
            <a:off x="6016752"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37" name="Shape 30"/>
          <p:cNvSpPr/>
          <p:nvPr/>
        </p:nvSpPr>
        <p:spPr>
          <a:xfrm>
            <a:off x="6409944"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38" name="Image 4" descr="preencoded.png"/>
          <p:cNvPicPr>
            <a:picLocks noChangeAspect="1"/>
          </p:cNvPicPr>
          <p:nvPr/>
        </p:nvPicPr>
        <p:blipFill>
          <a:blip r:embed="rId7"/>
          <a:stretch>
            <a:fillRect/>
          </a:stretch>
        </p:blipFill>
        <p:spPr>
          <a:xfrm>
            <a:off x="6535674" y="1881378"/>
            <a:ext cx="251460" cy="251460"/>
          </a:xfrm>
          <a:prstGeom prst="rect">
            <a:avLst/>
          </a:prstGeom>
        </p:spPr>
      </p:pic>
      <p:sp>
        <p:nvSpPr>
          <p:cNvPr id="39" name="Text 31"/>
          <p:cNvSpPr txBox="1"/>
          <p:nvPr/>
        </p:nvSpPr>
        <p:spPr>
          <a:xfrm>
            <a:off x="6062472"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Reparatur</a:t>
            </a:r>
            <a:endParaRPr lang="en-US" sz="1100" dirty="0"/>
          </a:p>
        </p:txBody>
      </p:sp>
      <p:sp>
        <p:nvSpPr>
          <p:cNvPr id="40" name="Text 32"/>
          <p:cNvSpPr txBox="1"/>
          <p:nvPr/>
        </p:nvSpPr>
        <p:spPr>
          <a:xfrm>
            <a:off x="6089904"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Schritte, Arbeitszeit, Endkontrolle</a:t>
            </a:r>
            <a:endParaRPr lang="en-US" sz="950" dirty="0"/>
          </a:p>
        </p:txBody>
      </p:sp>
      <p:sp>
        <p:nvSpPr>
          <p:cNvPr id="41" name="Shape 33"/>
          <p:cNvSpPr/>
          <p:nvPr/>
        </p:nvSpPr>
        <p:spPr>
          <a:xfrm>
            <a:off x="7406640"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42" name="Text 34"/>
          <p:cNvSpPr txBox="1"/>
          <p:nvPr/>
        </p:nvSpPr>
        <p:spPr>
          <a:xfrm>
            <a:off x="7589520"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P08</a:t>
            </a:r>
            <a:endParaRPr lang="en-US" sz="1000" dirty="0"/>
          </a:p>
        </p:txBody>
      </p:sp>
      <p:sp>
        <p:nvSpPr>
          <p:cNvPr id="43" name="Shape 35"/>
          <p:cNvSpPr/>
          <p:nvPr/>
        </p:nvSpPr>
        <p:spPr>
          <a:xfrm>
            <a:off x="7406640"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44" name="Shape 36"/>
          <p:cNvSpPr/>
          <p:nvPr/>
        </p:nvSpPr>
        <p:spPr>
          <a:xfrm>
            <a:off x="7799832"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45" name="Image 5" descr="preencoded.png"/>
          <p:cNvPicPr>
            <a:picLocks noChangeAspect="1"/>
          </p:cNvPicPr>
          <p:nvPr/>
        </p:nvPicPr>
        <p:blipFill>
          <a:blip r:embed="rId8"/>
          <a:stretch>
            <a:fillRect/>
          </a:stretch>
        </p:blipFill>
        <p:spPr>
          <a:xfrm>
            <a:off x="7925562" y="1881378"/>
            <a:ext cx="251460" cy="251460"/>
          </a:xfrm>
          <a:prstGeom prst="rect">
            <a:avLst/>
          </a:prstGeom>
        </p:spPr>
      </p:pic>
      <p:sp>
        <p:nvSpPr>
          <p:cNvPr id="46" name="Text 37"/>
          <p:cNvSpPr txBox="1"/>
          <p:nvPr/>
        </p:nvSpPr>
        <p:spPr>
          <a:xfrm>
            <a:off x="7452360"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Abholung</a:t>
            </a:r>
            <a:endParaRPr lang="en-US" sz="1100" dirty="0"/>
          </a:p>
        </p:txBody>
      </p:sp>
      <p:sp>
        <p:nvSpPr>
          <p:cNvPr id="47" name="Text 38"/>
          <p:cNvSpPr txBox="1"/>
          <p:nvPr/>
        </p:nvSpPr>
        <p:spPr>
          <a:xfrm>
            <a:off x="7479792"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Benachrichtigung, Rechnung, Zahlung</a:t>
            </a:r>
            <a:endParaRPr lang="en-US" sz="950" dirty="0"/>
          </a:p>
        </p:txBody>
      </p:sp>
      <p:sp>
        <p:nvSpPr>
          <p:cNvPr id="48" name="Text 39"/>
          <p:cNvSpPr txBox="1"/>
          <p:nvPr/>
        </p:nvSpPr>
        <p:spPr>
          <a:xfrm>
            <a:off x="457200" y="3611880"/>
            <a:ext cx="2743200" cy="274320"/>
          </a:xfrm>
          <a:prstGeom prst="rect">
            <a:avLst/>
          </a:prstGeom>
          <a:noFill/>
          <a:ln/>
        </p:spPr>
        <p:txBody>
          <a:bodyPr wrap="square" lIns="0" tIns="0" rIns="0" bIns="0" rtlCol="0" anchor="ctr"/>
          <a:lstStyle/>
          <a:p>
            <a:pPr marL="0" indent="0">
              <a:buNone/>
            </a:pPr>
            <a:r>
              <a:rPr lang="en-US" sz="1100" b="1" dirty="0">
                <a:solidFill>
                  <a:srgbClr val="0E5E5E"/>
                </a:solidFill>
                <a:latin typeface="Calibri" pitchFamily="34" charset="0"/>
                <a:ea typeface="Calibri" pitchFamily="34" charset="-122"/>
                <a:cs typeface="Calibri" pitchFamily="34" charset="-120"/>
              </a:rPr>
              <a:t>Status des Reparaturauftrags:</a:t>
            </a:r>
            <a:endParaRPr lang="en-US" sz="1100" dirty="0"/>
          </a:p>
        </p:txBody>
      </p:sp>
      <p:sp>
        <p:nvSpPr>
          <p:cNvPr id="49" name="Shape 40"/>
          <p:cNvSpPr/>
          <p:nvPr/>
        </p:nvSpPr>
        <p:spPr>
          <a:xfrm>
            <a:off x="457200"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0" name="Text 41"/>
          <p:cNvSpPr txBox="1"/>
          <p:nvPr/>
        </p:nvSpPr>
        <p:spPr>
          <a:xfrm>
            <a:off x="457200"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angenommen</a:t>
            </a:r>
            <a:endParaRPr lang="en-US" sz="900" dirty="0"/>
          </a:p>
        </p:txBody>
      </p:sp>
      <p:sp>
        <p:nvSpPr>
          <p:cNvPr id="51" name="Shape 42"/>
          <p:cNvSpPr/>
          <p:nvPr/>
        </p:nvSpPr>
        <p:spPr>
          <a:xfrm>
            <a:off x="1490472"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2" name="Text 43"/>
          <p:cNvSpPr txBox="1"/>
          <p:nvPr/>
        </p:nvSpPr>
        <p:spPr>
          <a:xfrm>
            <a:off x="1490472"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in Diagnose</a:t>
            </a:r>
            <a:endParaRPr lang="en-US" sz="900" dirty="0"/>
          </a:p>
        </p:txBody>
      </p:sp>
      <p:sp>
        <p:nvSpPr>
          <p:cNvPr id="53" name="Shape 44"/>
          <p:cNvSpPr/>
          <p:nvPr/>
        </p:nvSpPr>
        <p:spPr>
          <a:xfrm>
            <a:off x="2523744"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4" name="Text 45"/>
          <p:cNvSpPr txBox="1"/>
          <p:nvPr/>
        </p:nvSpPr>
        <p:spPr>
          <a:xfrm>
            <a:off x="2523744"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KVA offen</a:t>
            </a:r>
            <a:endParaRPr lang="en-US" sz="900" dirty="0"/>
          </a:p>
        </p:txBody>
      </p:sp>
      <p:sp>
        <p:nvSpPr>
          <p:cNvPr id="55" name="Shape 46"/>
          <p:cNvSpPr/>
          <p:nvPr/>
        </p:nvSpPr>
        <p:spPr>
          <a:xfrm>
            <a:off x="3557016"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6" name="Text 47"/>
          <p:cNvSpPr txBox="1"/>
          <p:nvPr/>
        </p:nvSpPr>
        <p:spPr>
          <a:xfrm>
            <a:off x="3557016"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freigegeben</a:t>
            </a:r>
            <a:endParaRPr lang="en-US" sz="900" dirty="0"/>
          </a:p>
        </p:txBody>
      </p:sp>
      <p:sp>
        <p:nvSpPr>
          <p:cNvPr id="57" name="Shape 48"/>
          <p:cNvSpPr/>
          <p:nvPr/>
        </p:nvSpPr>
        <p:spPr>
          <a:xfrm>
            <a:off x="4590288"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8" name="Text 49"/>
          <p:cNvSpPr txBox="1"/>
          <p:nvPr/>
        </p:nvSpPr>
        <p:spPr>
          <a:xfrm>
            <a:off x="4590288"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Teile bestellt</a:t>
            </a:r>
            <a:endParaRPr lang="en-US" sz="900" dirty="0"/>
          </a:p>
        </p:txBody>
      </p:sp>
      <p:sp>
        <p:nvSpPr>
          <p:cNvPr id="59" name="Shape 50"/>
          <p:cNvSpPr/>
          <p:nvPr/>
        </p:nvSpPr>
        <p:spPr>
          <a:xfrm>
            <a:off x="5623560"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0" name="Text 51"/>
          <p:cNvSpPr txBox="1"/>
          <p:nvPr/>
        </p:nvSpPr>
        <p:spPr>
          <a:xfrm>
            <a:off x="5623560"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in Reparatur</a:t>
            </a:r>
            <a:endParaRPr lang="en-US" sz="900" dirty="0"/>
          </a:p>
        </p:txBody>
      </p:sp>
      <p:sp>
        <p:nvSpPr>
          <p:cNvPr id="61" name="Shape 52"/>
          <p:cNvSpPr/>
          <p:nvPr/>
        </p:nvSpPr>
        <p:spPr>
          <a:xfrm>
            <a:off x="6656832"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2" name="Text 53"/>
          <p:cNvSpPr txBox="1"/>
          <p:nvPr/>
        </p:nvSpPr>
        <p:spPr>
          <a:xfrm>
            <a:off x="6656832"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fertig</a:t>
            </a:r>
            <a:endParaRPr lang="en-US" sz="900" dirty="0"/>
          </a:p>
        </p:txBody>
      </p:sp>
      <p:sp>
        <p:nvSpPr>
          <p:cNvPr id="63" name="Shape 54"/>
          <p:cNvSpPr/>
          <p:nvPr/>
        </p:nvSpPr>
        <p:spPr>
          <a:xfrm>
            <a:off x="7690104"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4" name="Text 55"/>
          <p:cNvSpPr txBox="1"/>
          <p:nvPr/>
        </p:nvSpPr>
        <p:spPr>
          <a:xfrm>
            <a:off x="7690104"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abgeholt</a:t>
            </a:r>
            <a:endParaRPr lang="en-US" sz="900" dirty="0"/>
          </a:p>
        </p:txBody>
      </p:sp>
      <p:sp>
        <p:nvSpPr>
          <p:cNvPr id="65" name="Text 56"/>
          <p:cNvSpPr txBox="1"/>
          <p:nvPr/>
        </p:nvSpPr>
        <p:spPr>
          <a:xfrm>
            <a:off x="457200" y="434340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Reklamation (P09) und Retoure (P10) sind Folgeprozesse; im Gewährleistungsfall startet ein kostenfreier Nacharbeitsauftrag.</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KI-Sofortdiagnose: KVA in 60 Sekunden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
        <p:nvSpPr>
          <p:cNvPr id="6" name="Shape 3"/>
          <p:cNvSpPr/>
          <p:nvPr/>
        </p:nvSpPr>
        <p:spPr>
          <a:xfrm>
            <a:off x="457200"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960120"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1097280" y="1325880"/>
            <a:ext cx="274320" cy="274320"/>
          </a:xfrm>
          <a:prstGeom prst="rect">
            <a:avLst/>
          </a:prstGeom>
        </p:spPr>
      </p:pic>
      <p:sp>
        <p:nvSpPr>
          <p:cNvPr id="9" name="Text 5"/>
          <p:cNvSpPr txBox="1"/>
          <p:nvPr/>
        </p:nvSpPr>
        <p:spPr>
          <a:xfrm>
            <a:off x="457200"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Aufnehmen</a:t>
            </a:r>
            <a:endParaRPr lang="en-US" sz="1300" dirty="0"/>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Kunde lädt Foto, Video oder Ton in der App hoch</a:t>
            </a:r>
            <a:endParaRPr lang="en-US" sz="1000" dirty="0"/>
          </a:p>
        </p:txBody>
      </p:sp>
      <p:sp>
        <p:nvSpPr>
          <p:cNvPr id="11" name="Shape 7"/>
          <p:cNvSpPr/>
          <p:nvPr/>
        </p:nvSpPr>
        <p:spPr>
          <a:xfrm>
            <a:off x="2139696" y="1051560"/>
            <a:ext cx="1554480" cy="1920240"/>
          </a:xfrm>
          <a:prstGeom prst="roundRect">
            <a:avLst>
              <a:gd name="adj" fmla="val 4706"/>
            </a:avLst>
          </a:prstGeom>
          <a:solidFill>
            <a:srgbClr val="FFF4D6"/>
          </a:solidFill>
          <a:ln w="12700">
            <a:solidFill>
              <a:srgbClr val="FFF4D6"/>
            </a:solidFill>
            <a:prstDash val="solid"/>
          </a:ln>
        </p:spPr>
        <p:txBody>
          <a:bodyPr/>
          <a:lstStyle/>
          <a:p>
            <a:endParaRPr lang="de-DE"/>
          </a:p>
        </p:txBody>
      </p:sp>
      <p:sp>
        <p:nvSpPr>
          <p:cNvPr id="12" name="Shape 8"/>
          <p:cNvSpPr/>
          <p:nvPr/>
        </p:nvSpPr>
        <p:spPr>
          <a:xfrm>
            <a:off x="2642616" y="1188720"/>
            <a:ext cx="548640" cy="548640"/>
          </a:xfrm>
          <a:prstGeom prst="ellipse">
            <a:avLst/>
          </a:prstGeom>
          <a:solidFill>
            <a:srgbClr val="F2A900"/>
          </a:solidFill>
          <a:ln w="12700">
            <a:solidFill>
              <a:srgbClr val="F2A900"/>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2779776" y="1325880"/>
            <a:ext cx="274320" cy="274320"/>
          </a:xfrm>
          <a:prstGeom prst="rect">
            <a:avLst/>
          </a:prstGeom>
        </p:spPr>
      </p:pic>
      <p:sp>
        <p:nvSpPr>
          <p:cNvPr id="14" name="Text 9"/>
          <p:cNvSpPr txBox="1"/>
          <p:nvPr/>
        </p:nvSpPr>
        <p:spPr>
          <a:xfrm>
            <a:off x="2139696"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Erkennen</a:t>
            </a:r>
            <a:endParaRPr lang="en-US" sz="1300" dirty="0"/>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KI-Dienst nennt Gerätetyp, Ursache und Ersatzteile</a:t>
            </a:r>
            <a:endParaRPr lang="en-US" sz="1000" dirty="0"/>
          </a:p>
        </p:txBody>
      </p:sp>
      <p:sp>
        <p:nvSpPr>
          <p:cNvPr id="16" name="Shape 11"/>
          <p:cNvSpPr/>
          <p:nvPr/>
        </p:nvSpPr>
        <p:spPr>
          <a:xfrm>
            <a:off x="3822192"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4325112"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4462272" y="1325880"/>
            <a:ext cx="274320" cy="274320"/>
          </a:xfrm>
          <a:prstGeom prst="rect">
            <a:avLst/>
          </a:prstGeom>
        </p:spPr>
      </p:pic>
      <p:sp>
        <p:nvSpPr>
          <p:cNvPr id="19" name="Text 13"/>
          <p:cNvSpPr txBox="1"/>
          <p:nvPr/>
        </p:nvSpPr>
        <p:spPr>
          <a:xfrm>
            <a:off x="3822192"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Kalkulieren</a:t>
            </a:r>
            <a:endParaRPr lang="en-US" sz="1300" dirty="0"/>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RepairFlow berechnet einen vorläufigen KVA</a:t>
            </a:r>
            <a:endParaRPr lang="en-US" sz="1000" dirty="0"/>
          </a:p>
        </p:txBody>
      </p:sp>
      <p:sp>
        <p:nvSpPr>
          <p:cNvPr id="21" name="Shape 15"/>
          <p:cNvSpPr/>
          <p:nvPr/>
        </p:nvSpPr>
        <p:spPr>
          <a:xfrm>
            <a:off x="5504688"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6007608"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6144768" y="1325880"/>
            <a:ext cx="274320" cy="274320"/>
          </a:xfrm>
          <a:prstGeom prst="rect">
            <a:avLst/>
          </a:prstGeom>
        </p:spPr>
      </p:pic>
      <p:sp>
        <p:nvSpPr>
          <p:cNvPr id="24" name="Text 17"/>
          <p:cNvSpPr txBox="1"/>
          <p:nvPr/>
        </p:nvSpPr>
        <p:spPr>
          <a:xfrm>
            <a:off x="5504688"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Reservieren</a:t>
            </a:r>
            <a:endParaRPr lang="en-US" sz="1300" dirty="0"/>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Verfügbarkeit in allen Filialen, Teile vorreserviert</a:t>
            </a:r>
            <a:endParaRPr lang="en-US" sz="1000" dirty="0"/>
          </a:p>
        </p:txBody>
      </p:sp>
      <p:sp>
        <p:nvSpPr>
          <p:cNvPr id="26" name="Shape 19"/>
          <p:cNvSpPr/>
          <p:nvPr/>
        </p:nvSpPr>
        <p:spPr>
          <a:xfrm>
            <a:off x="7187184"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7690104"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827264" y="1325880"/>
            <a:ext cx="274320" cy="274320"/>
          </a:xfrm>
          <a:prstGeom prst="rect">
            <a:avLst/>
          </a:prstGeom>
        </p:spPr>
      </p:pic>
      <p:sp>
        <p:nvSpPr>
          <p:cNvPr id="29" name="Text 21"/>
          <p:cNvSpPr txBox="1"/>
          <p:nvPr/>
        </p:nvSpPr>
        <p:spPr>
          <a:xfrm>
            <a:off x="7187184"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Termin</a:t>
            </a:r>
            <a:endParaRPr lang="en-US" sz="1300" dirty="0"/>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Filiale und Termin vorgeschlagen, Kunde bestätigt</a:t>
            </a:r>
            <a:endParaRPr lang="en-US" sz="1000" dirty="0"/>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rgbClr val="0E5E5E"/>
                </a:solidFill>
                <a:latin typeface="Calibri" pitchFamily="34" charset="0"/>
                <a:ea typeface="Calibri" pitchFamily="34" charset="-122"/>
                <a:cs typeface="Calibri" pitchFamily="34" charset="-120"/>
              </a:rPr>
              <a:t>Heute machbar</a:t>
            </a:r>
            <a:endParaRPr lang="en-US" sz="1300" dirty="0"/>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Sichtbare Schäden per Bildanalyse: gebrochenes Display, gerissene Kette</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Vorab-KVA aus Teilepreisen und Aufwandsrichtwerten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Verfügbarkeitsprüfung und Vorreservierung</a:t>
            </a:r>
            <a:endParaRPr lang="en-US" sz="1100" dirty="0"/>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Vision und Absicherung</a:t>
            </a:r>
            <a:endParaRPr lang="en-US" sz="1300" dirty="0"/>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Geräuschanalyse von E-Bike-Motoren, Aufwand aus Video</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Vorschlag bleibt vorläufig, der Techniker bestätigt oder korrigiert</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Medien nur mit Einwilligung, Löschung nach Abschluss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Was wir gebaut haben: Ergebnisse in Zahlen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10</a:t>
            </a:r>
            <a:endParaRPr lang="en-US" sz="4000" dirty="0"/>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BPMN-Kollaborationsdiagramme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131 Aktivitäten im Werkstatt-Pool</a:t>
            </a:r>
            <a:endParaRPr lang="en-US" sz="1100" dirty="0"/>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19</a:t>
            </a:r>
            <a:endParaRPr lang="en-US" sz="4000" dirty="0"/>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Use Cases</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17 Rollen und Akteure</a:t>
            </a:r>
            <a:endParaRPr lang="en-US" sz="1100" dirty="0"/>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Klassen</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36 Assoziationen, 7 Aufzählungen</a:t>
            </a:r>
            <a:endParaRPr lang="en-US" sz="1100" dirty="0"/>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a:t>
            </a:r>
            <a:endParaRPr lang="en-US" sz="4000" dirty="0"/>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Sequenzdiagramme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 Zustandsdiagramm</a:t>
            </a:r>
            <a:endParaRPr lang="en-US" sz="1100" dirty="0"/>
          </a:p>
        </p:txBody>
      </p:sp>
      <p:sp>
        <p:nvSpPr>
          <p:cNvPr id="14" name="Shape 11"/>
          <p:cNvSpPr/>
          <p:nvPr/>
        </p:nvSpPr>
        <p:spPr>
          <a:xfrm>
            <a:off x="45720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15" name="Shape 12"/>
          <p:cNvSpPr/>
          <p:nvPr/>
        </p:nvSpPr>
        <p:spPr>
          <a:xfrm>
            <a:off x="64008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6" name="Image 0" descr="preencoded.png"/>
          <p:cNvPicPr>
            <a:picLocks noChangeAspect="1"/>
          </p:cNvPicPr>
          <p:nvPr/>
        </p:nvPicPr>
        <p:blipFill>
          <a:blip r:embed="rId3"/>
          <a:stretch>
            <a:fillRect/>
          </a:stretch>
        </p:blipFill>
        <p:spPr>
          <a:xfrm>
            <a:off x="754380" y="2994660"/>
            <a:ext cx="228600" cy="228600"/>
          </a:xfrm>
          <a:prstGeom prst="rect">
            <a:avLst/>
          </a:prstGeom>
        </p:spPr>
      </p:pic>
      <p:sp>
        <p:nvSpPr>
          <p:cNvPr id="17" name="Text 13"/>
          <p:cNvSpPr txBox="1"/>
          <p:nvPr/>
        </p:nvSpPr>
        <p:spPr>
          <a:xfrm>
            <a:off x="123444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Geschäftsprozesse</a:t>
            </a:r>
            <a:endParaRPr lang="en-US" sz="1400" dirty="0"/>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Camunda Modeler, BPMN 2.0, angereichert für Camunda 8. Zehn Prozesse vom ersten Foto bis zur Retoure. 41 Nachrichtenflüsse, 48 Datenobjekte, 12 Datenspeicher.</a:t>
            </a:r>
            <a:endParaRPr lang="en-US" sz="1050" dirty="0"/>
          </a:p>
        </p:txBody>
      </p:sp>
      <p:sp>
        <p:nvSpPr>
          <p:cNvPr id="19" name="Shape 15"/>
          <p:cNvSpPr/>
          <p:nvPr/>
        </p:nvSpPr>
        <p:spPr>
          <a:xfrm>
            <a:off x="324612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0" name="Shape 16"/>
          <p:cNvSpPr/>
          <p:nvPr/>
        </p:nvSpPr>
        <p:spPr>
          <a:xfrm>
            <a:off x="342900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1" name="Image 1" descr="preencoded.png"/>
          <p:cNvPicPr>
            <a:picLocks noChangeAspect="1"/>
          </p:cNvPicPr>
          <p:nvPr/>
        </p:nvPicPr>
        <p:blipFill>
          <a:blip r:embed="rId4"/>
          <a:stretch>
            <a:fillRect/>
          </a:stretch>
        </p:blipFill>
        <p:spPr>
          <a:xfrm>
            <a:off x="3543300" y="2994660"/>
            <a:ext cx="228600" cy="228600"/>
          </a:xfrm>
          <a:prstGeom prst="rect">
            <a:avLst/>
          </a:prstGeom>
        </p:spPr>
      </p:pic>
      <p:sp>
        <p:nvSpPr>
          <p:cNvPr id="22" name="Text 17"/>
          <p:cNvSpPr txBox="1"/>
          <p:nvPr/>
        </p:nvSpPr>
        <p:spPr>
          <a:xfrm>
            <a:off x="402336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Objektorientierte Analyse</a:t>
            </a:r>
            <a:endParaRPr lang="en-US" sz="1400" dirty="0"/>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Visual Paradigm: Use-Case-Diagramm, ein vollständiges Klassendiagramm, sechs Sequenzdiagramme als Unterdiagramme der Use Cases, Zustandsdiagramm des Reparaturauftrags.</a:t>
            </a:r>
            <a:endParaRPr lang="en-US" sz="1050" dirty="0"/>
          </a:p>
        </p:txBody>
      </p:sp>
      <p:sp>
        <p:nvSpPr>
          <p:cNvPr id="24" name="Shape 19"/>
          <p:cNvSpPr/>
          <p:nvPr/>
        </p:nvSpPr>
        <p:spPr>
          <a:xfrm>
            <a:off x="603504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5" name="Shape 20"/>
          <p:cNvSpPr/>
          <p:nvPr/>
        </p:nvSpPr>
        <p:spPr>
          <a:xfrm>
            <a:off x="621792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6" name="Image 2" descr="preencoded.png"/>
          <p:cNvPicPr>
            <a:picLocks noChangeAspect="1"/>
          </p:cNvPicPr>
          <p:nvPr/>
        </p:nvPicPr>
        <p:blipFill>
          <a:blip r:embed="rId5"/>
          <a:stretch>
            <a:fillRect/>
          </a:stretch>
        </p:blipFill>
        <p:spPr>
          <a:xfrm>
            <a:off x="6332220" y="2994660"/>
            <a:ext cx="228600" cy="228600"/>
          </a:xfrm>
          <a:prstGeom prst="rect">
            <a:avLst/>
          </a:prstGeom>
        </p:spPr>
      </p:pic>
      <p:sp>
        <p:nvSpPr>
          <p:cNvPr id="27" name="Text 21"/>
          <p:cNvSpPr txBox="1"/>
          <p:nvPr/>
        </p:nvSpPr>
        <p:spPr>
          <a:xfrm>
            <a:off x="681228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Dokumentation</a:t>
            </a:r>
            <a:endParaRPr lang="en-US" sz="1400" dirty="0"/>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Rund 20 Seiten: Projekt, Vorgehen, Projektmanagement, alle Artefakte, Konsistenz der Modelle, Herausforderungen und Feedback.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Zehn Prozesse, 60 Prozent automatisiert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79 %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131</a:t>
            </a:r>
            <a:endParaRPr lang="en-US" sz="4000" dirty="0"/>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Aktivitäten im Werkstatt-Pool, im Schnitt 13,1 je Diagramm</a:t>
            </a:r>
            <a:endParaRPr lang="en-US" sz="1100" dirty="0"/>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60 %</a:t>
            </a:r>
            <a:endParaRPr lang="en-US" sz="4000" dirty="0"/>
          </a:p>
        </p:txBody>
      </p:sp>
      <p:sp>
        <p:nvSpPr>
          <p:cNvPr id="5" name="Text 6"/>
          <p:cNvSpPr txBox="1"/>
          <p:nvPr/>
        </p:nvSpPr>
        <p:spPr>
          <a:xfrm>
            <a:off x="5943600" y="31546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davon führt RepairFlow ohne manuelle Arbeit aus: Status, Benachrichtigung, Prüfung, Berechnung, Regel</a:t>
            </a:r>
            <a:endParaRPr lang="en-US" sz="1100" dirty="0"/>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Handwerk bleibt Handwerk: Diagnose, Reparatur und Endkontrolle sind Aktivitäten des Technikers mit Unterstützung durch das System.</a:t>
            </a:r>
            <a:endParaRPr lang="en-US" sz="1000" dirty="0"/>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marL="0" indent="0">
              <a:buNone/>
            </a:pPr>
            <a:r>
              <a:rPr lang="en-US" sz="950" i="1" dirty="0">
                <a:solidFill>
                  <a:srgbClr val="5F6B7A"/>
                </a:solidFill>
                <a:latin typeface="Calibri" pitchFamily="34" charset="0"/>
                <a:ea typeface="Calibri" pitchFamily="34" charset="-122"/>
                <a:cs typeface="Calibri" pitchFamily="34" charset="-120"/>
              </a:rPr>
              <a:t>01 bis 08: durchgehende Auftragsreise · 09 und 10: Reklamation und Retoure · Pool Werkstattbetrieb mit Lanes Service, Techniker, Werkstattleitung, Disposition; Kunde mit eigenem Ablauf, Lieferant als Black Box</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Drei Prozess-Highlights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sp>
        <p:nvSpPr>
          <p:cNvPr id="6" name="Shape 3"/>
          <p:cNvSpPr/>
          <p:nvPr/>
        </p:nvSpPr>
        <p:spPr>
          <a:xfrm>
            <a:off x="45720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KVA-Freigabe (P04)</a:t>
            </a:r>
            <a:endParaRPr lang="en-US" sz="1400" dirty="0"/>
          </a:p>
        </p:txBody>
      </p:sp>
      <p:sp>
        <p:nvSpPr>
          <p:cNvPr id="10" name="Text 6"/>
          <p:cNvSpPr txBox="1"/>
          <p:nvPr/>
        </p:nvSpPr>
        <p:spPr>
          <a:xfrm>
            <a:off x="64008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Nach dem Versand wartet ein ereignisbasiertes Gateway auf Freigabe, Ablehnung oder drei Tage Frist.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Bei Fristablauf erinnert RepairFlow, höchstens zweimal. Nach dem dritten Fristablauf ohne Antwort gilt der KVA als abgelehnt, das Gerät geht mit Diagnosepauschale zur Abholung.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Kein Auftrag bleibt liegen.</a:t>
            </a:r>
            <a:endParaRPr lang="en-US" sz="1150" dirty="0"/>
          </a:p>
        </p:txBody>
      </p:sp>
      <p:sp>
        <p:nvSpPr>
          <p:cNvPr id="11" name="Shape 7"/>
          <p:cNvSpPr/>
          <p:nvPr/>
        </p:nvSpPr>
        <p:spPr>
          <a:xfrm>
            <a:off x="324612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 (P05)</a:t>
            </a:r>
            <a:endParaRPr lang="en-US" sz="1400" dirty="0"/>
          </a:p>
        </p:txBody>
      </p:sp>
      <p:sp>
        <p:nvSpPr>
          <p:cNvPr id="15" name="Text 10"/>
          <p:cNvSpPr txBox="1"/>
          <p:nvPr/>
        </p:nvSpPr>
        <p:spPr>
          <a:xfrm>
            <a:off x="342900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 Teil läuft parallel eine Prüfung: erst das eigene Lager, dann die anderen Filialen.</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Lokal vorhanden: reservieren. Anderswo vorhanden: umlagern. Nirgends: als Fehlteil markieren und erst dann bestellen (P06).</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Meldebestand unterschritten: Nachbestellvorschlag.</a:t>
            </a:r>
            <a:endParaRPr lang="en-US" sz="1150" dirty="0"/>
          </a:p>
        </p:txBody>
      </p:sp>
      <p:sp>
        <p:nvSpPr>
          <p:cNvPr id="16" name="Shape 11"/>
          <p:cNvSpPr/>
          <p:nvPr/>
        </p:nvSpPr>
        <p:spPr>
          <a:xfrm>
            <a:off x="603504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Reklamation (P09)</a:t>
            </a:r>
            <a:endParaRPr lang="en-US" sz="1400" dirty="0"/>
          </a:p>
        </p:txBody>
      </p:sp>
      <p:sp>
        <p:nvSpPr>
          <p:cNvPr id="20" name="Text 14"/>
          <p:cNvSpPr txBox="1"/>
          <p:nvPr/>
        </p:nvSpPr>
        <p:spPr>
          <a:xfrm>
            <a:off x="621792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Techniker prüft den Mangel, eine Geschäftsregel entscheidet über Gewährleistung.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Gewährleistung: kostenfreier Nacharbeitsauftrag, der durch die normale Auftragsreise läuft. Sonst: kostenpflichtiges Angebot.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Das Modell bleibt schlank, weil die Reklamation keine eigene Reparaturlogik braucht.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Wer macht was im System: Rollen und Use Cases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
        <p:nvSpPr>
          <p:cNvPr id="6" name="Text 3"/>
          <p:cNvSpPr txBox="1"/>
          <p:nvPr/>
        </p:nvSpPr>
        <p:spPr>
          <a:xfrm>
            <a:off x="457200" y="960120"/>
            <a:ext cx="8229600" cy="54864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19 Use Cases in vier Bereichen. Jeder Use Case hat genau eine Rolle (Hinweis aus dem Coaching): lesbar, und die Rollen kehren in den Sequenzdiagrammen wieder.</a:t>
            </a:r>
            <a:endParaRPr lang="en-US" sz="1300" dirty="0"/>
          </a:p>
        </p:txBody>
      </p:sp>
      <p:sp>
        <p:nvSpPr>
          <p:cNvPr id="7" name="Shape 4"/>
          <p:cNvSpPr/>
          <p:nvPr/>
        </p:nvSpPr>
        <p:spPr>
          <a:xfrm>
            <a:off x="457200" y="1600200"/>
            <a:ext cx="1965960" cy="2971800"/>
          </a:xfrm>
          <a:prstGeom prst="roundRect">
            <a:avLst>
              <a:gd name="adj" fmla="val 3721"/>
            </a:avLst>
          </a:prstGeom>
          <a:solidFill>
            <a:srgbClr val="FFF4D6"/>
          </a:solidFill>
          <a:ln w="12700">
            <a:solidFill>
              <a:srgbClr val="FFF4D6"/>
            </a:solidFill>
            <a:prstDash val="solid"/>
          </a:ln>
        </p:spPr>
        <p:txBody>
          <a:bodyPr/>
          <a:lstStyle/>
          <a:p>
            <a:endParaRPr lang="de-DE"/>
          </a:p>
        </p:txBody>
      </p:sp>
      <p:sp>
        <p:nvSpPr>
          <p:cNvPr id="8" name="Shape 5"/>
          <p:cNvSpPr/>
          <p:nvPr/>
        </p:nvSpPr>
        <p:spPr>
          <a:xfrm>
            <a:off x="640080" y="17830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1897380"/>
            <a:ext cx="228600" cy="228600"/>
          </a:xfrm>
          <a:prstGeom prst="rect">
            <a:avLst/>
          </a:prstGeom>
        </p:spPr>
      </p:pic>
      <p:sp>
        <p:nvSpPr>
          <p:cNvPr id="10" name="Text 6"/>
          <p:cNvSpPr txBox="1"/>
          <p:nvPr/>
        </p:nvSpPr>
        <p:spPr>
          <a:xfrm>
            <a:off x="123444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Kundenportal</a:t>
            </a:r>
            <a:endParaRPr lang="en-US" sz="1200" dirty="0"/>
          </a:p>
        </p:txBody>
      </p:sp>
      <p:sp>
        <p:nvSpPr>
          <p:cNvPr id="11" name="Text 7"/>
          <p:cNvSpPr txBox="1"/>
          <p:nvPr/>
        </p:nvSpPr>
        <p:spPr>
          <a:xfrm>
            <a:off x="64008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3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Kunde: Sofortdiagnose anfordern, Voranmeldung bestätigen, KVA freigeben / ablehnen</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extern: KI-Diagnosedienst</a:t>
            </a:r>
            <a:endParaRPr lang="en-US" sz="1000" dirty="0"/>
          </a:p>
        </p:txBody>
      </p:sp>
      <p:sp>
        <p:nvSpPr>
          <p:cNvPr id="12" name="Shape 8"/>
          <p:cNvSpPr/>
          <p:nvPr/>
        </p:nvSpPr>
        <p:spPr>
          <a:xfrm>
            <a:off x="256032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274320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2857500" y="1897380"/>
            <a:ext cx="228600" cy="228600"/>
          </a:xfrm>
          <a:prstGeom prst="rect">
            <a:avLst/>
          </a:prstGeom>
        </p:spPr>
      </p:pic>
      <p:sp>
        <p:nvSpPr>
          <p:cNvPr id="15" name="Text 10"/>
          <p:cNvSpPr txBox="1"/>
          <p:nvPr/>
        </p:nvSpPr>
        <p:spPr>
          <a:xfrm>
            <a:off x="333756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Auftrag und Werkstatt</a:t>
            </a:r>
            <a:endParaRPr lang="en-US" sz="1200" dirty="0"/>
          </a:p>
        </p:txBody>
      </p:sp>
      <p:sp>
        <p:nvSpPr>
          <p:cNvPr id="16" name="Text 11"/>
          <p:cNvSpPr txBox="1"/>
          <p:nvPr/>
        </p:nvSpPr>
        <p:spPr>
          <a:xfrm>
            <a:off x="274320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9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Serviceannahme, Diagnoseprüfer, Diagnostiker, Kalkulator, Werkstattplaner, Reparateur, Endkontrolleur, Geräteausgabe, Reklamationsbearbeiter</a:t>
            </a:r>
            <a:endParaRPr lang="en-US" sz="1000" dirty="0"/>
          </a:p>
        </p:txBody>
      </p:sp>
      <p:sp>
        <p:nvSpPr>
          <p:cNvPr id="17" name="Shape 12"/>
          <p:cNvSpPr/>
          <p:nvPr/>
        </p:nvSpPr>
        <p:spPr>
          <a:xfrm>
            <a:off x="466344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484632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4960620" y="1897380"/>
            <a:ext cx="228600" cy="228600"/>
          </a:xfrm>
          <a:prstGeom prst="rect">
            <a:avLst/>
          </a:prstGeom>
        </p:spPr>
      </p:pic>
      <p:sp>
        <p:nvSpPr>
          <p:cNvPr id="20" name="Text 14"/>
          <p:cNvSpPr txBox="1"/>
          <p:nvPr/>
        </p:nvSpPr>
        <p:spPr>
          <a:xfrm>
            <a:off x="544068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Ersatzteil-Disposition</a:t>
            </a:r>
            <a:endParaRPr lang="en-US" sz="1200" dirty="0"/>
          </a:p>
        </p:txBody>
      </p:sp>
      <p:sp>
        <p:nvSpPr>
          <p:cNvPr id="21" name="Text 15"/>
          <p:cNvSpPr txBox="1"/>
          <p:nvPr/>
        </p:nvSpPr>
        <p:spPr>
          <a:xfrm>
            <a:off x="484632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6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Teiledisponent, Bestandsplaner, Einkäufer, Wareneingang, Retourenbearbeiter</a:t>
            </a:r>
            <a:endParaRPr lang="en-US" sz="1000" dirty="0"/>
          </a:p>
          <a:p>
            <a:pPr marL="0" indent="0">
              <a:buNone/>
            </a:pPr>
            <a:endParaRPr lang="en-US" sz="1000" dirty="0"/>
          </a:p>
          <a:p>
            <a:pPr marL="0" indent="0">
              <a:buNone/>
            </a:pPr>
            <a:r>
              <a:rPr lang="en-US" sz="1000" dirty="0" err="1">
                <a:solidFill>
                  <a:srgbClr val="1B2430"/>
                </a:solidFill>
                <a:latin typeface="Calibri" pitchFamily="34" charset="0"/>
                <a:ea typeface="Calibri" pitchFamily="34" charset="-122"/>
                <a:cs typeface="Calibri" pitchFamily="34" charset="-120"/>
              </a:rPr>
              <a:t>Lieferant</a:t>
            </a:r>
            <a:r>
              <a:rPr lang="en-US" sz="1000" dirty="0">
                <a:solidFill>
                  <a:srgbClr val="1B2430"/>
                </a:solidFill>
                <a:latin typeface="Calibri" pitchFamily="34" charset="0"/>
                <a:ea typeface="Calibri" pitchFamily="34" charset="-122"/>
                <a:cs typeface="Calibri" pitchFamily="34" charset="-120"/>
              </a:rPr>
              <a:t>: Black Box, </a:t>
            </a:r>
            <a:r>
              <a:rPr lang="en-US" sz="1000" dirty="0" err="1">
                <a:solidFill>
                  <a:srgbClr val="1B2430"/>
                </a:solidFill>
                <a:latin typeface="Calibri" pitchFamily="34" charset="0"/>
                <a:ea typeface="Calibri" pitchFamily="34" charset="-122"/>
                <a:cs typeface="Calibri" pitchFamily="34" charset="-120"/>
              </a:rPr>
              <a:t>kein</a:t>
            </a:r>
            <a:r>
              <a:rPr lang="en-US" sz="1000" dirty="0">
                <a:solidFill>
                  <a:srgbClr val="1B2430"/>
                </a:solidFill>
                <a:latin typeface="Calibri" pitchFamily="34" charset="0"/>
                <a:ea typeface="Calibri" pitchFamily="34" charset="-122"/>
                <a:cs typeface="Calibri" pitchFamily="34" charset="-120"/>
              </a:rPr>
              <a:t> </a:t>
            </a:r>
            <a:r>
              <a:rPr lang="en-US" sz="1000" dirty="0" err="1">
                <a:solidFill>
                  <a:srgbClr val="1B2430"/>
                </a:solidFill>
                <a:latin typeface="Calibri" pitchFamily="34" charset="0"/>
                <a:ea typeface="Calibri" pitchFamily="34" charset="-122"/>
                <a:cs typeface="Calibri" pitchFamily="34" charset="-120"/>
              </a:rPr>
              <a:t>Akteur</a:t>
            </a:r>
            <a:endParaRPr lang="en-US" sz="1000" dirty="0"/>
          </a:p>
        </p:txBody>
      </p:sp>
      <p:sp>
        <p:nvSpPr>
          <p:cNvPr id="22" name="Shape 16"/>
          <p:cNvSpPr/>
          <p:nvPr/>
        </p:nvSpPr>
        <p:spPr>
          <a:xfrm>
            <a:off x="6766560" y="1600200"/>
            <a:ext cx="1920240" cy="2971800"/>
          </a:xfrm>
          <a:prstGeom prst="roundRect">
            <a:avLst>
              <a:gd name="adj" fmla="val 3810"/>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694944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7063740" y="1897380"/>
            <a:ext cx="228600" cy="228600"/>
          </a:xfrm>
          <a:prstGeom prst="rect">
            <a:avLst/>
          </a:prstGeom>
        </p:spPr>
      </p:pic>
      <p:sp>
        <p:nvSpPr>
          <p:cNvPr id="25" name="Text 18"/>
          <p:cNvSpPr txBox="1"/>
          <p:nvPr/>
        </p:nvSpPr>
        <p:spPr>
          <a:xfrm>
            <a:off x="7543800" y="1764792"/>
            <a:ext cx="100584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Administration</a:t>
            </a:r>
            <a:endParaRPr lang="en-US" sz="1200" dirty="0"/>
          </a:p>
        </p:txBody>
      </p:sp>
      <p:sp>
        <p:nvSpPr>
          <p:cNvPr id="26" name="Text 19"/>
          <p:cNvSpPr txBox="1"/>
          <p:nvPr/>
        </p:nvSpPr>
        <p:spPr>
          <a:xfrm>
            <a:off x="6949440" y="2331720"/>
            <a:ext cx="155448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1 Use Case</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Betriebsadministrator: Werkstattbetrieb und Filialen verwalten (Mandant)</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Rolle → Mitarbeitertyp → Lane: Tabelle 7 der Doku</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Datenmodell: fünf Entwurfsentscheidungen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
        <p:nvSpPr>
          <p:cNvPr id="6" name="Shape 3"/>
          <p:cNvSpPr/>
          <p:nvPr/>
        </p:nvSpPr>
        <p:spPr>
          <a:xfrm>
            <a:off x="45720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Reparaturauftrag als Aggregatwurzel</a:t>
            </a:r>
            <a:endParaRPr lang="en-US" sz="1400" dirty="0"/>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Befund und Reparaturschritte sind Kompositionen; KVA und Gerät nur zugeordnet, weil der Vorab-KVA vor dem Auftrag entsteht.</a:t>
            </a:r>
            <a:endParaRPr lang="en-US" sz="1000" dirty="0"/>
          </a:p>
        </p:txBody>
      </p:sp>
      <p:sp>
        <p:nvSpPr>
          <p:cNvPr id="11" name="Shape 7"/>
          <p:cNvSpPr/>
          <p:nvPr/>
        </p:nvSpPr>
        <p:spPr>
          <a:xfrm>
            <a:off x="470916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Lagerbestand je Filiale</a:t>
            </a:r>
            <a:endParaRPr lang="en-US" sz="1400" dirty="0"/>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Eigene Klasse zwischen Ersatzteil und Filiale. Nur so lässt sich die Verfügbarkeit über alle Filialen prüfen.</a:t>
            </a:r>
            <a:endParaRPr lang="en-US" sz="1000" dirty="0"/>
          </a:p>
        </p:txBody>
      </p:sp>
      <p:sp>
        <p:nvSpPr>
          <p:cNvPr id="16" name="Shape 11"/>
          <p:cNvSpPr/>
          <p:nvPr/>
        </p:nvSpPr>
        <p:spPr>
          <a:xfrm>
            <a:off x="45720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Reservierung mit Lebenszyklus</a:t>
            </a:r>
            <a:endParaRPr lang="en-US" sz="1400" dirty="0"/>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vorreserviert, reserviert, entnommen, storniert: eine Beziehung mit eigenen Daten wird zur Klasse.</a:t>
            </a:r>
            <a:endParaRPr lang="en-US" sz="1000" dirty="0"/>
          </a:p>
        </p:txBody>
      </p:sp>
      <p:sp>
        <p:nvSpPr>
          <p:cNvPr id="21" name="Shape 15"/>
          <p:cNvSpPr/>
          <p:nvPr/>
        </p:nvSpPr>
        <p:spPr>
          <a:xfrm>
            <a:off x="470916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Mandant und Mitarbeitertypen</a:t>
            </a:r>
            <a:endParaRPr lang="en-US" sz="1400" dirty="0"/>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Werkstattbetrieb als Mandant; Servicemitarbeiter, Techniker, Disponent, Werkstattleiter als Unterklassen von Mitarbeiter, passend zu Lanes und Rollen.</a:t>
            </a:r>
            <a:endParaRPr lang="en-US" sz="1000" dirty="0"/>
          </a:p>
        </p:txBody>
      </p:sp>
      <p:sp>
        <p:nvSpPr>
          <p:cNvPr id="26" name="Shape 19"/>
          <p:cNvSpPr/>
          <p:nvPr/>
        </p:nvSpPr>
        <p:spPr>
          <a:xfrm>
            <a:off x="457200" y="3438144"/>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640080" y="3621024"/>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Klassen für die Sofortdiagnose</a:t>
            </a:r>
            <a:endParaRPr lang="en-US" sz="1400" dirty="0"/>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Voranmeldung, Medienanhang und KIDiagnosevorschlag tragen das Alleinstellungsmerkmal im Modell.</a:t>
            </a:r>
            <a:endParaRPr lang="en-US" sz="1000" dirty="0"/>
          </a:p>
        </p:txBody>
      </p:sp>
      <p:sp>
        <p:nvSpPr>
          <p:cNvPr id="31" name="Shape 23"/>
          <p:cNvSpPr/>
          <p:nvPr/>
        </p:nvSpPr>
        <p:spPr>
          <a:xfrm>
            <a:off x="4709160" y="3438144"/>
            <a:ext cx="3977640" cy="1115568"/>
          </a:xfrm>
          <a:prstGeom prst="roundRect">
            <a:avLst>
              <a:gd name="adj" fmla="val 6557"/>
            </a:avLst>
          </a:prstGeom>
          <a:solidFill>
            <a:srgbClr val="0E5E5E"/>
          </a:solidFill>
          <a:ln w="12700">
            <a:solidFill>
              <a:srgbClr val="0E5E5E"/>
            </a:solidFill>
            <a:prstDash val="solid"/>
          </a:ln>
        </p:spPr>
        <p:txBody>
          <a:bodyPr/>
          <a:lstStyle/>
          <a:p>
            <a:endParaRPr lang="de-DE"/>
          </a:p>
        </p:txBody>
      </p:sp>
      <p:sp>
        <p:nvSpPr>
          <p:cNvPr id="32" name="Text 24"/>
          <p:cNvSpPr txBox="1"/>
          <p:nvPr/>
        </p:nvSpPr>
        <p:spPr>
          <a:xfrm>
            <a:off x="4892040" y="3474720"/>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27 Klassen · 36 Assoziationen · 7 Aufzählungen</a:t>
            </a:r>
            <a:endParaRPr lang="en-US" sz="1050" dirty="0"/>
          </a:p>
          <a:p>
            <a:pPr marL="0" indent="0">
              <a:buNone/>
            </a:pPr>
            <a:r>
              <a:rPr lang="en-US" sz="1050" dirty="0">
                <a:solidFill>
                  <a:srgbClr val="FFFFFF"/>
                </a:solidFill>
                <a:latin typeface="Calibri" pitchFamily="34" charset="0"/>
                <a:ea typeface="Calibri" pitchFamily="34" charset="-122"/>
                <a:cs typeface="Calibri" pitchFamily="34" charset="-120"/>
              </a:rPr>
              <a:t>Botschaft = Operation: Die sechs Sequenzdiagramme verwenden ausschließlich Operationen dieser Klassen. Der Reparaturauftrag führt den Status als Attribut, das Zustandsdiagramm beschreibt seine Übergänge.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566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9" name="Text 6"/>
          <p:cNvSpPr txBox="1"/>
          <p:nvPr/>
        </p:nvSpPr>
        <p:spPr>
          <a:xfrm>
            <a:off x="19385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1" name="Text 8"/>
          <p:cNvSpPr txBox="1"/>
          <p:nvPr/>
        </p:nvSpPr>
        <p:spPr>
          <a:xfrm>
            <a:off x="33101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3" name="Text 10"/>
          <p:cNvSpPr txBox="1"/>
          <p:nvPr/>
        </p:nvSpPr>
        <p:spPr>
          <a:xfrm>
            <a:off x="46817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5" name="Text 12"/>
          <p:cNvSpPr txBox="1"/>
          <p:nvPr/>
        </p:nvSpPr>
        <p:spPr>
          <a:xfrm>
            <a:off x="60533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7" name="Text 14"/>
          <p:cNvSpPr txBox="1"/>
          <p:nvPr/>
        </p:nvSpPr>
        <p:spPr>
          <a:xfrm>
            <a:off x="7424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0" descr="preencoded.png"/>
          <p:cNvPicPr>
            <a:picLocks noChangeAspect="1"/>
          </p:cNvPicPr>
          <p:nvPr/>
        </p:nvPicPr>
        <p:blipFill>
          <a:blip r:embed="rId3"/>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1" descr="preencoded.png"/>
          <p:cNvPicPr>
            <a:picLocks noChangeAspect="1"/>
          </p:cNvPicPr>
          <p:nvPr/>
        </p:nvPicPr>
        <p:blipFill>
          <a:blip r:embed="rId4"/>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30" name="Image 2" descr="preencoded.png"/>
          <p:cNvPicPr>
            <a:picLocks noChangeAspect="1"/>
          </p:cNvPicPr>
          <p:nvPr/>
        </p:nvPicPr>
        <p:blipFill>
          <a:blip r:embed="rId5"/>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Meilensteine</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02.09. alle Diagramme im Entwurf, 05.10. Korrekturen aus zwei Gesamtprüfungen, 15.10. Rollenstruktur und Zuständigkeiten, 22.10. Generalprobe, 27.10. Präsentation, 13.11. Abgabe.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Prüfrunden</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Gesamtprüfung 26.09., Komplettcheck 05.10. (39 Befunde), QA-Abgleich 08.10.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txBody>
          <a:bodyPr/>
          <a:lstStyle/>
          <a:p>
            <a:endParaRPr lang="de-DE"/>
          </a:p>
        </p:txBody>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Beispiel: </a:t>
            </a: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Geschäftsmodell und Ausblick</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16</a:t>
            </a:r>
            <a:endParaRPr lang="en-US" sz="900" dirty="0"/>
          </a:p>
        </p:txBody>
      </p:sp>
      <p:sp>
        <p:nvSpPr>
          <p:cNvPr id="6" name="Shape 3"/>
          <p:cNvSpPr/>
          <p:nvPr/>
        </p:nvSpPr>
        <p:spPr>
          <a:xfrm>
            <a:off x="45720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Abo je Filiale</a:t>
            </a:r>
            <a:endParaRPr lang="en-US" sz="1400" dirty="0"/>
          </a:p>
        </p:txBody>
      </p:sp>
      <p:sp>
        <p:nvSpPr>
          <p:cNvPr id="10" name="Text 6"/>
          <p:cNvSpPr txBox="1"/>
          <p:nvPr/>
        </p:nvSpPr>
        <p:spPr>
          <a:xfrm>
            <a:off x="64008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Basis: Auftrags- und Kundenverwaltung mit Kundenportal. Pro: zusätzlich filialübergreifende Disposition und KI-Sofortdiagnose.</a:t>
            </a:r>
            <a:endParaRPr lang="en-US" sz="1150" dirty="0"/>
          </a:p>
        </p:txBody>
      </p:sp>
      <p:sp>
        <p:nvSpPr>
          <p:cNvPr id="11" name="Shape 7"/>
          <p:cNvSpPr/>
          <p:nvPr/>
        </p:nvSpPr>
        <p:spPr>
          <a:xfrm>
            <a:off x="470916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Zielkunden</a:t>
            </a:r>
            <a:endParaRPr lang="en-US" sz="1400" dirty="0"/>
          </a:p>
        </p:txBody>
      </p:sp>
      <p:sp>
        <p:nvSpPr>
          <p:cNvPr id="15" name="Text 10"/>
          <p:cNvSpPr txBox="1"/>
          <p:nvPr/>
        </p:nvSpPr>
        <p:spPr>
          <a:xfrm>
            <a:off x="489204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Unabhängige Werkstätten und kleine Ketten mit 2 bis 10 Filialen im DACH-Raum, für die ein großes Werkstattsystem zu schwer ist.</a:t>
            </a:r>
            <a:endParaRPr lang="en-US" sz="1150" dirty="0"/>
          </a:p>
        </p:txBody>
      </p:sp>
      <p:sp>
        <p:nvSpPr>
          <p:cNvPr id="16" name="Text 11"/>
          <p:cNvSpPr txBox="1"/>
          <p:nvPr/>
        </p:nvSpPr>
        <p:spPr>
          <a:xfrm>
            <a:off x="457200" y="2743200"/>
            <a:ext cx="822960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Ausblick (Vision, nicht modelliert)</a:t>
            </a:r>
            <a:endParaRPr lang="en-US" sz="1300" dirty="0"/>
          </a:p>
        </p:txBody>
      </p:sp>
      <p:sp>
        <p:nvSpPr>
          <p:cNvPr id="17" name="Shape 12"/>
          <p:cNvSpPr/>
          <p:nvPr/>
        </p:nvSpPr>
        <p:spPr>
          <a:xfrm>
            <a:off x="45720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18" name="Shape 13"/>
          <p:cNvSpPr/>
          <p:nvPr/>
        </p:nvSpPr>
        <p:spPr>
          <a:xfrm>
            <a:off x="64008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360420"/>
            <a:ext cx="228600" cy="228600"/>
          </a:xfrm>
          <a:prstGeom prst="rect">
            <a:avLst/>
          </a:prstGeom>
        </p:spPr>
      </p:pic>
      <p:sp>
        <p:nvSpPr>
          <p:cNvPr id="20" name="Text 14"/>
          <p:cNvSpPr txBox="1"/>
          <p:nvPr/>
        </p:nvSpPr>
        <p:spPr>
          <a:xfrm>
            <a:off x="123444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Predictive Disposition</a:t>
            </a:r>
            <a:endParaRPr lang="en-US" sz="1400" dirty="0"/>
          </a:p>
        </p:txBody>
      </p:sp>
      <p:sp>
        <p:nvSpPr>
          <p:cNvPr id="21" name="Text 15"/>
          <p:cNvSpPr txBox="1"/>
          <p:nvPr/>
        </p:nvSpPr>
        <p:spPr>
          <a:xfrm>
            <a:off x="64008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Bedarfsprognose je Filiale und Saison, damit Teile vor der Nachfrage im Lager liegen.</a:t>
            </a:r>
            <a:endParaRPr lang="en-US" sz="1050" dirty="0"/>
          </a:p>
        </p:txBody>
      </p:sp>
      <p:sp>
        <p:nvSpPr>
          <p:cNvPr id="22" name="Shape 16"/>
          <p:cNvSpPr/>
          <p:nvPr/>
        </p:nvSpPr>
        <p:spPr>
          <a:xfrm>
            <a:off x="324612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3" name="Shape 17"/>
          <p:cNvSpPr/>
          <p:nvPr/>
        </p:nvSpPr>
        <p:spPr>
          <a:xfrm>
            <a:off x="342900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3543300" y="3360420"/>
            <a:ext cx="228600" cy="228600"/>
          </a:xfrm>
          <a:prstGeom prst="rect">
            <a:avLst/>
          </a:prstGeom>
        </p:spPr>
      </p:pic>
      <p:sp>
        <p:nvSpPr>
          <p:cNvPr id="25" name="Text 18"/>
          <p:cNvSpPr txBox="1"/>
          <p:nvPr/>
        </p:nvSpPr>
        <p:spPr>
          <a:xfrm>
            <a:off x="402336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Techniker-Copilot</a:t>
            </a:r>
            <a:endParaRPr lang="en-US" sz="1400" dirty="0"/>
          </a:p>
        </p:txBody>
      </p:sp>
      <p:sp>
        <p:nvSpPr>
          <p:cNvPr id="26" name="Text 19"/>
          <p:cNvSpPr txBox="1"/>
          <p:nvPr/>
        </p:nvSpPr>
        <p:spPr>
          <a:xfrm>
            <a:off x="342900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Reparaturschritte und Aufwand aus der Historie ähnlicher Aufträge vorschlagen.</a:t>
            </a:r>
            <a:endParaRPr lang="en-US" sz="1050" dirty="0"/>
          </a:p>
        </p:txBody>
      </p:sp>
      <p:sp>
        <p:nvSpPr>
          <p:cNvPr id="27" name="Shape 20"/>
          <p:cNvSpPr/>
          <p:nvPr/>
        </p:nvSpPr>
        <p:spPr>
          <a:xfrm>
            <a:off x="603504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8" name="Shape 21"/>
          <p:cNvSpPr/>
          <p:nvPr/>
        </p:nvSpPr>
        <p:spPr>
          <a:xfrm>
            <a:off x="621792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9" name="Image 4" descr="preencoded.png"/>
          <p:cNvPicPr>
            <a:picLocks noChangeAspect="1"/>
          </p:cNvPicPr>
          <p:nvPr/>
        </p:nvPicPr>
        <p:blipFill>
          <a:blip r:embed="rId7"/>
          <a:stretch>
            <a:fillRect/>
          </a:stretch>
        </p:blipFill>
        <p:spPr>
          <a:xfrm>
            <a:off x="6332220" y="3360420"/>
            <a:ext cx="228600" cy="228600"/>
          </a:xfrm>
          <a:prstGeom prst="rect">
            <a:avLst/>
          </a:prstGeom>
        </p:spPr>
      </p:pic>
      <p:sp>
        <p:nvSpPr>
          <p:cNvPr id="30" name="Text 22"/>
          <p:cNvSpPr txBox="1"/>
          <p:nvPr/>
        </p:nvSpPr>
        <p:spPr>
          <a:xfrm>
            <a:off x="681228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Digitale Geräteakte</a:t>
            </a:r>
            <a:endParaRPr lang="en-US" sz="1400" dirty="0"/>
          </a:p>
        </p:txBody>
      </p:sp>
      <p:sp>
        <p:nvSpPr>
          <p:cNvPr id="31" name="Text 23"/>
          <p:cNvSpPr txBox="1"/>
          <p:nvPr/>
        </p:nvSpPr>
        <p:spPr>
          <a:xfrm>
            <a:off x="621792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Gerät behält seine Reparaturgeschichte über alle Filialen und Besitzer.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Fazit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17</a:t>
            </a:r>
            <a:endParaRPr lang="en-US" sz="900" dirty="0"/>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RepairFlow löst den Medienbruch aus Papier, Excel und Telefon und macht den Reparaturauftrag zum zentralen Zustandsautomaten.</a:t>
            </a:r>
            <a:endParaRPr lang="en-US" sz="1600" dirty="0"/>
          </a:p>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Der fachliche Mehrwert liegt in der filialübergreifenden Disposition und in der KI-Sofortdiagnose, die dem Kunden Klarheit gibt, bevor er die Werkstatt betritt.</a:t>
            </a:r>
            <a:endParaRPr lang="en-US" sz="1600" dirty="0"/>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Vielen Dank</a:t>
            </a:r>
            <a:endParaRPr lang="en-US" sz="4000" dirty="0"/>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Calibri" pitchFamily="34" charset="0"/>
                <a:ea typeface="Calibri" pitchFamily="34" charset="-122"/>
                <a:cs typeface="Calibri" pitchFamily="34" charset="-120"/>
              </a:rPr>
              <a:t>Fragen?</a:t>
            </a:r>
            <a:endParaRPr lang="en-US" sz="2200" dirty="0"/>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Gruppe 1 · WWI25B4 · RepairFlow · Diagramme und Details in der Projektdokumentation</a:t>
            </a:r>
            <a:endParaRPr lang="en-US" sz="1200" dirty="0"/>
          </a:p>
        </p:txBody>
      </p:sp>
      <p:sp>
        <p:nvSpPr>
          <p:cNvPr id="10" name="Shape 7"/>
          <p:cNvSpPr/>
          <p:nvPr/>
        </p:nvSpPr>
        <p:spPr>
          <a:xfrm>
            <a:off x="7315200" y="283464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1" name="Image 0" descr="preencoded.png"/>
          <p:cNvPicPr>
            <a:picLocks noChangeAspect="1"/>
          </p:cNvPicPr>
          <p:nvPr/>
        </p:nvPicPr>
        <p:blipFill>
          <a:blip r:embed="rId3"/>
          <a:stretch>
            <a:fillRect/>
          </a:stretch>
        </p:blipFill>
        <p:spPr>
          <a:xfrm>
            <a:off x="7543800" y="3063240"/>
            <a:ext cx="457200" cy="457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Anhang: Beiträge der Vortragenden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3, 6, 11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SD2, SD3, SD5,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4–5, 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Lösung, Nutzenversprechen, KI-Sofortdiagnose;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8–10</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3"/>
          <p:cNvSpPr txBox="1"/>
          <p:nvPr/>
        </p:nvSpPr>
        <p:spPr>
          <a:xfrm>
            <a:off x="457200" y="425196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Zuordnung nach der Zuständigkeitsverteilung vom Gruppentermin 15.10.2026 (E-23): Jede Person trägt vor, was sie verantwortet.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4491</Words>
  <Application>Microsoft Macintosh PowerPoint</Application>
  <PresentationFormat>Bildschirmpräsentation (16:9)</PresentationFormat>
  <Paragraphs>373</Paragraphs>
  <Slides>18</Slides>
  <Notes>17</Notes>
  <HiddenSlides>3</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18</vt:i4>
      </vt:variant>
    </vt:vector>
  </HeadingPairs>
  <TitlesOfParts>
    <vt:vector size="22" baseType="lpstr">
      <vt:lpstr>Arial</vt:lpstr>
      <vt:lpstr>Calibri</vt:lpstr>
      <vt:lpstr>Segoe UI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3</cp:revision>
  <dcterms:created xsi:type="dcterms:W3CDTF">2026-10-15T07:59:30Z</dcterms:created>
  <dcterms:modified xsi:type="dcterms:W3CDTF">2026-10-15T14:52:06Z</dcterms:modified>
</cp:coreProperties>
</file>