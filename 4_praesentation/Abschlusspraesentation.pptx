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79" r:id="rId3"/>
    <p:sldId id="258" r:id="rId4"/>
    <p:sldId id="259" r:id="rId5"/>
    <p:sldId id="274" r:id="rId6"/>
    <p:sldId id="276" r:id="rId7"/>
    <p:sldId id="265" r:id="rId8"/>
    <p:sldId id="280" r:id="rId9"/>
    <p:sldId id="262" r:id="rId10"/>
    <p:sldId id="263" r:id="rId11"/>
    <p:sldId id="264" r:id="rId12"/>
    <p:sldId id="266" r:id="rId13"/>
    <p:sldId id="267" r:id="rId14"/>
    <p:sldId id="269" r:id="rId15"/>
    <p:sldId id="270" r:id="rId16"/>
    <p:sldId id="268" r:id="rId17"/>
    <p:sldId id="271" r:id="rId18"/>
    <p:sldId id="272" r:id="rId19"/>
    <p:sldId id="273"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vid" id="{88BB6C5F-BCA4-9943-807C-50A57D629305}">
          <p14:sldIdLst>
            <p14:sldId id="256"/>
            <p14:sldId id="279"/>
            <p14:sldId id="258"/>
            <p14:sldId id="259"/>
          </p14:sldIdLst>
        </p14:section>
        <p14:section name="Kilian" id="{1139A1D9-944E-3441-9BD8-35E9CEF6D225}">
          <p14:sldIdLst>
            <p14:sldId id="274"/>
          </p14:sldIdLst>
        </p14:section>
        <p14:section name="Maximilian" id="{0B64C47C-C681-8643-8A72-028DC518B57D}">
          <p14:sldIdLst>
            <p14:sldId id="276"/>
            <p14:sldId id="265"/>
            <p14:sldId id="280"/>
            <p14:sldId id="262"/>
          </p14:sldIdLst>
        </p14:section>
        <p14:section name="Adrian" id="{C59C4432-FF7E-A14B-8A5D-46FD719FCE68}">
          <p14:sldIdLst>
            <p14:sldId id="263"/>
            <p14:sldId id="264"/>
          </p14:sldIdLst>
        </p14:section>
        <p14:section name="Kilian" id="{2F11BAA1-0B73-6D4F-B882-B2353546D24B}">
          <p14:sldIdLst>
            <p14:sldId id="266"/>
            <p14:sldId id="267"/>
          </p14:sldIdLst>
        </p14:section>
        <p14:section name="Jakob" id="{7DC776A1-7D7D-F548-992F-CA5AB6B455F2}">
          <p14:sldIdLst>
            <p14:sldId id="269"/>
            <p14:sldId id="270"/>
          </p14:sldIdLst>
        </p14:section>
        <p14:section name="Nina" id="{0D502D7A-3C1B-1F4A-BB67-E47EF2FFD626}">
          <p14:sldIdLst>
            <p14:sldId id="268"/>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534"/>
    <p:restoredTop sz="94610"/>
  </p:normalViewPr>
  <p:slideViewPr>
    <p:cSldViewPr snapToGrid="0" snapToObjects="1">
      <p:cViewPr>
        <p:scale>
          <a:sx n="179" d="100"/>
          <a:sy n="179" d="100"/>
        </p:scale>
        <p:origin x="25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Guten Morgen zusammen. Wir sind Gruppe 1 und stellen Ihnen RepairFlow vor: eine Plattform, mit der Reparaturwerkstätten ihre Aufträge, Ersatzteile und Kunden an einer Stelle steuern. Den Anfang macht David mit dem Problem, das wir lösen wollen. Danach zeigt Adrian die Lösung, Maximilian, Kilian und Jakob fassen zusammen, was wir dafür modelliert haben, und ich schließe mit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Nina (40 s)
Unsere Präsentation hat zwei Hälften. In der ersten erzählen wir RepairFlow so, wie wir es einer Werkstatt vorstellen würden: Problem, Lösung, Nutzen, die Reparatur aus Kundensicht und unser Alleinstellungsmerkmal, die KI-Sofortdiagnose, mit einer kurzen Demo der Kunden-App. In der zweiten Hälfte zeigen wir, was dahintersteckt: zehn Geschäftsprozesse, Rollen und Use Cases, das Datenmodell, unser Vorgehen und die Qualitätssicherung. Die Diagramme selbst finden Sie in der Projektdokumentation und im Abgabepaket; hier konzentrieren wir uns auf die Ergebnisse. Fragen gern am Ende.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(75 s)
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(70 s)
RepairFlow ist unsere Antwort darauf. Wichtig für die Einordnung: Wir sind nicht die Werkstatt, wir sind das Software-Startup. FixWerk ist unser Pilotkunde, an dessen Abläufen wir die Plattform entworfen haben. Diese Perspektive haben wir nach der Rückfrage des Dozenten bei der Konzeptvorstellung bewusst festgelegt.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Außerhalb der Plattform bleiben die physische Reparatur, die Systeme der Lieferanten und die Buchhaltung; dorthin gibt es Schnittstellen, mehr nicht.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1F59D-253A-3924-605E-21120D21DC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F0349-F106-C4E8-17E5-ED0C64CB6C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4233D-DF4D-D00D-C65C-262A8E253EC1}"/>
              </a:ext>
            </a:extLst>
          </p:cNvPr>
          <p:cNvSpPr>
            <a:spLocks noGrp="1"/>
          </p:cNvSpPr>
          <p:nvPr>
            <p:ph type="body" idx="1"/>
          </p:nvPr>
        </p:nvSpPr>
        <p:spPr/>
        <p:txBody>
          <a:bodyPr/>
          <a:lstStyle/>
          <a:p>
            <a:r>
              <a:rPr lang="en-US" dirty="0"/>
              <a:t>Vortragende(r): David (75 s)
So sieht eine Reparatur mit RepairFlow aus. Der Kunde schickt per App ein Foto oder Video und bekommt innerhalb einer Minute Vorschlag, vorläufigen Kostenvoranschlag und Terminvorschlag. Bestätigt er, sind die Teile schon vorreserviert. In der Filiale wird das Gerät registriert und der Auftrag angelegt. Der Techniker prüft den Vorschlag, stellt die Diagnose und erstellt den Kostenvoranschlag, den der Kunde wieder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Und falls doch etwas nicht passt: Die Reklamation startet einen eigenen Prozess, im Gewährleistungsfall kostenfrei.</a:t>
            </a:r>
          </a:p>
        </p:txBody>
      </p:sp>
      <p:sp>
        <p:nvSpPr>
          <p:cNvPr id="4" name="Slide Number Placeholder 3">
            <a:extLst>
              <a:ext uri="{FF2B5EF4-FFF2-40B4-BE49-F238E27FC236}">
                <a16:creationId xmlns:a16="http://schemas.microsoft.com/office/drawing/2014/main" id="{081609AC-3073-AD42-66E5-3FF4BB1E7AD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615067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(80 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So bleibt das Modell schlank, weil die Reklamation keine eigene Reparaturlogik braucht.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(80 s)
Unser Alleinstellungsmerkmal ist die KI-Sofortdiagnose, die Sie gerade in der Auftragsreise gesehen haben.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Uns war wichtig, das glaubwürdig zu halten.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und erst dann wird daraus ein verbindlicher Kostenvoranschlag. Die Medien werden nur mit Einwilligung verarbeitet und nach Abschluss gelöscht.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(50 s)
Damit zur zweiten Hälfte: Was steckt hinter dieser Geschichte? Wir haben drei Modelle erstellt, die zusammenpassen. Zehn BPMN-Kollaborationsdiagramme mit 131 Aktivitäten im Werkstatt-Pool, dazu die Abläufe des Kunden mit 26 weiteren Aktivitäten. Ein Use-Case-Diagramm mit 19 Use Cases und 18 Akteuren. Ein vollständiges Klassendiagramm mit 27 Klassen und 36 Assoziationen. Sechs Sequenzdiagramme, gefordert waren fünf, und als Zugabe ein Zustandsdiagramm für den Reparaturauftrag. Alle Modelle liegen im Camunda Modeler und in Visual Paradigm und werden mit der Dokumentation abgegeben. Ich beginne mit den Geschäftsprozessen.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(70 s)
Die zehn Prozesse decken den gesamten Lebenszyklus ab. Prozesse 01 bis 08 sind die durchgehende Auftragsreise: Sofortdiagnose, Annahme, Diagnose, Kostenvoranschlag, Ersatzteilreservierung, Bestellung, Reparatur und Abholung. 09 und 10 sind die Folgeprozesse Reklamation und Retoure. Jedes Diagramm ist eine Kollaboration: Der Werkstattbetrieb ist der ausführbare Pool mit den Lanes Service, Techniker, Werkstattleitung und Disposition, der Kunde hat seinen eigenen Ablauf, der Lieferant bleibt eine Black Box. Die wichtigste Zahl: 60 Prozent der Aktivitäten führt RepairFlow ohne manuelle Arbeit aus, also Statuswechsel, Benachrichtigungen, Verfügbarkeitsprüfungen, Berechnungen und Regeln. Was Handwerk ist, bleibt Handwerk: Diagnose, Reparatur und Endkontrolle sind Aktivitäten des Technikers mit Unterstützung durch das System.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(70 s)
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jetzt Diagnoseprüfer, Diagnostiker, Kalkulator, Reparateur und Endkontrolleur. Welche Person welche Rolle ausfüllt, regelt die Werkstatt selbst; im Datenmodell sind die Rollen den Mitarbeitertypen zugeordnet. Das Diagramm ist dadurch sofort lesbar, und die Rollen tauchen in den Sequenzdiagrammen wieder auf. Dazu kommen der Kunde und zwei externe Akteure, der Lieferant und der KI-Diagnosedienst.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(80 s)
Das Klassendiagramm ist ein einziges, vollständiges Modell mit 27 Klassen. Fünf Entscheidungen prägen es. Erstens: Der Reparaturauftrag ist die Aggregatwurzel. Befund und Reparaturschritte existieren nur mit ihrem Auftrag und sind deshalb Kompositionen, Kostenvoranschlag und Gerät sind nur zugeordnet, weil der Vorab-KVA schon vor dem Auftrag entsteht. Zweitens: Der Lagerbestand ist eine eigene Klasse zwischen Ersatzteil und Filiale. Nur so lässt sich die Verfügbarkeit über alle Filialen prüfen. Drittens: Die Reservierung ist eine eigene Klasse mit Lebenszyklus, vorreserviert, reserviert, entnommen, storniert. Viertens: Der Werkstattbetrieb ist der Mandant, und die Mitarbeiter sind nach Typ spezialisiert, Servicemitarbeiter, Techniker, Disponent und Werkstattleiter, passend zu den Lanes in BPMN und zu den Rollen im Use-Case-Diagramm. Fünftens: Voranmeldung, Medienanhang und KI-Diagnosevorschlag tragen die Sofortdiagnose. Die sechs Sequenzdiagramme verwenden ausschließlich Operationen dieser Klassen; jede Botschaft an ein Objekt ist eine Operation des Klassendiagramms.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Drei Modelle, die sich auf dieselben Dinge beziehen, laufen schnell auseinander. Dagegen hatten wir drei Mittel. Erstens Konventionen: Datenobjekte in BPMN tragen die Klassennamen, Aktivitäten heißen Verb plus Objekt, jede Rolle ist genau einer Lane und einer Klasse zugeordnet, und die Statuswerte sind in allen Modellen identisch. Zweitens Werkzeuge: Die BPMN-Dateien sind für Camunda 8 angereichert, mit Task-Definitionen, Timern und Bedingungen. Der Camunda-Linter und bpmnlint melden null Befunde. Drittens Prüfrunden: Eine Gesamtprüfung am 26.09., ein Komplettcheck am 05.10. mit 39 Befunden und der QA-Abgleich am 08.10.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deshalb die Trennung in heute machbar und Vision. Gelernt haben wir, dass Konsistenz keine Prüfung am Ende ist, sondern eine Regel bei jeder Änderung. Und dass ein klarer Hinweis von außen, wie der zum Use-Case-Diagramm, ein Modell deutlich besser machen kann.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2854184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(70 s)
Gearbeitet haben wir in Sprints, die sich am Takt der vier Gruppentermine orientiert haben, mit Review, Retrospektive und Planning je Termin. Nina hat die Projektleitung, David die Stellvertretung und die Sicherungen, Adrian ist Product Owner, ich Scrum Master, Maximilian verantwortet BPMN, Jakob die Qualität. Alles Schriftliche liegt in einem GitHub-Repository; jede Änderung geht über einen eigenen Branch, einen Pull Request und ein Review durch eine zweite Person, bisher zehn gemergte Pull Requests. Das Trello-Board hat eine Liste je Termin und eine Karte je Person und Aufgabe. Jedes Diagramm wurde im Zweierteam geprüft. Die Meilensteine: Am 02.09. standen alle Diagramme im Entwurf, am 05.10. die Korrekturen aus zwei Gesamtprüfungen, am 15.10. haben wir die Rollenstruktur umgesetzt, am 22.10. war die Generalprobe. Die Abgabe folgt am 13.11.</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738043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(70 s)
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Das sind Betriebe, die heute genau die vier Probleme vom Anfang haben und für die ein großes Werkstattsystem zu schwer ist. Der Ausblick geht in drei Richtungen: Predictive Disposition, also eine Bedarfsprognose je Filiale und Saison, damit Teile vor der Nachfrage im Lager liegen.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0.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Layout" Target="../slideLayouts/slideLayout1.xml"/><Relationship Id="rId4" Type="http://schemas.openxmlformats.org/officeDocument/2006/relationships/image" Target="../media/image17.svg"/></Relationships>
</file>

<file path=ppt/slides/_rels/slide6.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18.svg"/><Relationship Id="rId7" Type="http://schemas.openxmlformats.org/officeDocument/2006/relationships/image" Target="../media/image22.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9.svg"/></Relationships>
</file>

<file path=ppt/slides/_rels/slide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26.svg"/><Relationship Id="rId4" Type="http://schemas.openxmlformats.org/officeDocument/2006/relationships/image" Target="../media/image25.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7.png"/><Relationship Id="rId4" Type="http://schemas.openxmlformats.org/officeDocument/2006/relationships/image" Target="../media/image46.png"/></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7.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51.sv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3"/>
          <p:cNvSpPr txBox="1"/>
          <p:nvPr/>
        </p:nvSpPr>
        <p:spPr>
          <a:xfrm>
            <a:off x="548640" y="974222"/>
            <a:ext cx="3657600" cy="274320"/>
          </a:xfrm>
          <a:prstGeom prst="rect">
            <a:avLst/>
          </a:prstGeom>
          <a:noFill/>
          <a:ln/>
        </p:spPr>
        <p:txBody>
          <a:bodyPr wrap="square" lIns="0" tIns="0" rIns="0" bIns="0" rtlCol="0" anchor="ctr"/>
          <a:lstStyle/>
          <a:p>
            <a:pPr marL="0" indent="0">
              <a:buNone/>
            </a:pPr>
            <a:r>
              <a:rPr lang="en-US" sz="1100" b="1" dirty="0">
                <a:solidFill>
                  <a:schemeClr val="accent2">
                    <a:lumMod val="75000"/>
                  </a:schemeClr>
                </a:solidFill>
                <a:latin typeface="Calibri" pitchFamily="34" charset="0"/>
                <a:ea typeface="Calibri" pitchFamily="34" charset="-122"/>
                <a:cs typeface="Calibri" pitchFamily="34" charset="-120"/>
              </a:rPr>
              <a:t>Teil 1: der Pitch</a:t>
            </a:r>
            <a:endParaRPr lang="en-US" sz="1100" dirty="0">
              <a:solidFill>
                <a:schemeClr val="accent2">
                  <a:lumMod val="75000"/>
                </a:schemeClr>
              </a:solidFill>
            </a:endParaRPr>
          </a:p>
        </p:txBody>
      </p:sp>
      <p:sp>
        <p:nvSpPr>
          <p:cNvPr id="7" name="Shape 4"/>
          <p:cNvSpPr/>
          <p:nvPr/>
        </p:nvSpPr>
        <p:spPr>
          <a:xfrm>
            <a:off x="548640" y="1294262"/>
            <a:ext cx="384048" cy="384048"/>
          </a:xfrm>
          <a:prstGeom prst="ellipse">
            <a:avLst/>
          </a:prstGeom>
          <a:solidFill>
            <a:schemeClr val="accent2">
              <a:lumMod val="50000"/>
            </a:schemeClr>
          </a:solidFill>
          <a:ln w="12700">
            <a:noFill/>
            <a:prstDash val="solid"/>
          </a:ln>
        </p:spPr>
        <p:txBody>
          <a:bodyPr/>
          <a:lstStyle/>
          <a:p>
            <a:endParaRPr lang="de-DE"/>
          </a:p>
        </p:txBody>
      </p:sp>
      <p:sp>
        <p:nvSpPr>
          <p:cNvPr id="9" name="Text 6"/>
          <p:cNvSpPr txBox="1"/>
          <p:nvPr/>
        </p:nvSpPr>
        <p:spPr>
          <a:xfrm>
            <a:off x="1097280" y="129426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514461" y="129426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724030"/>
            <a:ext cx="384048" cy="384048"/>
          </a:xfrm>
          <a:prstGeom prst="ellipse">
            <a:avLst/>
          </a:prstGeom>
          <a:solidFill>
            <a:schemeClr val="accent2">
              <a:lumMod val="50000"/>
            </a:schemeClr>
          </a:solidFill>
          <a:ln w="12700">
            <a:noFill/>
            <a:prstDash val="solid"/>
          </a:ln>
        </p:spPr>
        <p:txBody>
          <a:bodyPr/>
          <a:lstStyle/>
          <a:p>
            <a:endParaRPr lang="de-DE"/>
          </a:p>
        </p:txBody>
      </p:sp>
      <p:sp>
        <p:nvSpPr>
          <p:cNvPr id="13" name="Text 10"/>
          <p:cNvSpPr txBox="1"/>
          <p:nvPr/>
        </p:nvSpPr>
        <p:spPr>
          <a:xfrm>
            <a:off x="1097280" y="172403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 mit Live-Demo</a:t>
            </a:r>
            <a:endParaRPr lang="en-US" sz="1500" dirty="0"/>
          </a:p>
        </p:txBody>
      </p:sp>
      <p:sp>
        <p:nvSpPr>
          <p:cNvPr id="14" name="Text 11"/>
          <p:cNvSpPr txBox="1"/>
          <p:nvPr/>
        </p:nvSpPr>
        <p:spPr>
          <a:xfrm>
            <a:off x="6514461" y="172403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 Maximilian</a:t>
            </a:r>
            <a:endParaRPr lang="en-US" sz="1200" dirty="0"/>
          </a:p>
        </p:txBody>
      </p:sp>
      <p:sp>
        <p:nvSpPr>
          <p:cNvPr id="15" name="Text 12"/>
          <p:cNvSpPr txBox="1"/>
          <p:nvPr/>
        </p:nvSpPr>
        <p:spPr>
          <a:xfrm>
            <a:off x="548640" y="2323519"/>
            <a:ext cx="3657600" cy="274320"/>
          </a:xfrm>
          <a:prstGeom prst="rect">
            <a:avLst/>
          </a:prstGeom>
          <a:noFill/>
          <a:ln/>
        </p:spPr>
        <p:txBody>
          <a:bodyPr wrap="square" lIns="0" tIns="0" rIns="0" bIns="0" rtlCol="0" anchor="ctr"/>
          <a:lstStyle/>
          <a:p>
            <a:pPr marL="0" indent="0">
              <a:buNone/>
            </a:pPr>
            <a:r>
              <a:rPr lang="en-US" sz="1100" b="1" dirty="0">
                <a:solidFill>
                  <a:schemeClr val="accent2">
                    <a:lumMod val="75000"/>
                  </a:schemeClr>
                </a:solidFill>
                <a:latin typeface="Calibri" pitchFamily="34" charset="0"/>
                <a:ea typeface="Calibri" pitchFamily="34" charset="-122"/>
                <a:cs typeface="Calibri" pitchFamily="34" charset="-120"/>
              </a:rPr>
              <a:t>Teil 2: was dahintersteckt</a:t>
            </a:r>
            <a:endParaRPr lang="en-US" sz="1100" dirty="0">
              <a:solidFill>
                <a:schemeClr val="accent2">
                  <a:lumMod val="75000"/>
                </a:schemeClr>
              </a:solidFill>
            </a:endParaRPr>
          </a:p>
        </p:txBody>
      </p:sp>
      <p:sp>
        <p:nvSpPr>
          <p:cNvPr id="16" name="Shape 13"/>
          <p:cNvSpPr/>
          <p:nvPr/>
        </p:nvSpPr>
        <p:spPr>
          <a:xfrm>
            <a:off x="548640" y="2616127"/>
            <a:ext cx="384048" cy="384048"/>
          </a:xfrm>
          <a:prstGeom prst="ellipse">
            <a:avLst/>
          </a:prstGeom>
          <a:solidFill>
            <a:schemeClr val="accent2">
              <a:lumMod val="50000"/>
            </a:schemeClr>
          </a:solidFill>
          <a:ln w="12700">
            <a:noFill/>
            <a:prstDash val="solid"/>
          </a:ln>
        </p:spPr>
        <p:txBody>
          <a:bodyPr/>
          <a:lstStyle/>
          <a:p>
            <a:endParaRPr lang="de-DE"/>
          </a:p>
        </p:txBody>
      </p:sp>
      <p:sp>
        <p:nvSpPr>
          <p:cNvPr id="18" name="Text 15"/>
          <p:cNvSpPr txBox="1"/>
          <p:nvPr/>
        </p:nvSpPr>
        <p:spPr>
          <a:xfrm>
            <a:off x="1097280" y="2616127"/>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514461" y="2616127"/>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Maximilian, Adrian</a:t>
            </a:r>
            <a:endParaRPr lang="en-US" sz="1200" dirty="0"/>
          </a:p>
        </p:txBody>
      </p:sp>
      <p:sp>
        <p:nvSpPr>
          <p:cNvPr id="20" name="Shape 17"/>
          <p:cNvSpPr/>
          <p:nvPr/>
        </p:nvSpPr>
        <p:spPr>
          <a:xfrm>
            <a:off x="548640" y="3045895"/>
            <a:ext cx="384048" cy="384048"/>
          </a:xfrm>
          <a:prstGeom prst="ellipse">
            <a:avLst/>
          </a:prstGeom>
          <a:solidFill>
            <a:schemeClr val="accent2">
              <a:lumMod val="50000"/>
            </a:schemeClr>
          </a:solidFill>
          <a:ln w="12700">
            <a:noFill/>
            <a:prstDash val="solid"/>
          </a:ln>
        </p:spPr>
        <p:txBody>
          <a:bodyPr/>
          <a:lstStyle/>
          <a:p>
            <a:endParaRPr lang="de-DE"/>
          </a:p>
        </p:txBody>
      </p:sp>
      <p:sp>
        <p:nvSpPr>
          <p:cNvPr id="22" name="Text 19"/>
          <p:cNvSpPr txBox="1"/>
          <p:nvPr/>
        </p:nvSpPr>
        <p:spPr>
          <a:xfrm>
            <a:off x="1097280" y="3045895"/>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514461" y="3045895"/>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478140"/>
            <a:ext cx="384048" cy="384048"/>
          </a:xfrm>
          <a:prstGeom prst="ellipse">
            <a:avLst/>
          </a:prstGeom>
          <a:solidFill>
            <a:schemeClr val="accent2">
              <a:lumMod val="50000"/>
            </a:schemeClr>
          </a:solidFill>
          <a:ln w="12700">
            <a:noFill/>
            <a:prstDash val="solid"/>
          </a:ln>
        </p:spPr>
        <p:txBody>
          <a:bodyPr/>
          <a:lstStyle/>
          <a:p>
            <a:endParaRPr lang="de-DE"/>
          </a:p>
        </p:txBody>
      </p:sp>
      <p:sp>
        <p:nvSpPr>
          <p:cNvPr id="30" name="Text 27"/>
          <p:cNvSpPr txBox="1"/>
          <p:nvPr/>
        </p:nvSpPr>
        <p:spPr>
          <a:xfrm>
            <a:off x="1097280" y="34781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a:t>
            </a:r>
            <a:r>
              <a:rPr lang="en-US" sz="1500" dirty="0" err="1">
                <a:solidFill>
                  <a:srgbClr val="1B2430"/>
                </a:solidFill>
                <a:latin typeface="Calibri" pitchFamily="34" charset="0"/>
                <a:ea typeface="Calibri" pitchFamily="34" charset="-122"/>
                <a:cs typeface="Calibri" pitchFamily="34" charset="-120"/>
              </a:rPr>
              <a:t>Herausforderungen</a:t>
            </a:r>
            <a:r>
              <a:rPr lang="en-US" sz="1500" dirty="0">
                <a:solidFill>
                  <a:srgbClr val="1B2430"/>
                </a:solidFill>
                <a:latin typeface="Calibri" pitchFamily="34" charset="0"/>
                <a:ea typeface="Calibri" pitchFamily="34" charset="-122"/>
                <a:cs typeface="Calibri" pitchFamily="34" charset="-120"/>
              </a:rPr>
              <a:t>, </a:t>
            </a:r>
            <a:r>
              <a:rPr lang="en-US" sz="1500" dirty="0" err="1">
                <a:solidFill>
                  <a:srgbClr val="1B2430"/>
                </a:solidFill>
                <a:latin typeface="Calibri" pitchFamily="34" charset="0"/>
                <a:ea typeface="Calibri" pitchFamily="34" charset="-122"/>
                <a:cs typeface="Calibri" pitchFamily="34" charset="-120"/>
              </a:rPr>
              <a:t>Lernerfahrungen</a:t>
            </a:r>
            <a:r>
              <a:rPr lang="en-US" sz="1500" dirty="0">
                <a:solidFill>
                  <a:srgbClr val="1B2430"/>
                </a:solidFill>
                <a:latin typeface="Calibri" pitchFamily="34" charset="0"/>
                <a:ea typeface="Calibri" pitchFamily="34" charset="-122"/>
                <a:cs typeface="Calibri" pitchFamily="34" charset="-120"/>
              </a:rPr>
              <a:t>, </a:t>
            </a:r>
            <a:r>
              <a:rPr lang="en-US" sz="1500" dirty="0" err="1">
                <a:solidFill>
                  <a:srgbClr val="1B2430"/>
                </a:solidFill>
                <a:latin typeface="Calibri" pitchFamily="34" charset="0"/>
                <a:ea typeface="Calibri" pitchFamily="34" charset="-122"/>
                <a:cs typeface="Calibri" pitchFamily="34" charset="-120"/>
              </a:rPr>
              <a:t>Projektmanagement</a:t>
            </a:r>
            <a:endParaRPr lang="en-US" sz="1500" dirty="0"/>
          </a:p>
        </p:txBody>
      </p:sp>
      <p:sp>
        <p:nvSpPr>
          <p:cNvPr id="31" name="Text 28"/>
          <p:cNvSpPr txBox="1"/>
          <p:nvPr/>
        </p:nvSpPr>
        <p:spPr>
          <a:xfrm>
            <a:off x="6514461" y="34781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 Nina</a:t>
            </a:r>
            <a:endParaRPr lang="en-US" sz="1200" dirty="0"/>
          </a:p>
        </p:txBody>
      </p:sp>
      <p:sp>
        <p:nvSpPr>
          <p:cNvPr id="32" name="Shape 29"/>
          <p:cNvSpPr/>
          <p:nvPr/>
        </p:nvSpPr>
        <p:spPr>
          <a:xfrm>
            <a:off x="548640" y="3899363"/>
            <a:ext cx="384048" cy="384048"/>
          </a:xfrm>
          <a:prstGeom prst="ellipse">
            <a:avLst/>
          </a:prstGeom>
          <a:solidFill>
            <a:schemeClr val="accent2">
              <a:lumMod val="50000"/>
            </a:schemeClr>
          </a:solidFill>
          <a:ln w="12700">
            <a:noFill/>
            <a:prstDash val="solid"/>
          </a:ln>
        </p:spPr>
        <p:txBody>
          <a:bodyPr/>
          <a:lstStyle/>
          <a:p>
            <a:endParaRPr lang="de-DE"/>
          </a:p>
        </p:txBody>
      </p:sp>
      <p:sp>
        <p:nvSpPr>
          <p:cNvPr id="34" name="Text 31"/>
          <p:cNvSpPr txBox="1"/>
          <p:nvPr/>
        </p:nvSpPr>
        <p:spPr>
          <a:xfrm>
            <a:off x="1097280" y="3899363"/>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514461" y="3899363"/>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
        <p:nvSpPr>
          <p:cNvPr id="5" name="Text 0">
            <a:extLst>
              <a:ext uri="{FF2B5EF4-FFF2-40B4-BE49-F238E27FC236}">
                <a16:creationId xmlns:a16="http://schemas.microsoft.com/office/drawing/2014/main" id="{20CE692E-F865-BE81-16AB-382C01B4A47B}"/>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Agenda</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pic>
        <p:nvPicPr>
          <p:cNvPr id="37" name="Grafik 36" descr="Zukunft mit einfarbiger Füllung">
            <a:extLst>
              <a:ext uri="{FF2B5EF4-FFF2-40B4-BE49-F238E27FC236}">
                <a16:creationId xmlns:a16="http://schemas.microsoft.com/office/drawing/2014/main" id="{1BFD9E94-99C0-84C0-52AE-EA6A5FD7D2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8529" y="3911387"/>
            <a:ext cx="360000" cy="360000"/>
          </a:xfrm>
          <a:prstGeom prst="rect">
            <a:avLst/>
          </a:prstGeom>
        </p:spPr>
      </p:pic>
      <p:pic>
        <p:nvPicPr>
          <p:cNvPr id="39" name="Grafik 38" descr="Stern mit einfarbiger Füllung">
            <a:extLst>
              <a:ext uri="{FF2B5EF4-FFF2-40B4-BE49-F238E27FC236}">
                <a16:creationId xmlns:a16="http://schemas.microsoft.com/office/drawing/2014/main" id="{927C4290-BCF6-8A19-DCBC-758F4B69175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8529" y="3490673"/>
            <a:ext cx="360000" cy="360000"/>
          </a:xfrm>
          <a:prstGeom prst="rect">
            <a:avLst/>
          </a:prstGeom>
        </p:spPr>
      </p:pic>
      <p:pic>
        <p:nvPicPr>
          <p:cNvPr id="43" name="Grafik 42" descr="Benutzer mit einfarbiger Füllung">
            <a:extLst>
              <a:ext uri="{FF2B5EF4-FFF2-40B4-BE49-F238E27FC236}">
                <a16:creationId xmlns:a16="http://schemas.microsoft.com/office/drawing/2014/main" id="{DB491CEB-F48C-8B4B-C1EC-C069BE69844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8529" y="3059981"/>
            <a:ext cx="360000" cy="360000"/>
          </a:xfrm>
          <a:prstGeom prst="rect">
            <a:avLst/>
          </a:prstGeom>
        </p:spPr>
      </p:pic>
      <p:pic>
        <p:nvPicPr>
          <p:cNvPr id="45" name="Grafik 44" descr="Liste mit einfarbiger Füllung">
            <a:extLst>
              <a:ext uri="{FF2B5EF4-FFF2-40B4-BE49-F238E27FC236}">
                <a16:creationId xmlns:a16="http://schemas.microsoft.com/office/drawing/2014/main" id="{96972706-3AAB-1AE8-6ED5-CB25645441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0983" y="2645590"/>
            <a:ext cx="324000" cy="324000"/>
          </a:xfrm>
          <a:prstGeom prst="rect">
            <a:avLst/>
          </a:prstGeom>
        </p:spPr>
      </p:pic>
      <p:pic>
        <p:nvPicPr>
          <p:cNvPr id="47" name="Grafik 46" descr="Kreis mit Pfeil nach links mit einfarbiger Füllung">
            <a:extLst>
              <a:ext uri="{FF2B5EF4-FFF2-40B4-BE49-F238E27FC236}">
                <a16:creationId xmlns:a16="http://schemas.microsoft.com/office/drawing/2014/main" id="{189E8E0A-64C9-65CB-10AC-7C2B1A8DE96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0664" y="1736054"/>
            <a:ext cx="360000" cy="360000"/>
          </a:xfrm>
          <a:prstGeom prst="rect">
            <a:avLst/>
          </a:prstGeom>
        </p:spPr>
      </p:pic>
      <p:pic>
        <p:nvPicPr>
          <p:cNvPr id="49" name="Grafik 48" descr="Fragezeichen mit einfarbiger Füllung">
            <a:extLst>
              <a:ext uri="{FF2B5EF4-FFF2-40B4-BE49-F238E27FC236}">
                <a16:creationId xmlns:a16="http://schemas.microsoft.com/office/drawing/2014/main" id="{A91F061B-2487-A946-DBEE-FFF7EAAC4C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0664" y="1306286"/>
            <a:ext cx="360000" cy="360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Problem: Werkstätten heute</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Segoe UI" panose="020B0502040204020203" pitchFamily="34" charset="0"/>
                <a:ea typeface="Calibri" pitchFamily="34" charset="-122"/>
                <a:cs typeface="Segoe UI" panose="020B0502040204020203" pitchFamily="34" charset="0"/>
              </a:rPr>
              <a:t>Unser Szenario: Die Werkstattkette FixWerk GmbH (vier Filialen, Fahrrad, E-Bike und Elektronik) arbeitet mit Papier, Excel-Listen und Telefon. Daraus folgen vier Probleme:</a:t>
            </a:r>
            <a:endParaRPr lang="en-US" sz="1300" dirty="0">
              <a:latin typeface="Segoe UI" panose="020B0502040204020203" pitchFamily="34" charset="0"/>
              <a:cs typeface="Segoe UI" panose="020B0502040204020203" pitchFamily="34" charset="0"/>
            </a:endParaRPr>
          </a:p>
        </p:txBody>
      </p:sp>
      <p:sp>
        <p:nvSpPr>
          <p:cNvPr id="8" name="Shape 5"/>
          <p:cNvSpPr/>
          <p:nvPr/>
        </p:nvSpPr>
        <p:spPr>
          <a:xfrm>
            <a:off x="64008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 hören nichts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Keine zuverlässige Info, wann ein Kostenvoranschlag freizugeben oder das Gerät abholbereit ist. Rückfragen per Telefon, Geräte stehen wochenlang im Lager.</a:t>
            </a:r>
            <a:endParaRPr lang="en-US" sz="1150" dirty="0">
              <a:latin typeface="Segoe UI" panose="020B0502040204020203" pitchFamily="34" charset="0"/>
              <a:cs typeface="Segoe UI" panose="020B0502040204020203" pitchFamily="34" charset="0"/>
            </a:endParaRPr>
          </a:p>
        </p:txBody>
      </p:sp>
      <p:sp>
        <p:nvSpPr>
          <p:cNvPr id="13" name="Shape 9"/>
          <p:cNvSpPr/>
          <p:nvPr/>
        </p:nvSpPr>
        <p:spPr>
          <a:xfrm>
            <a:off x="489204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Kein Auftragsstatus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Wer wissen will, wo ein Gerät steht, fragt in der Werkstatt nach. Papierzettel und Excel-Listen laufen auseinander.</a:t>
            </a:r>
            <a:endParaRPr lang="en-US" sz="1150" dirty="0">
              <a:latin typeface="Segoe UI" panose="020B0502040204020203" pitchFamily="34" charset="0"/>
              <a:cs typeface="Segoe UI" panose="020B0502040204020203" pitchFamily="34" charset="0"/>
            </a:endParaRPr>
          </a:p>
        </p:txBody>
      </p:sp>
      <p:sp>
        <p:nvSpPr>
          <p:cNvPr id="18" name="Shape 13"/>
          <p:cNvSpPr/>
          <p:nvPr/>
        </p:nvSpPr>
        <p:spPr>
          <a:xfrm>
            <a:off x="64008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Teile doppelt bestellt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Jede Filiale bestellt für sich, obwohl das Teil in der Nachbarfiliale liegt. Das kostet Lieferzeit und Geld.</a:t>
            </a:r>
            <a:endParaRPr lang="en-US" sz="1150" dirty="0">
              <a:latin typeface="Segoe UI" panose="020B0502040204020203" pitchFamily="34" charset="0"/>
              <a:cs typeface="Segoe UI" panose="020B0502040204020203" pitchFamily="34" charset="0"/>
            </a:endParaRPr>
          </a:p>
        </p:txBody>
      </p:sp>
      <p:sp>
        <p:nvSpPr>
          <p:cNvPr id="23" name="Shape 17"/>
          <p:cNvSpPr/>
          <p:nvPr/>
        </p:nvSpPr>
        <p:spPr>
          <a:xfrm>
            <a:off x="489204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Auslastung unsichtbar</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Termine werden nach Gefühl zugesagt, die Kapazität der Techniker kennt niemand genau.</a:t>
            </a:r>
            <a:endParaRPr lang="en-US" sz="1150" dirty="0">
              <a:latin typeface="Segoe UI" panose="020B0502040204020203" pitchFamily="34" charset="0"/>
              <a:cs typeface="Segoe UI" panose="020B0502040204020203"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RepairFlow: die Lösung</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Shape 3"/>
          <p:cNvSpPr/>
          <p:nvPr/>
        </p:nvSpPr>
        <p:spPr>
          <a:xfrm>
            <a:off x="457200" y="960120"/>
            <a:ext cx="8229600" cy="77724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Eine Cloud-Plattform für den gesamten Reparatur-Lebenszyklus: von der Anfrage per App bis zur Abholung und Reklamation. Wir sind das Software-Startup, FixWerk ist unser Pilotkunde.</a:t>
            </a:r>
            <a:endParaRPr lang="en-US" sz="1400" dirty="0">
              <a:latin typeface="Segoe UI" panose="020B0502040204020203" pitchFamily="34" charset="0"/>
              <a:cs typeface="Segoe UI" panose="020B0502040204020203" pitchFamily="34" charset="0"/>
            </a:endParaRPr>
          </a:p>
        </p:txBody>
      </p:sp>
      <p:sp>
        <p:nvSpPr>
          <p:cNvPr id="9" name="Shape 6"/>
          <p:cNvSpPr/>
          <p:nvPr/>
        </p:nvSpPr>
        <p:spPr>
          <a:xfrm>
            <a:off x="64008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1658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Kundenportal</a:t>
            </a:r>
            <a:endParaRPr lang="en-US" sz="1400" dirty="0">
              <a:latin typeface="Segoe UI" panose="020B0502040204020203" pitchFamily="34" charset="0"/>
              <a:cs typeface="Segoe UI" panose="020B0502040204020203" pitchFamily="34" charset="0"/>
            </a:endParaRPr>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App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mit</a:t>
            </a:r>
            <a:r>
              <a:rPr lang="en-US" sz="1050" dirty="0">
                <a:solidFill>
                  <a:srgbClr val="1B2430"/>
                </a:solidFill>
                <a:latin typeface="Segoe UI" panose="020B0502040204020203" pitchFamily="34" charset="0"/>
                <a:ea typeface="Calibri" pitchFamily="34" charset="-122"/>
                <a:cs typeface="Segoe UI" panose="020B0502040204020203" pitchFamily="34" charset="0"/>
              </a:rPr>
              <a:t>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Sofortdiagnose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Voranmeldung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KVA-</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Freigabe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Statusmeldungen</a:t>
            </a:r>
            <a:endParaRPr lang="en-US" sz="1050" dirty="0">
              <a:latin typeface="Segoe UI" panose="020B0502040204020203" pitchFamily="34" charset="0"/>
              <a:cs typeface="Segoe UI" panose="020B0502040204020203" pitchFamily="34" charset="0"/>
            </a:endParaRPr>
          </a:p>
        </p:txBody>
      </p:sp>
      <p:sp>
        <p:nvSpPr>
          <p:cNvPr id="14" name="Shape 10"/>
          <p:cNvSpPr/>
          <p:nvPr/>
        </p:nvSpPr>
        <p:spPr>
          <a:xfrm>
            <a:off x="274320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Auftrag und Werkstatt</a:t>
            </a:r>
            <a:endParaRPr lang="en-US" sz="1400" dirty="0">
              <a:latin typeface="Segoe UI" panose="020B0502040204020203" pitchFamily="34" charset="0"/>
              <a:cs typeface="Segoe UI" panose="020B0502040204020203" pitchFamily="34" charset="0"/>
            </a:endParaRPr>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Auftragsstatus</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Diagnose</a:t>
            </a: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Kostenvoranschlag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Reparaturschritte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Endkontrolle</a:t>
            </a:r>
            <a:endParaRPr lang="en-US" sz="1050" dirty="0">
              <a:latin typeface="Segoe UI" panose="020B0502040204020203" pitchFamily="34" charset="0"/>
              <a:cs typeface="Segoe UI" panose="020B0502040204020203" pitchFamily="34" charset="0"/>
            </a:endParaRPr>
          </a:p>
        </p:txBody>
      </p:sp>
      <p:sp>
        <p:nvSpPr>
          <p:cNvPr id="19" name="Shape 14"/>
          <p:cNvSpPr/>
          <p:nvPr/>
        </p:nvSpPr>
        <p:spPr>
          <a:xfrm>
            <a:off x="484632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Disposition</a:t>
            </a:r>
            <a:endParaRPr lang="en-US" sz="1400" dirty="0">
              <a:latin typeface="Segoe UI" panose="020B0502040204020203" pitchFamily="34" charset="0"/>
              <a:cs typeface="Segoe UI" panose="020B0502040204020203" pitchFamily="34" charset="0"/>
            </a:endParaRPr>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Bestände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aller</a:t>
            </a:r>
            <a:r>
              <a:rPr lang="en-US" sz="1050" dirty="0">
                <a:solidFill>
                  <a:srgbClr val="1B2430"/>
                </a:solidFill>
                <a:latin typeface="Segoe UI" panose="020B0502040204020203" pitchFamily="34" charset="0"/>
                <a:ea typeface="Calibri" pitchFamily="34" charset="-122"/>
                <a:cs typeface="Segoe UI" panose="020B0502040204020203" pitchFamily="34" charset="0"/>
              </a:rPr>
              <a:t>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Filialen</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Reservierung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Umlagerung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Bestellung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Retoure</a:t>
            </a:r>
            <a:endParaRPr lang="en-US" sz="1050" dirty="0">
              <a:latin typeface="Segoe UI" panose="020B0502040204020203" pitchFamily="34" charset="0"/>
              <a:cs typeface="Segoe UI" panose="020B0502040204020203" pitchFamily="34" charset="0"/>
            </a:endParaRPr>
          </a:p>
        </p:txBody>
      </p:sp>
      <p:sp>
        <p:nvSpPr>
          <p:cNvPr id="24" name="Shape 18"/>
          <p:cNvSpPr/>
          <p:nvPr/>
        </p:nvSpPr>
        <p:spPr>
          <a:xfrm>
            <a:off x="694944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Abrechnung</a:t>
            </a:r>
            <a:endParaRPr lang="en-US" sz="1400" dirty="0">
              <a:latin typeface="Segoe UI" panose="020B0502040204020203" pitchFamily="34" charset="0"/>
              <a:cs typeface="Segoe UI" panose="020B0502040204020203" pitchFamily="34" charset="0"/>
            </a:endParaRPr>
          </a:p>
        </p:txBody>
      </p:sp>
      <p:sp>
        <p:nvSpPr>
          <p:cNvPr id="27" name="Text 20"/>
          <p:cNvSpPr txBox="1"/>
          <p:nvPr/>
        </p:nvSpPr>
        <p:spPr>
          <a:xfrm>
            <a:off x="6949440" y="2651760"/>
            <a:ext cx="1864360" cy="914400"/>
          </a:xfrm>
          <a:prstGeom prst="rect">
            <a:avLst/>
          </a:prstGeom>
          <a:noFill/>
          <a:ln/>
        </p:spPr>
        <p:txBody>
          <a:bodyPr wrap="square" lIns="0" tIns="0" rIns="0" bIns="0" rtlCol="0" anchor="t"/>
          <a:lstStyle/>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Rechnung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Zahlung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Übergabe</a:t>
            </a:r>
            <a:r>
              <a:rPr lang="en-US" sz="1050" dirty="0">
                <a:solidFill>
                  <a:srgbClr val="1B2430"/>
                </a:solidFill>
                <a:latin typeface="Segoe UI" panose="020B0502040204020203" pitchFamily="34" charset="0"/>
                <a:ea typeface="Calibri" pitchFamily="34" charset="-122"/>
                <a:cs typeface="Segoe UI" panose="020B0502040204020203" pitchFamily="34" charset="0"/>
              </a:rPr>
              <a:t> an die Buchhaltung</a:t>
            </a:r>
            <a:endParaRPr lang="en-US" sz="1050" dirty="0">
              <a:latin typeface="Segoe UI" panose="020B0502040204020203" pitchFamily="34" charset="0"/>
              <a:cs typeface="Segoe UI" panose="020B0502040204020203" pitchFamily="34" charset="0"/>
            </a:endParaRPr>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Zielkunden: unabhängige Werkstätten und kleine Ketten mit 2 bis 10 Filialen im DACH-Raum</a:t>
            </a:r>
            <a:endParaRPr lang="en-US" sz="1200" dirty="0">
              <a:latin typeface="Segoe UI" panose="020B0502040204020203" pitchFamily="34" charset="0"/>
              <a:cs typeface="Segoe UI" panose="020B0502040204020203" pitchFamily="34" charset="0"/>
            </a:endParaRPr>
          </a:p>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Außerhalb der Plattform: physische Reparatur, Lieferantensysteme, Buchhaltung (nur Schnittstellen)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Fahrrad, E-Bike und Elektronik mit einer Kundenbasis und einem gemeinsamen Ersatzteillager. Ein Auftragsstatus für alle.</a:t>
            </a:r>
            <a:endParaRPr lang="en-US" sz="1150" dirty="0">
              <a:latin typeface="Segoe UI" panose="020B0502040204020203" pitchFamily="34" charset="0"/>
              <a:cs typeface="Segoe UI" panose="020B0502040204020203" pitchFamily="34" charset="0"/>
            </a:endParaRPr>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Bestände, Reservierungen und Umlagerungen über alle Standorte. Bestellt wird nur, was nirgends liegt.</a:t>
            </a:r>
            <a:endParaRPr lang="en-US" sz="1150" dirty="0">
              <a:latin typeface="Segoe UI" panose="020B0502040204020203" pitchFamily="34" charset="0"/>
              <a:cs typeface="Segoe UI" panose="020B0502040204020203" pitchFamily="34" charset="0"/>
            </a:endParaRPr>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Foto aus der App, Diagnosevorschlag, vorläufiger Kostenvoranschlag und Termin, bevor der Kunde die Werkstatt betritt.</a:t>
            </a:r>
            <a:endParaRPr lang="en-US" sz="115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3801346-0FA1-B61E-4F34-A4548C1CF9EB}"/>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279FC891-62A7-4EE5-8538-437115166C1E}"/>
              </a:ext>
            </a:extLst>
          </p:cNvPr>
          <p:cNvGrpSpPr/>
          <p:nvPr/>
        </p:nvGrpSpPr>
        <p:grpSpPr>
          <a:xfrm>
            <a:off x="457199" y="1557128"/>
            <a:ext cx="8329602" cy="2654169"/>
            <a:chOff x="457200" y="1557129"/>
            <a:chExt cx="8366760" cy="2666012"/>
          </a:xfrm>
        </p:grpSpPr>
        <p:sp>
          <p:nvSpPr>
            <p:cNvPr id="6" name="Shape 3">
              <a:extLst>
                <a:ext uri="{FF2B5EF4-FFF2-40B4-BE49-F238E27FC236}">
                  <a16:creationId xmlns:a16="http://schemas.microsoft.com/office/drawing/2014/main" id="{7322EE97-5F33-9296-546E-68E2B1AACF27}"/>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7" name="Text 4">
              <a:extLst>
                <a:ext uri="{FF2B5EF4-FFF2-40B4-BE49-F238E27FC236}">
                  <a16:creationId xmlns:a16="http://schemas.microsoft.com/office/drawing/2014/main" id="{F30AE3AF-64A6-BF7C-108A-5CDBBB9BB59A}"/>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P01</a:t>
              </a:r>
              <a:endParaRPr lang="en-US" sz="1600" dirty="0">
                <a:latin typeface="Segoe UI" panose="020B0502040204020203" pitchFamily="34" charset="0"/>
                <a:cs typeface="Segoe UI" panose="020B0502040204020203" pitchFamily="34" charset="0"/>
              </a:endParaRPr>
            </a:p>
          </p:txBody>
        </p:sp>
        <p:sp>
          <p:nvSpPr>
            <p:cNvPr id="11" name="Text 7">
              <a:extLst>
                <a:ext uri="{FF2B5EF4-FFF2-40B4-BE49-F238E27FC236}">
                  <a16:creationId xmlns:a16="http://schemas.microsoft.com/office/drawing/2014/main" id="{6E197140-AD58-EEF3-FC07-CB88B860C7D5}"/>
                </a:ext>
              </a:extLst>
            </p:cNvPr>
            <p:cNvSpPr txBox="1"/>
            <p:nvPr/>
          </p:nvSpPr>
          <p:spPr>
            <a:xfrm>
              <a:off x="50292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Anfrage per App</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8">
              <a:extLst>
                <a:ext uri="{FF2B5EF4-FFF2-40B4-BE49-F238E27FC236}">
                  <a16:creationId xmlns:a16="http://schemas.microsoft.com/office/drawing/2014/main" id="{02B60CF3-6FF0-7166-6A49-DB42132E4ACB}"/>
                </a:ext>
              </a:extLst>
            </p:cNvPr>
            <p:cNvSpPr txBox="1"/>
            <p:nvPr/>
          </p:nvSpPr>
          <p:spPr>
            <a:xfrm>
              <a:off x="539496"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KI-Vorschlag, Vorab-KVA, Termin</a:t>
              </a:r>
              <a:endParaRPr lang="en-US" sz="1050" dirty="0">
                <a:latin typeface="Segoe UI" panose="020B0502040204020203" pitchFamily="34" charset="0"/>
                <a:cs typeface="Segoe UI" panose="020B0502040204020203" pitchFamily="34" charset="0"/>
              </a:endParaRPr>
            </a:p>
          </p:txBody>
        </p:sp>
        <p:sp>
          <p:nvSpPr>
            <p:cNvPr id="13" name="Shape 9">
              <a:extLst>
                <a:ext uri="{FF2B5EF4-FFF2-40B4-BE49-F238E27FC236}">
                  <a16:creationId xmlns:a16="http://schemas.microsoft.com/office/drawing/2014/main" id="{C110B1A6-4BF1-9DF3-FA85-39D1F50ABE9D}"/>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14" name="Text 10">
              <a:extLst>
                <a:ext uri="{FF2B5EF4-FFF2-40B4-BE49-F238E27FC236}">
                  <a16:creationId xmlns:a16="http://schemas.microsoft.com/office/drawing/2014/main" id="{06030758-50AD-8892-C859-C498CA27ED01}"/>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P02</a:t>
              </a:r>
              <a:endParaRPr lang="en-US" sz="1600" dirty="0">
                <a:latin typeface="Segoe UI" panose="020B0502040204020203" pitchFamily="34" charset="0"/>
                <a:cs typeface="Segoe UI" panose="020B0502040204020203" pitchFamily="34" charset="0"/>
              </a:endParaRPr>
            </a:p>
          </p:txBody>
        </p:sp>
        <p:sp>
          <p:nvSpPr>
            <p:cNvPr id="18" name="Text 13">
              <a:extLst>
                <a:ext uri="{FF2B5EF4-FFF2-40B4-BE49-F238E27FC236}">
                  <a16:creationId xmlns:a16="http://schemas.microsoft.com/office/drawing/2014/main" id="{BE4AB8A3-EF0C-A300-509D-CF14A6E2B2B8}"/>
                </a:ext>
              </a:extLst>
            </p:cNvPr>
            <p:cNvSpPr txBox="1"/>
            <p:nvPr/>
          </p:nvSpPr>
          <p:spPr>
            <a:xfrm>
              <a:off x="1892808"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Annahme</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9" name="Text 14">
              <a:extLst>
                <a:ext uri="{FF2B5EF4-FFF2-40B4-BE49-F238E27FC236}">
                  <a16:creationId xmlns:a16="http://schemas.microsoft.com/office/drawing/2014/main" id="{18AF9CD0-7D7C-490A-15A1-BD992FBAA389}"/>
                </a:ext>
              </a:extLst>
            </p:cNvPr>
            <p:cNvSpPr txBox="1"/>
            <p:nvPr/>
          </p:nvSpPr>
          <p:spPr>
            <a:xfrm>
              <a:off x="1929384"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Gerät registriert, Auftrag angelegt</a:t>
              </a:r>
              <a:endParaRPr lang="en-US" sz="1050" dirty="0">
                <a:latin typeface="Segoe UI" panose="020B0502040204020203" pitchFamily="34" charset="0"/>
                <a:cs typeface="Segoe UI" panose="020B0502040204020203" pitchFamily="34" charset="0"/>
              </a:endParaRPr>
            </a:p>
          </p:txBody>
        </p:sp>
        <p:sp>
          <p:nvSpPr>
            <p:cNvPr id="20" name="Shape 15">
              <a:extLst>
                <a:ext uri="{FF2B5EF4-FFF2-40B4-BE49-F238E27FC236}">
                  <a16:creationId xmlns:a16="http://schemas.microsoft.com/office/drawing/2014/main" id="{857DA967-D85F-A858-8489-6E47952A1591}"/>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1" name="Text 16">
              <a:extLst>
                <a:ext uri="{FF2B5EF4-FFF2-40B4-BE49-F238E27FC236}">
                  <a16:creationId xmlns:a16="http://schemas.microsoft.com/office/drawing/2014/main" id="{18511DC0-1226-332B-0BC0-E75682C3A187}"/>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P03, P04</a:t>
              </a:r>
              <a:endParaRPr lang="en-US" sz="1600" dirty="0">
                <a:latin typeface="Segoe UI" panose="020B0502040204020203" pitchFamily="34" charset="0"/>
                <a:cs typeface="Segoe UI" panose="020B0502040204020203" pitchFamily="34" charset="0"/>
              </a:endParaRPr>
            </a:p>
          </p:txBody>
        </p:sp>
        <p:sp>
          <p:nvSpPr>
            <p:cNvPr id="25" name="Text 19">
              <a:extLst>
                <a:ext uri="{FF2B5EF4-FFF2-40B4-BE49-F238E27FC236}">
                  <a16:creationId xmlns:a16="http://schemas.microsoft.com/office/drawing/2014/main" id="{EE2A20AE-03AC-6529-CA2C-E7313D9114E4}"/>
                </a:ext>
              </a:extLst>
            </p:cNvPr>
            <p:cNvSpPr txBox="1"/>
            <p:nvPr/>
          </p:nvSpPr>
          <p:spPr>
            <a:xfrm>
              <a:off x="3282696"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Diagnose / KVA</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20">
              <a:extLst>
                <a:ext uri="{FF2B5EF4-FFF2-40B4-BE49-F238E27FC236}">
                  <a16:creationId xmlns:a16="http://schemas.microsoft.com/office/drawing/2014/main" id="{13AB6925-A77E-04C4-68B0-1402EC07585B}"/>
                </a:ext>
              </a:extLst>
            </p:cNvPr>
            <p:cNvSpPr txBox="1"/>
            <p:nvPr/>
          </p:nvSpPr>
          <p:spPr>
            <a:xfrm>
              <a:off x="3319272"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Techniker prüft, Kunde gibt frei</a:t>
              </a:r>
              <a:endParaRPr lang="en-US" sz="1050" dirty="0">
                <a:latin typeface="Segoe UI" panose="020B0502040204020203" pitchFamily="34" charset="0"/>
                <a:cs typeface="Segoe UI" panose="020B0502040204020203" pitchFamily="34" charset="0"/>
              </a:endParaRPr>
            </a:p>
          </p:txBody>
        </p:sp>
        <p:sp>
          <p:nvSpPr>
            <p:cNvPr id="27" name="Shape 21">
              <a:extLst>
                <a:ext uri="{FF2B5EF4-FFF2-40B4-BE49-F238E27FC236}">
                  <a16:creationId xmlns:a16="http://schemas.microsoft.com/office/drawing/2014/main" id="{BDAE9F2B-91A9-49A6-51E7-0D9B34EFF536}"/>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8" name="Text 22">
              <a:extLst>
                <a:ext uri="{FF2B5EF4-FFF2-40B4-BE49-F238E27FC236}">
                  <a16:creationId xmlns:a16="http://schemas.microsoft.com/office/drawing/2014/main" id="{61CB2146-0AD4-BAA1-8021-5AC92639F443}"/>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P05, P06</a:t>
              </a:r>
              <a:endParaRPr lang="en-US" sz="1600" dirty="0">
                <a:latin typeface="Segoe UI" panose="020B0502040204020203" pitchFamily="34" charset="0"/>
                <a:cs typeface="Segoe UI" panose="020B0502040204020203" pitchFamily="34" charset="0"/>
              </a:endParaRPr>
            </a:p>
          </p:txBody>
        </p:sp>
        <p:sp>
          <p:nvSpPr>
            <p:cNvPr id="32" name="Text 25">
              <a:extLst>
                <a:ext uri="{FF2B5EF4-FFF2-40B4-BE49-F238E27FC236}">
                  <a16:creationId xmlns:a16="http://schemas.microsoft.com/office/drawing/2014/main" id="{52752689-8AEF-ACC1-53C1-3E3917F660D0}"/>
                </a:ext>
              </a:extLst>
            </p:cNvPr>
            <p:cNvSpPr txBox="1"/>
            <p:nvPr/>
          </p:nvSpPr>
          <p:spPr>
            <a:xfrm>
              <a:off x="4672584"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Teile disponieren</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33" name="Text 26">
              <a:extLst>
                <a:ext uri="{FF2B5EF4-FFF2-40B4-BE49-F238E27FC236}">
                  <a16:creationId xmlns:a16="http://schemas.microsoft.com/office/drawing/2014/main" id="{C8B761B2-20C6-18B5-5714-E715BAFC0759}"/>
                </a:ext>
              </a:extLst>
            </p:cNvPr>
            <p:cNvSpPr txBox="1"/>
            <p:nvPr/>
          </p:nvSpPr>
          <p:spPr>
            <a:xfrm>
              <a:off x="4709160"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alle Filialen, Fehlteile bestellen</a:t>
              </a:r>
              <a:endParaRPr lang="en-US" sz="1050" dirty="0">
                <a:latin typeface="Segoe UI" panose="020B0502040204020203" pitchFamily="34" charset="0"/>
                <a:cs typeface="Segoe UI" panose="020B0502040204020203" pitchFamily="34" charset="0"/>
              </a:endParaRPr>
            </a:p>
          </p:txBody>
        </p:sp>
        <p:sp>
          <p:nvSpPr>
            <p:cNvPr id="34" name="Shape 27">
              <a:extLst>
                <a:ext uri="{FF2B5EF4-FFF2-40B4-BE49-F238E27FC236}">
                  <a16:creationId xmlns:a16="http://schemas.microsoft.com/office/drawing/2014/main" id="{74D8CB0B-5B7F-4674-84E6-609A60376742}"/>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35" name="Text 28">
              <a:extLst>
                <a:ext uri="{FF2B5EF4-FFF2-40B4-BE49-F238E27FC236}">
                  <a16:creationId xmlns:a16="http://schemas.microsoft.com/office/drawing/2014/main" id="{C8127221-8A4C-D5BE-97F3-35C168CFA7E9}"/>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P07</a:t>
              </a:r>
              <a:endParaRPr lang="en-US" sz="1600" dirty="0">
                <a:latin typeface="Segoe UI" panose="020B0502040204020203" pitchFamily="34" charset="0"/>
                <a:cs typeface="Segoe UI" panose="020B0502040204020203" pitchFamily="34" charset="0"/>
              </a:endParaRPr>
            </a:p>
          </p:txBody>
        </p:sp>
        <p:sp>
          <p:nvSpPr>
            <p:cNvPr id="39" name="Text 31">
              <a:extLst>
                <a:ext uri="{FF2B5EF4-FFF2-40B4-BE49-F238E27FC236}">
                  <a16:creationId xmlns:a16="http://schemas.microsoft.com/office/drawing/2014/main" id="{8C3D5FEF-7383-A38B-3CB2-0BB6EDAD636C}"/>
                </a:ext>
              </a:extLst>
            </p:cNvPr>
            <p:cNvSpPr txBox="1"/>
            <p:nvPr/>
          </p:nvSpPr>
          <p:spPr>
            <a:xfrm>
              <a:off x="6062472"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40" name="Text 32">
              <a:extLst>
                <a:ext uri="{FF2B5EF4-FFF2-40B4-BE49-F238E27FC236}">
                  <a16:creationId xmlns:a16="http://schemas.microsoft.com/office/drawing/2014/main" id="{91E9EAC8-EAC8-8A8E-12BE-68225B5DF61A}"/>
                </a:ext>
              </a:extLst>
            </p:cNvPr>
            <p:cNvSpPr txBox="1"/>
            <p:nvPr/>
          </p:nvSpPr>
          <p:spPr>
            <a:xfrm>
              <a:off x="6099048"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Schritte, Arbeitszeit, Endkontrolle</a:t>
              </a:r>
              <a:endParaRPr lang="en-US" sz="1050" dirty="0">
                <a:latin typeface="Segoe UI" panose="020B0502040204020203" pitchFamily="34" charset="0"/>
                <a:cs typeface="Segoe UI" panose="020B0502040204020203" pitchFamily="34" charset="0"/>
              </a:endParaRPr>
            </a:p>
          </p:txBody>
        </p:sp>
        <p:sp>
          <p:nvSpPr>
            <p:cNvPr id="41" name="Shape 33">
              <a:extLst>
                <a:ext uri="{FF2B5EF4-FFF2-40B4-BE49-F238E27FC236}">
                  <a16:creationId xmlns:a16="http://schemas.microsoft.com/office/drawing/2014/main" id="{15958EE4-81F2-3D7D-F523-179850BF6474}"/>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latin typeface="Segoe UI" panose="020B0502040204020203" pitchFamily="34" charset="0"/>
                <a:cs typeface="Segoe UI" panose="020B0502040204020203" pitchFamily="34" charset="0"/>
              </a:endParaRPr>
            </a:p>
          </p:txBody>
        </p:sp>
        <p:sp>
          <p:nvSpPr>
            <p:cNvPr id="42" name="Text 34">
              <a:extLst>
                <a:ext uri="{FF2B5EF4-FFF2-40B4-BE49-F238E27FC236}">
                  <a16:creationId xmlns:a16="http://schemas.microsoft.com/office/drawing/2014/main" id="{984422EA-8EA9-0057-7CE3-C31E50BAC40F}"/>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P08</a:t>
              </a:r>
              <a:endParaRPr lang="en-US" sz="1600" dirty="0">
                <a:latin typeface="Segoe UI" panose="020B0502040204020203" pitchFamily="34" charset="0"/>
                <a:cs typeface="Segoe UI" panose="020B0502040204020203" pitchFamily="34" charset="0"/>
              </a:endParaRPr>
            </a:p>
          </p:txBody>
        </p:sp>
        <p:sp>
          <p:nvSpPr>
            <p:cNvPr id="46" name="Text 37">
              <a:extLst>
                <a:ext uri="{FF2B5EF4-FFF2-40B4-BE49-F238E27FC236}">
                  <a16:creationId xmlns:a16="http://schemas.microsoft.com/office/drawing/2014/main" id="{9E6036D2-CA77-79F5-AD32-1E1090F78AC9}"/>
                </a:ext>
              </a:extLst>
            </p:cNvPr>
            <p:cNvSpPr txBox="1"/>
            <p:nvPr/>
          </p:nvSpPr>
          <p:spPr>
            <a:xfrm>
              <a:off x="745236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Abholung</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47" name="Text 38">
              <a:extLst>
                <a:ext uri="{FF2B5EF4-FFF2-40B4-BE49-F238E27FC236}">
                  <a16:creationId xmlns:a16="http://schemas.microsoft.com/office/drawing/2014/main" id="{6A81179B-0E6D-4261-2C86-E82B9E5AFD73}"/>
                </a:ext>
              </a:extLst>
            </p:cNvPr>
            <p:cNvSpPr txBox="1"/>
            <p:nvPr/>
          </p:nvSpPr>
          <p:spPr>
            <a:xfrm>
              <a:off x="7488936"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Benachrichtigung, Rechnung, Zahlung</a:t>
              </a:r>
              <a:endParaRPr lang="en-US" sz="1050" dirty="0">
                <a:latin typeface="Segoe UI" panose="020B0502040204020203" pitchFamily="34" charset="0"/>
                <a:cs typeface="Segoe UI" panose="020B0502040204020203" pitchFamily="34" charset="0"/>
              </a:endParaRPr>
            </a:p>
          </p:txBody>
        </p:sp>
        <p:pic>
          <p:nvPicPr>
            <p:cNvPr id="67" name="Grafik 66" descr="Abzeichen Tick1 mit einfarbiger Füllung">
              <a:extLst>
                <a:ext uri="{FF2B5EF4-FFF2-40B4-BE49-F238E27FC236}">
                  <a16:creationId xmlns:a16="http://schemas.microsoft.com/office/drawing/2014/main" id="{4BD734DC-6D43-0678-E2C9-B18A97D258E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FD9B80FD-F6BB-1DBA-9C78-8FE2943610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1E146D0C-5CE4-C481-0A7D-8604D997182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149AB788-B0A0-27E4-E44B-FB854DF58C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BE44C8A4-075B-5AB0-8CD3-8C836D8628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CCCE62BC-BA7E-B8B1-0386-CFA5D2F0C7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F6A1B6E3-88D8-142F-94E7-CD776DB106B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7035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Prozess-Highlights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640079" y="192689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KVA-Freigabe (P04)</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Nach dem Versand wartet ein ereignisbasiertes Gateway auf Freigabe, Ablehnung oder drei Tage Frist.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Bei Fristablauf erinnert RepairFlow, höchstens zweimal. Nach dem dritten Fristablauf ohne Antwort gilt der KVA als abgelehnt, das Gerät geht mit Diagnosepauschale zur Abholung.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 Auftrag bleibt liegen.</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342899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Disposition (P05)</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 Teil läuft parallel eine Prüfung: erst das eigene Lager, dann die anderen Filialen.</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Lokal vorhanden: reservieren. Anderswo vorhanden: umlagern. Nirgends: als Fehlteil markieren und erst dann bestellen (P06).</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Meldebestand unterschritten: Nachbestellvorschlag.</a:t>
            </a:r>
            <a:endParaRPr lang="en-US" sz="1150" dirty="0">
              <a:latin typeface="Segoe UI" panose="020B0502040204020203" pitchFamily="34" charset="0"/>
              <a:cs typeface="Segoe UI" panose="020B0502040204020203" pitchFamily="34" charset="0"/>
            </a:endParaRPr>
          </a:p>
        </p:txBody>
      </p:sp>
      <p:sp>
        <p:nvSpPr>
          <p:cNvPr id="19" name="Text 13"/>
          <p:cNvSpPr txBox="1"/>
          <p:nvPr/>
        </p:nvSpPr>
        <p:spPr>
          <a:xfrm>
            <a:off x="621791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Reklamation (P09)</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Techniker prüft den Mangel, eine Geschäftsregel entscheidet über Gewährleistung.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Gewährleistung: kostenfreier Nacharbeitsauftrag, der durch die normale Auftragsreise läuft. Sonst: kostenpflichtiges Angebot.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Das Modell bleibt schlank, weil die Reklamation keine eigene Reparaturlogik braucht.</a:t>
            </a:r>
            <a:endParaRPr lang="en-US" sz="1150" dirty="0">
              <a:latin typeface="Segoe UI" panose="020B0502040204020203" pitchFamily="34" charset="0"/>
              <a:cs typeface="Segoe UI" panose="020B0502040204020203" pitchFamily="34" charset="0"/>
            </a:endParaRPr>
          </a:p>
        </p:txBody>
      </p:sp>
      <p:pic>
        <p:nvPicPr>
          <p:cNvPr id="4" name="Grafik 3" descr="Pfeil mit einer Linie: Nach rechts drehen mit einfarbiger Füllung">
            <a:extLst>
              <a:ext uri="{FF2B5EF4-FFF2-40B4-BE49-F238E27FC236}">
                <a16:creationId xmlns:a16="http://schemas.microsoft.com/office/drawing/2014/main" id="{2236C7F1-96FB-9235-C733-AF4E79E5AA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897" y="1010833"/>
            <a:ext cx="914400" cy="914400"/>
          </a:xfrm>
          <a:prstGeom prst="rect">
            <a:avLst/>
          </a:prstGeom>
        </p:spPr>
      </p:pic>
      <p:pic>
        <p:nvPicPr>
          <p:cNvPr id="21" name="Grafik 20" descr="Übertragen mit einfarbiger Füllung">
            <a:extLst>
              <a:ext uri="{FF2B5EF4-FFF2-40B4-BE49-F238E27FC236}">
                <a16:creationId xmlns:a16="http://schemas.microsoft.com/office/drawing/2014/main" id="{2DEF42FA-B355-BEFB-BA51-AE0F0BB500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9984" y="1077889"/>
            <a:ext cx="914400" cy="914400"/>
          </a:xfrm>
          <a:prstGeom prst="rect">
            <a:avLst/>
          </a:prstGeom>
        </p:spPr>
      </p:pic>
      <p:pic>
        <p:nvPicPr>
          <p:cNvPr id="23" name="Grafik 22" descr="Stoppuhr mit einfarbiger Füllung">
            <a:extLst>
              <a:ext uri="{FF2B5EF4-FFF2-40B4-BE49-F238E27FC236}">
                <a16:creationId xmlns:a16="http://schemas.microsoft.com/office/drawing/2014/main" id="{573B0491-418A-3D20-5D3B-7E1CFC128B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51064" y="1077889"/>
            <a:ext cx="914400" cy="914400"/>
          </a:xfrm>
          <a:prstGeom prst="rect">
            <a:avLst/>
          </a:prstGeom>
        </p:spPr>
      </p:pic>
      <p:cxnSp>
        <p:nvCxnSpPr>
          <p:cNvPr id="24" name="Gerade Verbindung 23">
            <a:extLst>
              <a:ext uri="{FF2B5EF4-FFF2-40B4-BE49-F238E27FC236}">
                <a16:creationId xmlns:a16="http://schemas.microsoft.com/office/drawing/2014/main" id="{7948C548-1A23-5D56-8228-CBC2E77D3897}"/>
              </a:ext>
            </a:extLst>
          </p:cNvPr>
          <p:cNvCxnSpPr>
            <a:cxnSpLocks/>
          </p:cNvCxnSpPr>
          <p:nvPr/>
        </p:nvCxnSpPr>
        <p:spPr>
          <a:xfrm>
            <a:off x="307155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7" name="Gerade Verbindung 26">
            <a:extLst>
              <a:ext uri="{FF2B5EF4-FFF2-40B4-BE49-F238E27FC236}">
                <a16:creationId xmlns:a16="http://schemas.microsoft.com/office/drawing/2014/main" id="{EF51E887-D57F-2501-C720-EF36F9A1AD5C}"/>
              </a:ext>
            </a:extLst>
          </p:cNvPr>
          <p:cNvCxnSpPr>
            <a:cxnSpLocks/>
          </p:cNvCxnSpPr>
          <p:nvPr/>
        </p:nvCxnSpPr>
        <p:spPr>
          <a:xfrm>
            <a:off x="587571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a:extLst>
              <a:ext uri="{FF2B5EF4-FFF2-40B4-BE49-F238E27FC236}">
                <a16:creationId xmlns:a16="http://schemas.microsoft.com/office/drawing/2014/main" id="{AAFE30E1-D5A7-6F38-0759-61E9FE05138A}"/>
              </a:ext>
            </a:extLst>
          </p:cNvPr>
          <p:cNvGrpSpPr/>
          <p:nvPr/>
        </p:nvGrpSpPr>
        <p:grpSpPr>
          <a:xfrm>
            <a:off x="1199260" y="1243858"/>
            <a:ext cx="6745480" cy="2655783"/>
            <a:chOff x="1563880" y="1811709"/>
            <a:chExt cx="6745480" cy="2655783"/>
          </a:xfrm>
        </p:grpSpPr>
        <p:sp>
          <p:nvSpPr>
            <p:cNvPr id="2" name="Rechteck 1">
              <a:extLst>
                <a:ext uri="{FF2B5EF4-FFF2-40B4-BE49-F238E27FC236}">
                  <a16:creationId xmlns:a16="http://schemas.microsoft.com/office/drawing/2014/main" id="{2AAAFF8A-B41F-23CA-A6E2-AEC2FB961C5D}"/>
                </a:ext>
              </a:extLst>
            </p:cNvPr>
            <p:cNvSpPr/>
            <p:nvPr/>
          </p:nvSpPr>
          <p:spPr>
            <a:xfrm>
              <a:off x="1747614" y="1973545"/>
              <a:ext cx="6383709" cy="230736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Rechteck 3">
              <a:extLst>
                <a:ext uri="{FF2B5EF4-FFF2-40B4-BE49-F238E27FC236}">
                  <a16:creationId xmlns:a16="http://schemas.microsoft.com/office/drawing/2014/main" id="{B445CD13-D547-B40F-7F4B-3F9299AC59C4}"/>
                </a:ext>
              </a:extLst>
            </p:cNvPr>
            <p:cNvSpPr/>
            <p:nvPr/>
          </p:nvSpPr>
          <p:spPr>
            <a:xfrm>
              <a:off x="1563880" y="1811709"/>
              <a:ext cx="6745480" cy="2655783"/>
            </a:xfrm>
            <a:prstGeom prst="rect">
              <a:avLst/>
            </a:prstGeom>
            <a:noFill/>
            <a:ln w="762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6" name="Text 0">
            <a:extLst>
              <a:ext uri="{FF2B5EF4-FFF2-40B4-BE49-F238E27FC236}">
                <a16:creationId xmlns:a16="http://schemas.microsoft.com/office/drawing/2014/main" id="{736C9D6E-8D14-F295-D33E-A78C972112E1}"/>
              </a:ext>
            </a:extLst>
          </p:cNvPr>
          <p:cNvSpPr txBox="1"/>
          <p:nvPr/>
        </p:nvSpPr>
        <p:spPr>
          <a:xfrm>
            <a:off x="457200" y="2018890"/>
            <a:ext cx="8229600" cy="1105718"/>
          </a:xfrm>
          <a:prstGeom prst="rect">
            <a:avLst/>
          </a:prstGeom>
          <a:noFill/>
          <a:ln/>
        </p:spPr>
        <p:txBody>
          <a:bodyPr wrap="square" lIns="0" tIns="0" rIns="0" bIns="0" rtlCol="0" anchor="ctr"/>
          <a:lstStyle/>
          <a:p>
            <a:pPr marL="0" indent="0" algn="ctr">
              <a:buNone/>
            </a:pPr>
            <a:r>
              <a:rPr lang="en-US" sz="40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Live-Demo </a:t>
            </a:r>
          </a:p>
          <a:p>
            <a:pPr marL="0" indent="0" algn="ctr">
              <a:buNone/>
            </a:pPr>
            <a:r>
              <a:rPr lang="en-US" sz="2800" dirty="0">
                <a:solidFill>
                  <a:schemeClr val="accent2">
                    <a:lumMod val="75000"/>
                  </a:schemeClr>
                </a:solidFill>
                <a:latin typeface="Segoe UI" panose="020B0502040204020203" pitchFamily="34" charset="0"/>
                <a:ea typeface="Calibri" pitchFamily="34" charset="-122"/>
                <a:cs typeface="Segoe UI" panose="020B0502040204020203" pitchFamily="34" charset="0"/>
              </a:rPr>
              <a:t>Die </a:t>
            </a:r>
            <a:r>
              <a:rPr lang="en-US" sz="2800"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Kundenapp</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0441694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KI-Sofortdiagnose: KVA in 60 Sekunden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Aufnehmen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Kunde lädt Foto, Video oder Ton in der App hoch</a:t>
            </a:r>
            <a:endParaRPr lang="en-US" sz="1000" dirty="0">
              <a:latin typeface="Segoe UI" panose="020B0502040204020203" pitchFamily="34" charset="0"/>
              <a:cs typeface="Segoe UI" panose="020B0502040204020203" pitchFamily="34" charset="0"/>
            </a:endParaRPr>
          </a:p>
        </p:txBody>
      </p:sp>
      <p:sp>
        <p:nvSpPr>
          <p:cNvPr id="14" name="Text 9"/>
          <p:cNvSpPr txBox="1"/>
          <p:nvPr/>
        </p:nvSpPr>
        <p:spPr>
          <a:xfrm>
            <a:off x="2139696"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Erkennen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KI-Dienst nennt Gerätetyp, Ursache und Ersatzteile</a:t>
            </a:r>
            <a:endParaRPr lang="en-US" sz="1000" dirty="0">
              <a:latin typeface="Segoe UI" panose="020B0502040204020203" pitchFamily="34" charset="0"/>
              <a:cs typeface="Segoe UI" panose="020B0502040204020203" pitchFamily="34" charset="0"/>
            </a:endParaRPr>
          </a:p>
        </p:txBody>
      </p:sp>
      <p:sp>
        <p:nvSpPr>
          <p:cNvPr id="19" name="Text 13"/>
          <p:cNvSpPr txBox="1"/>
          <p:nvPr/>
        </p:nvSpPr>
        <p:spPr>
          <a:xfrm>
            <a:off x="3822192"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Kalkulieren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RepairFlow berechnet einen vorläufigen KVA</a:t>
            </a:r>
            <a:endParaRPr lang="en-US" sz="1000" dirty="0">
              <a:latin typeface="Segoe UI" panose="020B0502040204020203" pitchFamily="34" charset="0"/>
              <a:cs typeface="Segoe UI" panose="020B0502040204020203" pitchFamily="34" charset="0"/>
            </a:endParaRPr>
          </a:p>
        </p:txBody>
      </p:sp>
      <p:sp>
        <p:nvSpPr>
          <p:cNvPr id="24" name="Text 17"/>
          <p:cNvSpPr txBox="1"/>
          <p:nvPr/>
        </p:nvSpPr>
        <p:spPr>
          <a:xfrm>
            <a:off x="5504688"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Reservieren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Verfügbarkeit in allen Filialen, Teile vorreserviert</a:t>
            </a:r>
            <a:endParaRPr lang="en-US" sz="1000" dirty="0">
              <a:latin typeface="Segoe UI" panose="020B0502040204020203" pitchFamily="34" charset="0"/>
              <a:cs typeface="Segoe UI" panose="020B0502040204020203" pitchFamily="34" charset="0"/>
            </a:endParaRPr>
          </a:p>
        </p:txBody>
      </p:sp>
      <p:sp>
        <p:nvSpPr>
          <p:cNvPr id="29" name="Text 21"/>
          <p:cNvSpPr txBox="1"/>
          <p:nvPr/>
        </p:nvSpPr>
        <p:spPr>
          <a:xfrm>
            <a:off x="7187184"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Termin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Filiale und Termin vorgeschlagen, Kunde bestätigt</a:t>
            </a:r>
            <a:endParaRPr lang="en-US" sz="1000" dirty="0">
              <a:latin typeface="Segoe UI" panose="020B0502040204020203" pitchFamily="34" charset="0"/>
              <a:cs typeface="Segoe UI" panose="020B0502040204020203" pitchFamily="34" charset="0"/>
            </a:endParaRPr>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Heute machbar</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Sichtbare Schäden per Bildanalyse: gebrochenes Display, gerissene Kette</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Vorab-KVA aus Teilepreisen und Aufwandsrichtwerten</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Verfügbarkeitsprüfung und Vorreservierung</a:t>
            </a:r>
            <a:endParaRPr lang="en-US" sz="1100" dirty="0">
              <a:latin typeface="Segoe UI" panose="020B0502040204020203" pitchFamily="34" charset="0"/>
              <a:cs typeface="Segoe UI" panose="020B0502040204020203" pitchFamily="34" charset="0"/>
            </a:endParaRPr>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Vision und Absicherung</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Geräuschanalyse von E-Bike-Motoren, Aufwand aus Video</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Vorschlag bleibt vorläufig, der Techniker bestätigt oder korrigiert</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Medien nur mit Einwilligung, Löschung nach Abschluss</a:t>
            </a:r>
            <a:endParaRPr lang="en-US" sz="1100" dirty="0">
              <a:latin typeface="Segoe UI" panose="020B0502040204020203" pitchFamily="34" charset="0"/>
              <a:cs typeface="Segoe UI" panose="020B0502040204020203" pitchFamily="34" charset="0"/>
            </a:endParaRPr>
          </a:p>
        </p:txBody>
      </p:sp>
      <p:pic>
        <p:nvPicPr>
          <p:cNvPr id="35" name="Grafik 34" descr="Tageskalender mit einfarbiger Füllung">
            <a:extLst>
              <a:ext uri="{FF2B5EF4-FFF2-40B4-BE49-F238E27FC236}">
                <a16:creationId xmlns:a16="http://schemas.microsoft.com/office/drawing/2014/main" id="{02F94359-EFD3-0187-6F0B-1BADC1C1C8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40424" y="1288628"/>
            <a:ext cx="648000" cy="648000"/>
          </a:xfrm>
          <a:prstGeom prst="rect">
            <a:avLst/>
          </a:prstGeom>
        </p:spPr>
      </p:pic>
      <p:pic>
        <p:nvPicPr>
          <p:cNvPr id="37" name="Grafik 36" descr="Marke mit einfarbiger Füllung">
            <a:extLst>
              <a:ext uri="{FF2B5EF4-FFF2-40B4-BE49-F238E27FC236}">
                <a16:creationId xmlns:a16="http://schemas.microsoft.com/office/drawing/2014/main" id="{5C8F8888-A908-9FE9-76AC-9817079D20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57928" y="1288628"/>
            <a:ext cx="648000" cy="648000"/>
          </a:xfrm>
          <a:prstGeom prst="rect">
            <a:avLst/>
          </a:prstGeom>
        </p:spPr>
      </p:pic>
      <p:pic>
        <p:nvPicPr>
          <p:cNvPr id="39" name="Grafik 38" descr="Münzen mit einfarbiger Füllung">
            <a:extLst>
              <a:ext uri="{FF2B5EF4-FFF2-40B4-BE49-F238E27FC236}">
                <a16:creationId xmlns:a16="http://schemas.microsoft.com/office/drawing/2014/main" id="{9C064899-7FF6-F1FA-094D-A2C1BE09F6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75432" y="1260594"/>
            <a:ext cx="648000" cy="648000"/>
          </a:xfrm>
          <a:prstGeom prst="rect">
            <a:avLst/>
          </a:prstGeom>
        </p:spPr>
      </p:pic>
      <p:pic>
        <p:nvPicPr>
          <p:cNvPr id="41" name="Grafik 40" descr="Künstliche Intelligenz mit einfarbiger Füllung">
            <a:extLst>
              <a:ext uri="{FF2B5EF4-FFF2-40B4-BE49-F238E27FC236}">
                <a16:creationId xmlns:a16="http://schemas.microsoft.com/office/drawing/2014/main" id="{6DB060CD-45E9-4F32-6C01-D01512FAF1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92936" y="1238897"/>
            <a:ext cx="648000" cy="648000"/>
          </a:xfrm>
          <a:prstGeom prst="rect">
            <a:avLst/>
          </a:prstGeom>
        </p:spPr>
      </p:pic>
      <p:pic>
        <p:nvPicPr>
          <p:cNvPr id="43" name="Grafik 42" descr="Kamera mit einfarbiger Füllung">
            <a:extLst>
              <a:ext uri="{FF2B5EF4-FFF2-40B4-BE49-F238E27FC236}">
                <a16:creationId xmlns:a16="http://schemas.microsoft.com/office/drawing/2014/main" id="{E41885DE-76B5-3C01-90F4-637E7069CE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9135" y="1300251"/>
            <a:ext cx="648000" cy="648000"/>
          </a:xfrm>
          <a:prstGeom prst="rect">
            <a:avLst/>
          </a:prstGeom>
        </p:spPr>
      </p:pic>
      <p:cxnSp>
        <p:nvCxnSpPr>
          <p:cNvPr id="3" name="Gerade Verbindung 2">
            <a:extLst>
              <a:ext uri="{FF2B5EF4-FFF2-40B4-BE49-F238E27FC236}">
                <a16:creationId xmlns:a16="http://schemas.microsoft.com/office/drawing/2014/main" id="{2472465D-9E73-998C-EB3F-FD9359C82543}"/>
              </a:ext>
            </a:extLst>
          </p:cNvPr>
          <p:cNvCxnSpPr>
            <a:cxnSpLocks/>
          </p:cNvCxnSpPr>
          <p:nvPr/>
        </p:nvCxnSpPr>
        <p:spPr>
          <a:xfrm>
            <a:off x="487680" y="3017521"/>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 name="Gerade Verbindung 3">
            <a:extLst>
              <a:ext uri="{FF2B5EF4-FFF2-40B4-BE49-F238E27FC236}">
                <a16:creationId xmlns:a16="http://schemas.microsoft.com/office/drawing/2014/main" id="{ED6C3867-136C-1D68-02B8-139A62EA700B}"/>
              </a:ext>
            </a:extLst>
          </p:cNvPr>
          <p:cNvCxnSpPr>
            <a:cxnSpLocks/>
          </p:cNvCxnSpPr>
          <p:nvPr/>
        </p:nvCxnSpPr>
        <p:spPr>
          <a:xfrm>
            <a:off x="4501343" y="3192087"/>
            <a:ext cx="0" cy="121920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Was wir gebaut haben: Ergebnisse in Zahlen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10</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7" name="Text 4"/>
          <p:cNvSpPr txBox="1"/>
          <p:nvPr/>
        </p:nvSpPr>
        <p:spPr>
          <a:xfrm>
            <a:off x="457200" y="1828800"/>
            <a:ext cx="219456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BPMN-Kollaborationsdiagramme</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133 Aktivitäten im Werkstatt-Pool</a:t>
            </a:r>
            <a:endParaRPr lang="en-US" sz="1100" dirty="0">
              <a:latin typeface="Segoe UI" panose="020B0502040204020203" pitchFamily="34" charset="0"/>
              <a:cs typeface="Segoe UI" panose="020B0502040204020203" pitchFamily="34" charset="0"/>
            </a:endParaRPr>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Use Cases</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17 Rollen und Akteure</a:t>
            </a:r>
            <a:endParaRPr lang="en-US" sz="1100" dirty="0">
              <a:latin typeface="Segoe UI" panose="020B0502040204020203" pitchFamily="34" charset="0"/>
              <a:cs typeface="Segoe UI" panose="020B0502040204020203" pitchFamily="34" charset="0"/>
            </a:endParaRPr>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27</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Klassen</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36 Assoziationen, 7 Aufzählungen</a:t>
            </a:r>
            <a:endParaRPr lang="en-US" sz="1100" dirty="0">
              <a:latin typeface="Segoe UI" panose="020B0502040204020203" pitchFamily="34" charset="0"/>
              <a:cs typeface="Segoe UI" panose="020B0502040204020203" pitchFamily="34" charset="0"/>
            </a:endParaRPr>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Sequenzdiagramme</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 Zustandsdiagramm</a:t>
            </a:r>
            <a:endParaRPr lang="en-US" sz="1100" dirty="0">
              <a:latin typeface="Segoe UI" panose="020B0502040204020203" pitchFamily="34" charset="0"/>
              <a:cs typeface="Segoe UI" panose="020B0502040204020203" pitchFamily="34" charset="0"/>
            </a:endParaRPr>
          </a:p>
        </p:txBody>
      </p:sp>
      <p:sp>
        <p:nvSpPr>
          <p:cNvPr id="17" name="Text 13"/>
          <p:cNvSpPr txBox="1"/>
          <p:nvPr/>
        </p:nvSpPr>
        <p:spPr>
          <a:xfrm>
            <a:off x="64008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Geschäftsprozesse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Camunda Modeler, BPMN 2.0, angereichert für Camunda 8. Zehn Prozesse vom ersten Foto bis zur Retoure. 42 Nachrichtenflüsse, 51 Datenobjekte, 12 Datenspeicher.</a:t>
            </a:r>
            <a:endParaRPr lang="en-US" sz="1050" dirty="0">
              <a:latin typeface="Segoe UI" panose="020B0502040204020203" pitchFamily="34" charset="0"/>
              <a:cs typeface="Segoe UI" panose="020B0502040204020203" pitchFamily="34" charset="0"/>
            </a:endParaRPr>
          </a:p>
        </p:txBody>
      </p:sp>
      <p:sp>
        <p:nvSpPr>
          <p:cNvPr id="22" name="Text 17"/>
          <p:cNvSpPr txBox="1"/>
          <p:nvPr/>
        </p:nvSpPr>
        <p:spPr>
          <a:xfrm>
            <a:off x="342900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Objektorientierte Analyse</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Visual Paradigm: Use-Case-Diagramm, ein vollständiges Klassendiagramm, sechs Sequenzdiagramme als Unterdiagramme der Use Cases.</a:t>
            </a:r>
            <a:endParaRPr lang="en-US" sz="1050" dirty="0">
              <a:latin typeface="Segoe UI" panose="020B0502040204020203" pitchFamily="34" charset="0"/>
              <a:cs typeface="Segoe UI" panose="020B0502040204020203" pitchFamily="34" charset="0"/>
            </a:endParaRPr>
          </a:p>
        </p:txBody>
      </p:sp>
      <p:sp>
        <p:nvSpPr>
          <p:cNvPr id="27" name="Text 21"/>
          <p:cNvSpPr txBox="1"/>
          <p:nvPr/>
        </p:nvSpPr>
        <p:spPr>
          <a:xfrm>
            <a:off x="621792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Dokumentation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Rund 20 Seiten: Projekt, Vorgehen, Projektmanagement, alle Artefakte, Konsistenz der Modelle, Herausforderungen und Feedback.</a:t>
            </a:r>
            <a:endParaRPr lang="en-US" sz="1050" dirty="0">
              <a:latin typeface="Segoe UI" panose="020B0502040204020203" pitchFamily="34" charset="0"/>
              <a:cs typeface="Segoe UI" panose="020B0502040204020203" pitchFamily="34" charset="0"/>
            </a:endParaRPr>
          </a:p>
        </p:txBody>
      </p:sp>
      <p:cxnSp>
        <p:nvCxnSpPr>
          <p:cNvPr id="4" name="Gerade Verbindung 3">
            <a:extLst>
              <a:ext uri="{FF2B5EF4-FFF2-40B4-BE49-F238E27FC236}">
                <a16:creationId xmlns:a16="http://schemas.microsoft.com/office/drawing/2014/main" id="{8C573E46-BC93-A9B9-D7EC-17E4C6DFE18A}"/>
              </a:ext>
            </a:extLst>
          </p:cNvPr>
          <p:cNvCxnSpPr>
            <a:cxnSpLocks/>
          </p:cNvCxnSpPr>
          <p:nvPr/>
        </p:nvCxnSpPr>
        <p:spPr>
          <a:xfrm>
            <a:off x="297180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5" name="Gerade Verbindung 4">
            <a:extLst>
              <a:ext uri="{FF2B5EF4-FFF2-40B4-BE49-F238E27FC236}">
                <a16:creationId xmlns:a16="http://schemas.microsoft.com/office/drawing/2014/main" id="{73E59AA9-5ABB-7007-6AC1-BF09D49F26D7}"/>
              </a:ext>
            </a:extLst>
          </p:cNvPr>
          <p:cNvCxnSpPr>
            <a:cxnSpLocks/>
          </p:cNvCxnSpPr>
          <p:nvPr/>
        </p:nvCxnSpPr>
        <p:spPr>
          <a:xfrm>
            <a:off x="592074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4" name="Gerade Verbindung 13">
            <a:extLst>
              <a:ext uri="{FF2B5EF4-FFF2-40B4-BE49-F238E27FC236}">
                <a16:creationId xmlns:a16="http://schemas.microsoft.com/office/drawing/2014/main" id="{FA1FCB79-1404-2061-8A83-0CC66FC7B823}"/>
              </a:ext>
            </a:extLst>
          </p:cNvPr>
          <p:cNvCxnSpPr>
            <a:cxnSpLocks/>
          </p:cNvCxnSpPr>
          <p:nvPr/>
        </p:nvCxnSpPr>
        <p:spPr>
          <a:xfrm>
            <a:off x="487680" y="2709949"/>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Zehn Prozesse, 60 Prozent automatisiert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graphicFrame>
        <p:nvGraphicFramePr>
          <p:cNvPr id="10" name="Table 0"/>
          <p:cNvGraphicFramePr>
            <a:graphicFrameLocks noGrp="1"/>
          </p:cNvGraphicFramePr>
          <p:nvPr>
            <p:extLst>
              <p:ext uri="{D42A27DB-BD31-4B8C-83A1-F6EECF244321}">
                <p14:modId xmlns:p14="http://schemas.microsoft.com/office/powerpoint/2010/main" val="2719609380"/>
              </p:ext>
            </p:extLst>
          </p:nvPr>
        </p:nvGraphicFramePr>
        <p:xfrm>
          <a:off x="457200" y="1228475"/>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80 %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38 %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319915"/>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133</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8" name="Text 4"/>
          <p:cNvSpPr txBox="1"/>
          <p:nvPr/>
        </p:nvSpPr>
        <p:spPr>
          <a:xfrm>
            <a:off x="5943600" y="2051435"/>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Aktivitäten im Werkstatt-Pool, im </a:t>
            </a:r>
            <a:r>
              <a:rPr lang="en-US" sz="1100" dirty="0" err="1">
                <a:solidFill>
                  <a:srgbClr val="1B2430"/>
                </a:solidFill>
                <a:latin typeface="Segoe UI" panose="020B0502040204020203" pitchFamily="34" charset="0"/>
                <a:ea typeface="Calibri" pitchFamily="34" charset="-122"/>
                <a:cs typeface="Segoe UI" panose="020B0502040204020203" pitchFamily="34" charset="0"/>
              </a:rPr>
              <a:t>Schnitt</a:t>
            </a:r>
            <a:r>
              <a:rPr lang="en-US" sz="1100" dirty="0">
                <a:solidFill>
                  <a:srgbClr val="1B2430"/>
                </a:solidFill>
                <a:latin typeface="Segoe UI" panose="020B0502040204020203" pitchFamily="34" charset="0"/>
                <a:ea typeface="Calibri" pitchFamily="34" charset="-122"/>
                <a:cs typeface="Segoe UI" panose="020B0502040204020203" pitchFamily="34" charset="0"/>
              </a:rPr>
              <a:t> 13,3 je Diagramm</a:t>
            </a:r>
            <a:endParaRPr lang="en-US" sz="1100" dirty="0">
              <a:latin typeface="Segoe UI" panose="020B0502040204020203" pitchFamily="34" charset="0"/>
              <a:cs typeface="Segoe UI" panose="020B0502040204020203" pitchFamily="34" charset="0"/>
            </a:endParaRPr>
          </a:p>
        </p:txBody>
      </p:sp>
      <p:sp>
        <p:nvSpPr>
          <p:cNvPr id="9" name="Text 5"/>
          <p:cNvSpPr txBox="1"/>
          <p:nvPr/>
        </p:nvSpPr>
        <p:spPr>
          <a:xfrm>
            <a:off x="5943600" y="2691515"/>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61 %</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5" name="Text 6"/>
          <p:cNvSpPr txBox="1"/>
          <p:nvPr/>
        </p:nvSpPr>
        <p:spPr>
          <a:xfrm>
            <a:off x="5943600" y="3423035"/>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davon führt RepairFlow ohne manuelle Arbeit aus: Status, Benachrichtigung, Prüfung, Berechnung, Regel</a:t>
            </a:r>
            <a:endParaRPr lang="en-US" sz="1100" dirty="0">
              <a:latin typeface="Segoe UI" panose="020B0502040204020203" pitchFamily="34" charset="0"/>
              <a:cs typeface="Segoe UI" panose="020B0502040204020203"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Wer macht was im System: Rollen und Use Cases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Kundenportal</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962035"/>
            <a:ext cx="1600200"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3 Use Cases</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Kunde: </a:t>
            </a:r>
            <a:r>
              <a:rPr lang="en-US" sz="1200" dirty="0" err="1">
                <a:solidFill>
                  <a:srgbClr val="1B2430"/>
                </a:solidFill>
                <a:latin typeface="Calibri" pitchFamily="34" charset="0"/>
                <a:ea typeface="Calibri" pitchFamily="34" charset="-122"/>
                <a:cs typeface="Calibri" pitchFamily="34" charset="-120"/>
              </a:rPr>
              <a:t>Sofortdiagnose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anfordern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Voranmeldung</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bestätigen</a:t>
            </a:r>
            <a:r>
              <a:rPr lang="en-US" sz="1200" dirty="0">
                <a:solidFill>
                  <a:srgbClr val="1B2430"/>
                </a:solidFill>
                <a:latin typeface="Calibri" pitchFamily="34" charset="0"/>
                <a:ea typeface="Calibri" pitchFamily="34" charset="-122"/>
                <a:cs typeface="Calibri" pitchFamily="34" charset="-120"/>
              </a:rPr>
              <a:t>, KVA </a:t>
            </a:r>
            <a:r>
              <a:rPr lang="en-US" sz="1200" dirty="0" err="1">
                <a:solidFill>
                  <a:srgbClr val="1B2430"/>
                </a:solidFill>
                <a:latin typeface="Calibri" pitchFamily="34" charset="0"/>
                <a:ea typeface="Calibri" pitchFamily="34" charset="-122"/>
                <a:cs typeface="Calibri" pitchFamily="34" charset="-120"/>
              </a:rPr>
              <a:t>freigeben</a:t>
            </a:r>
            <a:r>
              <a:rPr lang="en-US" sz="1200" dirty="0">
                <a:solidFill>
                  <a:srgbClr val="1B2430"/>
                </a:solidFill>
                <a:latin typeface="Calibri" pitchFamily="34" charset="0"/>
                <a:ea typeface="Calibri" pitchFamily="34" charset="-122"/>
                <a:cs typeface="Calibri" pitchFamily="34" charset="-120"/>
              </a:rPr>
              <a:t> / </a:t>
            </a:r>
            <a:r>
              <a:rPr lang="en-US" sz="1200" dirty="0" err="1">
                <a:solidFill>
                  <a:srgbClr val="1B2430"/>
                </a:solidFill>
                <a:latin typeface="Calibri" pitchFamily="34" charset="0"/>
                <a:ea typeface="Calibri" pitchFamily="34" charset="-122"/>
                <a:cs typeface="Calibri" pitchFamily="34" charset="-120"/>
              </a:rPr>
              <a:t>ablehnen</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extern: KI-</a:t>
            </a:r>
            <a:r>
              <a:rPr lang="en-US" sz="1200" dirty="0" err="1">
                <a:solidFill>
                  <a:srgbClr val="1B2430"/>
                </a:solidFill>
                <a:latin typeface="Calibri" pitchFamily="34" charset="0"/>
                <a:ea typeface="Calibri" pitchFamily="34" charset="-122"/>
                <a:cs typeface="Calibri" pitchFamily="34" charset="-120"/>
              </a:rPr>
              <a:t>Diagnosedienst</a:t>
            </a:r>
            <a:endParaRPr lang="en-US" sz="1200" dirty="0"/>
          </a:p>
          <a:p>
            <a:endParaRPr lang="en-US" sz="1150" dirty="0">
              <a:latin typeface="Segoe UI" panose="020B0502040204020203" pitchFamily="34" charset="0"/>
              <a:cs typeface="Segoe UI" panose="020B0502040204020203" pitchFamily="34" charset="0"/>
            </a:endParaRPr>
          </a:p>
        </p:txBody>
      </p:sp>
      <p:sp>
        <p:nvSpPr>
          <p:cNvPr id="15" name="Text 10"/>
          <p:cNvSpPr txBox="1"/>
          <p:nvPr/>
        </p:nvSpPr>
        <p:spPr>
          <a:xfrm>
            <a:off x="274320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Auftrag und Werkstatt</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2743200" y="2962035"/>
            <a:ext cx="1747886"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9 Use Cases</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Serviceannahme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Diagnoseprüfer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Diagnostiker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Kalkulator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Werkstattplaner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Reparateur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Endkontrolleur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Geräteausgabe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Reklamationsbearbeiter</a:t>
            </a:r>
            <a:endParaRPr lang="en-US" sz="1200" dirty="0"/>
          </a:p>
          <a:p>
            <a:endParaRPr lang="en-US" sz="1150" dirty="0">
              <a:latin typeface="Segoe UI" panose="020B0502040204020203" pitchFamily="34" charset="0"/>
              <a:cs typeface="Segoe UI" panose="020B0502040204020203" pitchFamily="34" charset="0"/>
            </a:endParaRPr>
          </a:p>
        </p:txBody>
      </p:sp>
      <p:sp>
        <p:nvSpPr>
          <p:cNvPr id="20" name="Text 14"/>
          <p:cNvSpPr txBox="1"/>
          <p:nvPr/>
        </p:nvSpPr>
        <p:spPr>
          <a:xfrm>
            <a:off x="484632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Ersatzteil-Disposition</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846319" y="2962035"/>
            <a:ext cx="1828797"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6 Use Cases</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Teiledisponent</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Bestandsplaner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Einkäufer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Wareneingang</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Retourenbearbeiter</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Lieferant</a:t>
            </a:r>
            <a:r>
              <a:rPr lang="en-US" sz="1200" dirty="0">
                <a:solidFill>
                  <a:srgbClr val="1B2430"/>
                </a:solidFill>
                <a:latin typeface="Calibri" pitchFamily="34" charset="0"/>
                <a:ea typeface="Calibri" pitchFamily="34" charset="-122"/>
                <a:cs typeface="Calibri" pitchFamily="34" charset="-120"/>
              </a:rPr>
              <a:t>: Black Box, </a:t>
            </a:r>
            <a:r>
              <a:rPr lang="en-US" sz="1200" dirty="0" err="1">
                <a:solidFill>
                  <a:srgbClr val="1B2430"/>
                </a:solidFill>
                <a:latin typeface="Calibri" pitchFamily="34" charset="0"/>
                <a:ea typeface="Calibri" pitchFamily="34" charset="-122"/>
                <a:cs typeface="Calibri" pitchFamily="34" charset="-120"/>
              </a:rPr>
              <a:t>kein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Akteur</a:t>
            </a:r>
            <a:endParaRPr lang="en-US" sz="1200" dirty="0"/>
          </a:p>
          <a:p>
            <a:endParaRPr lang="en-US" sz="1150" dirty="0">
              <a:latin typeface="Segoe UI" panose="020B0502040204020203" pitchFamily="34" charset="0"/>
              <a:cs typeface="Segoe UI" panose="020B0502040204020203" pitchFamily="34" charset="0"/>
            </a:endParaRPr>
          </a:p>
        </p:txBody>
      </p:sp>
      <p:sp>
        <p:nvSpPr>
          <p:cNvPr id="25" name="Text 18"/>
          <p:cNvSpPr txBox="1"/>
          <p:nvPr/>
        </p:nvSpPr>
        <p:spPr>
          <a:xfrm>
            <a:off x="6949440" y="2395107"/>
            <a:ext cx="160020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Administration</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6949439" y="2962035"/>
            <a:ext cx="1868629"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1 Use Case</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Betriebsadministrator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Werkstattbetrieb</a:t>
            </a:r>
            <a:r>
              <a:rPr lang="en-US" sz="1200" dirty="0">
                <a:solidFill>
                  <a:srgbClr val="1B2430"/>
                </a:solidFill>
                <a:latin typeface="Calibri" pitchFamily="34" charset="0"/>
                <a:ea typeface="Calibri" pitchFamily="34" charset="-122"/>
                <a:cs typeface="Calibri" pitchFamily="34" charset="-120"/>
              </a:rPr>
              <a:t> und </a:t>
            </a:r>
            <a:r>
              <a:rPr lang="en-US" sz="1200" dirty="0" err="1">
                <a:solidFill>
                  <a:srgbClr val="1B2430"/>
                </a:solidFill>
                <a:latin typeface="Calibri" pitchFamily="34" charset="0"/>
                <a:ea typeface="Calibri" pitchFamily="34" charset="-122"/>
                <a:cs typeface="Calibri" pitchFamily="34" charset="-120"/>
              </a:rPr>
              <a:t>Filialen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verwalten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Mandant</a:t>
            </a:r>
            <a:r>
              <a:rPr lang="en-US" sz="1200" dirty="0">
                <a:solidFill>
                  <a:srgbClr val="1B2430"/>
                </a:solidFill>
                <a:latin typeface="Calibri" pitchFamily="34" charset="0"/>
                <a:ea typeface="Calibri" pitchFamily="34" charset="-122"/>
                <a:cs typeface="Calibri" pitchFamily="34" charset="-120"/>
              </a:rPr>
              <a:t>)</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Rolle → </a:t>
            </a:r>
            <a:r>
              <a:rPr lang="en-US" sz="1200" dirty="0" err="1">
                <a:solidFill>
                  <a:srgbClr val="1B2430"/>
                </a:solidFill>
                <a:latin typeface="Calibri" pitchFamily="34" charset="0"/>
                <a:ea typeface="Calibri" pitchFamily="34" charset="-122"/>
                <a:cs typeface="Calibri" pitchFamily="34" charset="-120"/>
              </a:rPr>
              <a:t>Mitarbeitertyp</a:t>
            </a:r>
            <a:r>
              <a:rPr lang="en-US" sz="1200" dirty="0">
                <a:solidFill>
                  <a:srgbClr val="1B2430"/>
                </a:solidFill>
                <a:latin typeface="Calibri" pitchFamily="34" charset="0"/>
                <a:ea typeface="Calibri" pitchFamily="34" charset="-122"/>
                <a:cs typeface="Calibri" pitchFamily="34" charset="-120"/>
              </a:rPr>
              <a:t> → Lane: </a:t>
            </a:r>
            <a:r>
              <a:rPr lang="en-US" sz="1200" dirty="0" err="1">
                <a:solidFill>
                  <a:srgbClr val="1B2430"/>
                </a:solidFill>
                <a:latin typeface="Calibri" pitchFamily="34" charset="0"/>
                <a:ea typeface="Calibri" pitchFamily="34" charset="-122"/>
                <a:cs typeface="Calibri" pitchFamily="34" charset="-120"/>
              </a:rPr>
              <a:t>Tabelle</a:t>
            </a:r>
            <a:r>
              <a:rPr lang="en-US" sz="1200" dirty="0">
                <a:solidFill>
                  <a:srgbClr val="1B2430"/>
                </a:solidFill>
                <a:latin typeface="Calibri" pitchFamily="34" charset="0"/>
                <a:ea typeface="Calibri" pitchFamily="34" charset="-122"/>
                <a:cs typeface="Calibri" pitchFamily="34" charset="-120"/>
              </a:rPr>
              <a:t> 7 der Doku</a:t>
            </a:r>
            <a:endParaRPr lang="en-US" sz="1200" dirty="0"/>
          </a:p>
        </p:txBody>
      </p:sp>
      <p:pic>
        <p:nvPicPr>
          <p:cNvPr id="4" name="Grafik 3" descr="Person Krone männlich mit einfarbiger Füllung">
            <a:extLst>
              <a:ext uri="{FF2B5EF4-FFF2-40B4-BE49-F238E27FC236}">
                <a16:creationId xmlns:a16="http://schemas.microsoft.com/office/drawing/2014/main" id="{AEB1FA38-ACE7-12DC-E1D4-4EFD2D9C6A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9480" y="1535571"/>
            <a:ext cx="914400" cy="914400"/>
          </a:xfrm>
          <a:prstGeom prst="rect">
            <a:avLst/>
          </a:prstGeom>
        </p:spPr>
      </p:pic>
      <p:pic>
        <p:nvPicPr>
          <p:cNvPr id="27" name="Grafik 26" descr="Lager mit einfarbiger Füllung">
            <a:extLst>
              <a:ext uri="{FF2B5EF4-FFF2-40B4-BE49-F238E27FC236}">
                <a16:creationId xmlns:a16="http://schemas.microsoft.com/office/drawing/2014/main" id="{04171E82-5001-6E17-E22E-4B20080B33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13536" y="1546017"/>
            <a:ext cx="914400" cy="914400"/>
          </a:xfrm>
          <a:prstGeom prst="rect">
            <a:avLst/>
          </a:prstGeom>
        </p:spPr>
      </p:pic>
      <p:pic>
        <p:nvPicPr>
          <p:cNvPr id="29" name="Grafik 28" descr="Schraubenschlüssel mit einfarbiger Füllung">
            <a:extLst>
              <a:ext uri="{FF2B5EF4-FFF2-40B4-BE49-F238E27FC236}">
                <a16:creationId xmlns:a16="http://schemas.microsoft.com/office/drawing/2014/main" id="{4CEC9887-B35A-7CCD-E8F0-D1EC0E17380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6100" y="1476915"/>
            <a:ext cx="914400" cy="914400"/>
          </a:xfrm>
          <a:prstGeom prst="rect">
            <a:avLst/>
          </a:prstGeom>
        </p:spPr>
      </p:pic>
      <p:pic>
        <p:nvPicPr>
          <p:cNvPr id="31" name="Grafik 30" descr="Smartphone mit einfarbiger Füllung">
            <a:extLst>
              <a:ext uri="{FF2B5EF4-FFF2-40B4-BE49-F238E27FC236}">
                <a16:creationId xmlns:a16="http://schemas.microsoft.com/office/drawing/2014/main" id="{D24E70FF-7867-2A73-D1DB-DE0A364255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5840" y="1476915"/>
            <a:ext cx="914400" cy="914400"/>
          </a:xfrm>
          <a:prstGeom prst="rect">
            <a:avLst/>
          </a:prstGeom>
        </p:spPr>
      </p:pic>
      <p:cxnSp>
        <p:nvCxnSpPr>
          <p:cNvPr id="32" name="Gerade Verbindung 31">
            <a:extLst>
              <a:ext uri="{FF2B5EF4-FFF2-40B4-BE49-F238E27FC236}">
                <a16:creationId xmlns:a16="http://schemas.microsoft.com/office/drawing/2014/main" id="{D84854F3-6298-35F4-4F2A-D9CF1A4F06B3}"/>
              </a:ext>
            </a:extLst>
          </p:cNvPr>
          <p:cNvCxnSpPr>
            <a:cxnSpLocks/>
          </p:cNvCxnSpPr>
          <p:nvPr/>
        </p:nvCxnSpPr>
        <p:spPr>
          <a:xfrm>
            <a:off x="2379094" y="1341225"/>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 Verbindung 32">
            <a:extLst>
              <a:ext uri="{FF2B5EF4-FFF2-40B4-BE49-F238E27FC236}">
                <a16:creationId xmlns:a16="http://schemas.microsoft.com/office/drawing/2014/main" id="{B032C663-F11A-99DD-08FB-4E51CB2900F4}"/>
              </a:ext>
            </a:extLst>
          </p:cNvPr>
          <p:cNvCxnSpPr>
            <a:cxnSpLocks/>
          </p:cNvCxnSpPr>
          <p:nvPr/>
        </p:nvCxnSpPr>
        <p:spPr>
          <a:xfrm>
            <a:off x="4616390" y="1327478"/>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4" name="Gerade Verbindung 33">
            <a:extLst>
              <a:ext uri="{FF2B5EF4-FFF2-40B4-BE49-F238E27FC236}">
                <a16:creationId xmlns:a16="http://schemas.microsoft.com/office/drawing/2014/main" id="{313F0858-83F7-921A-5704-5A11E9DD8AF9}"/>
              </a:ext>
            </a:extLst>
          </p:cNvPr>
          <p:cNvCxnSpPr>
            <a:cxnSpLocks/>
          </p:cNvCxnSpPr>
          <p:nvPr/>
        </p:nvCxnSpPr>
        <p:spPr>
          <a:xfrm>
            <a:off x="6800418" y="1313731"/>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Datenmodell: fünf Entwurfsentscheidungen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Reparaturauftrag als Aggregatwurzel</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Befund und Reparaturschritte sind Kompositionen; KVA und Gerät nur zugeordnet, weil der Vorab-KVA vor dem Auftrag entsteht.</a:t>
            </a:r>
            <a:endParaRPr lang="en-US" sz="1000" dirty="0">
              <a:latin typeface="Segoe UI" panose="020B0502040204020203" pitchFamily="34" charset="0"/>
              <a:cs typeface="Segoe UI" panose="020B0502040204020203" pitchFamily="34" charset="0"/>
            </a:endParaRPr>
          </a:p>
        </p:txBody>
      </p:sp>
      <p:sp>
        <p:nvSpPr>
          <p:cNvPr id="12" name="Shape 8"/>
          <p:cNvSpPr/>
          <p:nvPr/>
        </p:nvSpPr>
        <p:spPr>
          <a:xfrm>
            <a:off x="489204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Lagerbestand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Eigene Klasse zwischen Ersatzteil und Filiale. Nur so lässt sich die Verfügbarkeit über alle Filialen prüfen.</a:t>
            </a:r>
            <a:endParaRPr lang="en-US" sz="1000" dirty="0">
              <a:latin typeface="Segoe UI" panose="020B0502040204020203" pitchFamily="34" charset="0"/>
              <a:cs typeface="Segoe UI" panose="020B0502040204020203" pitchFamily="34" charset="0"/>
            </a:endParaRPr>
          </a:p>
        </p:txBody>
      </p:sp>
      <p:sp>
        <p:nvSpPr>
          <p:cNvPr id="17" name="Shape 12"/>
          <p:cNvSpPr/>
          <p:nvPr/>
        </p:nvSpPr>
        <p:spPr>
          <a:xfrm>
            <a:off x="64008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Reservierung mit Lebenszyklus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vorreserviert, reserviert, entnommen, storniert: eine Beziehung mit eigenen Daten wird zur Klasse.</a:t>
            </a:r>
            <a:endParaRPr lang="en-US" sz="1000" dirty="0">
              <a:latin typeface="Segoe UI" panose="020B0502040204020203" pitchFamily="34" charset="0"/>
              <a:cs typeface="Segoe UI" panose="020B0502040204020203" pitchFamily="34" charset="0"/>
            </a:endParaRPr>
          </a:p>
        </p:txBody>
      </p:sp>
      <p:sp>
        <p:nvSpPr>
          <p:cNvPr id="22" name="Shape 16"/>
          <p:cNvSpPr/>
          <p:nvPr/>
        </p:nvSpPr>
        <p:spPr>
          <a:xfrm>
            <a:off x="489204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Mandant und Mitarbeitertypen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Werkstattbetrieb als Mandant; Servicemitarbeiter, Techniker, Disponent, Werkstattleiter als Unterklassen von Mitarbeiter, passend zu Lanes und Rollen.</a:t>
            </a:r>
            <a:endParaRPr lang="en-US" sz="1000" dirty="0">
              <a:latin typeface="Segoe UI" panose="020B0502040204020203" pitchFamily="34" charset="0"/>
              <a:cs typeface="Segoe UI" panose="020B0502040204020203" pitchFamily="34" charset="0"/>
            </a:endParaRPr>
          </a:p>
        </p:txBody>
      </p:sp>
      <p:sp>
        <p:nvSpPr>
          <p:cNvPr id="27" name="Shape 20"/>
          <p:cNvSpPr/>
          <p:nvPr/>
        </p:nvSpPr>
        <p:spPr>
          <a:xfrm>
            <a:off x="640080" y="3621024"/>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Drei Klassen für die Sofortdiagnose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Voranmeldung, Medienanhang und KIDiagnosevorschlag tragen das Alleinstellungsmerkmal im Modell.</a:t>
            </a:r>
            <a:endParaRPr lang="en-US" sz="1000" dirty="0">
              <a:latin typeface="Segoe UI" panose="020B0502040204020203" pitchFamily="34" charset="0"/>
              <a:cs typeface="Segoe UI" panose="020B0502040204020203" pitchFamily="34" charset="0"/>
            </a:endParaRPr>
          </a:p>
        </p:txBody>
      </p:sp>
      <p:sp>
        <p:nvSpPr>
          <p:cNvPr id="31" name="Shape 23"/>
          <p:cNvSpPr/>
          <p:nvPr/>
        </p:nvSpPr>
        <p:spPr>
          <a:xfrm>
            <a:off x="4753550" y="3563414"/>
            <a:ext cx="3657600" cy="102581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32" name="Text 24"/>
          <p:cNvSpPr txBox="1"/>
          <p:nvPr/>
        </p:nvSpPr>
        <p:spPr>
          <a:xfrm>
            <a:off x="4892040" y="3536866"/>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Segoe UI" panose="020B0502040204020203" pitchFamily="34" charset="0"/>
                <a:ea typeface="Calibri" pitchFamily="34" charset="-122"/>
                <a:cs typeface="Segoe UI" panose="020B0502040204020203" pitchFamily="34" charset="0"/>
              </a:rPr>
              <a:t>27 Klassen · 36 Assoziationen · 7 Aufzählungen</a:t>
            </a:r>
            <a:endParaRPr lang="en-US" sz="1050" dirty="0">
              <a:latin typeface="Segoe UI" panose="020B0502040204020203" pitchFamily="34" charset="0"/>
              <a:cs typeface="Segoe UI" panose="020B0502040204020203" pitchFamily="34" charset="0"/>
            </a:endParaRPr>
          </a:p>
          <a:p>
            <a:pPr marL="0" indent="0">
              <a:buNone/>
            </a:pPr>
            <a:r>
              <a:rPr lang="en-US" sz="1050" dirty="0">
                <a:solidFill>
                  <a:srgbClr val="FFFFFF"/>
                </a:solidFill>
                <a:latin typeface="Segoe UI" panose="020B0502040204020203" pitchFamily="34" charset="0"/>
                <a:ea typeface="Calibri" pitchFamily="34" charset="-122"/>
                <a:cs typeface="Segoe UI" panose="020B0502040204020203" pitchFamily="34" charset="0"/>
              </a:rPr>
              <a:t>Botschaft = Operation: Die sechs Sequenzdiagramme verwenden ausschließlich Operationen dieser Klassen. Der Reparaturauftrag führt den Status als Attribut, das Zustandsdiagramm beschreibt seine Übergänge.</a:t>
            </a:r>
            <a:endParaRPr lang="en-US" sz="1050" dirty="0">
              <a:latin typeface="Segoe UI" panose="020B0502040204020203" pitchFamily="34" charset="0"/>
              <a:cs typeface="Segoe UI" panose="020B0502040204020203"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7" name="Shape 4"/>
          <p:cNvSpPr/>
          <p:nvPr/>
        </p:nvSpPr>
        <p:spPr>
          <a:xfrm>
            <a:off x="64008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467612"/>
            <a:ext cx="228600" cy="228600"/>
          </a:xfrm>
          <a:prstGeom prst="rect">
            <a:avLst/>
          </a:prstGeom>
        </p:spPr>
      </p:pic>
      <p:sp>
        <p:nvSpPr>
          <p:cNvPr id="9" name="Text 5"/>
          <p:cNvSpPr txBox="1"/>
          <p:nvPr/>
        </p:nvSpPr>
        <p:spPr>
          <a:xfrm>
            <a:off x="123444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Konventionen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Datenobjekte tragen Klassennamen. Aktivität = Verb + Objekt, Ereignis im Partizip Perfekt. Jede Rolle gehört zu genau einer Lane und einer Klasse. Statuswerte in allen Modellen identisch.</a:t>
            </a:r>
            <a:endParaRPr lang="en-US" sz="1050" dirty="0">
              <a:latin typeface="Segoe UI" panose="020B0502040204020203" pitchFamily="34" charset="0"/>
              <a:cs typeface="Segoe UI" panose="020B0502040204020203" pitchFamily="34" charset="0"/>
            </a:endParaRPr>
          </a:p>
        </p:txBody>
      </p:sp>
      <p:sp>
        <p:nvSpPr>
          <p:cNvPr id="12" name="Shape 8"/>
          <p:cNvSpPr/>
          <p:nvPr/>
        </p:nvSpPr>
        <p:spPr>
          <a:xfrm>
            <a:off x="342900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3543300" y="1467612"/>
            <a:ext cx="228600" cy="228600"/>
          </a:xfrm>
          <a:prstGeom prst="rect">
            <a:avLst/>
          </a:prstGeom>
        </p:spPr>
      </p:pic>
      <p:sp>
        <p:nvSpPr>
          <p:cNvPr id="14" name="Text 9"/>
          <p:cNvSpPr txBox="1"/>
          <p:nvPr/>
        </p:nvSpPr>
        <p:spPr>
          <a:xfrm>
            <a:off x="402336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Werkzeuge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BPMN-Dateien angereichert für Camunda 8: Task-Definitionen, Subscriptions, Timer, FEEL-Bedingungen. Camunda-Linter und bpmnlint: 0 Befunde.</a:t>
            </a:r>
            <a:endParaRPr lang="en-US" sz="1050" dirty="0">
              <a:latin typeface="Segoe UI" panose="020B0502040204020203" pitchFamily="34" charset="0"/>
              <a:cs typeface="Segoe UI" panose="020B0502040204020203" pitchFamily="34" charset="0"/>
            </a:endParaRPr>
          </a:p>
        </p:txBody>
      </p:sp>
      <p:sp>
        <p:nvSpPr>
          <p:cNvPr id="17" name="Shape 12"/>
          <p:cNvSpPr/>
          <p:nvPr/>
        </p:nvSpPr>
        <p:spPr>
          <a:xfrm>
            <a:off x="621792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6332220" y="1467612"/>
            <a:ext cx="228600" cy="228600"/>
          </a:xfrm>
          <a:prstGeom prst="rect">
            <a:avLst/>
          </a:prstGeom>
        </p:spPr>
      </p:pic>
      <p:sp>
        <p:nvSpPr>
          <p:cNvPr id="19" name="Text 13"/>
          <p:cNvSpPr txBox="1"/>
          <p:nvPr/>
        </p:nvSpPr>
        <p:spPr>
          <a:xfrm>
            <a:off x="681228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Prüfrunden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Gesamtprüfung 26.09., Komplettcheck 05.10. (39 Befunde), QA-Abgleich 08.10. Jeder Pull Request wird gegen die QA-Checkliste geprüft, bevor er gemergt wird.</a:t>
            </a:r>
            <a:endParaRPr lang="en-US" sz="1050" dirty="0">
              <a:latin typeface="Segoe UI" panose="020B0502040204020203" pitchFamily="34" charset="0"/>
              <a:cs typeface="Segoe UI" panose="020B0502040204020203" pitchFamily="34" charset="0"/>
            </a:endParaRPr>
          </a:p>
        </p:txBody>
      </p:sp>
      <p:grpSp>
        <p:nvGrpSpPr>
          <p:cNvPr id="31" name="Gruppieren 30">
            <a:extLst>
              <a:ext uri="{FF2B5EF4-FFF2-40B4-BE49-F238E27FC236}">
                <a16:creationId xmlns:a16="http://schemas.microsoft.com/office/drawing/2014/main" id="{FA2A3CE9-9175-6313-DC1F-4D76D94B0ADA}"/>
              </a:ext>
            </a:extLst>
          </p:cNvPr>
          <p:cNvGrpSpPr/>
          <p:nvPr/>
        </p:nvGrpSpPr>
        <p:grpSpPr>
          <a:xfrm>
            <a:off x="640080" y="3719650"/>
            <a:ext cx="457200" cy="457200"/>
            <a:chOff x="640080" y="3472540"/>
            <a:chExt cx="457200" cy="457200"/>
          </a:xfrm>
        </p:grpSpPr>
        <p:sp>
          <p:nvSpPr>
            <p:cNvPr id="22" name="Shape 16"/>
            <p:cNvSpPr/>
            <p:nvPr/>
          </p:nvSpPr>
          <p:spPr>
            <a:xfrm>
              <a:off x="640080" y="3472540"/>
              <a:ext cx="457200" cy="457200"/>
            </a:xfrm>
            <a:prstGeom prst="ellipse">
              <a:avLst/>
            </a:prstGeom>
            <a:solidFill>
              <a:schemeClr val="accent2">
                <a:lumMod val="75000"/>
              </a:schemeClr>
            </a:solidFill>
            <a:ln w="12700">
              <a:noFill/>
              <a:prstDash val="solid"/>
            </a:ln>
          </p:spPr>
          <p:txBody>
            <a:bodyPr anchor="t"/>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754380" y="3586840"/>
              <a:ext cx="228600" cy="228600"/>
            </a:xfrm>
            <a:prstGeom prst="rect">
              <a:avLst/>
            </a:prstGeom>
          </p:spPr>
        </p:pic>
      </p:grpSp>
      <p:sp>
        <p:nvSpPr>
          <p:cNvPr id="24" name="Text 17"/>
          <p:cNvSpPr txBox="1"/>
          <p:nvPr/>
        </p:nvSpPr>
        <p:spPr>
          <a:xfrm>
            <a:off x="1234440" y="342247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Segoe UI" panose="020B0502040204020203" pitchFamily="34" charset="0"/>
                <a:ea typeface="Calibri" pitchFamily="34" charset="-122"/>
                <a:cs typeface="Segoe UI" panose="020B0502040204020203" pitchFamily="34" charset="0"/>
              </a:rPr>
              <a:t>Beispiel: </a:t>
            </a:r>
            <a:r>
              <a:rPr lang="en-US" sz="1100" dirty="0">
                <a:solidFill>
                  <a:srgbClr val="1B2430"/>
                </a:solidFill>
                <a:latin typeface="Segoe UI" panose="020B0502040204020203" pitchFamily="34" charset="0"/>
                <a:ea typeface="Calibri" pitchFamily="34" charset="-122"/>
                <a:cs typeface="Segoe UI" panose="020B0502040204020203" pitchFamily="34" charset="0"/>
              </a:rPr>
              <a:t>Als die Nacharbeit in Prozess 07 auf zwei Durchläufe begrenzt wurde, musste Sequenzdiagramm SD4 nachziehen (loop 0..2, danach Status abgelehnt). Genau solche Stellen findet die Checkliste: Botschaft = Operation, Lebenslinie = Rolle oder Klasse, Zustand = AuftragStatus.</a:t>
            </a:r>
            <a:endParaRPr lang="en-US" sz="1100" dirty="0">
              <a:latin typeface="Segoe UI" panose="020B0502040204020203" pitchFamily="34" charset="0"/>
              <a:cs typeface="Segoe UI" panose="020B0502040204020203" pitchFamily="34" charset="0"/>
            </a:endParaRPr>
          </a:p>
        </p:txBody>
      </p:sp>
      <p:cxnSp>
        <p:nvCxnSpPr>
          <p:cNvPr id="25" name="Gerade Verbindung 24">
            <a:extLst>
              <a:ext uri="{FF2B5EF4-FFF2-40B4-BE49-F238E27FC236}">
                <a16:creationId xmlns:a16="http://schemas.microsoft.com/office/drawing/2014/main" id="{D5EFE5D9-C3D8-26D9-F970-BB4CB7288B68}"/>
              </a:ext>
            </a:extLst>
          </p:cNvPr>
          <p:cNvCxnSpPr>
            <a:cxnSpLocks/>
          </p:cNvCxnSpPr>
          <p:nvPr/>
        </p:nvCxnSpPr>
        <p:spPr>
          <a:xfrm>
            <a:off x="3070184" y="1255555"/>
            <a:ext cx="0" cy="1763271"/>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27" name="Text 0">
            <a:extLst>
              <a:ext uri="{FF2B5EF4-FFF2-40B4-BE49-F238E27FC236}">
                <a16:creationId xmlns:a16="http://schemas.microsoft.com/office/drawing/2014/main" id="{765C87F5-EDD7-8E6E-8D51-45DBABBB98F3}"/>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Qualität</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Konventionen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Linter,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Konsistenz</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cxnSp>
        <p:nvCxnSpPr>
          <p:cNvPr id="30" name="Gerade Verbindung 29">
            <a:extLst>
              <a:ext uri="{FF2B5EF4-FFF2-40B4-BE49-F238E27FC236}">
                <a16:creationId xmlns:a16="http://schemas.microsoft.com/office/drawing/2014/main" id="{D4E11CBB-82A1-CE3E-2590-D1ACD5DB8951}"/>
              </a:ext>
            </a:extLst>
          </p:cNvPr>
          <p:cNvCxnSpPr>
            <a:cxnSpLocks/>
          </p:cNvCxnSpPr>
          <p:nvPr/>
        </p:nvCxnSpPr>
        <p:spPr>
          <a:xfrm>
            <a:off x="5861285" y="1255555"/>
            <a:ext cx="0" cy="1763271"/>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Calibri" pitchFamily="34" charset="0"/>
                <a:ea typeface="Calibri" pitchFamily="34" charset="-122"/>
                <a:cs typeface="Calibri" pitchFamily="34" charset="-120"/>
              </a:rPr>
              <a:t>Perspektive klären</a:t>
            </a:r>
            <a:endParaRPr lang="en-US" sz="1400" dirty="0">
              <a:solidFill>
                <a:schemeClr val="accent2">
                  <a:lumMod val="50000"/>
                </a:schemeClr>
              </a:solidFill>
            </a:endParaRPr>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2" name="Shape 8"/>
          <p:cNvSpPr/>
          <p:nvPr/>
        </p:nvSpPr>
        <p:spPr>
          <a:xfrm>
            <a:off x="4892040" y="118872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Calibri" pitchFamily="34" charset="0"/>
                <a:ea typeface="Calibri" pitchFamily="34" charset="-122"/>
                <a:cs typeface="Calibri" pitchFamily="34" charset="-120"/>
              </a:rPr>
              <a:t>Drei Modelle, ein Vokabular</a:t>
            </a:r>
            <a:endParaRPr lang="en-US" sz="1400" dirty="0">
              <a:solidFill>
                <a:schemeClr val="accent2">
                  <a:lumMod val="75000"/>
                </a:schemeClr>
              </a:solidFill>
            </a:endParaRPr>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7" name="Shape 12"/>
          <p:cNvSpPr/>
          <p:nvPr/>
        </p:nvSpPr>
        <p:spPr>
          <a:xfrm>
            <a:off x="640080" y="306324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endParaRPr>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Calibri" pitchFamily="34" charset="0"/>
                <a:ea typeface="Calibri" pitchFamily="34" charset="-122"/>
                <a:cs typeface="Calibri" pitchFamily="34" charset="-120"/>
              </a:rPr>
              <a:t>Engine-ready statt Fehlerliste</a:t>
            </a:r>
            <a:endParaRPr lang="en-US" sz="1400" dirty="0">
              <a:solidFill>
                <a:schemeClr val="accent2">
                  <a:lumMod val="75000"/>
                </a:schemeClr>
              </a:solidFill>
            </a:endParaRPr>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2" name="Shape 16"/>
          <p:cNvSpPr/>
          <p:nvPr/>
        </p:nvSpPr>
        <p:spPr>
          <a:xfrm>
            <a:off x="4892040" y="3063240"/>
            <a:ext cx="457200" cy="457200"/>
          </a:xfrm>
          <a:prstGeom prst="ellipse">
            <a:avLst/>
          </a:prstGeom>
          <a:solidFill>
            <a:schemeClr val="accent2">
              <a:lumMod val="50000"/>
            </a:schemeClr>
          </a:solidFill>
          <a:ln w="12700">
            <a:no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Calibri" pitchFamily="34" charset="0"/>
                <a:ea typeface="Calibri" pitchFamily="34" charset="-122"/>
                <a:cs typeface="Calibri" pitchFamily="34" charset="-120"/>
              </a:rPr>
              <a:t>Hinweise von außen nutzen</a:t>
            </a:r>
            <a:endParaRPr lang="en-US" sz="1400" dirty="0">
              <a:solidFill>
                <a:schemeClr val="accent2">
                  <a:lumMod val="50000"/>
                </a:schemeClr>
              </a:solidFill>
            </a:endParaRPr>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
        <p:nvSpPr>
          <p:cNvPr id="26" name="Text 0">
            <a:extLst>
              <a:ext uri="{FF2B5EF4-FFF2-40B4-BE49-F238E27FC236}">
                <a16:creationId xmlns:a16="http://schemas.microsoft.com/office/drawing/2014/main" id="{A48CE5FD-F9CC-24CB-FA2B-923ED5921C61}"/>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Herausforderungen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und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Lernerfahrungen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89337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3"/>
          <p:cNvSpPr/>
          <p:nvPr/>
        </p:nvSpPr>
        <p:spPr>
          <a:xfrm>
            <a:off x="4572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7" name="Text 4"/>
          <p:cNvSpPr txBox="1"/>
          <p:nvPr/>
        </p:nvSpPr>
        <p:spPr>
          <a:xfrm>
            <a:off x="5669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Themenwahl</a:t>
            </a:r>
            <a:endParaRPr lang="en-US" sz="800" dirty="0">
              <a:latin typeface="Segoe UI" panose="020B0502040204020203" pitchFamily="34" charset="0"/>
              <a:cs typeface="Segoe UI" panose="020B0502040204020203" pitchFamily="34" charset="0"/>
            </a:endParaRPr>
          </a:p>
        </p:txBody>
      </p:sp>
      <p:sp>
        <p:nvSpPr>
          <p:cNvPr id="8" name="Shape 5"/>
          <p:cNvSpPr/>
          <p:nvPr/>
        </p:nvSpPr>
        <p:spPr>
          <a:xfrm>
            <a:off x="18288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9" name="Text 6"/>
          <p:cNvSpPr txBox="1"/>
          <p:nvPr/>
        </p:nvSpPr>
        <p:spPr>
          <a:xfrm>
            <a:off x="2005434"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Konzept + Feedback</a:t>
            </a:r>
            <a:endParaRPr lang="en-US" sz="800" dirty="0">
              <a:latin typeface="Segoe UI" panose="020B0502040204020203" pitchFamily="34" charset="0"/>
              <a:cs typeface="Segoe UI" panose="020B0502040204020203" pitchFamily="34" charset="0"/>
            </a:endParaRPr>
          </a:p>
        </p:txBody>
      </p:sp>
      <p:sp>
        <p:nvSpPr>
          <p:cNvPr id="10" name="Shape 7"/>
          <p:cNvSpPr/>
          <p:nvPr/>
        </p:nvSpPr>
        <p:spPr>
          <a:xfrm>
            <a:off x="32004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1" name="Text 8"/>
          <p:cNvSpPr txBox="1"/>
          <p:nvPr/>
        </p:nvSpPr>
        <p:spPr>
          <a:xfrm>
            <a:off x="33101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Prozessanalyse</a:t>
            </a:r>
            <a:endParaRPr lang="en-US" sz="800" dirty="0">
              <a:latin typeface="Segoe UI" panose="020B0502040204020203" pitchFamily="34" charset="0"/>
              <a:cs typeface="Segoe UI" panose="020B0502040204020203" pitchFamily="34" charset="0"/>
            </a:endParaRPr>
          </a:p>
        </p:txBody>
      </p:sp>
      <p:sp>
        <p:nvSpPr>
          <p:cNvPr id="12" name="Shape 9"/>
          <p:cNvSpPr/>
          <p:nvPr/>
        </p:nvSpPr>
        <p:spPr>
          <a:xfrm>
            <a:off x="45720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3" name="Text 10"/>
          <p:cNvSpPr txBox="1"/>
          <p:nvPr/>
        </p:nvSpPr>
        <p:spPr>
          <a:xfrm>
            <a:off x="46817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BPMN</a:t>
            </a:r>
            <a:endParaRPr lang="en-US" sz="800" dirty="0">
              <a:latin typeface="Segoe UI" panose="020B0502040204020203" pitchFamily="34" charset="0"/>
              <a:cs typeface="Segoe UI" panose="020B0502040204020203" pitchFamily="34" charset="0"/>
            </a:endParaRPr>
          </a:p>
        </p:txBody>
      </p:sp>
      <p:sp>
        <p:nvSpPr>
          <p:cNvPr id="14" name="Shape 11"/>
          <p:cNvSpPr/>
          <p:nvPr/>
        </p:nvSpPr>
        <p:spPr>
          <a:xfrm>
            <a:off x="59436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5" name="Text 12"/>
          <p:cNvSpPr txBox="1"/>
          <p:nvPr/>
        </p:nvSpPr>
        <p:spPr>
          <a:xfrm>
            <a:off x="60533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OOA (UML)</a:t>
            </a:r>
            <a:endParaRPr lang="en-US" sz="800" dirty="0">
              <a:latin typeface="Segoe UI" panose="020B0502040204020203" pitchFamily="34" charset="0"/>
              <a:cs typeface="Segoe UI" panose="020B0502040204020203" pitchFamily="34" charset="0"/>
            </a:endParaRPr>
          </a:p>
        </p:txBody>
      </p:sp>
      <p:sp>
        <p:nvSpPr>
          <p:cNvPr id="16" name="Shape 13"/>
          <p:cNvSpPr/>
          <p:nvPr/>
        </p:nvSpPr>
        <p:spPr>
          <a:xfrm>
            <a:off x="73152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7" name="Text 14"/>
          <p:cNvSpPr txBox="1"/>
          <p:nvPr/>
        </p:nvSpPr>
        <p:spPr>
          <a:xfrm>
            <a:off x="7516403"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Doku + Präsentation</a:t>
            </a:r>
            <a:endParaRPr lang="en-US" sz="800" dirty="0">
              <a:latin typeface="Segoe UI" panose="020B0502040204020203" pitchFamily="34" charset="0"/>
              <a:cs typeface="Segoe UI" panose="020B0502040204020203" pitchFamily="34" charset="0"/>
            </a:endParaRPr>
          </a:p>
        </p:txBody>
      </p:sp>
      <p:sp>
        <p:nvSpPr>
          <p:cNvPr id="19" name="Shape 16"/>
          <p:cNvSpPr/>
          <p:nvPr/>
        </p:nvSpPr>
        <p:spPr>
          <a:xfrm>
            <a:off x="64008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0" descr="preencoded.png"/>
          <p:cNvPicPr>
            <a:picLocks noChangeAspect="1"/>
          </p:cNvPicPr>
          <p:nvPr/>
        </p:nvPicPr>
        <p:blipFill>
          <a:blip r:embed="rId3"/>
          <a:stretch>
            <a:fillRect/>
          </a:stretch>
        </p:blipFill>
        <p:spPr>
          <a:xfrm>
            <a:off x="754380" y="2191770"/>
            <a:ext cx="228600" cy="228600"/>
          </a:xfrm>
          <a:prstGeom prst="rect">
            <a:avLst/>
          </a:prstGeom>
        </p:spPr>
      </p:pic>
      <p:sp>
        <p:nvSpPr>
          <p:cNvPr id="21" name="Text 17"/>
          <p:cNvSpPr txBox="1"/>
          <p:nvPr/>
        </p:nvSpPr>
        <p:spPr>
          <a:xfrm>
            <a:off x="1234440" y="205918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Rollen</a:t>
            </a:r>
            <a:endParaRPr lang="en-US" sz="1400" dirty="0">
              <a:latin typeface="Segoe UI" panose="020B0502040204020203" pitchFamily="34" charset="0"/>
              <a:cs typeface="Segoe UI" panose="020B0502040204020203" pitchFamily="34" charset="0"/>
            </a:endParaRPr>
          </a:p>
        </p:txBody>
      </p:sp>
      <p:sp>
        <p:nvSpPr>
          <p:cNvPr id="22" name="Text 18"/>
          <p:cNvSpPr txBox="1"/>
          <p:nvPr/>
        </p:nvSpPr>
        <p:spPr>
          <a:xfrm>
            <a:off x="640080" y="262611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Projektleitung Nina (Stellvertretung und Backups David), Product Owner Adrian, Scrum Master Kilian, UML Kilian und David, BPMN Maximilian, Qualität Jakob.</a:t>
            </a:r>
            <a:endParaRPr lang="en-US" sz="1150" dirty="0">
              <a:latin typeface="Segoe UI" panose="020B0502040204020203" pitchFamily="34" charset="0"/>
              <a:cs typeface="Segoe UI" panose="020B0502040204020203" pitchFamily="34" charset="0"/>
            </a:endParaRPr>
          </a:p>
        </p:txBody>
      </p:sp>
      <p:sp>
        <p:nvSpPr>
          <p:cNvPr id="24" name="Shape 20"/>
          <p:cNvSpPr/>
          <p:nvPr/>
        </p:nvSpPr>
        <p:spPr>
          <a:xfrm>
            <a:off x="342900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1" descr="preencoded.png"/>
          <p:cNvPicPr>
            <a:picLocks noChangeAspect="1"/>
          </p:cNvPicPr>
          <p:nvPr/>
        </p:nvPicPr>
        <p:blipFill>
          <a:blip r:embed="rId4"/>
          <a:stretch>
            <a:fillRect/>
          </a:stretch>
        </p:blipFill>
        <p:spPr>
          <a:xfrm>
            <a:off x="3543300" y="2191770"/>
            <a:ext cx="228600" cy="228600"/>
          </a:xfrm>
          <a:prstGeom prst="rect">
            <a:avLst/>
          </a:prstGeom>
        </p:spPr>
      </p:pic>
      <p:sp>
        <p:nvSpPr>
          <p:cNvPr id="26" name="Text 21"/>
          <p:cNvSpPr txBox="1"/>
          <p:nvPr/>
        </p:nvSpPr>
        <p:spPr>
          <a:xfrm>
            <a:off x="4023360" y="205918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Zusammenarbeit</a:t>
            </a:r>
            <a:endParaRPr lang="en-US" sz="1400" dirty="0">
              <a:latin typeface="Segoe UI" panose="020B0502040204020203" pitchFamily="34" charset="0"/>
              <a:cs typeface="Segoe UI" panose="020B0502040204020203" pitchFamily="34" charset="0"/>
            </a:endParaRPr>
          </a:p>
        </p:txBody>
      </p:sp>
      <p:sp>
        <p:nvSpPr>
          <p:cNvPr id="27" name="Text 22"/>
          <p:cNvSpPr txBox="1"/>
          <p:nvPr/>
        </p:nvSpPr>
        <p:spPr>
          <a:xfrm>
            <a:off x="3429000" y="262611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Scrum im Takt der vier Gruppentermine, Trello-Board mit einer Liste je Termin und einer Karte je Person und Aufgabe, Prüfung jedes Diagramms im Zweierteam, GitHub mit Branches, Pull Requests und Review.</a:t>
            </a:r>
            <a:endParaRPr lang="en-US" sz="1150" dirty="0">
              <a:latin typeface="Segoe UI" panose="020B0502040204020203" pitchFamily="34" charset="0"/>
              <a:cs typeface="Segoe UI" panose="020B0502040204020203" pitchFamily="34" charset="0"/>
            </a:endParaRPr>
          </a:p>
        </p:txBody>
      </p:sp>
      <p:sp>
        <p:nvSpPr>
          <p:cNvPr id="29" name="Shape 24"/>
          <p:cNvSpPr/>
          <p:nvPr/>
        </p:nvSpPr>
        <p:spPr>
          <a:xfrm>
            <a:off x="621792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30" name="Image 2" descr="preencoded.png"/>
          <p:cNvPicPr>
            <a:picLocks noChangeAspect="1"/>
          </p:cNvPicPr>
          <p:nvPr/>
        </p:nvPicPr>
        <p:blipFill>
          <a:blip r:embed="rId5"/>
          <a:stretch>
            <a:fillRect/>
          </a:stretch>
        </p:blipFill>
        <p:spPr>
          <a:xfrm>
            <a:off x="6332220" y="2191770"/>
            <a:ext cx="228600" cy="228600"/>
          </a:xfrm>
          <a:prstGeom prst="rect">
            <a:avLst/>
          </a:prstGeom>
        </p:spPr>
      </p:pic>
      <p:sp>
        <p:nvSpPr>
          <p:cNvPr id="31" name="Text 25"/>
          <p:cNvSpPr txBox="1"/>
          <p:nvPr/>
        </p:nvSpPr>
        <p:spPr>
          <a:xfrm>
            <a:off x="6812280" y="2059182"/>
            <a:ext cx="1737360" cy="457200"/>
          </a:xfrm>
          <a:prstGeom prst="rect">
            <a:avLst/>
          </a:prstGeom>
          <a:noFill/>
          <a:ln/>
        </p:spPr>
        <p:txBody>
          <a:bodyPr wrap="square" lIns="0" tIns="0" rIns="0" bIns="0" rtlCol="0" anchor="ctr"/>
          <a:lstStyle/>
          <a:p>
            <a:pPr marL="0" indent="0">
              <a:buNone/>
            </a:pPr>
            <a:r>
              <a:rPr lang="en-US" sz="1400" b="1" dirty="0" err="1">
                <a:solidFill>
                  <a:srgbClr val="1B2430"/>
                </a:solidFill>
                <a:latin typeface="Segoe UI" panose="020B0502040204020203" pitchFamily="34" charset="0"/>
                <a:ea typeface="Calibri" pitchFamily="34" charset="-122"/>
                <a:cs typeface="Segoe UI" panose="020B0502040204020203" pitchFamily="34" charset="0"/>
              </a:rPr>
              <a:t>Ablauf</a:t>
            </a:r>
            <a:r>
              <a:rPr lang="en-US" sz="1400" b="1" dirty="0">
                <a:solidFill>
                  <a:srgbClr val="1B2430"/>
                </a:solidFill>
                <a:latin typeface="Segoe UI" panose="020B0502040204020203" pitchFamily="34" charset="0"/>
                <a:ea typeface="Calibri" pitchFamily="34" charset="-122"/>
                <a:cs typeface="Segoe UI" panose="020B0502040204020203" pitchFamily="34" charset="0"/>
              </a:rPr>
              <a:t> je </a:t>
            </a:r>
            <a:r>
              <a:rPr lang="en-US" sz="1400" b="1" dirty="0" err="1">
                <a:solidFill>
                  <a:srgbClr val="1B2430"/>
                </a:solidFill>
                <a:latin typeface="Segoe UI" panose="020B0502040204020203" pitchFamily="34" charset="0"/>
                <a:ea typeface="Calibri" pitchFamily="34" charset="-122"/>
                <a:cs typeface="Segoe UI" panose="020B0502040204020203" pitchFamily="34" charset="0"/>
              </a:rPr>
              <a:t>Diagramm</a:t>
            </a:r>
            <a:endParaRPr lang="en-US" sz="1400" b="1" dirty="0">
              <a:solidFill>
                <a:srgbClr val="1B2430"/>
              </a:solidFill>
              <a:latin typeface="Segoe UI" panose="020B0502040204020203" pitchFamily="34" charset="0"/>
              <a:ea typeface="Calibri" pitchFamily="34" charset="-122"/>
              <a:cs typeface="Segoe UI" panose="020B0502040204020203" pitchFamily="34" charset="0"/>
            </a:endParaRPr>
          </a:p>
        </p:txBody>
      </p:sp>
      <p:sp>
        <p:nvSpPr>
          <p:cNvPr id="32" name="Text 26"/>
          <p:cNvSpPr txBox="1"/>
          <p:nvPr/>
        </p:nvSpPr>
        <p:spPr>
          <a:xfrm>
            <a:off x="6217920" y="2626110"/>
            <a:ext cx="2286000" cy="19659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Entwurf</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Zweierteam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gegenseitiges</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Review, Abstimmung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Gruppentermin</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Umsetzung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über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Pull Request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Review.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Entscheidungen</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Begründung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Entscheidungslog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damit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jede</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Korrektur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nachvollziehbar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bleibt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a:t>
            </a:r>
            <a:endParaRPr kumimoji="0" lang="en-US" sz="1150" b="0" i="0" u="none" strike="noStrike" kern="1200" cap="none" spc="0" normalizeH="0" baseline="0" noProof="0" dirty="0">
              <a:ln>
                <a:noFill/>
              </a:ln>
              <a:solidFill>
                <a:prstClr val="black"/>
              </a:solidFill>
              <a:effectLst/>
              <a:uLnTx/>
              <a:uFillTx/>
              <a:latin typeface="Segoe UI" panose="020B0502040204020203" pitchFamily="34" charset="0"/>
              <a:cs typeface="Segoe UI" panose="020B0502040204020203" pitchFamily="34" charset="0"/>
            </a:endParaRPr>
          </a:p>
        </p:txBody>
      </p:sp>
      <p:sp>
        <p:nvSpPr>
          <p:cNvPr id="5" name="Text 0">
            <a:extLst>
              <a:ext uri="{FF2B5EF4-FFF2-40B4-BE49-F238E27FC236}">
                <a16:creationId xmlns:a16="http://schemas.microsoft.com/office/drawing/2014/main" id="{5EF3F177-BCC2-B7E8-4C79-2BAC6028859E}"/>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Vorgehen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und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Projektmanagement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2205834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Geschäftsmodell und Ausblick</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Abo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45720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Basis: Auftrags- und Kundenverwaltung mit Kundenportal. Pro: zusätzlich filialübergreifende Disposition und KI-Sofortdiagnose.</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482457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Zielkunden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2457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Unabhängige Werkstätten und kleine Ketten mit 2 bis 10 Filialen im DACH-Raum, für die ein großes Werkstattsystem zu schwer ist.</a:t>
            </a:r>
            <a:endParaRPr lang="en-US" sz="1150" dirty="0">
              <a:latin typeface="Segoe UI" panose="020B0502040204020203" pitchFamily="34" charset="0"/>
              <a:cs typeface="Segoe UI" panose="020B0502040204020203" pitchFamily="34" charset="0"/>
            </a:endParaRPr>
          </a:p>
        </p:txBody>
      </p:sp>
      <p:sp>
        <p:nvSpPr>
          <p:cNvPr id="16" name="Text 11"/>
          <p:cNvSpPr txBox="1"/>
          <p:nvPr/>
        </p:nvSpPr>
        <p:spPr>
          <a:xfrm>
            <a:off x="457200" y="3355760"/>
            <a:ext cx="8229600" cy="274320"/>
          </a:xfrm>
          <a:prstGeom prst="rect">
            <a:avLst/>
          </a:prstGeom>
          <a:noFill/>
          <a:ln/>
        </p:spPr>
        <p:txBody>
          <a:bodyPr wrap="square" lIns="0" tIns="0" rIns="0" bIns="0" rtlCol="0" anchor="ctr"/>
          <a:lstStyle/>
          <a:p>
            <a:pPr marL="0" indent="0">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Ausblick (Vision, nicht modelliert)</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4572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Predictive Disposition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572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Bedarfsprognose je Filiale und Saison, damit Teile vor der Nachfrage im Lager liegen.</a:t>
            </a:r>
            <a:endParaRPr lang="en-US" sz="1050" dirty="0">
              <a:latin typeface="Segoe UI" panose="020B0502040204020203" pitchFamily="34" charset="0"/>
              <a:cs typeface="Segoe UI" panose="020B0502040204020203" pitchFamily="34" charset="0"/>
            </a:endParaRPr>
          </a:p>
        </p:txBody>
      </p:sp>
      <p:sp>
        <p:nvSpPr>
          <p:cNvPr id="25" name="Text 18"/>
          <p:cNvSpPr txBox="1"/>
          <p:nvPr/>
        </p:nvSpPr>
        <p:spPr>
          <a:xfrm>
            <a:off x="34290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Techniker-Copilot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34290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Reparaturschritte und Aufwand aus der Historie ähnlicher Aufträge vorschlagen.</a:t>
            </a:r>
            <a:endParaRPr lang="en-US" sz="1050" dirty="0">
              <a:latin typeface="Segoe UI" panose="020B0502040204020203" pitchFamily="34" charset="0"/>
              <a:cs typeface="Segoe UI" panose="020B0502040204020203" pitchFamily="34" charset="0"/>
            </a:endParaRPr>
          </a:p>
        </p:txBody>
      </p:sp>
      <p:sp>
        <p:nvSpPr>
          <p:cNvPr id="30" name="Text 22"/>
          <p:cNvSpPr txBox="1"/>
          <p:nvPr/>
        </p:nvSpPr>
        <p:spPr>
          <a:xfrm>
            <a:off x="6288941"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Digitale Geräteakte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1" name="Text 23"/>
          <p:cNvSpPr txBox="1"/>
          <p:nvPr/>
        </p:nvSpPr>
        <p:spPr>
          <a:xfrm>
            <a:off x="6288941"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Jedes Gerät behält seine Reparaturgeschichte über alle Filialen und Besitzer.</a:t>
            </a:r>
            <a:endParaRPr lang="en-US" sz="1050" dirty="0">
              <a:latin typeface="Segoe UI" panose="020B0502040204020203" pitchFamily="34" charset="0"/>
              <a:cs typeface="Segoe UI" panose="020B0502040204020203" pitchFamily="34" charset="0"/>
            </a:endParaRPr>
          </a:p>
        </p:txBody>
      </p:sp>
      <p:pic>
        <p:nvPicPr>
          <p:cNvPr id="4" name="Grafik 3" descr="Geld mit einfarbiger Füllung">
            <a:extLst>
              <a:ext uri="{FF2B5EF4-FFF2-40B4-BE49-F238E27FC236}">
                <a16:creationId xmlns:a16="http://schemas.microsoft.com/office/drawing/2014/main" id="{642898C4-E097-D67C-490C-E84451008C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31620" y="995985"/>
            <a:ext cx="914400" cy="914400"/>
          </a:xfrm>
          <a:prstGeom prst="rect">
            <a:avLst/>
          </a:prstGeom>
        </p:spPr>
      </p:pic>
      <p:pic>
        <p:nvPicPr>
          <p:cNvPr id="32" name="Grafik 31" descr="Laden mit einfarbiger Füllung">
            <a:extLst>
              <a:ext uri="{FF2B5EF4-FFF2-40B4-BE49-F238E27FC236}">
                <a16:creationId xmlns:a16="http://schemas.microsoft.com/office/drawing/2014/main" id="{7E835EF6-A092-A989-138F-B59E682C21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98990" y="995985"/>
            <a:ext cx="914400" cy="9144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Segoe UI" panose="020B0502040204020203" pitchFamily="34" charset="0"/>
                <a:ea typeface="Calibri" pitchFamily="34" charset="-122"/>
                <a:cs typeface="Segoe UI" panose="020B0502040204020203" pitchFamily="34" charset="0"/>
              </a:rPr>
              <a:t>Fazit</a:t>
            </a:r>
            <a:endParaRPr lang="en-US" sz="2800" dirty="0">
              <a:latin typeface="Segoe UI" panose="020B0502040204020203" pitchFamily="34" charset="0"/>
              <a:cs typeface="Segoe UI" panose="020B0502040204020203" pitchFamily="34" charset="0"/>
            </a:endParaRPr>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RepairFlow löst den Medienbruch aus Papier, Excel und Telefon und macht den Reparaturauftrag zum zentralen Zustandsautomaten.</a:t>
            </a:r>
            <a:endParaRPr lang="en-US" sz="1600" dirty="0">
              <a:latin typeface="Segoe UI" panose="020B0502040204020203" pitchFamily="34" charset="0"/>
              <a:cs typeface="Segoe UI" panose="020B0502040204020203" pitchFamily="34" charset="0"/>
            </a:endParaRPr>
          </a:p>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Der fachliche Mehrwert liegt in der filialübergreifenden Disposition und in der KI-Sofortdiagnose, die dem Kunden Klarheit gibt, bevor er die Werkstatt betritt.</a:t>
            </a:r>
            <a:endParaRPr lang="en-US" sz="1600" dirty="0">
              <a:latin typeface="Segoe UI" panose="020B0502040204020203" pitchFamily="34" charset="0"/>
              <a:cs typeface="Segoe UI" panose="020B0502040204020203" pitchFamily="34" charset="0"/>
            </a:endParaRPr>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Segoe UI" panose="020B0502040204020203" pitchFamily="34" charset="0"/>
                <a:ea typeface="Calibri" pitchFamily="34" charset="-122"/>
                <a:cs typeface="Segoe UI" panose="020B0502040204020203" pitchFamily="34" charset="0"/>
              </a:rPr>
              <a:t>Vielen Dank</a:t>
            </a:r>
            <a:endParaRPr lang="en-US" sz="4000" dirty="0">
              <a:latin typeface="Segoe UI" panose="020B0502040204020203" pitchFamily="34" charset="0"/>
              <a:cs typeface="Segoe UI" panose="020B0502040204020203" pitchFamily="34" charset="0"/>
            </a:endParaRPr>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Segoe UI" panose="020B0502040204020203" pitchFamily="34" charset="0"/>
                <a:ea typeface="Calibri" pitchFamily="34" charset="-122"/>
                <a:cs typeface="Segoe UI" panose="020B0502040204020203" pitchFamily="34" charset="0"/>
              </a:rPr>
              <a:t>Fragen?</a:t>
            </a:r>
            <a:endParaRPr lang="en-US" sz="2200" dirty="0">
              <a:latin typeface="Segoe UI" panose="020B0502040204020203" pitchFamily="34" charset="0"/>
              <a:cs typeface="Segoe UI" panose="020B0502040204020203" pitchFamily="34" charset="0"/>
            </a:endParaRPr>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Segoe UI" panose="020B0502040204020203" pitchFamily="34" charset="0"/>
                <a:ea typeface="Calibri" pitchFamily="34" charset="-122"/>
                <a:cs typeface="Segoe UI" panose="020B0502040204020203" pitchFamily="34" charset="0"/>
              </a:rPr>
              <a:t>Gruppe 1 · WWI25B4 · RepairFlow · Diagramme und Details in der Projektdokumentation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9" name="Table 0"/>
          <p:cNvGraphicFramePr>
            <a:graphicFrameLocks noGrp="1"/>
          </p:cNvGraphicFramePr>
          <p:nvPr>
            <p:extLst>
              <p:ext uri="{D42A27DB-BD31-4B8C-83A1-F6EECF244321}">
                <p14:modId xmlns:p14="http://schemas.microsoft.com/office/powerpoint/2010/main" val="1706668167"/>
              </p:ext>
            </p:extLst>
          </p:nvPr>
        </p:nvGraphicFramePr>
        <p:xfrm>
          <a:off x="457200" y="1244376"/>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17–18</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3, 6, 12</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Auftragsreise, Rollen und Use Cases; Use-Case-Diagramm und Sequenzdiagramme SD5 und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4–5, 7–8</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Lösung, Nutzenversprechen, KI-Sofortdiagnose, Live-Demo;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9–11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Prozess-Highlights;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13–14</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Datenmodell, Vorgehen und Projektmanagement; Klassendiagramm, SD1 bis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15–16</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0">
            <a:extLst>
              <a:ext uri="{FF2B5EF4-FFF2-40B4-BE49-F238E27FC236}">
                <a16:creationId xmlns:a16="http://schemas.microsoft.com/office/drawing/2014/main" id="{F066B39A-F881-C371-A34D-09F0A6E891EC}"/>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Beiträge</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der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Vordtragenden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4184</Words>
  <Application>Microsoft Macintosh PowerPoint</Application>
  <PresentationFormat>Bildschirmpräsentation (16:9)</PresentationFormat>
  <Paragraphs>333</Paragraphs>
  <Slides>19</Slides>
  <Notes>17</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19</vt:i4>
      </vt:variant>
    </vt:vector>
  </HeadingPairs>
  <TitlesOfParts>
    <vt:vector size="24" baseType="lpstr">
      <vt:lpstr>Arial</vt:lpstr>
      <vt:lpstr>Calibri</vt:lpstr>
      <vt:lpstr>Segoe UI</vt:lpstr>
      <vt:lpstr>Wingdings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14</cp:revision>
  <dcterms:created xsi:type="dcterms:W3CDTF">2026-10-15T07:59:30Z</dcterms:created>
  <dcterms:modified xsi:type="dcterms:W3CDTF">2026-10-22T09:33:46Z</dcterms:modified>
</cp:coreProperties>
</file>