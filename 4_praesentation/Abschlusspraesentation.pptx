
<file path=[Content_Types].xml><?xml version="1.0" encoding="utf-8"?>
<Types xmlns="http://schemas.openxmlformats.org/package/2006/content-types">
  <Default Extension="emf" ContentType="image/x-emf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08" r:id="rId2"/>
    <p:sldId id="309" r:id="rId3"/>
    <p:sldId id="310" r:id="rId4"/>
    <p:sldId id="311" r:id="rId5"/>
    <p:sldId id="312" r:id="rId6"/>
    <p:sldId id="313" r:id="rId7"/>
    <p:sldId id="314" r:id="rId8"/>
    <p:sldId id="281" r:id="rId9"/>
    <p:sldId id="288" r:id="rId10"/>
    <p:sldId id="289" r:id="rId11"/>
    <p:sldId id="265" r:id="rId12"/>
    <p:sldId id="280" r:id="rId13"/>
    <p:sldId id="290" r:id="rId14"/>
    <p:sldId id="291" r:id="rId15"/>
    <p:sldId id="292" r:id="rId16"/>
    <p:sldId id="293" r:id="rId17"/>
    <p:sldId id="282" r:id="rId18"/>
    <p:sldId id="283" r:id="rId19"/>
    <p:sldId id="286" r:id="rId20"/>
    <p:sldId id="287" r:id="rId21"/>
    <p:sldId id="294" r:id="rId22"/>
    <p:sldId id="295" r:id="rId23"/>
    <p:sldId id="296" r:id="rId24"/>
    <p:sldId id="29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vid" id="{88BB6C5F-BCA4-9943-807C-50A57D629305}">
          <p14:sldIdLst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Kilian" id="{1139A1D9-944E-3441-9BD8-35E9CEF6D225}">
          <p14:sldIdLst>
            <p14:sldId id="281"/>
          </p14:sldIdLst>
        </p14:section>
        <p14:section name="Maximilian" id="{0B64C47C-C681-8643-8A72-028DC518B57D}">
          <p14:sldIdLst>
            <p14:sldId id="288"/>
            <p14:sldId id="289"/>
            <p14:sldId id="265"/>
            <p14:sldId id="280"/>
          </p14:sldIdLst>
        </p14:section>
        <p14:section name="Adrian" id="{C59C4432-FF7E-A14B-8A5D-46FD719FCE68}">
          <p14:sldIdLst>
            <p14:sldId id="290"/>
            <p14:sldId id="291"/>
            <p14:sldId id="292"/>
            <p14:sldId id="293"/>
          </p14:sldIdLst>
        </p14:section>
        <p14:section name="Kilian" id="{2F11BAA1-0B73-6D4F-B882-B2353546D24B}">
          <p14:sldIdLst>
            <p14:sldId id="282"/>
            <p14:sldId id="283"/>
          </p14:sldIdLst>
        </p14:section>
        <p14:section name="Jakob" id="{7DC776A1-7D7D-F548-992F-CA5AB6B455F2}">
          <p14:sldIdLst>
            <p14:sldId id="286"/>
            <p14:sldId id="287"/>
          </p14:sldIdLst>
        </p14:section>
        <p14:section name="Nina" id="{0D502D7A-3C1B-1F4A-BB67-E47EF2FFD626}">
          <p14:sldIdLst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5700"/>
    <a:srgbClr val="FFFFFF"/>
    <a:srgbClr val="CF4E02"/>
    <a:srgbClr val="E8EEF4"/>
    <a:srgbClr val="A2A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1"/>
    <p:restoredTop sz="86169"/>
  </p:normalViewPr>
  <p:slideViewPr>
    <p:cSldViewPr snapToGrid="0" snapToObjects="1">
      <p:cViewPr varScale="1">
        <p:scale>
          <a:sx n="143" d="100"/>
          <a:sy n="143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40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David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</a:t>
            </a:r>
            <a:r>
              <a:rPr lang="de-DE" dirty="0"/>
              <a:t>Kilian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0EEA-6A4B-472F-D803-9483494B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7A22C-9C37-FB09-92CB-A880171C5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F109A-BF7E-E094-E2CA-78949371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</a:t>
            </a:r>
            <a:r>
              <a:rPr lang="de-DE" dirty="0"/>
              <a:t>Maximilian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CA1B7-5D2D-27A7-2F24-3D6E76588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23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08250-25F3-8992-43BF-D14C84D1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B0F22A-F00F-0057-1149-92CC4CD87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DD66A-29A7-BD23-7479-99308DB3D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</a:t>
            </a:r>
            <a:r>
              <a:rPr lang="de-DE" dirty="0"/>
              <a:t>Maximilian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8F6E3-73AF-D838-73CC-427E21B55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70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</a:t>
            </a:r>
            <a:r>
              <a:rPr lang="de-DE" dirty="0"/>
              <a:t>Maximilian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</a:t>
            </a:r>
            <a:r>
              <a:rPr lang="de-DE" dirty="0"/>
              <a:t>Maximilian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087AE-59E9-F656-21AD-17E30BF0F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2448F-04F1-D2F9-3105-094753D8C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>
                <a:solidFill>
                  <a:srgbClr val="000000"/>
                </a:solidFill>
                <a:latin typeface="Aptos"/>
              </a:rPr>
              <a:t>Vortragende(r): Adrian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C70A5-D35D-67E6-5B60-F0EB047265A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6115379-4AB9-6B41-AE94-366B276EC789}" type="slidenum">
              <a:t>13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087AE-59E9-F656-21AD-17E30BF0F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2448F-04F1-D2F9-3105-094753D8C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>
                <a:solidFill>
                  <a:srgbClr val="000000"/>
                </a:solidFill>
                <a:latin typeface="Aptos"/>
              </a:rPr>
              <a:t>Vortragende(r): Adrian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C70A5-D35D-67E6-5B60-F0EB047265A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6115379-4AB9-6B41-AE94-366B276EC789}" type="slidenum">
              <a:t>14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68CA1-F530-BD2F-1902-B7803C507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E084C-5A20-9E62-2AF6-F121F17F3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>
                <a:solidFill>
                  <a:srgbClr val="000000"/>
                </a:solidFill>
                <a:latin typeface="Aptos"/>
              </a:rPr>
              <a:t>Vortragende(r): Adrian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CD28C-CB29-26BF-F79C-9BD6014FD5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795690C6-63E1-D346-B37B-BB7E56D14EF1}" type="slidenum">
              <a:t>15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03FFB-D33B-5B7D-5230-105F47980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047C3-A45E-A32B-1C8D-9400DFC0A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>
                <a:solidFill>
                  <a:srgbClr val="000000"/>
                </a:solidFill>
                <a:latin typeface="Aptos"/>
              </a:rPr>
              <a:t>Vortragende(r): Adrian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E4DA9-A6D9-16E2-ED2A-6B6DD9480B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A6CA3CBC-C7DC-8B4A-B2D9-7035F42B3713}" type="slidenum">
              <a:t>16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Kilian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Kilian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Jakob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Vortragende</a:t>
            </a:r>
            <a:r>
              <a:rPr dirty="0"/>
              <a:t>(r): Jakob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18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67BE3-F584-F4AD-6A7E-91C8E60DD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6684E-30C2-470F-1135-CE8A6088E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>
                <a:solidFill>
                  <a:srgbClr val="000000"/>
                </a:solidFill>
                <a:latin typeface="Aptos"/>
              </a:rPr>
              <a:t>Vortragende(r): Nina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DB3B2-9E01-E1AA-D5BE-8E0E92792C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B9D98B-3B64-E343-B19D-892768654EEB}" type="slidenum">
              <a:t>21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3BD2C-15D2-C1B4-3EE6-465BBFF05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3C668-0CAF-BCEE-759B-5304DD0D9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>
                <a:solidFill>
                  <a:srgbClr val="000000"/>
                </a:solidFill>
                <a:latin typeface="Aptos"/>
              </a:rPr>
              <a:t>Vortragende(r): Nina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E91F6-EEAE-87B0-9127-2D18FA0E89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FAA19FF2-F726-284D-B893-18573D0AAE96}" type="slidenum">
              <a:t>22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BA9CE-D87F-40B4-DEE0-298BA695A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13E9E-E850-F565-8E38-3997AE544C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>
                <a:solidFill>
                  <a:srgbClr val="000000"/>
                </a:solidFill>
                <a:latin typeface="Aptos"/>
              </a:rPr>
              <a:t>Vortragende(r): Nina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6D1B8-F5A5-AE1E-0DAF-DDEC9559CB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611CAF38-4B20-3548-B3C6-067F76BFDE63}" type="slidenum">
              <a:t>23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5C18C-3FAA-6A2E-DDF1-DCF386903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72192-D793-6D05-DCAA-F6D4BBC09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EA660-87B5-6602-D0F0-EA36A6870F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88DA254A-75E9-254F-A716-2FD585B78856}" type="slidenum">
              <a:t>24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org&amp;utm_campaign=index&amp;utm_content=thumbnai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org&amp;utm_campaign=index&amp;utm_content=thumbnai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elbild ChatGPT 24.10. (Original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0F14">
                  <a:alpha val="55000"/>
                </a:srgbClr>
              </a:gs>
              <a:gs pos="40000">
                <a:srgbClr val="0B0F14">
                  <a:alpha val="35000"/>
                </a:srgbClr>
              </a:gs>
              <a:gs pos="65000">
                <a:srgbClr val="0B0F14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gradFill rotWithShape="1">
            <a:gsLst>
              <a:gs pos="0">
                <a:srgbClr val="0B0F14">
                  <a:alpha val="0"/>
                </a:srgbClr>
              </a:gs>
              <a:gs pos="40000">
                <a:srgbClr val="0B0F14">
                  <a:alpha val="80000"/>
                </a:srgbClr>
              </a:gs>
              <a:gs pos="100000">
                <a:srgbClr val="0B0F14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RepairFlow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E8E2DA"/>
                </a:solidFill>
                <a:latin typeface="Segoe UI"/>
              </a:rPr>
              <a:t>Werkstatt-Management als SaaS-Plattform</a:t>
            </a:r>
          </a:p>
          <a:p>
            <a:pPr algn="l"/>
            <a:r>
              <a:rPr sz="2200" b="0">
                <a:solidFill>
                  <a:srgbClr val="E8E2DA"/>
                </a:solidFill>
                <a:latin typeface="Segoe UI"/>
              </a:rPr>
              <a:t>mit KI-Sofortdiagnose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640080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Fallstudie Systemanalyse · WWI25B4 · Gruppe 1 · 27.10.2026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D6D0C8"/>
                </a:solidFill>
                <a:latin typeface="Segoe UI"/>
              </a:rPr>
              <a:t>Maximilian Ewald · David Leismann · Kilian Platter · Nina Sattler · Jakob Schwan · Adrian Wenzler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8328" y="246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Unser Team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8328" y="74980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F7F7F"/>
                </a:solidFill>
                <a:latin typeface="Segoe UI"/>
              </a:rPr>
              <a:t>Unsere Projektrollen und die Themen, die jede Person heute vorstellt.</a:t>
            </a:r>
          </a:p>
        </p:txBody>
      </p:sp>
      <p:pic>
        <p:nvPicPr>
          <p:cNvPr id="4" name="Picture 3" descr="Dav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9" y="1508760"/>
            <a:ext cx="1143000" cy="1143000"/>
          </a:xfrm>
          <a:prstGeom prst="ellipse">
            <a:avLst/>
          </a:prstGeom>
          <a:ln w="19050">
            <a:solidFill>
              <a:srgbClr val="D9DEE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82879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B2430"/>
                </a:solidFill>
                <a:latin typeface="Segoe UI"/>
              </a:rPr>
              <a:t>David Leismann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9" y="3108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Stellv.</a:t>
            </a:r>
          </a:p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599" y="3657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B2430"/>
                </a:solidFill>
                <a:latin typeface="Segoe UI"/>
              </a:rPr>
              <a:t>Problem und Lösung</a:t>
            </a:r>
          </a:p>
        </p:txBody>
      </p:sp>
      <p:pic>
        <p:nvPicPr>
          <p:cNvPr id="8" name="Picture 7" descr="Kili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939" y="1508760"/>
            <a:ext cx="1143000" cy="1143000"/>
          </a:xfrm>
          <a:prstGeom prst="ellipse">
            <a:avLst/>
          </a:prstGeom>
          <a:ln w="19050">
            <a:solidFill>
              <a:srgbClr val="D9DEE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645919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B2430"/>
                </a:solidFill>
                <a:latin typeface="Segoe UI"/>
              </a:rPr>
              <a:t>Kilian Platter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3108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Scrum Master</a:t>
            </a:r>
          </a:p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&amp; UML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3657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B2430"/>
                </a:solidFill>
                <a:latin typeface="Segoe UI"/>
              </a:rPr>
              <a:t>Nutzen, Rollen und Datenmodell</a:t>
            </a:r>
          </a:p>
        </p:txBody>
      </p:sp>
      <p:pic>
        <p:nvPicPr>
          <p:cNvPr id="12" name="Picture 11" descr="Maximili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979" y="1508760"/>
            <a:ext cx="1143000" cy="1143000"/>
          </a:xfrm>
          <a:prstGeom prst="ellipse">
            <a:avLst/>
          </a:prstGeom>
          <a:ln w="19050">
            <a:solidFill>
              <a:srgbClr val="D9DEE3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108959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B2430"/>
                </a:solidFill>
                <a:latin typeface="Segoe UI"/>
              </a:rPr>
              <a:t>Maximilian Ewald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59" y="3108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BPMN-</a:t>
            </a:r>
          </a:p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Modellierung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3657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B2430"/>
                </a:solidFill>
                <a:latin typeface="Segoe UI"/>
              </a:rPr>
              <a:t>Auftragsreise und Live-Demo</a:t>
            </a:r>
          </a:p>
        </p:txBody>
      </p:sp>
      <p:pic>
        <p:nvPicPr>
          <p:cNvPr id="16" name="Picture 15" descr="Adri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1508760"/>
            <a:ext cx="1143000" cy="1143000"/>
          </a:xfrm>
          <a:prstGeom prst="ellipse">
            <a:avLst/>
          </a:prstGeom>
          <a:ln w="19050">
            <a:solidFill>
              <a:srgbClr val="D9DEE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572000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B2430"/>
                </a:solidFill>
                <a:latin typeface="Segoe UI"/>
              </a:rPr>
              <a:t>Adrian Wenzler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Product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57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B2430"/>
                </a:solidFill>
                <a:latin typeface="Segoe UI"/>
              </a:rPr>
              <a:t>KI-Sofortdiagnose und Ergebnisse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rcRect t="15245" b="15245"/>
          <a:stretch/>
        </p:blipFill>
        <p:spPr>
          <a:xfrm>
            <a:off x="6195059" y="1508760"/>
            <a:ext cx="1143000" cy="1143000"/>
          </a:xfrm>
          <a:prstGeom prst="ellipse">
            <a:avLst/>
          </a:prstGeom>
          <a:ln w="19050">
            <a:solidFill>
              <a:srgbClr val="D9DEE3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035040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B2430"/>
                </a:solidFill>
                <a:latin typeface="Segoe UI"/>
              </a:rPr>
              <a:t>Jakob Schwan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Qualitäts-</a:t>
            </a:r>
          </a:p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657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B2430"/>
                </a:solidFill>
                <a:latin typeface="Segoe UI"/>
              </a:rPr>
              <a:t>Qualität und Lernerfahrungen</a:t>
            </a:r>
          </a:p>
        </p:txBody>
      </p:sp>
      <p:pic>
        <p:nvPicPr>
          <p:cNvPr id="24" name="Picture 23" descr="Nin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0" y="1508760"/>
            <a:ext cx="1143000" cy="1143000"/>
          </a:xfrm>
          <a:prstGeom prst="ellipse">
            <a:avLst/>
          </a:prstGeom>
          <a:ln w="19050">
            <a:solidFill>
              <a:srgbClr val="D9DEE3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498079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B2430"/>
                </a:solidFill>
                <a:latin typeface="Segoe UI"/>
              </a:rPr>
              <a:t>Nina Sattler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108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843C0C"/>
                </a:solidFill>
                <a:latin typeface="Segoe UI"/>
              </a:rPr>
              <a:t>Projektleitung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65760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B2430"/>
                </a:solidFill>
                <a:latin typeface="Segoe UI"/>
              </a:rPr>
              <a:t>Vorgehen und Geschäftsmodell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el"/>
          <p:cNvSpPr txBox="1"/>
          <p:nvPr/>
        </p:nvSpPr>
        <p:spPr>
          <a:xfrm>
            <a:off x="338328" y="246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Agenda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!!untertitel"/>
          <p:cNvSpPr txBox="1"/>
          <p:nvPr/>
        </p:nvSpPr>
        <p:spPr>
          <a:xfrm>
            <a:off x="338328" y="74980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F7F7F"/>
                </a:solidFill>
                <a:latin typeface="Segoe UI"/>
              </a:rPr>
              <a:t>Zuerst zeigen wir RepairFlow aus Werkstattsicht. Danach erklären wir, was dahintersteckt.</a:t>
            </a:r>
          </a:p>
        </p:txBody>
      </p:sp>
      <p:sp>
        <p:nvSpPr>
          <p:cNvPr id="4" name="!!karte"/>
          <p:cNvSpPr/>
          <p:nvPr/>
        </p:nvSpPr>
        <p:spPr>
          <a:xfrm>
            <a:off x="411480" y="1371600"/>
            <a:ext cx="4114800" cy="3474720"/>
          </a:xfrm>
          <a:prstGeom prst="roundRect">
            <a:avLst>
              <a:gd name="adj" fmla="val 5000"/>
            </a:avLst>
          </a:prstGeom>
          <a:solidFill>
            <a:srgbClr val="F7F2EC"/>
          </a:solidFill>
          <a:ln w="15875">
            <a:solidFill>
              <a:srgbClr val="D9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teil0"/>
          <p:cNvSpPr txBox="1"/>
          <p:nvPr/>
        </p:nvSpPr>
        <p:spPr>
          <a:xfrm>
            <a:off x="685800" y="15727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43C0C"/>
                </a:solidFill>
                <a:latin typeface="Segoe UI"/>
              </a:rPr>
              <a:t>TEIL 1 · Der Pitch</a:t>
            </a:r>
          </a:p>
        </p:txBody>
      </p:sp>
      <p:sp>
        <p:nvSpPr>
          <p:cNvPr id="6" name="!!strich0"/>
          <p:cNvSpPr/>
          <p:nvPr/>
        </p:nvSpPr>
        <p:spPr>
          <a:xfrm>
            <a:off x="685800" y="1892807"/>
            <a:ext cx="3566160" cy="22860"/>
          </a:xfrm>
          <a:prstGeom prst="rect">
            <a:avLst/>
          </a:prstGeom>
          <a:solidFill>
            <a:srgbClr val="C49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!!teil1"/>
          <p:cNvSpPr txBox="1"/>
          <p:nvPr/>
        </p:nvSpPr>
        <p:spPr>
          <a:xfrm>
            <a:off x="4892040" y="15727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C8C8C"/>
                </a:solidFill>
                <a:latin typeface="Segoe UI"/>
              </a:rPr>
              <a:t>TEIL 2 · Was dahintersteckt</a:t>
            </a:r>
          </a:p>
        </p:txBody>
      </p:sp>
      <p:sp>
        <p:nvSpPr>
          <p:cNvPr id="8" name="!!strich1"/>
          <p:cNvSpPr/>
          <p:nvPr/>
        </p:nvSpPr>
        <p:spPr>
          <a:xfrm>
            <a:off x="4892040" y="1892807"/>
            <a:ext cx="3566160" cy="2286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nr0"/>
          <p:cNvSpPr txBox="1"/>
          <p:nvPr/>
        </p:nvSpPr>
        <p:spPr>
          <a:xfrm>
            <a:off x="685800" y="2029967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55A11"/>
                </a:solidFill>
                <a:latin typeface="Segoe UI"/>
              </a:rPr>
              <a:t>01</a:t>
            </a:r>
          </a:p>
        </p:txBody>
      </p:sp>
      <p:sp>
        <p:nvSpPr>
          <p:cNvPr id="10" name="!!st0titel"/>
          <p:cNvSpPr txBox="1"/>
          <p:nvPr/>
        </p:nvSpPr>
        <p:spPr>
          <a:xfrm>
            <a:off x="1344168" y="2084831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Segoe UI"/>
              </a:rPr>
              <a:t>Das Problem</a:t>
            </a:r>
          </a:p>
        </p:txBody>
      </p:sp>
      <p:sp>
        <p:nvSpPr>
          <p:cNvPr id="11" name="!!st0unter"/>
          <p:cNvSpPr txBox="1"/>
          <p:nvPr/>
        </p:nvSpPr>
        <p:spPr>
          <a:xfrm>
            <a:off x="1344168" y="2368296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Segoe UI"/>
              </a:rPr>
              <a:t>Werkstätten heute</a:t>
            </a:r>
          </a:p>
        </p:txBody>
      </p:sp>
      <p:sp>
        <p:nvSpPr>
          <p:cNvPr id="12" name="!!nr1"/>
          <p:cNvSpPr txBox="1"/>
          <p:nvPr/>
        </p:nvSpPr>
        <p:spPr>
          <a:xfrm>
            <a:off x="685800" y="2706623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55A11"/>
                </a:solidFill>
                <a:latin typeface="Segoe UI"/>
              </a:rPr>
              <a:t>02</a:t>
            </a:r>
          </a:p>
        </p:txBody>
      </p:sp>
      <p:sp>
        <p:nvSpPr>
          <p:cNvPr id="13" name="!!st1titel"/>
          <p:cNvSpPr txBox="1"/>
          <p:nvPr/>
        </p:nvSpPr>
        <p:spPr>
          <a:xfrm>
            <a:off x="1344168" y="2761487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Segoe UI"/>
              </a:rPr>
              <a:t>RepairFlow</a:t>
            </a:r>
          </a:p>
        </p:txBody>
      </p:sp>
      <p:sp>
        <p:nvSpPr>
          <p:cNvPr id="14" name="!!st1unter"/>
          <p:cNvSpPr txBox="1"/>
          <p:nvPr/>
        </p:nvSpPr>
        <p:spPr>
          <a:xfrm>
            <a:off x="1344168" y="3044951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Segoe UI"/>
              </a:rPr>
              <a:t>Lösung und Nutzen</a:t>
            </a:r>
          </a:p>
        </p:txBody>
      </p:sp>
      <p:sp>
        <p:nvSpPr>
          <p:cNvPr id="15" name="!!nr2"/>
          <p:cNvSpPr txBox="1"/>
          <p:nvPr/>
        </p:nvSpPr>
        <p:spPr>
          <a:xfrm>
            <a:off x="685800" y="3383279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55A11"/>
                </a:solidFill>
                <a:latin typeface="Segoe UI"/>
              </a:rPr>
              <a:t>03</a:t>
            </a:r>
          </a:p>
        </p:txBody>
      </p:sp>
      <p:sp>
        <p:nvSpPr>
          <p:cNvPr id="16" name="!!st2titel"/>
          <p:cNvSpPr txBox="1"/>
          <p:nvPr/>
        </p:nvSpPr>
        <p:spPr>
          <a:xfrm>
            <a:off x="1344168" y="3438144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Segoe UI"/>
              </a:rPr>
              <a:t>Auftragsreise</a:t>
            </a:r>
          </a:p>
        </p:txBody>
      </p:sp>
      <p:sp>
        <p:nvSpPr>
          <p:cNvPr id="17" name="!!st2unter"/>
          <p:cNvSpPr txBox="1"/>
          <p:nvPr/>
        </p:nvSpPr>
        <p:spPr>
          <a:xfrm>
            <a:off x="1344168" y="3721607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Segoe UI"/>
              </a:rPr>
              <a:t>Highlights und Live-Demo</a:t>
            </a:r>
          </a:p>
        </p:txBody>
      </p:sp>
      <p:sp>
        <p:nvSpPr>
          <p:cNvPr id="18" name="!!nr3"/>
          <p:cNvSpPr txBox="1"/>
          <p:nvPr/>
        </p:nvSpPr>
        <p:spPr>
          <a:xfrm>
            <a:off x="685800" y="405993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55A11"/>
                </a:solidFill>
                <a:latin typeface="Segoe UI"/>
              </a:rPr>
              <a:t>04</a:t>
            </a:r>
          </a:p>
        </p:txBody>
      </p:sp>
      <p:sp>
        <p:nvSpPr>
          <p:cNvPr id="19" name="!!st3titel"/>
          <p:cNvSpPr txBox="1"/>
          <p:nvPr/>
        </p:nvSpPr>
        <p:spPr>
          <a:xfrm>
            <a:off x="1344168" y="4114800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Segoe UI"/>
              </a:rPr>
              <a:t>KI-Sofortdiagnose</a:t>
            </a:r>
          </a:p>
        </p:txBody>
      </p:sp>
      <p:sp>
        <p:nvSpPr>
          <p:cNvPr id="20" name="!!st3unter"/>
          <p:cNvSpPr txBox="1"/>
          <p:nvPr/>
        </p:nvSpPr>
        <p:spPr>
          <a:xfrm>
            <a:off x="1344168" y="4398264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Segoe UI"/>
              </a:rPr>
              <a:t>Kostenvoranschlag in 60 s</a:t>
            </a:r>
          </a:p>
        </p:txBody>
      </p:sp>
      <p:sp>
        <p:nvSpPr>
          <p:cNvPr id="21" name="!!nr4"/>
          <p:cNvSpPr txBox="1"/>
          <p:nvPr/>
        </p:nvSpPr>
        <p:spPr>
          <a:xfrm>
            <a:off x="4892040" y="2029967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9A80"/>
                </a:solidFill>
                <a:latin typeface="Segoe UI"/>
              </a:rPr>
              <a:t>05</a:t>
            </a:r>
          </a:p>
        </p:txBody>
      </p:sp>
      <p:sp>
        <p:nvSpPr>
          <p:cNvPr id="22" name="!!st4titel"/>
          <p:cNvSpPr txBox="1"/>
          <p:nvPr/>
        </p:nvSpPr>
        <p:spPr>
          <a:xfrm>
            <a:off x="5550407" y="2084831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C8C8C"/>
                </a:solidFill>
                <a:latin typeface="Segoe UI"/>
              </a:rPr>
              <a:t>Ergebnisse &amp; Prozesse</a:t>
            </a:r>
          </a:p>
        </p:txBody>
      </p:sp>
      <p:sp>
        <p:nvSpPr>
          <p:cNvPr id="23" name="!!st4unter"/>
          <p:cNvSpPr txBox="1"/>
          <p:nvPr/>
        </p:nvSpPr>
        <p:spPr>
          <a:xfrm>
            <a:off x="5550407" y="2368296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A6A6"/>
                </a:solidFill>
                <a:latin typeface="Segoe UI"/>
              </a:rPr>
              <a:t>Zahlen und Automatisierung</a:t>
            </a:r>
          </a:p>
        </p:txBody>
      </p:sp>
      <p:sp>
        <p:nvSpPr>
          <p:cNvPr id="24" name="!!nr5"/>
          <p:cNvSpPr txBox="1"/>
          <p:nvPr/>
        </p:nvSpPr>
        <p:spPr>
          <a:xfrm>
            <a:off x="4892040" y="2706623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9A80"/>
                </a:solidFill>
                <a:latin typeface="Segoe UI"/>
              </a:rPr>
              <a:t>06</a:t>
            </a:r>
          </a:p>
        </p:txBody>
      </p:sp>
      <p:sp>
        <p:nvSpPr>
          <p:cNvPr id="25" name="!!st5titel"/>
          <p:cNvSpPr txBox="1"/>
          <p:nvPr/>
        </p:nvSpPr>
        <p:spPr>
          <a:xfrm>
            <a:off x="5550407" y="2761487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C8C8C"/>
                </a:solidFill>
                <a:latin typeface="Segoe UI"/>
              </a:rPr>
              <a:t>Rollen &amp; Datenmodell</a:t>
            </a:r>
          </a:p>
        </p:txBody>
      </p:sp>
      <p:sp>
        <p:nvSpPr>
          <p:cNvPr id="26" name="!!st5unter"/>
          <p:cNvSpPr txBox="1"/>
          <p:nvPr/>
        </p:nvSpPr>
        <p:spPr>
          <a:xfrm>
            <a:off x="5550407" y="3044951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A6A6"/>
                </a:solidFill>
                <a:latin typeface="Segoe UI"/>
              </a:rPr>
              <a:t>Use Cases und Klassen</a:t>
            </a:r>
          </a:p>
        </p:txBody>
      </p:sp>
      <p:sp>
        <p:nvSpPr>
          <p:cNvPr id="27" name="!!nr6"/>
          <p:cNvSpPr txBox="1"/>
          <p:nvPr/>
        </p:nvSpPr>
        <p:spPr>
          <a:xfrm>
            <a:off x="4892040" y="3383279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9A80"/>
                </a:solidFill>
                <a:latin typeface="Segoe UI"/>
              </a:rPr>
              <a:t>07</a:t>
            </a:r>
          </a:p>
        </p:txBody>
      </p:sp>
      <p:sp>
        <p:nvSpPr>
          <p:cNvPr id="28" name="!!st6titel"/>
          <p:cNvSpPr txBox="1"/>
          <p:nvPr/>
        </p:nvSpPr>
        <p:spPr>
          <a:xfrm>
            <a:off x="5550407" y="3438144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C8C8C"/>
                </a:solidFill>
                <a:latin typeface="Segoe UI"/>
              </a:rPr>
              <a:t>Qualität</a:t>
            </a:r>
          </a:p>
        </p:txBody>
      </p:sp>
      <p:sp>
        <p:nvSpPr>
          <p:cNvPr id="29" name="!!st6unter"/>
          <p:cNvSpPr txBox="1"/>
          <p:nvPr/>
        </p:nvSpPr>
        <p:spPr>
          <a:xfrm>
            <a:off x="5550407" y="3721607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A6A6"/>
                </a:solidFill>
                <a:latin typeface="Segoe UI"/>
              </a:rPr>
              <a:t>Regeln und Lernerfahrungen</a:t>
            </a:r>
          </a:p>
        </p:txBody>
      </p:sp>
      <p:sp>
        <p:nvSpPr>
          <p:cNvPr id="30" name="!!nr7"/>
          <p:cNvSpPr txBox="1"/>
          <p:nvPr/>
        </p:nvSpPr>
        <p:spPr>
          <a:xfrm>
            <a:off x="4892040" y="405993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9A80"/>
                </a:solidFill>
                <a:latin typeface="Segoe UI"/>
              </a:rPr>
              <a:t>08</a:t>
            </a:r>
          </a:p>
        </p:txBody>
      </p:sp>
      <p:sp>
        <p:nvSpPr>
          <p:cNvPr id="31" name="!!st7titel"/>
          <p:cNvSpPr txBox="1"/>
          <p:nvPr/>
        </p:nvSpPr>
        <p:spPr>
          <a:xfrm>
            <a:off x="5550407" y="4114800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C8C8C"/>
                </a:solidFill>
                <a:latin typeface="Segoe UI"/>
              </a:rPr>
              <a:t>Vorgehen &amp; Ausblick</a:t>
            </a:r>
          </a:p>
        </p:txBody>
      </p:sp>
      <p:sp>
        <p:nvSpPr>
          <p:cNvPr id="32" name="!!st7unter"/>
          <p:cNvSpPr txBox="1"/>
          <p:nvPr/>
        </p:nvSpPr>
        <p:spPr>
          <a:xfrm>
            <a:off x="5550407" y="4398264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A6A6"/>
                </a:solidFill>
                <a:latin typeface="Segoe UI"/>
              </a:rPr>
              <a:t>Geschäftsmodell und Fazit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el"/>
          <p:cNvSpPr txBox="1"/>
          <p:nvPr/>
        </p:nvSpPr>
        <p:spPr>
          <a:xfrm>
            <a:off x="338328" y="246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Agenda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!!untertitel"/>
          <p:cNvSpPr txBox="1"/>
          <p:nvPr/>
        </p:nvSpPr>
        <p:spPr>
          <a:xfrm>
            <a:off x="338328" y="74980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F7F7F"/>
                </a:solidFill>
                <a:latin typeface="Segoe UI"/>
              </a:rPr>
              <a:t>Zuerst zeigen wir RepairFlow aus Werkstattsicht. Danach erklären wir, was dahintersteckt.</a:t>
            </a:r>
          </a:p>
        </p:txBody>
      </p:sp>
      <p:sp>
        <p:nvSpPr>
          <p:cNvPr id="4" name="!!karte"/>
          <p:cNvSpPr/>
          <p:nvPr/>
        </p:nvSpPr>
        <p:spPr>
          <a:xfrm>
            <a:off x="4617720" y="1371600"/>
            <a:ext cx="4114800" cy="3474720"/>
          </a:xfrm>
          <a:prstGeom prst="roundRect">
            <a:avLst>
              <a:gd name="adj" fmla="val 5000"/>
            </a:avLst>
          </a:prstGeom>
          <a:solidFill>
            <a:srgbClr val="F7F2EC"/>
          </a:solidFill>
          <a:ln w="15875">
            <a:solidFill>
              <a:srgbClr val="D9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teil0"/>
          <p:cNvSpPr txBox="1"/>
          <p:nvPr/>
        </p:nvSpPr>
        <p:spPr>
          <a:xfrm>
            <a:off x="685800" y="15727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C8C8C"/>
                </a:solidFill>
                <a:latin typeface="Segoe UI"/>
              </a:rPr>
              <a:t>TEIL 1 · Der Pitch</a:t>
            </a:r>
          </a:p>
        </p:txBody>
      </p:sp>
      <p:sp>
        <p:nvSpPr>
          <p:cNvPr id="6" name="!!strich0"/>
          <p:cNvSpPr/>
          <p:nvPr/>
        </p:nvSpPr>
        <p:spPr>
          <a:xfrm>
            <a:off x="685800" y="1892807"/>
            <a:ext cx="3566160" cy="2286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!!teil1"/>
          <p:cNvSpPr txBox="1"/>
          <p:nvPr/>
        </p:nvSpPr>
        <p:spPr>
          <a:xfrm>
            <a:off x="4892040" y="15727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43C0C"/>
                </a:solidFill>
                <a:latin typeface="Segoe UI"/>
              </a:rPr>
              <a:t>TEIL 2 · Was dahintersteckt</a:t>
            </a:r>
          </a:p>
        </p:txBody>
      </p:sp>
      <p:sp>
        <p:nvSpPr>
          <p:cNvPr id="8" name="!!strich1"/>
          <p:cNvSpPr/>
          <p:nvPr/>
        </p:nvSpPr>
        <p:spPr>
          <a:xfrm>
            <a:off x="4892040" y="1892807"/>
            <a:ext cx="3566160" cy="22860"/>
          </a:xfrm>
          <a:prstGeom prst="rect">
            <a:avLst/>
          </a:prstGeom>
          <a:solidFill>
            <a:srgbClr val="C49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nr0"/>
          <p:cNvSpPr txBox="1"/>
          <p:nvPr/>
        </p:nvSpPr>
        <p:spPr>
          <a:xfrm>
            <a:off x="685800" y="2029967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9A80"/>
                </a:solidFill>
                <a:latin typeface="Segoe UI"/>
              </a:rPr>
              <a:t>01</a:t>
            </a:r>
          </a:p>
        </p:txBody>
      </p:sp>
      <p:sp>
        <p:nvSpPr>
          <p:cNvPr id="10" name="!!st0titel"/>
          <p:cNvSpPr txBox="1"/>
          <p:nvPr/>
        </p:nvSpPr>
        <p:spPr>
          <a:xfrm>
            <a:off x="1344168" y="2084831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C8C8C"/>
                </a:solidFill>
                <a:latin typeface="Segoe UI"/>
              </a:rPr>
              <a:t>Das Problem</a:t>
            </a:r>
          </a:p>
        </p:txBody>
      </p:sp>
      <p:sp>
        <p:nvSpPr>
          <p:cNvPr id="11" name="!!st0unter"/>
          <p:cNvSpPr txBox="1"/>
          <p:nvPr/>
        </p:nvSpPr>
        <p:spPr>
          <a:xfrm>
            <a:off x="1344168" y="2368296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A6A6"/>
                </a:solidFill>
                <a:latin typeface="Segoe UI"/>
              </a:rPr>
              <a:t>Werkstätten heute</a:t>
            </a:r>
          </a:p>
        </p:txBody>
      </p:sp>
      <p:sp>
        <p:nvSpPr>
          <p:cNvPr id="12" name="!!nr1"/>
          <p:cNvSpPr txBox="1"/>
          <p:nvPr/>
        </p:nvSpPr>
        <p:spPr>
          <a:xfrm>
            <a:off x="685800" y="2706623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9A80"/>
                </a:solidFill>
                <a:latin typeface="Segoe UI"/>
              </a:rPr>
              <a:t>02</a:t>
            </a:r>
          </a:p>
        </p:txBody>
      </p:sp>
      <p:sp>
        <p:nvSpPr>
          <p:cNvPr id="13" name="!!st1titel"/>
          <p:cNvSpPr txBox="1"/>
          <p:nvPr/>
        </p:nvSpPr>
        <p:spPr>
          <a:xfrm>
            <a:off x="1344168" y="2761487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C8C8C"/>
                </a:solidFill>
                <a:latin typeface="Segoe UI"/>
              </a:rPr>
              <a:t>RepairFlow</a:t>
            </a:r>
          </a:p>
        </p:txBody>
      </p:sp>
      <p:sp>
        <p:nvSpPr>
          <p:cNvPr id="14" name="!!st1unter"/>
          <p:cNvSpPr txBox="1"/>
          <p:nvPr/>
        </p:nvSpPr>
        <p:spPr>
          <a:xfrm>
            <a:off x="1344168" y="3044951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A6A6"/>
                </a:solidFill>
                <a:latin typeface="Segoe UI"/>
              </a:rPr>
              <a:t>Lösung und Nutzen</a:t>
            </a:r>
          </a:p>
        </p:txBody>
      </p:sp>
      <p:sp>
        <p:nvSpPr>
          <p:cNvPr id="15" name="!!nr2"/>
          <p:cNvSpPr txBox="1"/>
          <p:nvPr/>
        </p:nvSpPr>
        <p:spPr>
          <a:xfrm>
            <a:off x="685800" y="3383279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9A80"/>
                </a:solidFill>
                <a:latin typeface="Segoe UI"/>
              </a:rPr>
              <a:t>03</a:t>
            </a:r>
          </a:p>
        </p:txBody>
      </p:sp>
      <p:sp>
        <p:nvSpPr>
          <p:cNvPr id="16" name="!!st2titel"/>
          <p:cNvSpPr txBox="1"/>
          <p:nvPr/>
        </p:nvSpPr>
        <p:spPr>
          <a:xfrm>
            <a:off x="1344168" y="3438144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C8C8C"/>
                </a:solidFill>
                <a:latin typeface="Segoe UI"/>
              </a:rPr>
              <a:t>Auftragsreise</a:t>
            </a:r>
          </a:p>
        </p:txBody>
      </p:sp>
      <p:sp>
        <p:nvSpPr>
          <p:cNvPr id="17" name="!!st2unter"/>
          <p:cNvSpPr txBox="1"/>
          <p:nvPr/>
        </p:nvSpPr>
        <p:spPr>
          <a:xfrm>
            <a:off x="1344168" y="3721607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A6A6"/>
                </a:solidFill>
                <a:latin typeface="Segoe UI"/>
              </a:rPr>
              <a:t>Highlights und Live-Demo</a:t>
            </a:r>
          </a:p>
        </p:txBody>
      </p:sp>
      <p:sp>
        <p:nvSpPr>
          <p:cNvPr id="18" name="!!nr3"/>
          <p:cNvSpPr txBox="1"/>
          <p:nvPr/>
        </p:nvSpPr>
        <p:spPr>
          <a:xfrm>
            <a:off x="685800" y="405993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9A80"/>
                </a:solidFill>
                <a:latin typeface="Segoe UI"/>
              </a:rPr>
              <a:t>04</a:t>
            </a:r>
          </a:p>
        </p:txBody>
      </p:sp>
      <p:sp>
        <p:nvSpPr>
          <p:cNvPr id="19" name="!!st3titel"/>
          <p:cNvSpPr txBox="1"/>
          <p:nvPr/>
        </p:nvSpPr>
        <p:spPr>
          <a:xfrm>
            <a:off x="1344168" y="4114800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C8C8C"/>
                </a:solidFill>
                <a:latin typeface="Segoe UI"/>
              </a:rPr>
              <a:t>KI-Sofortdiagnose</a:t>
            </a:r>
          </a:p>
        </p:txBody>
      </p:sp>
      <p:sp>
        <p:nvSpPr>
          <p:cNvPr id="20" name="!!st3unter"/>
          <p:cNvSpPr txBox="1"/>
          <p:nvPr/>
        </p:nvSpPr>
        <p:spPr>
          <a:xfrm>
            <a:off x="1344168" y="4398264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6A6A6"/>
                </a:solidFill>
                <a:latin typeface="Segoe UI"/>
              </a:rPr>
              <a:t>Kostenvoranschlag in 60 s</a:t>
            </a:r>
          </a:p>
        </p:txBody>
      </p:sp>
      <p:sp>
        <p:nvSpPr>
          <p:cNvPr id="21" name="!!nr4"/>
          <p:cNvSpPr txBox="1"/>
          <p:nvPr/>
        </p:nvSpPr>
        <p:spPr>
          <a:xfrm>
            <a:off x="4892040" y="2029967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55A11"/>
                </a:solidFill>
                <a:latin typeface="Segoe UI"/>
              </a:rPr>
              <a:t>05</a:t>
            </a:r>
          </a:p>
        </p:txBody>
      </p:sp>
      <p:sp>
        <p:nvSpPr>
          <p:cNvPr id="22" name="!!st4titel"/>
          <p:cNvSpPr txBox="1"/>
          <p:nvPr/>
        </p:nvSpPr>
        <p:spPr>
          <a:xfrm>
            <a:off x="5550407" y="2084831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Segoe UI"/>
              </a:rPr>
              <a:t>Ergebnisse &amp; Prozesse</a:t>
            </a:r>
          </a:p>
        </p:txBody>
      </p:sp>
      <p:sp>
        <p:nvSpPr>
          <p:cNvPr id="23" name="!!st4unter"/>
          <p:cNvSpPr txBox="1"/>
          <p:nvPr/>
        </p:nvSpPr>
        <p:spPr>
          <a:xfrm>
            <a:off x="5550407" y="2368296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Segoe UI"/>
              </a:rPr>
              <a:t>Zahlen und Automatisierung</a:t>
            </a:r>
          </a:p>
        </p:txBody>
      </p:sp>
      <p:sp>
        <p:nvSpPr>
          <p:cNvPr id="24" name="!!nr5"/>
          <p:cNvSpPr txBox="1"/>
          <p:nvPr/>
        </p:nvSpPr>
        <p:spPr>
          <a:xfrm>
            <a:off x="4892040" y="2706623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55A11"/>
                </a:solidFill>
                <a:latin typeface="Segoe UI"/>
              </a:rPr>
              <a:t>06</a:t>
            </a:r>
          </a:p>
        </p:txBody>
      </p:sp>
      <p:sp>
        <p:nvSpPr>
          <p:cNvPr id="25" name="!!st5titel"/>
          <p:cNvSpPr txBox="1"/>
          <p:nvPr/>
        </p:nvSpPr>
        <p:spPr>
          <a:xfrm>
            <a:off x="5550407" y="2761487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Segoe UI"/>
              </a:rPr>
              <a:t>Rollen &amp; Datenmodell</a:t>
            </a:r>
          </a:p>
        </p:txBody>
      </p:sp>
      <p:sp>
        <p:nvSpPr>
          <p:cNvPr id="26" name="!!st5unter"/>
          <p:cNvSpPr txBox="1"/>
          <p:nvPr/>
        </p:nvSpPr>
        <p:spPr>
          <a:xfrm>
            <a:off x="5550407" y="3044951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Segoe UI"/>
              </a:rPr>
              <a:t>Use Cases und Klassen</a:t>
            </a:r>
          </a:p>
        </p:txBody>
      </p:sp>
      <p:sp>
        <p:nvSpPr>
          <p:cNvPr id="27" name="!!nr6"/>
          <p:cNvSpPr txBox="1"/>
          <p:nvPr/>
        </p:nvSpPr>
        <p:spPr>
          <a:xfrm>
            <a:off x="4892040" y="3383279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55A11"/>
                </a:solidFill>
                <a:latin typeface="Segoe UI"/>
              </a:rPr>
              <a:t>07</a:t>
            </a:r>
          </a:p>
        </p:txBody>
      </p:sp>
      <p:sp>
        <p:nvSpPr>
          <p:cNvPr id="28" name="!!st6titel"/>
          <p:cNvSpPr txBox="1"/>
          <p:nvPr/>
        </p:nvSpPr>
        <p:spPr>
          <a:xfrm>
            <a:off x="5550407" y="3438144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Segoe UI"/>
              </a:rPr>
              <a:t>Qualität</a:t>
            </a:r>
          </a:p>
        </p:txBody>
      </p:sp>
      <p:sp>
        <p:nvSpPr>
          <p:cNvPr id="29" name="!!st6unter"/>
          <p:cNvSpPr txBox="1"/>
          <p:nvPr/>
        </p:nvSpPr>
        <p:spPr>
          <a:xfrm>
            <a:off x="5550407" y="3721607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Segoe UI"/>
              </a:rPr>
              <a:t>Regeln und Lernerfahrungen</a:t>
            </a:r>
          </a:p>
        </p:txBody>
      </p:sp>
      <p:sp>
        <p:nvSpPr>
          <p:cNvPr id="30" name="!!nr7"/>
          <p:cNvSpPr txBox="1"/>
          <p:nvPr/>
        </p:nvSpPr>
        <p:spPr>
          <a:xfrm>
            <a:off x="4892040" y="4059936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C55A11"/>
                </a:solidFill>
                <a:latin typeface="Segoe UI"/>
              </a:rPr>
              <a:t>08</a:t>
            </a:r>
          </a:p>
        </p:txBody>
      </p:sp>
      <p:sp>
        <p:nvSpPr>
          <p:cNvPr id="31" name="!!st7titel"/>
          <p:cNvSpPr txBox="1"/>
          <p:nvPr/>
        </p:nvSpPr>
        <p:spPr>
          <a:xfrm>
            <a:off x="5550407" y="4114800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B2430"/>
                </a:solidFill>
                <a:latin typeface="Segoe UI"/>
              </a:rPr>
              <a:t>Vorgehen &amp; Ausblick</a:t>
            </a:r>
          </a:p>
        </p:txBody>
      </p:sp>
      <p:sp>
        <p:nvSpPr>
          <p:cNvPr id="32" name="!!st7unter"/>
          <p:cNvSpPr txBox="1"/>
          <p:nvPr/>
        </p:nvSpPr>
        <p:spPr>
          <a:xfrm>
            <a:off x="5550407" y="4398264"/>
            <a:ext cx="29077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Segoe UI"/>
              </a:rPr>
              <a:t>Geschäftsmodell und Fazit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8328" y="246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Das Problem: Werkstätten heute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Segoe UI"/>
              </a:rPr>
              <a:t>BEIM KUNDEN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7480" y="1600200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Segoe UI"/>
              </a:rPr>
              <a:t>IN DER WERKSTATT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2057400" cy="22860"/>
          </a:xfrm>
          <a:prstGeom prst="rect">
            <a:avLst/>
          </a:prstGeom>
          <a:solidFill>
            <a:srgbClr val="C9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97480" y="1874519"/>
            <a:ext cx="6035040" cy="22860"/>
          </a:xfrm>
          <a:prstGeom prst="rect">
            <a:avLst/>
          </a:prstGeom>
          <a:solidFill>
            <a:srgbClr val="C9C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868680" cy="86868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oblem-nachfra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" y="2316175"/>
            <a:ext cx="625449" cy="6254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43C0C"/>
                </a:solidFill>
                <a:latin typeface="Segoe UI"/>
              </a:rPr>
              <a:t>Kunde muss nachfragen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430"/>
                </a:solidFill>
                <a:latin typeface="Segoe UI"/>
              </a:rPr>
              <a:t>Status oft nur per Telefon</a:t>
            </a:r>
          </a:p>
        </p:txBody>
      </p:sp>
      <p:sp>
        <p:nvSpPr>
          <p:cNvPr id="11" name="Oval 10"/>
          <p:cNvSpPr/>
          <p:nvPr/>
        </p:nvSpPr>
        <p:spPr>
          <a:xfrm>
            <a:off x="2697480" y="2194560"/>
            <a:ext cx="868680" cy="86868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roblem-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095" y="2316175"/>
            <a:ext cx="625449" cy="6254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97480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43C0C"/>
                </a:solidFill>
                <a:latin typeface="Segoe UI"/>
              </a:rPr>
              <a:t>Kein zentraler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657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430"/>
                </a:solidFill>
                <a:latin typeface="Segoe UI"/>
              </a:rPr>
              <a:t>Wie weit ist der Auftrag?</a:t>
            </a:r>
          </a:p>
        </p:txBody>
      </p:sp>
      <p:sp>
        <p:nvSpPr>
          <p:cNvPr id="15" name="Oval 14"/>
          <p:cNvSpPr/>
          <p:nvPr/>
        </p:nvSpPr>
        <p:spPr>
          <a:xfrm>
            <a:off x="4754880" y="2194560"/>
            <a:ext cx="868680" cy="86868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problem-best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748" y="2281428"/>
            <a:ext cx="694944" cy="6949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54880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43C0C"/>
                </a:solidFill>
                <a:latin typeface="Segoe UI"/>
              </a:rPr>
              <a:t>Bestellt trotz Bestand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57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430"/>
                </a:solidFill>
                <a:latin typeface="Segoe UI"/>
              </a:rPr>
              <a:t>Teil liegt in der Nachbarfiliale</a:t>
            </a:r>
          </a:p>
        </p:txBody>
      </p:sp>
      <p:sp>
        <p:nvSpPr>
          <p:cNvPr id="19" name="Oval 18"/>
          <p:cNvSpPr/>
          <p:nvPr/>
        </p:nvSpPr>
        <p:spPr>
          <a:xfrm>
            <a:off x="6812280" y="2194560"/>
            <a:ext cx="868680" cy="868680"/>
          </a:xfrm>
          <a:prstGeom prst="ellipse">
            <a:avLst/>
          </a:prstGeom>
          <a:solidFill>
            <a:srgbClr val="843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problem-auslastu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895" y="2316175"/>
            <a:ext cx="625449" cy="6254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2280" y="3291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843C0C"/>
                </a:solidFill>
                <a:latin typeface="Segoe UI"/>
              </a:rPr>
              <a:t>Auslastung unsichtbar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657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B2430"/>
                </a:solidFill>
                <a:latin typeface="Segoe UI"/>
              </a:rPr>
              <a:t>Termine nach Gefühl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el"/>
          <p:cNvSpPr txBox="1"/>
          <p:nvPr/>
        </p:nvSpPr>
        <p:spPr>
          <a:xfrm>
            <a:off x="338328" y="246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RepairFlow: Die Lösung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!!untertitel"/>
          <p:cNvSpPr txBox="1"/>
          <p:nvPr/>
        </p:nvSpPr>
        <p:spPr>
          <a:xfrm>
            <a:off x="338328" y="74980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F7F7F"/>
                </a:solidFill>
                <a:latin typeface="Segoe UI"/>
              </a:rPr>
              <a:t>Wir sind der Softwareanbieter, FixWerk ist unser Pilotkunde.</a:t>
            </a:r>
          </a:p>
        </p:txBody>
      </p:sp>
      <p:sp>
        <p:nvSpPr>
          <p:cNvPr id="4" name="aussage"/>
          <p:cNvSpPr txBox="1"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B2430"/>
                </a:solidFill>
                <a:latin typeface="Segoe UI"/>
              </a:rPr>
              <a:t>Eine Plattform für den ganzen Reparaturablauf</a:t>
            </a:r>
          </a:p>
        </p:txBody>
      </p:sp>
      <p:sp>
        <p:nvSpPr>
          <p:cNvPr id="5" name="aussagesub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F7F7F"/>
                </a:solidFill>
                <a:latin typeface="Segoe UI"/>
              </a:rPr>
              <a:t>von der Anfrage bis zur Abholung und Rechnung, für Kunde und Werkstattteam</a:t>
            </a:r>
          </a:p>
        </p:txBody>
      </p:sp>
      <p:sp>
        <p:nvSpPr>
          <p:cNvPr id="6" name="!!block"/>
          <p:cNvSpPr/>
          <p:nvPr/>
        </p:nvSpPr>
        <p:spPr>
          <a:xfrm>
            <a:off x="457200" y="2514600"/>
            <a:ext cx="8229600" cy="1920240"/>
          </a:xfrm>
          <a:prstGeom prst="roundRect">
            <a:avLst>
              <a:gd name="adj" fmla="val 6000"/>
            </a:avLst>
          </a:prstGeom>
          <a:solidFill>
            <a:srgbClr val="F7F2EC"/>
          </a:solidFill>
          <a:ln w="15875">
            <a:solidFill>
              <a:srgbClr val="D9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!!bname"/>
          <p:cNvSpPr txBox="1"/>
          <p:nvPr/>
        </p:nvSpPr>
        <p:spPr>
          <a:xfrm>
            <a:off x="685800" y="2651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843C0C"/>
                </a:solidFill>
                <a:latin typeface="Segoe UI"/>
              </a:rPr>
              <a:t>RepairFlow</a:t>
            </a:r>
          </a:p>
        </p:txBody>
      </p:sp>
      <p:pic>
        <p:nvPicPr>
          <p:cNvPr id="8" name="!!m0icon" descr="handy-843C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036" y="3063240"/>
            <a:ext cx="384048" cy="384048"/>
          </a:xfrm>
          <a:prstGeom prst="rect">
            <a:avLst/>
          </a:prstGeom>
        </p:spPr>
      </p:pic>
      <p:sp>
        <p:nvSpPr>
          <p:cNvPr id="9" name="!!m0text"/>
          <p:cNvSpPr txBox="1"/>
          <p:nvPr/>
        </p:nvSpPr>
        <p:spPr>
          <a:xfrm>
            <a:off x="640080" y="352044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B2430"/>
                </a:solidFill>
                <a:latin typeface="Segoe UI"/>
              </a:rPr>
              <a:t>Kundenportal</a:t>
            </a:r>
          </a:p>
          <a:p>
            <a:pPr algn="ctr"/>
            <a:r>
              <a:rPr sz="1500" b="1">
                <a:solidFill>
                  <a:srgbClr val="1B2430"/>
                </a:solidFill>
                <a:latin typeface="Segoe UI"/>
              </a:rPr>
              <a:t>und App</a:t>
            </a:r>
          </a:p>
        </p:txBody>
      </p:sp>
      <p:pic>
        <p:nvPicPr>
          <p:cNvPr id="10" name="!!m1icon" descr="schluessel-843C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996" y="3063240"/>
            <a:ext cx="384048" cy="384048"/>
          </a:xfrm>
          <a:prstGeom prst="rect">
            <a:avLst/>
          </a:prstGeom>
        </p:spPr>
      </p:pic>
      <p:sp>
        <p:nvSpPr>
          <p:cNvPr id="11" name="!!m1text"/>
          <p:cNvSpPr txBox="1"/>
          <p:nvPr/>
        </p:nvSpPr>
        <p:spPr>
          <a:xfrm>
            <a:off x="2606040" y="352044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B2430"/>
                </a:solidFill>
                <a:latin typeface="Segoe UI"/>
              </a:rPr>
              <a:t>Auftrag und</a:t>
            </a:r>
          </a:p>
          <a:p>
            <a:pPr algn="ctr"/>
            <a:r>
              <a:rPr sz="1500" b="1">
                <a:solidFill>
                  <a:srgbClr val="1B2430"/>
                </a:solidFill>
                <a:latin typeface="Segoe UI"/>
              </a:rPr>
              <a:t>Werkstatt</a:t>
            </a:r>
          </a:p>
        </p:txBody>
      </p:sp>
      <p:pic>
        <p:nvPicPr>
          <p:cNvPr id="12" name="!!m2icon" descr="lager-843C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56" y="3063240"/>
            <a:ext cx="384048" cy="384048"/>
          </a:xfrm>
          <a:prstGeom prst="rect">
            <a:avLst/>
          </a:prstGeom>
        </p:spPr>
      </p:pic>
      <p:sp>
        <p:nvSpPr>
          <p:cNvPr id="13" name="!!m2text"/>
          <p:cNvSpPr txBox="1"/>
          <p:nvPr/>
        </p:nvSpPr>
        <p:spPr>
          <a:xfrm>
            <a:off x="4572000" y="352044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B2430"/>
                </a:solidFill>
                <a:latin typeface="Segoe UI"/>
              </a:rPr>
              <a:t>Ersatzteil-</a:t>
            </a:r>
          </a:p>
          <a:p>
            <a:pPr algn="ctr"/>
            <a:r>
              <a:rPr sz="1500" b="1">
                <a:solidFill>
                  <a:srgbClr val="1B2430"/>
                </a:solidFill>
                <a:latin typeface="Segoe UI"/>
              </a:rPr>
              <a:t>Disposition</a:t>
            </a:r>
          </a:p>
        </p:txBody>
      </p:sp>
      <p:pic>
        <p:nvPicPr>
          <p:cNvPr id="14" name="!!m3icon" descr="rechnung-euro-843C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916" y="3063240"/>
            <a:ext cx="384048" cy="384048"/>
          </a:xfrm>
          <a:prstGeom prst="rect">
            <a:avLst/>
          </a:prstGeom>
        </p:spPr>
      </p:pic>
      <p:sp>
        <p:nvSpPr>
          <p:cNvPr id="15" name="!!m3text"/>
          <p:cNvSpPr txBox="1"/>
          <p:nvPr/>
        </p:nvSpPr>
        <p:spPr>
          <a:xfrm>
            <a:off x="6537960" y="352044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B2430"/>
                </a:solidFill>
                <a:latin typeface="Segoe UI"/>
              </a:rPr>
              <a:t>Abrechnung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el"/>
          <p:cNvSpPr txBox="1"/>
          <p:nvPr/>
        </p:nvSpPr>
        <p:spPr>
          <a:xfrm>
            <a:off x="338328" y="246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RepairFlow: Die Systemgrenze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!!untertitel"/>
          <p:cNvSpPr txBox="1"/>
          <p:nvPr/>
        </p:nvSpPr>
        <p:spPr>
          <a:xfrm>
            <a:off x="338328" y="74980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F7F7F"/>
                </a:solidFill>
                <a:latin typeface="Segoe UI"/>
              </a:rPr>
              <a:t>Was gehört zum System und was nicht?</a:t>
            </a:r>
          </a:p>
        </p:txBody>
      </p:sp>
      <p:sp>
        <p:nvSpPr>
          <p:cNvPr id="4" name="!!block"/>
          <p:cNvSpPr/>
          <p:nvPr/>
        </p:nvSpPr>
        <p:spPr>
          <a:xfrm>
            <a:off x="457200" y="1143000"/>
            <a:ext cx="8229600" cy="1325880"/>
          </a:xfrm>
          <a:prstGeom prst="roundRect">
            <a:avLst>
              <a:gd name="adj" fmla="val 6000"/>
            </a:avLst>
          </a:prstGeom>
          <a:solidFill>
            <a:srgbClr val="F7F2EC"/>
          </a:solidFill>
          <a:ln w="15875">
            <a:solidFill>
              <a:srgbClr val="D9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!!bname"/>
          <p:cNvSpPr txBox="1"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43C0C"/>
                </a:solidFill>
                <a:latin typeface="Segoe UI"/>
              </a:rPr>
              <a:t>RepairFlow</a:t>
            </a:r>
          </a:p>
        </p:txBody>
      </p:sp>
      <p:pic>
        <p:nvPicPr>
          <p:cNvPr id="6" name="!!m0icon" descr="handy-843C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12" y="1581912"/>
            <a:ext cx="310896" cy="310896"/>
          </a:xfrm>
          <a:prstGeom prst="rect">
            <a:avLst/>
          </a:prstGeom>
        </p:spPr>
      </p:pic>
      <p:sp>
        <p:nvSpPr>
          <p:cNvPr id="7" name="!!m0text"/>
          <p:cNvSpPr txBox="1"/>
          <p:nvPr/>
        </p:nvSpPr>
        <p:spPr>
          <a:xfrm>
            <a:off x="640080" y="1929384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B2430"/>
                </a:solidFill>
                <a:latin typeface="Segoe UI"/>
              </a:rPr>
              <a:t>Kundenportal</a:t>
            </a:r>
          </a:p>
          <a:p>
            <a:pPr algn="ctr"/>
            <a:r>
              <a:rPr sz="1400" b="1">
                <a:solidFill>
                  <a:srgbClr val="1B2430"/>
                </a:solidFill>
                <a:latin typeface="Segoe UI"/>
              </a:rPr>
              <a:t>und App</a:t>
            </a:r>
          </a:p>
        </p:txBody>
      </p:sp>
      <p:pic>
        <p:nvPicPr>
          <p:cNvPr id="8" name="!!m1icon" descr="schluessel-843C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572" y="1581912"/>
            <a:ext cx="310896" cy="310896"/>
          </a:xfrm>
          <a:prstGeom prst="rect">
            <a:avLst/>
          </a:prstGeom>
        </p:spPr>
      </p:pic>
      <p:sp>
        <p:nvSpPr>
          <p:cNvPr id="9" name="!!m1text"/>
          <p:cNvSpPr txBox="1"/>
          <p:nvPr/>
        </p:nvSpPr>
        <p:spPr>
          <a:xfrm>
            <a:off x="2606040" y="1929384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B2430"/>
                </a:solidFill>
                <a:latin typeface="Segoe UI"/>
              </a:rPr>
              <a:t>Auftrag und</a:t>
            </a:r>
          </a:p>
          <a:p>
            <a:pPr algn="ctr"/>
            <a:r>
              <a:rPr sz="1400" b="1">
                <a:solidFill>
                  <a:srgbClr val="1B2430"/>
                </a:solidFill>
                <a:latin typeface="Segoe UI"/>
              </a:rPr>
              <a:t>Werkstatt</a:t>
            </a:r>
          </a:p>
        </p:txBody>
      </p:sp>
      <p:pic>
        <p:nvPicPr>
          <p:cNvPr id="10" name="!!m2icon" descr="lager-843C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532" y="1581912"/>
            <a:ext cx="310896" cy="310896"/>
          </a:xfrm>
          <a:prstGeom prst="rect">
            <a:avLst/>
          </a:prstGeom>
        </p:spPr>
      </p:pic>
      <p:sp>
        <p:nvSpPr>
          <p:cNvPr id="11" name="!!m2text"/>
          <p:cNvSpPr txBox="1"/>
          <p:nvPr/>
        </p:nvSpPr>
        <p:spPr>
          <a:xfrm>
            <a:off x="4572000" y="1929384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B2430"/>
                </a:solidFill>
                <a:latin typeface="Segoe UI"/>
              </a:rPr>
              <a:t>Ersatzteil-</a:t>
            </a:r>
          </a:p>
          <a:p>
            <a:pPr algn="ctr"/>
            <a:r>
              <a:rPr sz="1400" b="1">
                <a:solidFill>
                  <a:srgbClr val="1B2430"/>
                </a:solidFill>
                <a:latin typeface="Segoe UI"/>
              </a:rPr>
              <a:t>Disposition</a:t>
            </a:r>
          </a:p>
        </p:txBody>
      </p:sp>
      <p:pic>
        <p:nvPicPr>
          <p:cNvPr id="12" name="!!m3icon" descr="rechnung-euro-843C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492" y="1581912"/>
            <a:ext cx="310896" cy="310896"/>
          </a:xfrm>
          <a:prstGeom prst="rect">
            <a:avLst/>
          </a:prstGeom>
        </p:spPr>
      </p:pic>
      <p:sp>
        <p:nvSpPr>
          <p:cNvPr id="13" name="!!m3text"/>
          <p:cNvSpPr txBox="1"/>
          <p:nvPr/>
        </p:nvSpPr>
        <p:spPr>
          <a:xfrm>
            <a:off x="6537960" y="1929384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B2430"/>
                </a:solidFill>
                <a:latin typeface="Segoe UI"/>
              </a:rPr>
              <a:t>Abrechnung</a:t>
            </a:r>
          </a:p>
        </p:txBody>
      </p:sp>
      <p:cxnSp>
        <p:nvCxnSpPr>
          <p:cNvPr id="14" name="grenze"/>
          <p:cNvCxnSpPr/>
          <p:nvPr/>
        </p:nvCxnSpPr>
        <p:spPr>
          <a:xfrm>
            <a:off x="457200" y="2679192"/>
            <a:ext cx="8229600" cy="0"/>
          </a:xfrm>
          <a:prstGeom prst="line">
            <a:avLst/>
          </a:prstGeom>
          <a:ln w="25400">
            <a:solidFill>
              <a:srgbClr val="C55A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renzlabel"/>
          <p:cNvSpPr txBox="1"/>
          <p:nvPr/>
        </p:nvSpPr>
        <p:spPr>
          <a:xfrm>
            <a:off x="7360920" y="2551176"/>
            <a:ext cx="1325880" cy="25603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C55A11"/>
                </a:solidFill>
                <a:latin typeface="Segoe UI"/>
              </a:rPr>
              <a:t>Systemgrenze</a:t>
            </a:r>
          </a:p>
        </p:txBody>
      </p:sp>
      <p:sp>
        <p:nvSpPr>
          <p:cNvPr id="16" name="g0kopf"/>
          <p:cNvSpPr txBox="1"/>
          <p:nvPr/>
        </p:nvSpPr>
        <p:spPr>
          <a:xfrm>
            <a:off x="640080" y="2907792"/>
            <a:ext cx="2468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Segoe UI"/>
              </a:rPr>
              <a:t>NUTZEN DAS SYSTEM</a:t>
            </a:r>
          </a:p>
        </p:txBody>
      </p:sp>
      <p:cxnSp>
        <p:nvCxnSpPr>
          <p:cNvPr id="17" name="g0linie"/>
          <p:cNvCxnSpPr/>
          <p:nvPr/>
        </p:nvCxnSpPr>
        <p:spPr>
          <a:xfrm>
            <a:off x="640080" y="3227832"/>
            <a:ext cx="219455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g0i0icon" descr="person-843C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429000"/>
            <a:ext cx="274320" cy="274320"/>
          </a:xfrm>
          <a:prstGeom prst="rect">
            <a:avLst/>
          </a:prstGeom>
        </p:spPr>
      </p:pic>
      <p:sp>
        <p:nvSpPr>
          <p:cNvPr id="19" name="g0i0name"/>
          <p:cNvSpPr txBox="1"/>
          <p:nvPr/>
        </p:nvSpPr>
        <p:spPr>
          <a:xfrm>
            <a:off x="1024127" y="3355848"/>
            <a:ext cx="2084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430"/>
                </a:solidFill>
                <a:latin typeface="Segoe UI"/>
              </a:rPr>
              <a:t>Kunde</a:t>
            </a:r>
          </a:p>
        </p:txBody>
      </p:sp>
      <p:sp>
        <p:nvSpPr>
          <p:cNvPr id="20" name="g0i0sub"/>
          <p:cNvSpPr txBox="1"/>
          <p:nvPr/>
        </p:nvSpPr>
        <p:spPr>
          <a:xfrm>
            <a:off x="1024127" y="3621024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Segoe UI"/>
              </a:rPr>
              <a:t>über Portal und App</a:t>
            </a:r>
          </a:p>
        </p:txBody>
      </p:sp>
      <p:pic>
        <p:nvPicPr>
          <p:cNvPr id="21" name="g0i1icon" descr="personen-843C0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41063"/>
            <a:ext cx="274320" cy="274320"/>
          </a:xfrm>
          <a:prstGeom prst="rect">
            <a:avLst/>
          </a:prstGeom>
        </p:spPr>
      </p:pic>
      <p:sp>
        <p:nvSpPr>
          <p:cNvPr id="22" name="g0i1name"/>
          <p:cNvSpPr txBox="1"/>
          <p:nvPr/>
        </p:nvSpPr>
        <p:spPr>
          <a:xfrm>
            <a:off x="1024127" y="3867911"/>
            <a:ext cx="2084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430"/>
                </a:solidFill>
                <a:latin typeface="Segoe UI"/>
              </a:rPr>
              <a:t>Werkstattteam</a:t>
            </a:r>
          </a:p>
        </p:txBody>
      </p:sp>
      <p:sp>
        <p:nvSpPr>
          <p:cNvPr id="23" name="g0i1sub"/>
          <p:cNvSpPr txBox="1"/>
          <p:nvPr/>
        </p:nvSpPr>
        <p:spPr>
          <a:xfrm>
            <a:off x="1024127" y="4133087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Segoe UI"/>
              </a:rPr>
              <a:t>arbeitet in der Plattform</a:t>
            </a:r>
          </a:p>
        </p:txBody>
      </p:sp>
      <p:sp>
        <p:nvSpPr>
          <p:cNvPr id="24" name="g1kopf"/>
          <p:cNvSpPr txBox="1"/>
          <p:nvPr/>
        </p:nvSpPr>
        <p:spPr>
          <a:xfrm>
            <a:off x="3474720" y="2907792"/>
            <a:ext cx="2468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Segoe UI"/>
              </a:rPr>
              <a:t>EXTERNE SYSTEME</a:t>
            </a:r>
          </a:p>
        </p:txBody>
      </p:sp>
      <p:cxnSp>
        <p:nvCxnSpPr>
          <p:cNvPr id="25" name="g1linie"/>
          <p:cNvCxnSpPr/>
          <p:nvPr/>
        </p:nvCxnSpPr>
        <p:spPr>
          <a:xfrm>
            <a:off x="3474720" y="3227832"/>
            <a:ext cx="219455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g1i0icon" descr="ki-scan-843C0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7288" y="3401568"/>
            <a:ext cx="329184" cy="329184"/>
          </a:xfrm>
          <a:prstGeom prst="rect">
            <a:avLst/>
          </a:prstGeom>
        </p:spPr>
      </p:pic>
      <p:sp>
        <p:nvSpPr>
          <p:cNvPr id="27" name="g1i0name"/>
          <p:cNvSpPr txBox="1"/>
          <p:nvPr/>
        </p:nvSpPr>
        <p:spPr>
          <a:xfrm>
            <a:off x="3858768" y="3355848"/>
            <a:ext cx="2084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430"/>
                </a:solidFill>
                <a:latin typeface="Segoe UI"/>
              </a:rPr>
              <a:t>KI-Diagnosedienst</a:t>
            </a:r>
          </a:p>
        </p:txBody>
      </p:sp>
      <p:sp>
        <p:nvSpPr>
          <p:cNvPr id="28" name="g1i0sub"/>
          <p:cNvSpPr txBox="1"/>
          <p:nvPr/>
        </p:nvSpPr>
        <p:spPr>
          <a:xfrm>
            <a:off x="3858768" y="3621024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Segoe UI"/>
              </a:rPr>
              <a:t>wertet Foto, Video, Ton aus</a:t>
            </a:r>
          </a:p>
        </p:txBody>
      </p:sp>
      <p:pic>
        <p:nvPicPr>
          <p:cNvPr id="29" name="g1i1icon" descr="pakete-843C0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3941063"/>
            <a:ext cx="274320" cy="274320"/>
          </a:xfrm>
          <a:prstGeom prst="rect">
            <a:avLst/>
          </a:prstGeom>
        </p:spPr>
      </p:pic>
      <p:sp>
        <p:nvSpPr>
          <p:cNvPr id="30" name="g1i1name"/>
          <p:cNvSpPr txBox="1"/>
          <p:nvPr/>
        </p:nvSpPr>
        <p:spPr>
          <a:xfrm>
            <a:off x="3858768" y="3867911"/>
            <a:ext cx="2084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430"/>
                </a:solidFill>
                <a:latin typeface="Segoe UI"/>
              </a:rPr>
              <a:t>Lieferantensysteme</a:t>
            </a:r>
          </a:p>
        </p:txBody>
      </p:sp>
      <p:sp>
        <p:nvSpPr>
          <p:cNvPr id="31" name="g1i1sub"/>
          <p:cNvSpPr txBox="1"/>
          <p:nvPr/>
        </p:nvSpPr>
        <p:spPr>
          <a:xfrm>
            <a:off x="3858768" y="4133087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Segoe UI"/>
              </a:rPr>
              <a:t>Bestellung, Lieferung, Retoure</a:t>
            </a:r>
          </a:p>
        </p:txBody>
      </p:sp>
      <p:pic>
        <p:nvPicPr>
          <p:cNvPr id="32" name="g1i2icon" descr="datenbank-843C0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4453128"/>
            <a:ext cx="274320" cy="274320"/>
          </a:xfrm>
          <a:prstGeom prst="rect">
            <a:avLst/>
          </a:prstGeom>
        </p:spPr>
      </p:pic>
      <p:sp>
        <p:nvSpPr>
          <p:cNvPr id="33" name="g1i2name"/>
          <p:cNvSpPr txBox="1"/>
          <p:nvPr/>
        </p:nvSpPr>
        <p:spPr>
          <a:xfrm>
            <a:off x="3858768" y="4379976"/>
            <a:ext cx="2084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2430"/>
                </a:solidFill>
                <a:latin typeface="Segoe UI"/>
              </a:rPr>
              <a:t>Buchhaltung</a:t>
            </a:r>
          </a:p>
        </p:txBody>
      </p:sp>
      <p:sp>
        <p:nvSpPr>
          <p:cNvPr id="34" name="g1i2sub"/>
          <p:cNvSpPr txBox="1"/>
          <p:nvPr/>
        </p:nvSpPr>
        <p:spPr>
          <a:xfrm>
            <a:off x="3858768" y="4645152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Segoe UI"/>
              </a:rPr>
              <a:t>bekommt nur einen Export</a:t>
            </a:r>
          </a:p>
        </p:txBody>
      </p:sp>
      <p:sp>
        <p:nvSpPr>
          <p:cNvPr id="35" name="g2kopf"/>
          <p:cNvSpPr txBox="1"/>
          <p:nvPr/>
        </p:nvSpPr>
        <p:spPr>
          <a:xfrm>
            <a:off x="6309360" y="2907792"/>
            <a:ext cx="2468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Segoe UI"/>
              </a:rPr>
              <a:t>PHYSISCHE ARBEIT</a:t>
            </a:r>
          </a:p>
        </p:txBody>
      </p:sp>
      <p:cxnSp>
        <p:nvCxnSpPr>
          <p:cNvPr id="36" name="g2linie"/>
          <p:cNvCxnSpPr/>
          <p:nvPr/>
        </p:nvCxnSpPr>
        <p:spPr>
          <a:xfrm>
            <a:off x="6309360" y="3227832"/>
            <a:ext cx="219456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2i0icon" descr="werkzeug-7F7F7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3429000"/>
            <a:ext cx="274320" cy="274320"/>
          </a:xfrm>
          <a:prstGeom prst="rect">
            <a:avLst/>
          </a:prstGeom>
        </p:spPr>
      </p:pic>
      <p:sp>
        <p:nvSpPr>
          <p:cNvPr id="38" name="g2i0name"/>
          <p:cNvSpPr txBox="1"/>
          <p:nvPr/>
        </p:nvSpPr>
        <p:spPr>
          <a:xfrm>
            <a:off x="6693408" y="3355848"/>
            <a:ext cx="2084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7F7F7F"/>
                </a:solidFill>
                <a:latin typeface="Segoe UI"/>
              </a:rPr>
              <a:t>Reparatur am Gerät</a:t>
            </a:r>
          </a:p>
        </p:txBody>
      </p:sp>
      <p:sp>
        <p:nvSpPr>
          <p:cNvPr id="39" name="g2i0sub"/>
          <p:cNvSpPr txBox="1"/>
          <p:nvPr/>
        </p:nvSpPr>
        <p:spPr>
          <a:xfrm>
            <a:off x="6693408" y="3621024"/>
            <a:ext cx="208483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Segoe UI"/>
              </a:rPr>
              <a:t>macht weiter der Techniker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Übertragen mit einfarbiger Füllung">
            <a:extLst>
              <a:ext uri="{FF2B5EF4-FFF2-40B4-BE49-F238E27FC236}">
                <a16:creationId xmlns:a16="http://schemas.microsoft.com/office/drawing/2014/main" id="{868C1496-D83E-2D10-7F66-DA08FCFCA2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0" y="1948293"/>
            <a:ext cx="914400" cy="914400"/>
          </a:xfrm>
          <a:prstGeom prst="rect">
            <a:avLst/>
          </a:prstGeom>
        </p:spPr>
      </p:pic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F8EF1F55-4B3B-B9BA-6361-929E65DBE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9866" y="1948293"/>
            <a:ext cx="914400" cy="914400"/>
          </a:xfrm>
          <a:prstGeom prst="rect">
            <a:avLst/>
          </a:prstGeom>
        </p:spPr>
      </p:pic>
      <p:pic>
        <p:nvPicPr>
          <p:cNvPr id="7" name="Grafik 6" descr="Tools mit einfarbiger Füllung">
            <a:extLst>
              <a:ext uri="{FF2B5EF4-FFF2-40B4-BE49-F238E27FC236}">
                <a16:creationId xmlns:a16="http://schemas.microsoft.com/office/drawing/2014/main" id="{D67B4893-0DCF-B0A8-560D-3ACD3C988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5900" y="1948293"/>
            <a:ext cx="914400" cy="914400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F891E01B-58C0-995B-B086-1E6CFB514490}"/>
              </a:ext>
            </a:extLst>
          </p:cNvPr>
          <p:cNvSpPr txBox="1"/>
          <p:nvPr/>
        </p:nvSpPr>
        <p:spPr>
          <a:xfrm>
            <a:off x="711752" y="2960437"/>
            <a:ext cx="2162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Eine Plattform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3C8BF763-E02C-9EA3-7BBE-7E240B141903}"/>
              </a:ext>
            </a:extLst>
          </p:cNvPr>
          <p:cNvSpPr txBox="1"/>
          <p:nvPr/>
        </p:nvSpPr>
        <p:spPr>
          <a:xfrm>
            <a:off x="3490652" y="2960437"/>
            <a:ext cx="2162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Filialübergreifend</a:t>
            </a:r>
            <a:endParaRPr lang="en-US" sz="14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57ACD45A-C4AF-3724-FC3A-2FD000A1D529}"/>
              </a:ext>
            </a:extLst>
          </p:cNvPr>
          <p:cNvSpPr txBox="1"/>
          <p:nvPr/>
        </p:nvSpPr>
        <p:spPr>
          <a:xfrm>
            <a:off x="6265718" y="2960437"/>
            <a:ext cx="2162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Klarheit vor dem Besuch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C6780E2C-0C97-BB2E-EE86-76A772FB7380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Drei Nutzenversprechen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Werkstatt: weniger Telefonate, kürzere Standzeiten, sichtbare Auslastung.</a:t>
            </a:r>
            <a:br>
              <a:rPr lang="de-DE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</a:br>
            <a:r>
              <a:rPr lang="de-DE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Kunde: schnelle Antworten.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E8BC7E0-7042-995C-22B8-CB1A0E89E2AA}"/>
              </a:ext>
            </a:extLst>
          </p:cNvPr>
          <p:cNvSpPr txBox="1"/>
          <p:nvPr/>
        </p:nvSpPr>
        <p:spPr>
          <a:xfrm>
            <a:off x="653934" y="3515381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Fahrrad, E-Bike und Elektronik in einem System. Ein Lager, ein Auftragsstatus.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DF8A319-71EB-1CC7-D87D-22C625301494}"/>
              </a:ext>
            </a:extLst>
          </p:cNvPr>
          <p:cNvSpPr txBox="1"/>
          <p:nvPr/>
        </p:nvSpPr>
        <p:spPr>
          <a:xfrm>
            <a:off x="3428999" y="3515381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Teile aus allen Filialen. Bestellt wird nur, was fehlt.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D5650E79-427B-9478-372E-604F8C03CE83}"/>
              </a:ext>
            </a:extLst>
          </p:cNvPr>
          <p:cNvSpPr txBox="1"/>
          <p:nvPr/>
        </p:nvSpPr>
        <p:spPr>
          <a:xfrm>
            <a:off x="6204064" y="3515381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Foto in der App, danach Diagnose, Preis und Termin.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893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DB6E0-B857-76E0-7680-E8110F3E0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F8DC7A19-DF97-CBDF-3725-A85F8517CEE1}"/>
              </a:ext>
            </a:extLst>
          </p:cNvPr>
          <p:cNvGrpSpPr/>
          <p:nvPr/>
        </p:nvGrpSpPr>
        <p:grpSpPr>
          <a:xfrm>
            <a:off x="52819047" y="2819791"/>
            <a:ext cx="1411025" cy="1474731"/>
            <a:chOff x="7375776" y="2819791"/>
            <a:chExt cx="1411025" cy="1474731"/>
          </a:xfrm>
        </p:grpSpPr>
        <p:sp>
          <p:nvSpPr>
            <p:cNvPr id="41" name="Shape 33">
              <a:extLst>
                <a:ext uri="{FF2B5EF4-FFF2-40B4-BE49-F238E27FC236}">
                  <a16:creationId xmlns:a16="http://schemas.microsoft.com/office/drawing/2014/main" id="{164A8086-2B72-AE38-472D-B15525692E68}"/>
                </a:ext>
              </a:extLst>
            </p:cNvPr>
            <p:cNvSpPr/>
            <p:nvPr/>
          </p:nvSpPr>
          <p:spPr>
            <a:xfrm>
              <a:off x="7375776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ext 34">
              <a:extLst>
                <a:ext uri="{FF2B5EF4-FFF2-40B4-BE49-F238E27FC236}">
                  <a16:creationId xmlns:a16="http://schemas.microsoft.com/office/drawing/2014/main" id="{3C665211-64D6-08AC-83B9-CE84E6B89A47}"/>
                </a:ext>
              </a:extLst>
            </p:cNvPr>
            <p:cNvSpPr txBox="1"/>
            <p:nvPr/>
          </p:nvSpPr>
          <p:spPr>
            <a:xfrm>
              <a:off x="7557843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P08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Text 37">
              <a:extLst>
                <a:ext uri="{FF2B5EF4-FFF2-40B4-BE49-F238E27FC236}">
                  <a16:creationId xmlns:a16="http://schemas.microsoft.com/office/drawing/2014/main" id="{E7A3F564-41EC-E645-1603-D505255974EB}"/>
                </a:ext>
              </a:extLst>
            </p:cNvPr>
            <p:cNvSpPr txBox="1"/>
            <p:nvPr/>
          </p:nvSpPr>
          <p:spPr>
            <a:xfrm>
              <a:off x="7421292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7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Abholung</a:t>
              </a:r>
              <a:endParaRPr lang="en-US" sz="11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7" name="Grafik 66" descr="Abzeichen Tick1 mit einfarbiger Füllung">
              <a:extLst>
                <a:ext uri="{FF2B5EF4-FFF2-40B4-BE49-F238E27FC236}">
                  <a16:creationId xmlns:a16="http://schemas.microsoft.com/office/drawing/2014/main" id="{3DD7B38D-700D-A52B-88EB-BD4B3F14D2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22887" y="3199403"/>
              <a:ext cx="716802" cy="716802"/>
            </a:xfrm>
            <a:prstGeom prst="rect">
              <a:avLst/>
            </a:prstGeom>
          </p:spPr>
        </p:pic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C1DDD88A-9F7B-DB2D-52D4-A4463B65A547}"/>
              </a:ext>
            </a:extLst>
          </p:cNvPr>
          <p:cNvGrpSpPr/>
          <p:nvPr/>
        </p:nvGrpSpPr>
        <p:grpSpPr>
          <a:xfrm>
            <a:off x="37394477" y="2819791"/>
            <a:ext cx="1411025" cy="1474731"/>
            <a:chOff x="5992060" y="2819791"/>
            <a:chExt cx="1411025" cy="1474731"/>
          </a:xfrm>
        </p:grpSpPr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A00E5F93-DF18-9821-0522-1EB57EBD80B7}"/>
                </a:ext>
              </a:extLst>
            </p:cNvPr>
            <p:cNvSpPr/>
            <p:nvPr/>
          </p:nvSpPr>
          <p:spPr>
            <a:xfrm>
              <a:off x="5992060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ext 28">
              <a:extLst>
                <a:ext uri="{FF2B5EF4-FFF2-40B4-BE49-F238E27FC236}">
                  <a16:creationId xmlns:a16="http://schemas.microsoft.com/office/drawing/2014/main" id="{8C9FA62A-40D4-3BAB-2CE9-665A8A8F177D}"/>
                </a:ext>
              </a:extLst>
            </p:cNvPr>
            <p:cNvSpPr txBox="1"/>
            <p:nvPr/>
          </p:nvSpPr>
          <p:spPr>
            <a:xfrm>
              <a:off x="6174128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P07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ext 31">
              <a:extLst>
                <a:ext uri="{FF2B5EF4-FFF2-40B4-BE49-F238E27FC236}">
                  <a16:creationId xmlns:a16="http://schemas.microsoft.com/office/drawing/2014/main" id="{DD3080B1-9A26-5C4B-5559-42F8E5A410EF}"/>
                </a:ext>
              </a:extLst>
            </p:cNvPr>
            <p:cNvSpPr txBox="1"/>
            <p:nvPr/>
          </p:nvSpPr>
          <p:spPr>
            <a:xfrm>
              <a:off x="6037577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50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Reparatur</a:t>
              </a:r>
              <a:endParaRPr lang="en-US" sz="1100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9" name="Grafik 68" descr="Schraubenschlüssel mit einfarbiger Füllung">
              <a:extLst>
                <a:ext uri="{FF2B5EF4-FFF2-40B4-BE49-F238E27FC236}">
                  <a16:creationId xmlns:a16="http://schemas.microsoft.com/office/drawing/2014/main" id="{A3A48323-BE77-4086-BE70-9B6FF43DF0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80000" y="3199403"/>
              <a:ext cx="716802" cy="716802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428C802-0237-4702-93BD-AF407A04B6B9}"/>
              </a:ext>
            </a:extLst>
          </p:cNvPr>
          <p:cNvGrpSpPr/>
          <p:nvPr/>
        </p:nvGrpSpPr>
        <p:grpSpPr>
          <a:xfrm>
            <a:off x="25600438" y="2819791"/>
            <a:ext cx="1411025" cy="1474731"/>
            <a:chOff x="4608345" y="2819791"/>
            <a:chExt cx="1411025" cy="1474731"/>
          </a:xfrm>
        </p:grpSpPr>
        <p:sp>
          <p:nvSpPr>
            <p:cNvPr id="27" name="Shape 21">
              <a:extLst>
                <a:ext uri="{FF2B5EF4-FFF2-40B4-BE49-F238E27FC236}">
                  <a16:creationId xmlns:a16="http://schemas.microsoft.com/office/drawing/2014/main" id="{816AA628-C66F-1832-8A4F-72DC60758DF2}"/>
                </a:ext>
              </a:extLst>
            </p:cNvPr>
            <p:cNvSpPr/>
            <p:nvPr/>
          </p:nvSpPr>
          <p:spPr>
            <a:xfrm>
              <a:off x="4608345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B53059A7-0CAB-28B5-5A56-DD2EF346760D}"/>
                </a:ext>
              </a:extLst>
            </p:cNvPr>
            <p:cNvSpPr txBox="1"/>
            <p:nvPr/>
          </p:nvSpPr>
          <p:spPr>
            <a:xfrm>
              <a:off x="4790413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P05, P06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32797925-2BCD-C6D3-8226-0319DEFFC08F}"/>
                </a:ext>
              </a:extLst>
            </p:cNvPr>
            <p:cNvSpPr txBox="1"/>
            <p:nvPr/>
          </p:nvSpPr>
          <p:spPr>
            <a:xfrm>
              <a:off x="4653862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7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Teile disponieren</a:t>
              </a:r>
              <a:endParaRPr lang="en-US" sz="11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1" name="Grafik 70" descr="Schachtel mit einfarbiger Füllung">
              <a:extLst>
                <a:ext uri="{FF2B5EF4-FFF2-40B4-BE49-F238E27FC236}">
                  <a16:creationId xmlns:a16="http://schemas.microsoft.com/office/drawing/2014/main" id="{1BDE5C59-D984-9E7E-238A-8B925DEC2A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62493" y="3195403"/>
              <a:ext cx="716802" cy="716802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16FB9F48-B177-A44C-C408-F91F0D51E94E}"/>
              </a:ext>
            </a:extLst>
          </p:cNvPr>
          <p:cNvGrpSpPr/>
          <p:nvPr/>
        </p:nvGrpSpPr>
        <p:grpSpPr>
          <a:xfrm>
            <a:off x="17873077" y="2819791"/>
            <a:ext cx="1411025" cy="1474731"/>
            <a:chOff x="3224630" y="2819791"/>
            <a:chExt cx="1411025" cy="1474731"/>
          </a:xfrm>
        </p:grpSpPr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6AC70CB0-2483-B909-0405-312F55146CD7}"/>
                </a:ext>
              </a:extLst>
            </p:cNvPr>
            <p:cNvSpPr/>
            <p:nvPr/>
          </p:nvSpPr>
          <p:spPr>
            <a:xfrm>
              <a:off x="3224630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C2489B6E-9E3D-EB32-2250-26DF11F50956}"/>
                </a:ext>
              </a:extLst>
            </p:cNvPr>
            <p:cNvSpPr txBox="1"/>
            <p:nvPr/>
          </p:nvSpPr>
          <p:spPr>
            <a:xfrm>
              <a:off x="3406697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P03, P04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55D7A1D9-B022-6977-A764-BA6FF57A9837}"/>
                </a:ext>
              </a:extLst>
            </p:cNvPr>
            <p:cNvSpPr txBox="1"/>
            <p:nvPr/>
          </p:nvSpPr>
          <p:spPr>
            <a:xfrm>
              <a:off x="3270147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50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Diagnose / KVA</a:t>
              </a:r>
              <a:endParaRPr lang="en-US" sz="1100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3" name="Grafik 72" descr="Lupe mit einfarbiger Füllung">
              <a:extLst>
                <a:ext uri="{FF2B5EF4-FFF2-40B4-BE49-F238E27FC236}">
                  <a16:creationId xmlns:a16="http://schemas.microsoft.com/office/drawing/2014/main" id="{EB0B54DF-5730-52EC-E142-461FAF968C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62398" y="3195403"/>
              <a:ext cx="716802" cy="716802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F450DB53-4097-B61E-C20B-D3AD35FA241A}"/>
              </a:ext>
            </a:extLst>
          </p:cNvPr>
          <p:cNvGrpSpPr/>
          <p:nvPr/>
        </p:nvGrpSpPr>
        <p:grpSpPr>
          <a:xfrm>
            <a:off x="12786644" y="2819791"/>
            <a:ext cx="1411025" cy="1474731"/>
            <a:chOff x="1840914" y="2819791"/>
            <a:chExt cx="1411025" cy="1474731"/>
          </a:xfrm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0431D764-D95C-24CF-FDC4-66D351E3E395}"/>
                </a:ext>
              </a:extLst>
            </p:cNvPr>
            <p:cNvSpPr/>
            <p:nvPr/>
          </p:nvSpPr>
          <p:spPr>
            <a:xfrm>
              <a:off x="1840914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C48B1E07-5401-F7E1-8F98-EA05874C3016}"/>
                </a:ext>
              </a:extLst>
            </p:cNvPr>
            <p:cNvSpPr txBox="1"/>
            <p:nvPr/>
          </p:nvSpPr>
          <p:spPr>
            <a:xfrm>
              <a:off x="2022982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P02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14B680B1-AF1E-E764-FC40-88F76C68B04D}"/>
                </a:ext>
              </a:extLst>
            </p:cNvPr>
            <p:cNvSpPr txBox="1"/>
            <p:nvPr/>
          </p:nvSpPr>
          <p:spPr>
            <a:xfrm>
              <a:off x="1886431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7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Annahme</a:t>
              </a:r>
              <a:endParaRPr lang="en-US" sz="11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5" name="Grafik 74" descr="Registrierkasse mit einfarbiger Füllung">
              <a:extLst>
                <a:ext uri="{FF2B5EF4-FFF2-40B4-BE49-F238E27FC236}">
                  <a16:creationId xmlns:a16="http://schemas.microsoft.com/office/drawing/2014/main" id="{85D2BF99-F4E2-5525-E314-977116CA09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75561" y="3189668"/>
              <a:ext cx="716802" cy="716802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C27EC01-5A64-148D-A01A-D2E7E1F0AF3C}"/>
              </a:ext>
            </a:extLst>
          </p:cNvPr>
          <p:cNvGrpSpPr/>
          <p:nvPr/>
        </p:nvGrpSpPr>
        <p:grpSpPr>
          <a:xfrm>
            <a:off x="9745585" y="2819791"/>
            <a:ext cx="1411025" cy="1474731"/>
            <a:chOff x="457199" y="2819791"/>
            <a:chExt cx="1411025" cy="1474731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C73FBCED-68D8-1E49-B57E-8F067B0B3100}"/>
                </a:ext>
              </a:extLst>
            </p:cNvPr>
            <p:cNvSpPr/>
            <p:nvPr/>
          </p:nvSpPr>
          <p:spPr>
            <a:xfrm>
              <a:off x="457199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4057B7CE-98DE-105A-4CBD-7E362CD73730}"/>
                </a:ext>
              </a:extLst>
            </p:cNvPr>
            <p:cNvSpPr txBox="1"/>
            <p:nvPr/>
          </p:nvSpPr>
          <p:spPr>
            <a:xfrm>
              <a:off x="639267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P01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01A6C13D-6AA4-6AB2-5ADB-1EB1D31F9928}"/>
                </a:ext>
              </a:extLst>
            </p:cNvPr>
            <p:cNvSpPr txBox="1"/>
            <p:nvPr/>
          </p:nvSpPr>
          <p:spPr>
            <a:xfrm>
              <a:off x="502716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50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Anfrage per App</a:t>
              </a:r>
              <a:endParaRPr lang="en-US" sz="1100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7" name="Grafik 76" descr="Kamera mit einfarbiger Füllung">
              <a:extLst>
                <a:ext uri="{FF2B5EF4-FFF2-40B4-BE49-F238E27FC236}">
                  <a16:creationId xmlns:a16="http://schemas.microsoft.com/office/drawing/2014/main" id="{D69130DF-A623-8639-8A8B-9D68A42718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096" y="3199403"/>
              <a:ext cx="716802" cy="716802"/>
            </a:xfrm>
            <a:prstGeom prst="rect">
              <a:avLst/>
            </a:prstGeom>
          </p:spPr>
        </p:pic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9260F9E8-6DEC-95A8-CD85-36DDBECC3CCD}"/>
              </a:ext>
            </a:extLst>
          </p:cNvPr>
          <p:cNvSpPr txBox="1"/>
          <p:nvPr/>
        </p:nvSpPr>
        <p:spPr>
          <a:xfrm>
            <a:off x="339437" y="249382"/>
            <a:ext cx="8639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Auftragsreise</a:t>
            </a:r>
            <a:endParaRPr lang="en-US" sz="2800" b="1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Mike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sieht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einen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Schaden am Motor,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fotografiert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ihn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und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erhält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einen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Lösungsvorschlag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mittels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KI-Diagnose.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Ohne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Anruf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ohne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Wartezeit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direkt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in der App.</a:t>
            </a:r>
          </a:p>
        </p:txBody>
      </p:sp>
      <p:pic>
        <p:nvPicPr>
          <p:cNvPr id="15" name="Grafik 14" descr="Datei:Sinnbild Radfahrer, StVO 1992.svg – Wikipedia">
            <a:extLst>
              <a:ext uri="{FF2B5EF4-FFF2-40B4-BE49-F238E27FC236}">
                <a16:creationId xmlns:a16="http://schemas.microsoft.com/office/drawing/2014/main" id="{985B43C2-D8D6-9A00-B5B7-C294930D7B9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04555" y="1833594"/>
            <a:ext cx="1252307" cy="751385"/>
          </a:xfrm>
          <a:prstGeom prst="rect">
            <a:avLst/>
          </a:prstGeom>
        </p:spPr>
      </p:pic>
      <p:pic>
        <p:nvPicPr>
          <p:cNvPr id="17" name="Grafik 16" descr="Mann mit einfarbiger Füllung">
            <a:extLst>
              <a:ext uri="{FF2B5EF4-FFF2-40B4-BE49-F238E27FC236}">
                <a16:creationId xmlns:a16="http://schemas.microsoft.com/office/drawing/2014/main" id="{7FF7B848-8791-5B38-2F5B-E50532EF36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7315" y="1440219"/>
            <a:ext cx="1177062" cy="117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F610F-B8DB-1562-858F-1E14FE19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86036172-5E67-39DE-D962-7D5EE91DB16E}"/>
              </a:ext>
            </a:extLst>
          </p:cNvPr>
          <p:cNvGrpSpPr/>
          <p:nvPr/>
        </p:nvGrpSpPr>
        <p:grpSpPr>
          <a:xfrm>
            <a:off x="7375776" y="2819791"/>
            <a:ext cx="1411025" cy="1474731"/>
            <a:chOff x="7375776" y="2819791"/>
            <a:chExt cx="1411025" cy="1474731"/>
          </a:xfrm>
        </p:grpSpPr>
        <p:sp>
          <p:nvSpPr>
            <p:cNvPr id="41" name="Shape 33">
              <a:extLst>
                <a:ext uri="{FF2B5EF4-FFF2-40B4-BE49-F238E27FC236}">
                  <a16:creationId xmlns:a16="http://schemas.microsoft.com/office/drawing/2014/main" id="{84FD76AB-0A23-2EC4-5F02-28479A88D01B}"/>
                </a:ext>
              </a:extLst>
            </p:cNvPr>
            <p:cNvSpPr/>
            <p:nvPr/>
          </p:nvSpPr>
          <p:spPr>
            <a:xfrm>
              <a:off x="7375776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ext 34">
              <a:extLst>
                <a:ext uri="{FF2B5EF4-FFF2-40B4-BE49-F238E27FC236}">
                  <a16:creationId xmlns:a16="http://schemas.microsoft.com/office/drawing/2014/main" id="{6500D920-B1C7-87D0-4064-6E244B15E128}"/>
                </a:ext>
              </a:extLst>
            </p:cNvPr>
            <p:cNvSpPr txBox="1"/>
            <p:nvPr/>
          </p:nvSpPr>
          <p:spPr>
            <a:xfrm>
              <a:off x="7557843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P08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Text 37">
              <a:extLst>
                <a:ext uri="{FF2B5EF4-FFF2-40B4-BE49-F238E27FC236}">
                  <a16:creationId xmlns:a16="http://schemas.microsoft.com/office/drawing/2014/main" id="{FBFCCFB4-B6A3-DCE3-1508-4FC20774F578}"/>
                </a:ext>
              </a:extLst>
            </p:cNvPr>
            <p:cNvSpPr txBox="1"/>
            <p:nvPr/>
          </p:nvSpPr>
          <p:spPr>
            <a:xfrm>
              <a:off x="7421292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7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Abholung</a:t>
              </a:r>
              <a:endParaRPr lang="en-US" sz="11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7" name="Grafik 66" descr="Abzeichen Tick1 mit einfarbiger Füllung">
              <a:extLst>
                <a:ext uri="{FF2B5EF4-FFF2-40B4-BE49-F238E27FC236}">
                  <a16:creationId xmlns:a16="http://schemas.microsoft.com/office/drawing/2014/main" id="{DC011861-4567-0CAD-C37C-2A9907F2A7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22887" y="3199403"/>
              <a:ext cx="716802" cy="716802"/>
            </a:xfrm>
            <a:prstGeom prst="rect">
              <a:avLst/>
            </a:prstGeom>
          </p:spPr>
        </p:pic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49CDA339-F44A-1E10-905C-D0A3C3473E8D}"/>
              </a:ext>
            </a:extLst>
          </p:cNvPr>
          <p:cNvGrpSpPr/>
          <p:nvPr/>
        </p:nvGrpSpPr>
        <p:grpSpPr>
          <a:xfrm>
            <a:off x="5992060" y="2819791"/>
            <a:ext cx="1411025" cy="1474731"/>
            <a:chOff x="5992060" y="2819791"/>
            <a:chExt cx="1411025" cy="1474731"/>
          </a:xfrm>
        </p:grpSpPr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163ABF42-AEEE-97E0-84DC-124703A0BD39}"/>
                </a:ext>
              </a:extLst>
            </p:cNvPr>
            <p:cNvSpPr/>
            <p:nvPr/>
          </p:nvSpPr>
          <p:spPr>
            <a:xfrm>
              <a:off x="5992060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ext 28">
              <a:extLst>
                <a:ext uri="{FF2B5EF4-FFF2-40B4-BE49-F238E27FC236}">
                  <a16:creationId xmlns:a16="http://schemas.microsoft.com/office/drawing/2014/main" id="{7ACD0BFF-8DA4-D176-776A-BF1DF42EE6E8}"/>
                </a:ext>
              </a:extLst>
            </p:cNvPr>
            <p:cNvSpPr txBox="1"/>
            <p:nvPr/>
          </p:nvSpPr>
          <p:spPr>
            <a:xfrm>
              <a:off x="6174128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P07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ext 31">
              <a:extLst>
                <a:ext uri="{FF2B5EF4-FFF2-40B4-BE49-F238E27FC236}">
                  <a16:creationId xmlns:a16="http://schemas.microsoft.com/office/drawing/2014/main" id="{E82229FD-DDBE-EF42-894B-AD921F6B1246}"/>
                </a:ext>
              </a:extLst>
            </p:cNvPr>
            <p:cNvSpPr txBox="1"/>
            <p:nvPr/>
          </p:nvSpPr>
          <p:spPr>
            <a:xfrm>
              <a:off x="6037577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50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Reparatur</a:t>
              </a:r>
              <a:endParaRPr lang="en-US" sz="1100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9" name="Grafik 68" descr="Schraubenschlüssel mit einfarbiger Füllung">
              <a:extLst>
                <a:ext uri="{FF2B5EF4-FFF2-40B4-BE49-F238E27FC236}">
                  <a16:creationId xmlns:a16="http://schemas.microsoft.com/office/drawing/2014/main" id="{1F96DAF2-71B9-F09C-F867-3A412D976C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80000" y="3199403"/>
              <a:ext cx="716802" cy="716802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C12DFCEF-185E-A5B0-C405-27F34FAD82A6}"/>
              </a:ext>
            </a:extLst>
          </p:cNvPr>
          <p:cNvGrpSpPr/>
          <p:nvPr/>
        </p:nvGrpSpPr>
        <p:grpSpPr>
          <a:xfrm>
            <a:off x="4608345" y="2819791"/>
            <a:ext cx="1411025" cy="1474731"/>
            <a:chOff x="4608345" y="2819791"/>
            <a:chExt cx="1411025" cy="1474731"/>
          </a:xfrm>
        </p:grpSpPr>
        <p:sp>
          <p:nvSpPr>
            <p:cNvPr id="27" name="Shape 21">
              <a:extLst>
                <a:ext uri="{FF2B5EF4-FFF2-40B4-BE49-F238E27FC236}">
                  <a16:creationId xmlns:a16="http://schemas.microsoft.com/office/drawing/2014/main" id="{9A9A03B3-0987-BB72-5E93-21416A1C7DA3}"/>
                </a:ext>
              </a:extLst>
            </p:cNvPr>
            <p:cNvSpPr/>
            <p:nvPr/>
          </p:nvSpPr>
          <p:spPr>
            <a:xfrm>
              <a:off x="4608345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9C1318EC-A9D3-0111-B46E-16C07D5724C9}"/>
                </a:ext>
              </a:extLst>
            </p:cNvPr>
            <p:cNvSpPr txBox="1"/>
            <p:nvPr/>
          </p:nvSpPr>
          <p:spPr>
            <a:xfrm>
              <a:off x="4790413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P05, P06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7FBC6676-A78A-57C5-9B36-665C4A0BA18C}"/>
                </a:ext>
              </a:extLst>
            </p:cNvPr>
            <p:cNvSpPr txBox="1"/>
            <p:nvPr/>
          </p:nvSpPr>
          <p:spPr>
            <a:xfrm>
              <a:off x="4653862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7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Teile disponieren</a:t>
              </a:r>
              <a:endParaRPr lang="en-US" sz="11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1" name="Grafik 70" descr="Schachtel mit einfarbiger Füllung">
              <a:extLst>
                <a:ext uri="{FF2B5EF4-FFF2-40B4-BE49-F238E27FC236}">
                  <a16:creationId xmlns:a16="http://schemas.microsoft.com/office/drawing/2014/main" id="{A1C1BDEE-E811-69E0-0FD9-A1F4779240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62493" y="3195403"/>
              <a:ext cx="716802" cy="716802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34959359-6381-2E46-8328-57F8C2BD898B}"/>
              </a:ext>
            </a:extLst>
          </p:cNvPr>
          <p:cNvGrpSpPr/>
          <p:nvPr/>
        </p:nvGrpSpPr>
        <p:grpSpPr>
          <a:xfrm>
            <a:off x="3224630" y="2819791"/>
            <a:ext cx="1411025" cy="1474731"/>
            <a:chOff x="3224630" y="2819791"/>
            <a:chExt cx="1411025" cy="1474731"/>
          </a:xfrm>
        </p:grpSpPr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C956D567-2CB5-6DE6-6AF8-384A60FCCE87}"/>
                </a:ext>
              </a:extLst>
            </p:cNvPr>
            <p:cNvSpPr/>
            <p:nvPr/>
          </p:nvSpPr>
          <p:spPr>
            <a:xfrm>
              <a:off x="3224630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80F77488-E28C-3DD9-5DE0-BBEB3B8EBC76}"/>
                </a:ext>
              </a:extLst>
            </p:cNvPr>
            <p:cNvSpPr txBox="1"/>
            <p:nvPr/>
          </p:nvSpPr>
          <p:spPr>
            <a:xfrm>
              <a:off x="3406697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P03, P04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1F8248DC-6FE5-8504-22D9-DFDBEF452D0B}"/>
                </a:ext>
              </a:extLst>
            </p:cNvPr>
            <p:cNvSpPr txBox="1"/>
            <p:nvPr/>
          </p:nvSpPr>
          <p:spPr>
            <a:xfrm>
              <a:off x="3270147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50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Diagnose / KVA</a:t>
              </a:r>
              <a:endParaRPr lang="en-US" sz="1100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3" name="Grafik 72" descr="Lupe mit einfarbiger Füllung">
              <a:extLst>
                <a:ext uri="{FF2B5EF4-FFF2-40B4-BE49-F238E27FC236}">
                  <a16:creationId xmlns:a16="http://schemas.microsoft.com/office/drawing/2014/main" id="{22DB6B4A-F70F-2A72-927A-FB45F473CF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62398" y="3195403"/>
              <a:ext cx="716802" cy="716802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286E6235-7C8C-C69B-0E21-ABEF6B81E629}"/>
              </a:ext>
            </a:extLst>
          </p:cNvPr>
          <p:cNvGrpSpPr/>
          <p:nvPr/>
        </p:nvGrpSpPr>
        <p:grpSpPr>
          <a:xfrm>
            <a:off x="1840914" y="2819791"/>
            <a:ext cx="1411025" cy="1474731"/>
            <a:chOff x="1840914" y="2819791"/>
            <a:chExt cx="1411025" cy="1474731"/>
          </a:xfrm>
        </p:grpSpPr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62A9E1FE-ED9A-430B-2307-EAA9400C85BF}"/>
                </a:ext>
              </a:extLst>
            </p:cNvPr>
            <p:cNvSpPr/>
            <p:nvPr/>
          </p:nvSpPr>
          <p:spPr>
            <a:xfrm>
              <a:off x="1840914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073FFE99-7D18-5751-6712-F05186BFBBC1}"/>
                </a:ext>
              </a:extLst>
            </p:cNvPr>
            <p:cNvSpPr txBox="1"/>
            <p:nvPr/>
          </p:nvSpPr>
          <p:spPr>
            <a:xfrm>
              <a:off x="2022982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P02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DC87E671-0BB4-15ED-810E-12C1D6D43138}"/>
                </a:ext>
              </a:extLst>
            </p:cNvPr>
            <p:cNvSpPr txBox="1"/>
            <p:nvPr/>
          </p:nvSpPr>
          <p:spPr>
            <a:xfrm>
              <a:off x="1886431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75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Annahme</a:t>
              </a:r>
              <a:endParaRPr lang="en-US" sz="11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5" name="Grafik 74" descr="Registrierkasse mit einfarbiger Füllung">
              <a:extLst>
                <a:ext uri="{FF2B5EF4-FFF2-40B4-BE49-F238E27FC236}">
                  <a16:creationId xmlns:a16="http://schemas.microsoft.com/office/drawing/2014/main" id="{8863F566-E02C-86B0-BC5A-F4161C6B51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75561" y="3189668"/>
              <a:ext cx="716802" cy="716802"/>
            </a:xfrm>
            <a:prstGeom prst="rect">
              <a:avLst/>
            </a:prstGeom>
          </p:spPr>
        </p:pic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DA03D4EE-C6C5-8121-9F8F-66B92DA39AB9}"/>
              </a:ext>
            </a:extLst>
          </p:cNvPr>
          <p:cNvGrpSpPr/>
          <p:nvPr/>
        </p:nvGrpSpPr>
        <p:grpSpPr>
          <a:xfrm>
            <a:off x="457199" y="2819791"/>
            <a:ext cx="1411025" cy="1474731"/>
            <a:chOff x="457199" y="2819791"/>
            <a:chExt cx="1411025" cy="1474731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04AAAFD5-8ACA-A471-471B-C4BDCB25EB5A}"/>
                </a:ext>
              </a:extLst>
            </p:cNvPr>
            <p:cNvSpPr/>
            <p:nvPr/>
          </p:nvSpPr>
          <p:spPr>
            <a:xfrm>
              <a:off x="457199" y="2819791"/>
              <a:ext cx="1411025" cy="282805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de-DE" sz="1100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18CAC78F-FF13-8F8C-A0EF-5F39992C4B4A}"/>
                </a:ext>
              </a:extLst>
            </p:cNvPr>
            <p:cNvSpPr txBox="1"/>
            <p:nvPr/>
          </p:nvSpPr>
          <p:spPr>
            <a:xfrm>
              <a:off x="639267" y="2819791"/>
              <a:ext cx="1046890" cy="282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P01</a:t>
              </a:r>
              <a:endParaRPr lang="en-US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9DDC3CBF-291C-A592-4B5A-077AFF7A2BD6}"/>
                </a:ext>
              </a:extLst>
            </p:cNvPr>
            <p:cNvSpPr txBox="1"/>
            <p:nvPr/>
          </p:nvSpPr>
          <p:spPr>
            <a:xfrm>
              <a:off x="502716" y="3930387"/>
              <a:ext cx="1201648" cy="3641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accent2">
                      <a:lumMod val="50000"/>
                    </a:schemeClr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Anfrage per App</a:t>
              </a:r>
              <a:endParaRPr lang="en-US" sz="1100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7" name="Grafik 76" descr="Kamera mit einfarbiger Füllung">
              <a:extLst>
                <a:ext uri="{FF2B5EF4-FFF2-40B4-BE49-F238E27FC236}">
                  <a16:creationId xmlns:a16="http://schemas.microsoft.com/office/drawing/2014/main" id="{4AE83E8F-5D0C-BB6E-75F2-3A2FBA521D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2096" y="3199403"/>
              <a:ext cx="716802" cy="716802"/>
            </a:xfrm>
            <a:prstGeom prst="rect">
              <a:avLst/>
            </a:prstGeom>
          </p:spPr>
        </p:pic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C7CC4DFE-EE7D-F365-5E5E-A79B33266DFB}"/>
              </a:ext>
            </a:extLst>
          </p:cNvPr>
          <p:cNvSpPr txBox="1"/>
          <p:nvPr/>
        </p:nvSpPr>
        <p:spPr>
          <a:xfrm>
            <a:off x="339437" y="249382"/>
            <a:ext cx="8639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Auftragsreise</a:t>
            </a:r>
            <a:endParaRPr lang="en-US" sz="2800" b="1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Mike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sieht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einen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Schaden am Motor,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fotografiert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ihn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und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erhält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einen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Lösungsvorschlag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mittels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KI-Diagnose.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Ohne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Anruf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ohne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Wartezeit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direkt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in der App.</a:t>
            </a:r>
          </a:p>
        </p:txBody>
      </p:sp>
      <p:pic>
        <p:nvPicPr>
          <p:cNvPr id="15" name="Grafik 14" descr="Datei:Sinnbild Radfahrer, StVO 1992.svg – Wikipedia">
            <a:extLst>
              <a:ext uri="{FF2B5EF4-FFF2-40B4-BE49-F238E27FC236}">
                <a16:creationId xmlns:a16="http://schemas.microsoft.com/office/drawing/2014/main" id="{BA353963-6F4F-39B0-F1A8-075912A6643F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04555" y="1833594"/>
            <a:ext cx="1252307" cy="751385"/>
          </a:xfrm>
          <a:prstGeom prst="rect">
            <a:avLst/>
          </a:prstGeom>
        </p:spPr>
      </p:pic>
      <p:pic>
        <p:nvPicPr>
          <p:cNvPr id="17" name="Grafik 16" descr="Mann mit einfarbiger Füllung">
            <a:extLst>
              <a:ext uri="{FF2B5EF4-FFF2-40B4-BE49-F238E27FC236}">
                <a16:creationId xmlns:a16="http://schemas.microsoft.com/office/drawing/2014/main" id="{3FDFEEBE-08A1-5F3A-CEFF-0327BE784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7315" y="1440219"/>
            <a:ext cx="1177062" cy="117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25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5"/>
          <p:cNvSpPr txBox="1"/>
          <p:nvPr/>
        </p:nvSpPr>
        <p:spPr>
          <a:xfrm>
            <a:off x="640079" y="2730202"/>
            <a:ext cx="21363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KVA-Freigabe (P04)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81115" y="3197377"/>
            <a:ext cx="23706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Nach drei Tagen ohne Antwort schickt </a:t>
            </a:r>
            <a:r>
              <a:rPr lang="de-DE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RepairFlow</a:t>
            </a:r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 eine Erinnerung oder lehnt den KVA ab.</a:t>
            </a:r>
          </a:p>
        </p:txBody>
      </p:sp>
      <p:sp>
        <p:nvSpPr>
          <p:cNvPr id="14" name="Text 9"/>
          <p:cNvSpPr txBox="1"/>
          <p:nvPr/>
        </p:nvSpPr>
        <p:spPr>
          <a:xfrm>
            <a:off x="3428999" y="2728542"/>
            <a:ext cx="21363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Disposition (P05)</a:t>
            </a:r>
            <a:endParaRPr lang="en-US" sz="16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3429000" y="3197377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Jedes Teil wird erst im eigenen Lager und in anderen Filialen gesucht, bevor es bestellt wird.</a:t>
            </a:r>
          </a:p>
        </p:txBody>
      </p:sp>
      <p:sp>
        <p:nvSpPr>
          <p:cNvPr id="19" name="Text 13"/>
          <p:cNvSpPr txBox="1"/>
          <p:nvPr/>
        </p:nvSpPr>
        <p:spPr>
          <a:xfrm>
            <a:off x="6217919" y="2728542"/>
            <a:ext cx="21363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Reklamation (P09)</a:t>
            </a:r>
            <a:endParaRPr lang="en-US" sz="16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217919" y="3197377"/>
            <a:ext cx="24688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200" dirty="0">
                <a:latin typeface="Segoe UI" panose="020B0502040204020203" pitchFamily="34" charset="0"/>
                <a:cs typeface="Segoe UI" panose="020B0502040204020203" pitchFamily="34" charset="0"/>
              </a:rPr>
              <a:t>Eine Geschäftsregel entscheidet über eine kostenfreie Nacharbeit oder ein kostenpflichtiges Angebot.</a:t>
            </a:r>
          </a:p>
        </p:txBody>
      </p:sp>
      <p:pic>
        <p:nvPicPr>
          <p:cNvPr id="4" name="Grafik 3" descr="Pfeil mit einer Linie: Nach rechts drehen mit einfarbiger Füllung">
            <a:extLst>
              <a:ext uri="{FF2B5EF4-FFF2-40B4-BE49-F238E27FC236}">
                <a16:creationId xmlns:a16="http://schemas.microsoft.com/office/drawing/2014/main" id="{2236C7F1-96FB-9235-C733-AF4E79E5A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897" y="1814142"/>
            <a:ext cx="914400" cy="914400"/>
          </a:xfrm>
          <a:prstGeom prst="rect">
            <a:avLst/>
          </a:prstGeom>
        </p:spPr>
      </p:pic>
      <p:pic>
        <p:nvPicPr>
          <p:cNvPr id="21" name="Grafik 20" descr="Übertragen mit einfarbiger Füllung">
            <a:extLst>
              <a:ext uri="{FF2B5EF4-FFF2-40B4-BE49-F238E27FC236}">
                <a16:creationId xmlns:a16="http://schemas.microsoft.com/office/drawing/2014/main" id="{2DEF42FA-B355-BEFB-BA51-AE0F0BB50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9984" y="1881198"/>
            <a:ext cx="914400" cy="914400"/>
          </a:xfrm>
          <a:prstGeom prst="rect">
            <a:avLst/>
          </a:prstGeom>
        </p:spPr>
      </p:pic>
      <p:pic>
        <p:nvPicPr>
          <p:cNvPr id="23" name="Grafik 22" descr="Stoppuhr mit einfarbiger Füllung">
            <a:extLst>
              <a:ext uri="{FF2B5EF4-FFF2-40B4-BE49-F238E27FC236}">
                <a16:creationId xmlns:a16="http://schemas.microsoft.com/office/drawing/2014/main" id="{573B0491-418A-3D20-5D3B-7E1CFC128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1064" y="1881198"/>
            <a:ext cx="914400" cy="9144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E6B71B1-88D4-9A72-F191-F0E172F21CB4}"/>
              </a:ext>
            </a:extLst>
          </p:cNvPr>
          <p:cNvSpPr txBox="1"/>
          <p:nvPr/>
        </p:nvSpPr>
        <p:spPr>
          <a:xfrm>
            <a:off x="339437" y="249382"/>
            <a:ext cx="8639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Drei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Prozess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-Highlights</a:t>
            </a:r>
          </a:p>
          <a:p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Drei Stellen, an denen RepairFlow Fristen, Teilesuche und Regeln im Hintergrund übernimmt.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AFE30E1-D5A7-6F38-0759-61E9FE05138A}"/>
              </a:ext>
            </a:extLst>
          </p:cNvPr>
          <p:cNvGrpSpPr/>
          <p:nvPr/>
        </p:nvGrpSpPr>
        <p:grpSpPr>
          <a:xfrm>
            <a:off x="1199260" y="1243858"/>
            <a:ext cx="6745480" cy="2655783"/>
            <a:chOff x="1563880" y="1811709"/>
            <a:chExt cx="6745480" cy="2655783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2AAAFF8A-B41F-23CA-A6E2-AEC2FB961C5D}"/>
                </a:ext>
              </a:extLst>
            </p:cNvPr>
            <p:cNvSpPr/>
            <p:nvPr/>
          </p:nvSpPr>
          <p:spPr>
            <a:xfrm>
              <a:off x="1747614" y="1973545"/>
              <a:ext cx="6383709" cy="23073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B445CD13-D547-B40F-7F4B-3F9299AC59C4}"/>
                </a:ext>
              </a:extLst>
            </p:cNvPr>
            <p:cNvSpPr/>
            <p:nvPr/>
          </p:nvSpPr>
          <p:spPr>
            <a:xfrm>
              <a:off x="1563880" y="1811709"/>
              <a:ext cx="6745480" cy="2655783"/>
            </a:xfrm>
            <a:prstGeom prst="rect">
              <a:avLst/>
            </a:prstGeom>
            <a:noFill/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736C9D6E-8D14-F295-D33E-A78C972112E1}"/>
              </a:ext>
            </a:extLst>
          </p:cNvPr>
          <p:cNvSpPr txBox="1"/>
          <p:nvPr/>
        </p:nvSpPr>
        <p:spPr>
          <a:xfrm>
            <a:off x="457200" y="2018890"/>
            <a:ext cx="8229600" cy="11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Live-Demo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Die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Kundenapp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169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5">
            <a:extLst>
              <a:ext uri="{FF2B5EF4-FFF2-40B4-BE49-F238E27FC236}">
                <a16:creationId xmlns:a16="http://schemas.microsoft.com/office/drawing/2014/main" id="{3838CAE0-1478-870C-193D-BDC873E68EDE}"/>
              </a:ext>
            </a:extLst>
          </p:cNvPr>
          <p:cNvSpPr txBox="1"/>
          <p:nvPr/>
        </p:nvSpPr>
        <p:spPr>
          <a:xfrm>
            <a:off x="457200" y="2542306"/>
            <a:ext cx="155448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Aufnehmen</a:t>
            </a:r>
            <a:endParaRPr lang="en-US" sz="13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4B37458F-32AE-645F-55F0-DB2F15305D53}"/>
              </a:ext>
            </a:extLst>
          </p:cNvPr>
          <p:cNvSpPr txBox="1"/>
          <p:nvPr/>
        </p:nvSpPr>
        <p:spPr>
          <a:xfrm>
            <a:off x="548640" y="2783963"/>
            <a:ext cx="13716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Kunde lädt Foto, Video oder Ton in der App hoch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5C53D13-712F-93FF-619E-9384B84F11AE}"/>
              </a:ext>
            </a:extLst>
          </p:cNvPr>
          <p:cNvSpPr txBox="1"/>
          <p:nvPr/>
        </p:nvSpPr>
        <p:spPr>
          <a:xfrm>
            <a:off x="2139696" y="2542306"/>
            <a:ext cx="155448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C55A11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Erkennen</a:t>
            </a:r>
            <a:endParaRPr lang="en-US" sz="1300" b="0" i="0" u="none" strike="noStrike" kern="1200" cap="none" spc="0" baseline="0">
              <a:solidFill>
                <a:srgbClr val="C55A11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A373B4A9-3FBB-17A0-145E-7CA10734A4F5}"/>
              </a:ext>
            </a:extLst>
          </p:cNvPr>
          <p:cNvSpPr txBox="1"/>
          <p:nvPr/>
        </p:nvSpPr>
        <p:spPr>
          <a:xfrm>
            <a:off x="2231136" y="2783963"/>
            <a:ext cx="13716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KI-Dienst nennt Gerätetyp, Ursache und Ersatzteile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F6CB1982-86E7-BF34-FE87-22589298E398}"/>
              </a:ext>
            </a:extLst>
          </p:cNvPr>
          <p:cNvSpPr txBox="1"/>
          <p:nvPr/>
        </p:nvSpPr>
        <p:spPr>
          <a:xfrm>
            <a:off x="3822191" y="2542306"/>
            <a:ext cx="155448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Kalkulieren</a:t>
            </a:r>
            <a:endParaRPr lang="en-US" sz="13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639A7813-F59E-32DF-FD6E-943E7AA3E2CB}"/>
              </a:ext>
            </a:extLst>
          </p:cNvPr>
          <p:cNvSpPr txBox="1"/>
          <p:nvPr/>
        </p:nvSpPr>
        <p:spPr>
          <a:xfrm>
            <a:off x="3913632" y="2783963"/>
            <a:ext cx="13716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RepairFlow berechnet einen vorläufigen KVA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2EA2D6EC-AB47-FA56-C361-6B27FBD7DF6D}"/>
              </a:ext>
            </a:extLst>
          </p:cNvPr>
          <p:cNvSpPr txBox="1"/>
          <p:nvPr/>
        </p:nvSpPr>
        <p:spPr>
          <a:xfrm>
            <a:off x="5504688" y="2542306"/>
            <a:ext cx="155448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C55A11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Prüfen</a:t>
            </a:r>
            <a:endParaRPr lang="en-US" sz="1300" b="0" i="0" u="none" strike="noStrike" kern="1200" cap="none" spc="0" baseline="0">
              <a:solidFill>
                <a:srgbClr val="C55A11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0" name="Text 18">
            <a:extLst>
              <a:ext uri="{FF2B5EF4-FFF2-40B4-BE49-F238E27FC236}">
                <a16:creationId xmlns:a16="http://schemas.microsoft.com/office/drawing/2014/main" id="{0B7762B0-1BA9-1EC9-199B-0F9107FEF78D}"/>
              </a:ext>
            </a:extLst>
          </p:cNvPr>
          <p:cNvSpPr txBox="1"/>
          <p:nvPr/>
        </p:nvSpPr>
        <p:spPr>
          <a:xfrm>
            <a:off x="5596127" y="2783963"/>
            <a:ext cx="13716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Verfügbarkeit in allen Filialen geprüft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0DE7ABE3-CBCA-527B-25BF-1511248CC3C6}"/>
              </a:ext>
            </a:extLst>
          </p:cNvPr>
          <p:cNvSpPr txBox="1"/>
          <p:nvPr/>
        </p:nvSpPr>
        <p:spPr>
          <a:xfrm>
            <a:off x="7187183" y="2542306"/>
            <a:ext cx="155448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Termin</a:t>
            </a:r>
            <a:endParaRPr lang="en-US" sz="13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03AAD521-1790-8E45-FDC4-18CFAB01FB85}"/>
              </a:ext>
            </a:extLst>
          </p:cNvPr>
          <p:cNvSpPr txBox="1"/>
          <p:nvPr/>
        </p:nvSpPr>
        <p:spPr>
          <a:xfrm>
            <a:off x="7278624" y="2783963"/>
            <a:ext cx="13716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Kunde bestätigt Termin, Teile vorreserviert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pic>
        <p:nvPicPr>
          <p:cNvPr id="13" name="Grafik 34" descr="Tageskalender mit einfarbiger Füllung">
            <a:extLst>
              <a:ext uri="{FF2B5EF4-FFF2-40B4-BE49-F238E27FC236}">
                <a16:creationId xmlns:a16="http://schemas.microsoft.com/office/drawing/2014/main" id="{B0289AA8-BB71-7169-9ACA-4FF66BF59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0424" y="1923751"/>
            <a:ext cx="647998" cy="64799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rafik 36" descr="Marke mit einfarbiger Füllung">
            <a:extLst>
              <a:ext uri="{FF2B5EF4-FFF2-40B4-BE49-F238E27FC236}">
                <a16:creationId xmlns:a16="http://schemas.microsoft.com/office/drawing/2014/main" id="{C8F6214F-7399-B0CF-BB2C-BBA770111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7928" y="1923751"/>
            <a:ext cx="647998" cy="64799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Grafik 38" descr="Münzen mit einfarbiger Füllung">
            <a:extLst>
              <a:ext uri="{FF2B5EF4-FFF2-40B4-BE49-F238E27FC236}">
                <a16:creationId xmlns:a16="http://schemas.microsoft.com/office/drawing/2014/main" id="{00B5677B-1AA6-2BD2-88CC-C0BE2071B0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5432" y="1895715"/>
            <a:ext cx="647998" cy="64799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Grafik 40" descr="Künstliche Intelligenz mit einfarbiger Füllung">
            <a:extLst>
              <a:ext uri="{FF2B5EF4-FFF2-40B4-BE49-F238E27FC236}">
                <a16:creationId xmlns:a16="http://schemas.microsoft.com/office/drawing/2014/main" id="{FA74149B-1920-CB77-D8E2-CA1C984C7E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2936" y="1874017"/>
            <a:ext cx="647998" cy="64799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7" name="Grafik 42" descr="Kamera mit einfarbiger Füllung">
            <a:extLst>
              <a:ext uri="{FF2B5EF4-FFF2-40B4-BE49-F238E27FC236}">
                <a16:creationId xmlns:a16="http://schemas.microsoft.com/office/drawing/2014/main" id="{D7F4FF37-3916-4881-30B2-BBB9F2AE9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135" y="1935373"/>
            <a:ext cx="647998" cy="64799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19B1323B-3258-1C31-0627-53CAA377E21C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KI-Sofortdiagnose: KVA in 60 Sekunden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abelLinks">
            <a:extLst>
              <a:ext uri="{FF2B5EF4-FFF2-40B4-BE49-F238E27FC236}">
                <a16:creationId xmlns:a16="http://schemas.microsoft.com/office/drawing/2014/main" id="{D9FC9B62-928C-38EF-FA45-B1050F24CD9E}"/>
              </a:ext>
            </a:extLst>
          </p:cNvPr>
          <p:cNvSpPr txBox="1"/>
          <p:nvPr/>
        </p:nvSpPr>
        <p:spPr>
          <a:xfrm>
            <a:off x="457200" y="1702850"/>
            <a:ext cx="3840004" cy="379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600" b="1" i="0" u="none" strike="noStrike" kern="1200" cap="none" spc="0" baseline="0">
                <a:solidFill>
                  <a:schemeClr val="accent2">
                    <a:lumMod val="50000"/>
                  </a:schemeClr>
                </a:solidFill>
                <a:uFillTx/>
                <a:latin typeface="Segoe UI" pitchFamily="34"/>
              </a:rPr>
              <a:t>Heute machbar</a:t>
            </a:r>
          </a:p>
        </p:txBody>
      </p:sp>
      <p:sp>
        <p:nvSpPr>
          <p:cNvPr id="6" name="BulletsLinks">
            <a:extLst>
              <a:ext uri="{FF2B5EF4-FFF2-40B4-BE49-F238E27FC236}">
                <a16:creationId xmlns:a16="http://schemas.microsoft.com/office/drawing/2014/main" id="{DB710718-DA15-63B5-559F-2B38785D0143}"/>
              </a:ext>
            </a:extLst>
          </p:cNvPr>
          <p:cNvSpPr txBox="1"/>
          <p:nvPr/>
        </p:nvSpPr>
        <p:spPr>
          <a:xfrm>
            <a:off x="457200" y="2117851"/>
            <a:ext cx="3840004" cy="2800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2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</a:rPr>
              <a:t>Sichtbare Schäden per Bildanalyse: gebrochenes Display, gerissene Kette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2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</a:rPr>
              <a:t>Vorab-KVA aus Teilepreisen und Aufwandsrichtwerten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2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</a:rPr>
              <a:t>Verfügbarkeitsprüfung und Vorreservierung</a:t>
            </a:r>
          </a:p>
        </p:txBody>
      </p:sp>
      <p:sp>
        <p:nvSpPr>
          <p:cNvPr id="7" name="LabelRechts">
            <a:extLst>
              <a:ext uri="{FF2B5EF4-FFF2-40B4-BE49-F238E27FC236}">
                <a16:creationId xmlns:a16="http://schemas.microsoft.com/office/drawing/2014/main" id="{DD4E1539-BC03-517C-E3E0-4778AA7095A6}"/>
              </a:ext>
            </a:extLst>
          </p:cNvPr>
          <p:cNvSpPr txBox="1"/>
          <p:nvPr/>
        </p:nvSpPr>
        <p:spPr>
          <a:xfrm>
            <a:off x="4846320" y="1687845"/>
            <a:ext cx="3840004" cy="379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600" b="1" i="0" u="none" strike="noStrike" kern="1200" cap="none" spc="0" baseline="0">
                <a:solidFill>
                  <a:schemeClr val="accent2">
                    <a:lumMod val="50000"/>
                  </a:schemeClr>
                </a:solidFill>
                <a:uFillTx/>
                <a:latin typeface="Segoe UI" pitchFamily="34"/>
              </a:rPr>
              <a:t>Vision &amp; Absicherung</a:t>
            </a:r>
          </a:p>
        </p:txBody>
      </p:sp>
      <p:sp>
        <p:nvSpPr>
          <p:cNvPr id="8" name="BulletsRechts">
            <a:extLst>
              <a:ext uri="{FF2B5EF4-FFF2-40B4-BE49-F238E27FC236}">
                <a16:creationId xmlns:a16="http://schemas.microsoft.com/office/drawing/2014/main" id="{3F2C51DD-575F-6DE3-B481-A0B9F79F2CE7}"/>
              </a:ext>
            </a:extLst>
          </p:cNvPr>
          <p:cNvSpPr txBox="1"/>
          <p:nvPr/>
        </p:nvSpPr>
        <p:spPr>
          <a:xfrm>
            <a:off x="4846320" y="2117851"/>
            <a:ext cx="3840004" cy="280000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2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</a:rPr>
              <a:t>Geräuschanalyse von E-Bike-Motoren, Aufwand aus Video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2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</a:rPr>
              <a:t>Vorschlag bleibt vorläufig, der Techniker bestätigt oder korrigiert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2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</a:rPr>
              <a:t>Medien nur mit Einwilligung, Löschung nach Abschluss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B7AEAD0-2B5B-73DE-5949-B3784E8463DB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KI-Sofortdiagnose: Unsere Vision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19DB8AC1-64F1-BE14-090A-313BEE8E258D}"/>
              </a:ext>
            </a:extLst>
          </p:cNvPr>
          <p:cNvSpPr txBox="1"/>
          <p:nvPr/>
        </p:nvSpPr>
        <p:spPr>
          <a:xfrm>
            <a:off x="457200" y="1097280"/>
            <a:ext cx="2011680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10</a:t>
            </a:r>
            <a:endParaRPr lang="en-US" sz="40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DF294DA0-05D6-82CC-6B23-0884BFA70B2A}"/>
              </a:ext>
            </a:extLst>
          </p:cNvPr>
          <p:cNvSpPr txBox="1"/>
          <p:nvPr/>
        </p:nvSpPr>
        <p:spPr>
          <a:xfrm>
            <a:off x="457200" y="1828800"/>
            <a:ext cx="219456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BPMN-Kollaborationsdiagramme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143 Aktivitäten im Werkstatt-Pool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5CC7AE7D-DFA3-11F8-9282-0BCEC6731327}"/>
              </a:ext>
            </a:extLst>
          </p:cNvPr>
          <p:cNvSpPr txBox="1"/>
          <p:nvPr/>
        </p:nvSpPr>
        <p:spPr>
          <a:xfrm>
            <a:off x="2651760" y="1097280"/>
            <a:ext cx="2011680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19</a:t>
            </a:r>
            <a:endParaRPr lang="en-US" sz="40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DC3CA50-4B94-518F-D4FF-E4483A0D913B}"/>
              </a:ext>
            </a:extLst>
          </p:cNvPr>
          <p:cNvSpPr txBox="1"/>
          <p:nvPr/>
        </p:nvSpPr>
        <p:spPr>
          <a:xfrm>
            <a:off x="2651760" y="1828800"/>
            <a:ext cx="201168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Use Cases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17 Rollen und Akteure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F9BB918-0927-301C-5B08-147BE3DE3207}"/>
              </a:ext>
            </a:extLst>
          </p:cNvPr>
          <p:cNvSpPr txBox="1"/>
          <p:nvPr/>
        </p:nvSpPr>
        <p:spPr>
          <a:xfrm>
            <a:off x="4846320" y="1097280"/>
            <a:ext cx="2011680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29</a:t>
            </a:r>
            <a:endParaRPr lang="en-US" sz="40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30F0962-B959-E147-32A3-FD7443046161}"/>
              </a:ext>
            </a:extLst>
          </p:cNvPr>
          <p:cNvSpPr txBox="1"/>
          <p:nvPr/>
        </p:nvSpPr>
        <p:spPr>
          <a:xfrm>
            <a:off x="4846320" y="1828800"/>
            <a:ext cx="201168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Klassen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40 Assoziationen, 7 Aufzählungen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A2C31669-92A8-ADF1-50DE-10AEF0A60E5F}"/>
              </a:ext>
            </a:extLst>
          </p:cNvPr>
          <p:cNvSpPr txBox="1"/>
          <p:nvPr/>
        </p:nvSpPr>
        <p:spPr>
          <a:xfrm>
            <a:off x="7040880" y="1097280"/>
            <a:ext cx="2011680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6</a:t>
            </a:r>
            <a:endParaRPr lang="en-US" sz="40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9BEBDF23-55D7-E26C-455E-6FE1EA633807}"/>
              </a:ext>
            </a:extLst>
          </p:cNvPr>
          <p:cNvSpPr txBox="1"/>
          <p:nvPr/>
        </p:nvSpPr>
        <p:spPr>
          <a:xfrm>
            <a:off x="7040880" y="1828800"/>
            <a:ext cx="201168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Sequenzdiagramme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C93AB00B-A5B0-C022-F1E9-D6B62A650E39}"/>
              </a:ext>
            </a:extLst>
          </p:cNvPr>
          <p:cNvSpPr txBox="1"/>
          <p:nvPr/>
        </p:nvSpPr>
        <p:spPr>
          <a:xfrm>
            <a:off x="640080" y="2862072"/>
            <a:ext cx="233172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Geschäftsprozesse</a:t>
            </a:r>
            <a:endParaRPr lang="en-US" sz="14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044C0996-A302-81F9-FF2E-763065FDC40A}"/>
              </a:ext>
            </a:extLst>
          </p:cNvPr>
          <p:cNvSpPr txBox="1"/>
          <p:nvPr/>
        </p:nvSpPr>
        <p:spPr>
          <a:xfrm>
            <a:off x="640080" y="3429000"/>
            <a:ext cx="2286000" cy="10058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Camunda Modeler: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Zehn Prozesse:</a:t>
            </a:r>
          </a:p>
          <a:p>
            <a:pPr marL="628650" marR="0" lvl="1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Analyse </a:t>
            </a:r>
            <a:r>
              <a:rPr lang="en-DE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→ Abschluss</a:t>
            </a: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 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457598B6-E1CB-7AB2-7BC1-2B3A3F5D59D2}"/>
              </a:ext>
            </a:extLst>
          </p:cNvPr>
          <p:cNvSpPr txBox="1"/>
          <p:nvPr/>
        </p:nvSpPr>
        <p:spPr>
          <a:xfrm>
            <a:off x="3429000" y="2862072"/>
            <a:ext cx="233172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C55A11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Objektorientierte Analyse</a:t>
            </a:r>
            <a:endParaRPr lang="en-US" sz="1400" b="0" i="0" u="none" strike="noStrike" kern="1200" cap="none" spc="0" baseline="0">
              <a:solidFill>
                <a:srgbClr val="C55A11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8A34654F-8261-1162-4401-0CFC8DDE4A74}"/>
              </a:ext>
            </a:extLst>
          </p:cNvPr>
          <p:cNvSpPr txBox="1"/>
          <p:nvPr/>
        </p:nvSpPr>
        <p:spPr>
          <a:xfrm>
            <a:off x="3429000" y="3429000"/>
            <a:ext cx="2286000" cy="10058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Visual Paradigm: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Use-Case-Diagramm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vollständiges Klassendiagramm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sechs Sequenzdiagramme als Unterdiagramme der Use Cases.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17769297-C34B-A288-260C-8E625B5022AE}"/>
              </a:ext>
            </a:extLst>
          </p:cNvPr>
          <p:cNvSpPr txBox="1"/>
          <p:nvPr/>
        </p:nvSpPr>
        <p:spPr>
          <a:xfrm>
            <a:off x="6217920" y="2862072"/>
            <a:ext cx="233172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Dokumentation</a:t>
            </a:r>
            <a:endParaRPr lang="en-US" sz="14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AF2BE2D4-76CA-178A-78A1-CDCF29D4A77D}"/>
              </a:ext>
            </a:extLst>
          </p:cNvPr>
          <p:cNvSpPr txBox="1"/>
          <p:nvPr/>
        </p:nvSpPr>
        <p:spPr>
          <a:xfrm>
            <a:off x="6217920" y="3429000"/>
            <a:ext cx="2286000" cy="10058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Projekt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Vorgehen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Projektmanagement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alle Artefakte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Konsistenz der Modelle</a:t>
            </a: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Herausforderungen und Feedback.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cxnSp>
        <p:nvCxnSpPr>
          <p:cNvPr id="17" name="Gerade Verbindung 3">
            <a:extLst>
              <a:ext uri="{FF2B5EF4-FFF2-40B4-BE49-F238E27FC236}">
                <a16:creationId xmlns:a16="http://schemas.microsoft.com/office/drawing/2014/main" id="{17D25378-AF5B-713B-67AD-7FA799285C37}"/>
              </a:ext>
            </a:extLst>
          </p:cNvPr>
          <p:cNvCxnSpPr/>
          <p:nvPr/>
        </p:nvCxnSpPr>
        <p:spPr>
          <a:xfrm>
            <a:off x="2971800" y="2968755"/>
            <a:ext cx="0" cy="1450841"/>
          </a:xfrm>
          <a:prstGeom prst="straightConnector1">
            <a:avLst/>
          </a:prstGeom>
          <a:noFill/>
          <a:ln w="12701" cap="flat">
            <a:solidFill>
              <a:srgbClr val="0D0D0D"/>
            </a:solidFill>
            <a:prstDash val="solid"/>
            <a:miter/>
          </a:ln>
        </p:spPr>
      </p:cxnSp>
      <p:cxnSp>
        <p:nvCxnSpPr>
          <p:cNvPr id="18" name="Gerade Verbindung 4">
            <a:extLst>
              <a:ext uri="{FF2B5EF4-FFF2-40B4-BE49-F238E27FC236}">
                <a16:creationId xmlns:a16="http://schemas.microsoft.com/office/drawing/2014/main" id="{5DC12281-B873-0BD0-50A6-F8D324DF6235}"/>
              </a:ext>
            </a:extLst>
          </p:cNvPr>
          <p:cNvCxnSpPr/>
          <p:nvPr/>
        </p:nvCxnSpPr>
        <p:spPr>
          <a:xfrm>
            <a:off x="5920740" y="2968755"/>
            <a:ext cx="0" cy="1450841"/>
          </a:xfrm>
          <a:prstGeom prst="straightConnector1">
            <a:avLst/>
          </a:prstGeom>
          <a:noFill/>
          <a:ln w="12701" cap="flat">
            <a:solidFill>
              <a:srgbClr val="0D0D0D"/>
            </a:solidFill>
            <a:prstDash val="solid"/>
            <a:miter/>
          </a:ln>
        </p:spPr>
      </p:cxnSp>
      <p:cxnSp>
        <p:nvCxnSpPr>
          <p:cNvPr id="19" name="Gerade Verbindung 13">
            <a:extLst>
              <a:ext uri="{FF2B5EF4-FFF2-40B4-BE49-F238E27FC236}">
                <a16:creationId xmlns:a16="http://schemas.microsoft.com/office/drawing/2014/main" id="{5312B04F-5329-6BF0-79D5-0443CB13D8D9}"/>
              </a:ext>
            </a:extLst>
          </p:cNvPr>
          <p:cNvCxnSpPr/>
          <p:nvPr/>
        </p:nvCxnSpPr>
        <p:spPr>
          <a:xfrm>
            <a:off x="487676" y="2709952"/>
            <a:ext cx="8265628" cy="0"/>
          </a:xfrm>
          <a:prstGeom prst="straightConnector1">
            <a:avLst/>
          </a:prstGeom>
          <a:noFill/>
          <a:ln w="12701" cap="flat">
            <a:solidFill>
              <a:srgbClr val="0D0D0D"/>
            </a:solidFill>
            <a:prstDash val="solid"/>
            <a:miter/>
          </a:ln>
        </p:spPr>
      </p:cxnSp>
      <p:sp>
        <p:nvSpPr>
          <p:cNvPr id="20" name="Text 0">
            <a:extLst>
              <a:ext uri="{FF2B5EF4-FFF2-40B4-BE49-F238E27FC236}">
                <a16:creationId xmlns:a16="http://schemas.microsoft.com/office/drawing/2014/main" id="{7BF54BC3-8C5A-56BA-EDAA-9A14F3EEC44A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Was wir gebaut haben: Ergebnisse in Zahlen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9DA5683B-581E-D0B2-FB73-DD05C9193AF4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28478"/>
          <a:ext cx="5120640" cy="30175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396795814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18607573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409046212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33455867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Nr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Prozess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Akt.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autom.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90968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01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KI-Sofortdiagnose und Voranmeldung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14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100 %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37689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02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Auftragsannahme, Geräteregistrierung und Terminplanung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16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44 %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87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03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Fehlerdiagnose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13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46 %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0701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04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Kostenvoranschlag und Kundenfreigabe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12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67 %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4158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05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Ersatzteil-Verfügbarkeit und Reservierung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16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75 %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8493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06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Ersatzteil-Bestellung beim Lieferanten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17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65 %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9127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07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Reparaturdurchführung und Arbeitszeiterfassung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13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46 %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4322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08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Abholung, Rechnung und Zahlung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17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65 %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4836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09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Reklamation und Gewährleistung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16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50 %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146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10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Ersatzteil-Retoure und Lieferanten-Reklamation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9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50">
                          <a:solidFill>
                            <a:srgbClr val="1B2430"/>
                          </a:solidFill>
                          <a:latin typeface="Calibri" pitchFamily="34"/>
                          <a:ea typeface="Calibri" pitchFamily="34"/>
                          <a:cs typeface="Calibri" pitchFamily="34"/>
                        </a:rPr>
                        <a:t>67 %</a:t>
                      </a:r>
                      <a:endParaRPr lang="en-US"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740355"/>
                  </a:ext>
                </a:extLst>
              </a:tr>
            </a:tbl>
          </a:graphicData>
        </a:graphic>
      </p:graphicFrame>
      <p:sp>
        <p:nvSpPr>
          <p:cNvPr id="4" name="Text 3">
            <a:extLst>
              <a:ext uri="{FF2B5EF4-FFF2-40B4-BE49-F238E27FC236}">
                <a16:creationId xmlns:a16="http://schemas.microsoft.com/office/drawing/2014/main" id="{D6A4E6AE-BEB0-8422-E397-BDCF9F56616D}"/>
              </a:ext>
            </a:extLst>
          </p:cNvPr>
          <p:cNvSpPr txBox="1"/>
          <p:nvPr/>
        </p:nvSpPr>
        <p:spPr>
          <a:xfrm>
            <a:off x="5943600" y="1319918"/>
            <a:ext cx="2743200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843C0C"/>
                </a:solidFill>
                <a:uFillTx/>
                <a:latin typeface="Segoe UI" panose="020B0502040204020203" pitchFamily="34" charset="0"/>
                <a:ea typeface="Calibri" pitchFamily="34"/>
                <a:cs typeface="Segoe UI" panose="020B0502040204020203" pitchFamily="34" charset="0"/>
              </a:rPr>
              <a:t>143</a:t>
            </a:r>
            <a:endParaRPr lang="en-US" sz="4000" b="0" i="0" u="none" strike="noStrike" kern="1200" cap="none" spc="0" baseline="0">
              <a:solidFill>
                <a:srgbClr val="843C0C"/>
              </a:solidFill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9C0883A-1DD8-A514-E661-7648C7C465CE}"/>
              </a:ext>
            </a:extLst>
          </p:cNvPr>
          <p:cNvSpPr txBox="1"/>
          <p:nvPr/>
        </p:nvSpPr>
        <p:spPr>
          <a:xfrm>
            <a:off x="5943600" y="1965804"/>
            <a:ext cx="274320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anose="020B0502040204020203" pitchFamily="34" charset="0"/>
                <a:ea typeface="Calibri" pitchFamily="34"/>
                <a:cs typeface="Segoe UI" panose="020B0502040204020203" pitchFamily="34" charset="0"/>
              </a:rPr>
              <a:t>Aktivitäten im Werkstatt-Pool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AE682A0-3FC8-51A0-94C6-968E4AB9D672}"/>
              </a:ext>
            </a:extLst>
          </p:cNvPr>
          <p:cNvSpPr txBox="1"/>
          <p:nvPr/>
        </p:nvSpPr>
        <p:spPr>
          <a:xfrm>
            <a:off x="5943600" y="2691518"/>
            <a:ext cx="2743200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843C0C"/>
                </a:solidFill>
                <a:uFillTx/>
                <a:latin typeface="Segoe UI" panose="020B0502040204020203" pitchFamily="34" charset="0"/>
                <a:ea typeface="Calibri" pitchFamily="34"/>
                <a:cs typeface="Segoe UI" panose="020B0502040204020203" pitchFamily="34" charset="0"/>
              </a:rPr>
              <a:t>62,2 %</a:t>
            </a:r>
            <a:endParaRPr lang="en-US" sz="4000" b="0" i="0" u="none" strike="noStrike" kern="1200" cap="none" spc="0" baseline="0">
              <a:solidFill>
                <a:srgbClr val="843C0C"/>
              </a:solidFill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AB3163C-38C9-A909-A000-9CB1D4380F1E}"/>
              </a:ext>
            </a:extLst>
          </p:cNvPr>
          <p:cNvSpPr txBox="1"/>
          <p:nvPr/>
        </p:nvSpPr>
        <p:spPr>
          <a:xfrm>
            <a:off x="5943600" y="3423038"/>
            <a:ext cx="274320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B2430"/>
                </a:solidFill>
                <a:uFillTx/>
                <a:latin typeface="Segoe UI" panose="020B0502040204020203" pitchFamily="34" charset="0"/>
                <a:ea typeface="Calibri" pitchFamily="34"/>
                <a:cs typeface="Segoe UI" panose="020B0502040204020203" pitchFamily="34" charset="0"/>
              </a:rPr>
              <a:t>davon führt RepairFlow automatisch aus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48D9A9F3-D99F-108C-C76E-E841D37BBD67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Zehn Prozesse, 62 Prozent automatisiert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Wer macht was im System?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14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19 Use Cases, die zeigen, wer im System welche Aufgaben übernimmt und in welchem Bereich.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457201" y="2395107"/>
            <a:ext cx="2011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Kundenportal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51176" y="2936398"/>
            <a:ext cx="151823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400" b="1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3 Use Cases</a:t>
            </a:r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Kunde</a:t>
            </a:r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KI-Diagnosedienst (extern)</a:t>
            </a:r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2560321" y="2395107"/>
            <a:ext cx="2011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Auftrag und Werkstatt</a:t>
            </a:r>
            <a:endParaRPr lang="en-US" sz="14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2854296" y="2936398"/>
            <a:ext cx="16583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400" b="1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9 Use Cases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9 Rollen, von der Annahme bis zur Reklamation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4663441" y="2395107"/>
            <a:ext cx="2011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Ersatzteil-Disposition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4957415" y="2936398"/>
            <a:ext cx="17351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400" b="1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6 Use Cases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5 Rollen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Lieferant: Black Box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6771641" y="2395107"/>
            <a:ext cx="1955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Administration</a:t>
            </a:r>
            <a:endParaRPr lang="en-US" sz="14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7060535" y="2936398"/>
            <a:ext cx="177291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400" b="1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 Use Case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Betriebsadministrator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Grafik 3" descr="Person Krone männlich mit einfarbiger Füllung">
            <a:extLst>
              <a:ext uri="{FF2B5EF4-FFF2-40B4-BE49-F238E27FC236}">
                <a16:creationId xmlns:a16="http://schemas.microsoft.com/office/drawing/2014/main" id="{AEB1FA38-ACE7-12DC-E1D4-4EFD2D9C6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9480" y="1535571"/>
            <a:ext cx="914400" cy="914400"/>
          </a:xfrm>
          <a:prstGeom prst="rect">
            <a:avLst/>
          </a:prstGeom>
        </p:spPr>
      </p:pic>
      <p:pic>
        <p:nvPicPr>
          <p:cNvPr id="27" name="Grafik 26" descr="Lager mit einfarbiger Füllung">
            <a:extLst>
              <a:ext uri="{FF2B5EF4-FFF2-40B4-BE49-F238E27FC236}">
                <a16:creationId xmlns:a16="http://schemas.microsoft.com/office/drawing/2014/main" id="{04171E82-5001-6E17-E22E-4B20080B33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3536" y="1546017"/>
            <a:ext cx="914400" cy="914400"/>
          </a:xfrm>
          <a:prstGeom prst="rect">
            <a:avLst/>
          </a:prstGeom>
        </p:spPr>
      </p:pic>
      <p:pic>
        <p:nvPicPr>
          <p:cNvPr id="29" name="Grafik 28" descr="Schraubenschlüssel mit einfarbiger Füllung">
            <a:extLst>
              <a:ext uri="{FF2B5EF4-FFF2-40B4-BE49-F238E27FC236}">
                <a16:creationId xmlns:a16="http://schemas.microsoft.com/office/drawing/2014/main" id="{4CEC9887-B35A-7CCD-E8F0-D1EC0E1738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86100" y="1476915"/>
            <a:ext cx="914400" cy="914400"/>
          </a:xfrm>
          <a:prstGeom prst="rect">
            <a:avLst/>
          </a:prstGeom>
        </p:spPr>
      </p:pic>
      <p:pic>
        <p:nvPicPr>
          <p:cNvPr id="31" name="Grafik 30" descr="Smartphone mit einfarbiger Füllung">
            <a:extLst>
              <a:ext uri="{FF2B5EF4-FFF2-40B4-BE49-F238E27FC236}">
                <a16:creationId xmlns:a16="http://schemas.microsoft.com/office/drawing/2014/main" id="{D24E70FF-7867-2A73-D1DB-DE0A36425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" y="147691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3030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1704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Reparaturauftrag im Mittelpunkt</a:t>
            </a:r>
            <a:endParaRPr lang="de-DE" sz="1400"/>
          </a:p>
        </p:txBody>
      </p:sp>
      <p:sp>
        <p:nvSpPr>
          <p:cNvPr id="10" name="Text 6"/>
          <p:cNvSpPr txBox="1"/>
          <p:nvPr/>
        </p:nvSpPr>
        <p:spPr>
          <a:xfrm>
            <a:off x="640080" y="17373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Befund und Reparaturschritte gehören fest zum Auftrag.</a:t>
            </a:r>
            <a:endParaRPr lang="de-DE" sz="1200"/>
          </a:p>
        </p:txBody>
      </p:sp>
      <p:sp>
        <p:nvSpPr>
          <p:cNvPr id="12" name="Shape 8"/>
          <p:cNvSpPr/>
          <p:nvPr/>
        </p:nvSpPr>
        <p:spPr>
          <a:xfrm>
            <a:off x="4892040" y="1188720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3030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1704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Lagerbestand je Filiale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4892040" y="17373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Verfügbarkeit über alle Filialen prüfbar.</a:t>
            </a:r>
            <a:endParaRPr lang="de-DE" sz="1200"/>
          </a:p>
        </p:txBody>
      </p:sp>
      <p:sp>
        <p:nvSpPr>
          <p:cNvPr id="17" name="Shape 12"/>
          <p:cNvSpPr/>
          <p:nvPr/>
        </p:nvSpPr>
        <p:spPr>
          <a:xfrm>
            <a:off x="640080" y="2404872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251917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23865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Reservierung mit Lebenszyklus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40080" y="295351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vorreserviert → reserviert → entnommen oder storniert</a:t>
            </a:r>
            <a:endParaRPr lang="de-DE" sz="1200"/>
          </a:p>
        </p:txBody>
      </p:sp>
      <p:sp>
        <p:nvSpPr>
          <p:cNvPr id="22" name="Shape 16"/>
          <p:cNvSpPr/>
          <p:nvPr/>
        </p:nvSpPr>
        <p:spPr>
          <a:xfrm>
            <a:off x="4892040" y="2404872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251917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86400" y="23865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Werkstattbetrieb als Zentrale</a:t>
            </a:r>
            <a:endParaRPr lang="de-DE" sz="1400"/>
          </a:p>
        </p:txBody>
      </p:sp>
      <p:sp>
        <p:nvSpPr>
          <p:cNvPr id="25" name="Text 18"/>
          <p:cNvSpPr txBox="1"/>
          <p:nvPr/>
        </p:nvSpPr>
        <p:spPr>
          <a:xfrm>
            <a:off x="4892040" y="295351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Kennt alle Aufträge. Zugriff nur über KundenApp und Werkstattoberfläche.</a:t>
            </a:r>
            <a:endParaRPr lang="de-DE" sz="1200"/>
          </a:p>
        </p:txBody>
      </p:sp>
      <p:sp>
        <p:nvSpPr>
          <p:cNvPr id="27" name="Shape 20"/>
          <p:cNvSpPr/>
          <p:nvPr/>
        </p:nvSpPr>
        <p:spPr>
          <a:xfrm>
            <a:off x="640080" y="3621024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3735324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234440" y="36027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Drei Klassen für die Sofortdiagnose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640080" y="41696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Voranmeldung, Medienanhang, KIDiagnosevorschlag</a:t>
            </a:r>
            <a:endParaRPr lang="de-DE" sz="1200"/>
          </a:p>
        </p:txBody>
      </p:sp>
      <p:sp>
        <p:nvSpPr>
          <p:cNvPr id="31" name="Shape 23"/>
          <p:cNvSpPr/>
          <p:nvPr/>
        </p:nvSpPr>
        <p:spPr>
          <a:xfrm>
            <a:off x="4753550" y="3621024"/>
            <a:ext cx="3657600" cy="457200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 24"/>
          <p:cNvSpPr txBox="1"/>
          <p:nvPr/>
        </p:nvSpPr>
        <p:spPr>
          <a:xfrm>
            <a:off x="4753550" y="36210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2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29 Klassen · 40 Assoziationen · 7 Aufzählungen</a:t>
            </a:r>
            <a:endParaRPr lang="de-DE" sz="12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10DB46F-C11F-F27E-51D6-54213AA7C530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Das Datenmodell: Fünf Entscheidungen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467612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3350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Regeln</a:t>
            </a:r>
            <a:endParaRPr lang="de-DE" sz="1400"/>
          </a:p>
        </p:txBody>
      </p:sp>
      <p:sp>
        <p:nvSpPr>
          <p:cNvPr id="10" name="Text 6"/>
          <p:cNvSpPr txBox="1"/>
          <p:nvPr/>
        </p:nvSpPr>
        <p:spPr>
          <a:xfrm>
            <a:off x="640080" y="1901952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Gleiche Namen in allen Modellen. Jede Rolle in den Prozessen hat genau eine Lane und eine Klasse.</a:t>
            </a:r>
            <a:endParaRPr lang="de-DE" sz="1200"/>
          </a:p>
        </p:txBody>
      </p:sp>
      <p:sp>
        <p:nvSpPr>
          <p:cNvPr id="12" name="Shape 8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46761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23360" y="13350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Werkzeuge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3429000" y="1901952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Prozesse für Camunda 8 ergänzt. Camunda-Linter und Modeler-Prüfung: 0 Fehler.</a:t>
            </a:r>
            <a:endParaRPr lang="de-DE" sz="1200"/>
          </a:p>
        </p:txBody>
      </p:sp>
      <p:sp>
        <p:nvSpPr>
          <p:cNvPr id="17" name="Shape 12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46761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12280" y="13350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Reviews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217920" y="1901952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Jedes Diagramm von einer zweiten Person geprüft. Jede Änderung gegen eine Checkliste.</a:t>
            </a:r>
            <a:endParaRPr lang="de-DE" sz="120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FA2A3CE9-9175-6313-DC1F-4D76D94B0ADA}"/>
              </a:ext>
            </a:extLst>
          </p:cNvPr>
          <p:cNvGrpSpPr/>
          <p:nvPr/>
        </p:nvGrpSpPr>
        <p:grpSpPr>
          <a:xfrm>
            <a:off x="640080" y="3719650"/>
            <a:ext cx="457200" cy="457200"/>
            <a:chOff x="640080" y="3472540"/>
            <a:chExt cx="457200" cy="457200"/>
          </a:xfrm>
        </p:grpSpPr>
        <p:sp>
          <p:nvSpPr>
            <p:cNvPr id="22" name="Shape 16"/>
            <p:cNvSpPr/>
            <p:nvPr/>
          </p:nvSpPr>
          <p:spPr>
            <a:xfrm>
              <a:off x="640080" y="3472540"/>
              <a:ext cx="457200" cy="4572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2700">
              <a:noFill/>
              <a:prstDash val="solid"/>
            </a:ln>
          </p:spPr>
          <p:txBody>
            <a:bodyPr anchor="t"/>
            <a:lstStyle/>
            <a:p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3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4380" y="3586840"/>
              <a:ext cx="228600" cy="228600"/>
            </a:xfrm>
            <a:prstGeom prst="rect">
              <a:avLst/>
            </a:prstGeom>
          </p:spPr>
        </p:pic>
      </p:grpSp>
      <p:sp>
        <p:nvSpPr>
          <p:cNvPr id="24" name="Text 17"/>
          <p:cNvSpPr txBox="1"/>
          <p:nvPr/>
        </p:nvSpPr>
        <p:spPr>
          <a:xfrm>
            <a:off x="1234440" y="342247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200" b="1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Beispiel: </a:t>
            </a:r>
            <a:r>
              <a:rPr lang="de-DE" sz="12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Nacharbeit höchstens zweimal. Diese Regel muss in allen Modellen gleich stehen.</a:t>
            </a:r>
            <a:endParaRPr lang="de-DE" sz="1200"/>
          </a:p>
        </p:txBody>
      </p: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D5EFE5D9-C3D8-26D9-F970-BB4CB7288B68}"/>
              </a:ext>
            </a:extLst>
          </p:cNvPr>
          <p:cNvCxnSpPr>
            <a:cxnSpLocks/>
          </p:cNvCxnSpPr>
          <p:nvPr/>
        </p:nvCxnSpPr>
        <p:spPr>
          <a:xfrm>
            <a:off x="3130568" y="1255555"/>
            <a:ext cx="0" cy="139275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09514B9D-32E7-BB9F-8DA7-B9C3F358B01C}"/>
              </a:ext>
            </a:extLst>
          </p:cNvPr>
          <p:cNvCxnSpPr>
            <a:cxnSpLocks/>
          </p:cNvCxnSpPr>
          <p:nvPr/>
        </p:nvCxnSpPr>
        <p:spPr>
          <a:xfrm>
            <a:off x="5862267" y="1255555"/>
            <a:ext cx="0" cy="1392754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0">
            <a:extLst>
              <a:ext uri="{FF2B5EF4-FFF2-40B4-BE49-F238E27FC236}">
                <a16:creationId xmlns:a16="http://schemas.microsoft.com/office/drawing/2014/main" id="{A7749E11-E8A2-610C-77B7-EC1F202E324B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Qualität: Regeln, Werkzeuge, Reviews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3030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170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Perspektive klären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40080" y="1737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Werkstatt oder Softwareanbieter? Wir sind der Anbieter, FixWerk ist Pilotkunde.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892040" y="1188720"/>
            <a:ext cx="457200" cy="4572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13030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17043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Pools und Lanes</a:t>
            </a:r>
            <a:endParaRPr lang="en-US" sz="1400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4892040" y="1737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Ein Pool mit Rollen als Lanes. Der Kunde bekam einen eigenen Ablauf.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17754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304495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Überschriebene Diagramme</a:t>
            </a:r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40080" y="3611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Ein Teamwork-Update spielte alte Versionen ein. Seitdem: Update vorher, Commit sofort.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31775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8640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 b="1" dirty="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Feedback aus den Coachings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4892040" y="3611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de-DE" sz="1400" dirty="0">
                <a:solidFill>
                  <a:srgbClr val="1B243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Eine Rolle je Use Case, Oberflächen vor dem Fachobjekt.</a:t>
            </a:r>
            <a:endParaRPr lang="de-DE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F360E83-80D7-94EE-E229-E57FA2B33316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Herausforderungen und Lernerfahrungen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934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5BBDE831-8CC2-6666-36B1-FDA9429412F2}"/>
              </a:ext>
            </a:extLst>
          </p:cNvPr>
          <p:cNvSpPr/>
          <p:nvPr/>
        </p:nvSpPr>
        <p:spPr>
          <a:xfrm>
            <a:off x="457200" y="1117351"/>
            <a:ext cx="1371600" cy="548640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843C0C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126CFE2-AE5F-8DA8-4D85-C513C936A6B5}"/>
              </a:ext>
            </a:extLst>
          </p:cNvPr>
          <p:cNvSpPr txBox="1"/>
          <p:nvPr/>
        </p:nvSpPr>
        <p:spPr>
          <a:xfrm>
            <a:off x="566928" y="1117351"/>
            <a:ext cx="118872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Themenwahl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A9124611-40BE-18C1-F473-89A54D366865}"/>
              </a:ext>
            </a:extLst>
          </p:cNvPr>
          <p:cNvSpPr/>
          <p:nvPr/>
        </p:nvSpPr>
        <p:spPr>
          <a:xfrm>
            <a:off x="1828800" y="1117351"/>
            <a:ext cx="1371600" cy="548640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C55A11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54FE194-2955-A193-F531-611CE6AAF10F}"/>
              </a:ext>
            </a:extLst>
          </p:cNvPr>
          <p:cNvSpPr txBox="1"/>
          <p:nvPr/>
        </p:nvSpPr>
        <p:spPr>
          <a:xfrm>
            <a:off x="2005434" y="1117351"/>
            <a:ext cx="118872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Konzept + Feedback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B20726A0-948F-59F2-D708-94237A9D03A0}"/>
              </a:ext>
            </a:extLst>
          </p:cNvPr>
          <p:cNvSpPr/>
          <p:nvPr/>
        </p:nvSpPr>
        <p:spPr>
          <a:xfrm>
            <a:off x="3200400" y="1117351"/>
            <a:ext cx="1371600" cy="548640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843C0C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CDE74AB5-BBFC-D655-DFCC-B340A4FEAD41}"/>
              </a:ext>
            </a:extLst>
          </p:cNvPr>
          <p:cNvSpPr/>
          <p:nvPr/>
        </p:nvSpPr>
        <p:spPr>
          <a:xfrm>
            <a:off x="4572000" y="1117351"/>
            <a:ext cx="1371600" cy="548640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C55A11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8BDFE16C-1D8E-84A1-59D0-38711F84BCBD}"/>
              </a:ext>
            </a:extLst>
          </p:cNvPr>
          <p:cNvSpPr txBox="1"/>
          <p:nvPr/>
        </p:nvSpPr>
        <p:spPr>
          <a:xfrm>
            <a:off x="4681727" y="1117351"/>
            <a:ext cx="118872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BPMN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A0F45D51-81D8-32F8-8DF2-978C33489F75}"/>
              </a:ext>
            </a:extLst>
          </p:cNvPr>
          <p:cNvSpPr/>
          <p:nvPr/>
        </p:nvSpPr>
        <p:spPr>
          <a:xfrm>
            <a:off x="5943600" y="1117351"/>
            <a:ext cx="1371600" cy="548640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843C0C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D20BB63-5043-37B8-5D5C-A656326BD97B}"/>
              </a:ext>
            </a:extLst>
          </p:cNvPr>
          <p:cNvSpPr txBox="1"/>
          <p:nvPr/>
        </p:nvSpPr>
        <p:spPr>
          <a:xfrm>
            <a:off x="6053327" y="1117351"/>
            <a:ext cx="118872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OOA (UML)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1A0FFB3-0780-4B87-C801-42D9F3D8FEC3}"/>
              </a:ext>
            </a:extLst>
          </p:cNvPr>
          <p:cNvSpPr/>
          <p:nvPr/>
        </p:nvSpPr>
        <p:spPr>
          <a:xfrm>
            <a:off x="7315200" y="1117351"/>
            <a:ext cx="1371600" cy="548640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abs f4"/>
              <a:gd name="f13" fmla="abs f5"/>
              <a:gd name="f14" fmla="abs f6"/>
              <a:gd name="f15" fmla="val f7"/>
              <a:gd name="f16" fmla="val f8"/>
              <a:gd name="f17" fmla="*/ f9 f1 1"/>
              <a:gd name="f18" fmla="*/ f10 f1 1"/>
              <a:gd name="f19" fmla="*/ f11 f1 1"/>
              <a:gd name="f20" fmla="?: f12 f4 1"/>
              <a:gd name="f21" fmla="?: f13 f5 1"/>
              <a:gd name="f22" fmla="?: f14 f6 1"/>
              <a:gd name="f23" fmla="*/ f17 1 f3"/>
              <a:gd name="f24" fmla="*/ f18 1 f3"/>
              <a:gd name="f25" fmla="*/ f19 1 f3"/>
              <a:gd name="f26" fmla="*/ f20 1 21600"/>
              <a:gd name="f27" fmla="*/ f21 1 21600"/>
              <a:gd name="f28" fmla="*/ 21600 f20 1"/>
              <a:gd name="f29" fmla="*/ 21600 f21 1"/>
              <a:gd name="f30" fmla="+- f23 0 f2"/>
              <a:gd name="f31" fmla="+- f24 0 f2"/>
              <a:gd name="f32" fmla="+- f25 0 f2"/>
              <a:gd name="f33" fmla="min f27 f26"/>
              <a:gd name="f34" fmla="*/ f28 1 f22"/>
              <a:gd name="f35" fmla="*/ f29 1 f22"/>
              <a:gd name="f36" fmla="val f34"/>
              <a:gd name="f37" fmla="val f35"/>
              <a:gd name="f38" fmla="*/ f15 f33 1"/>
              <a:gd name="f39" fmla="+- f37 0 f15"/>
              <a:gd name="f40" fmla="+- f36 0 f15"/>
              <a:gd name="f41" fmla="*/ f37 f33 1"/>
              <a:gd name="f42" fmla="*/ f36 f33 1"/>
              <a:gd name="f43" fmla="*/ f39 1 2"/>
              <a:gd name="f44" fmla="min f40 f39"/>
              <a:gd name="f45" fmla="+- f15 f43 0"/>
              <a:gd name="f46" fmla="*/ f44 f16 1"/>
              <a:gd name="f47" fmla="*/ f46 1 100000"/>
              <a:gd name="f48" fmla="*/ f45 f33 1"/>
              <a:gd name="f49" fmla="+- f36 0 f47"/>
              <a:gd name="f50" fmla="*/ f47 f33 1"/>
              <a:gd name="f51" fmla="*/ f49 1 2"/>
              <a:gd name="f52" fmla="+- f49 0 f47"/>
              <a:gd name="f53" fmla="*/ f49 f33 1"/>
              <a:gd name="f54" fmla="?: f52 f47 f15"/>
              <a:gd name="f55" fmla="?: f52 f49 f36"/>
              <a:gd name="f56" fmla="*/ f51 f33 1"/>
              <a:gd name="f57" fmla="*/ f54 f33 1"/>
              <a:gd name="f58" fmla="*/ f55 f3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6" y="f38"/>
              </a:cxn>
              <a:cxn ang="f31">
                <a:pos x="f50" y="f48"/>
              </a:cxn>
              <a:cxn ang="f32">
                <a:pos x="f56" y="f41"/>
              </a:cxn>
            </a:cxnLst>
            <a:rect l="f57" t="f38" r="f58" b="f41"/>
            <a:pathLst>
              <a:path>
                <a:moveTo>
                  <a:pt x="f38" y="f38"/>
                </a:moveTo>
                <a:lnTo>
                  <a:pt x="f53" y="f38"/>
                </a:lnTo>
                <a:lnTo>
                  <a:pt x="f42" y="f48"/>
                </a:lnTo>
                <a:lnTo>
                  <a:pt x="f53" y="f41"/>
                </a:lnTo>
                <a:lnTo>
                  <a:pt x="f38" y="f41"/>
                </a:lnTo>
                <a:lnTo>
                  <a:pt x="f50" y="f48"/>
                </a:lnTo>
                <a:close/>
              </a:path>
            </a:pathLst>
          </a:custGeom>
          <a:solidFill>
            <a:srgbClr val="C55A11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6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1581F62F-39C2-4D4C-7F3D-58331B9F2F34}"/>
              </a:ext>
            </a:extLst>
          </p:cNvPr>
          <p:cNvSpPr txBox="1"/>
          <p:nvPr/>
        </p:nvSpPr>
        <p:spPr>
          <a:xfrm>
            <a:off x="7516404" y="1117351"/>
            <a:ext cx="118872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Doku + Präsentation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6A5AAF5F-B822-539C-99F0-D536F5C561EE}"/>
              </a:ext>
            </a:extLst>
          </p:cNvPr>
          <p:cNvSpPr/>
          <p:nvPr/>
        </p:nvSpPr>
        <p:spPr>
          <a:xfrm>
            <a:off x="640080" y="207747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43C0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238EB642-18CF-75B9-03B8-0B458008F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191771"/>
            <a:ext cx="228600" cy="228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 17">
            <a:extLst>
              <a:ext uri="{FF2B5EF4-FFF2-40B4-BE49-F238E27FC236}">
                <a16:creationId xmlns:a16="http://schemas.microsoft.com/office/drawing/2014/main" id="{4A961330-80E5-8459-8200-B24712986FE6}"/>
              </a:ext>
            </a:extLst>
          </p:cNvPr>
          <p:cNvSpPr txBox="1"/>
          <p:nvPr/>
        </p:nvSpPr>
        <p:spPr>
          <a:xfrm>
            <a:off x="1234440" y="2059183"/>
            <a:ext cx="173736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Rollen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24118104-3F0E-7E61-9568-2AC79479ECB3}"/>
              </a:ext>
            </a:extLst>
          </p:cNvPr>
          <p:cNvSpPr txBox="1"/>
          <p:nvPr/>
        </p:nvSpPr>
        <p:spPr>
          <a:xfrm>
            <a:off x="640080" y="2626111"/>
            <a:ext cx="2286000" cy="19659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Nina: </a:t>
            </a: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Projektleitung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David: </a:t>
            </a: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Stellvertretung und UML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Adrian: </a:t>
            </a: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Product Owner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Kilian: </a:t>
            </a: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Scrum Master und UML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Maximilian: </a:t>
            </a: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BPMN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Jakob: </a:t>
            </a: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Qualität</a:t>
            </a:r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20B135F6-6D87-5202-8417-8BE0DD46D856}"/>
              </a:ext>
            </a:extLst>
          </p:cNvPr>
          <p:cNvSpPr/>
          <p:nvPr/>
        </p:nvSpPr>
        <p:spPr>
          <a:xfrm>
            <a:off x="3429000" y="207747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43C0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172320E5-E7C7-26B3-8DDC-C4D5B49DB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299" y="2191771"/>
            <a:ext cx="228600" cy="228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0" name="Text 21">
            <a:extLst>
              <a:ext uri="{FF2B5EF4-FFF2-40B4-BE49-F238E27FC236}">
                <a16:creationId xmlns:a16="http://schemas.microsoft.com/office/drawing/2014/main" id="{24CFCB3A-B24C-F9A2-4F9A-381C30E052E3}"/>
              </a:ext>
            </a:extLst>
          </p:cNvPr>
          <p:cNvSpPr txBox="1"/>
          <p:nvPr/>
        </p:nvSpPr>
        <p:spPr>
          <a:xfrm>
            <a:off x="4023360" y="2059183"/>
            <a:ext cx="173736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Zusammenarbeit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C1786FF8-2226-91B2-DDDF-E449ECAF5439}"/>
              </a:ext>
            </a:extLst>
          </p:cNvPr>
          <p:cNvSpPr txBox="1"/>
          <p:nvPr/>
        </p:nvSpPr>
        <p:spPr>
          <a:xfrm>
            <a:off x="3429000" y="2626111"/>
            <a:ext cx="2286000" cy="19659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1450" marR="0" lvl="0" indent="-1714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Scrum</a:t>
            </a:r>
          </a:p>
          <a:p>
            <a:pPr marL="171450" marR="0" lvl="0" indent="-1714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Trello-Board </a:t>
            </a:r>
          </a:p>
          <a:p>
            <a:pPr marL="171450" marR="0" lvl="0" indent="-1714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Prüfung</a:t>
            </a:r>
          </a:p>
          <a:p>
            <a:pPr marL="171450" marR="0" lvl="0" indent="-17145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GitHub Repo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392D7EA4-7AD0-629A-7713-E0403CCB222A}"/>
              </a:ext>
            </a:extLst>
          </p:cNvPr>
          <p:cNvSpPr/>
          <p:nvPr/>
        </p:nvSpPr>
        <p:spPr>
          <a:xfrm>
            <a:off x="6217920" y="2077471"/>
            <a:ext cx="457200" cy="457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843C0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EC4242D3-9FD9-6B47-69A7-797A87F0F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2191771"/>
            <a:ext cx="228600" cy="228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4" name="Text 25">
            <a:extLst>
              <a:ext uri="{FF2B5EF4-FFF2-40B4-BE49-F238E27FC236}">
                <a16:creationId xmlns:a16="http://schemas.microsoft.com/office/drawing/2014/main" id="{DE045A7B-494C-B7D0-57E5-F8D3806F1FA2}"/>
              </a:ext>
            </a:extLst>
          </p:cNvPr>
          <p:cNvSpPr txBox="1"/>
          <p:nvPr/>
        </p:nvSpPr>
        <p:spPr>
          <a:xfrm>
            <a:off x="6812280" y="2059183"/>
            <a:ext cx="173736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Ablauf je Diagramm</a:t>
            </a: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B2E1E983-C130-D709-8122-45EE088C08C4}"/>
              </a:ext>
            </a:extLst>
          </p:cNvPr>
          <p:cNvSpPr txBox="1"/>
          <p:nvPr/>
        </p:nvSpPr>
        <p:spPr>
          <a:xfrm>
            <a:off x="6217920" y="2626111"/>
            <a:ext cx="2286000" cy="19659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Entwurf 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Review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Abstimmung 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Pull Request mit Review. Entscheidungslog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grpSp>
        <p:nvGrpSpPr>
          <p:cNvPr id="27" name="Group 2">
            <a:extLst>
              <a:ext uri="{FF2B5EF4-FFF2-40B4-BE49-F238E27FC236}">
                <a16:creationId xmlns:a16="http://schemas.microsoft.com/office/drawing/2014/main" id="{0CB9D190-D196-D335-516C-9B67917C1506}"/>
              </a:ext>
            </a:extLst>
          </p:cNvPr>
          <p:cNvGrpSpPr/>
          <p:nvPr/>
        </p:nvGrpSpPr>
        <p:grpSpPr>
          <a:xfrm>
            <a:off x="7680960" y="6668618"/>
            <a:ext cx="1336202" cy="3375590"/>
            <a:chOff x="7680960" y="6668618"/>
            <a:chExt cx="1336202" cy="3375590"/>
          </a:xfrm>
        </p:grpSpPr>
        <p:sp>
          <p:nvSpPr>
            <p:cNvPr id="28" name="Circular Arrow 3">
              <a:extLst>
                <a:ext uri="{FF2B5EF4-FFF2-40B4-BE49-F238E27FC236}">
                  <a16:creationId xmlns:a16="http://schemas.microsoft.com/office/drawing/2014/main" id="{908F9269-ADCA-D50B-596C-2FFA7D4B7A87}"/>
                </a:ext>
              </a:extLst>
            </p:cNvPr>
            <p:cNvSpPr/>
            <p:nvPr/>
          </p:nvSpPr>
          <p:spPr>
            <a:xfrm>
              <a:off x="7971464" y="6668618"/>
              <a:ext cx="1045698" cy="10457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45703"/>
                <a:gd name="f7" fmla="val 1045756"/>
                <a:gd name="f8" fmla="+- 0 0 15214134"/>
                <a:gd name="f9" fmla="val 62350"/>
                <a:gd name="f10" fmla="val 522878"/>
                <a:gd name="f11" fmla="val 460501"/>
                <a:gd name="f12" fmla="val 460528"/>
                <a:gd name="f13" fmla="val 15291814"/>
                <a:gd name="f14" fmla="val 639585"/>
                <a:gd name="f15" fmla="val 1028861"/>
                <a:gd name="f16" fmla="val 497357"/>
                <a:gd name="f17" fmla="val 968094"/>
                <a:gd name="f18" fmla="val 648382"/>
                <a:gd name="f19" fmla="val 875248"/>
                <a:gd name="f20" fmla="val 644867"/>
                <a:gd name="f21" fmla="val 936623"/>
                <a:gd name="f22" fmla="val 431337"/>
                <a:gd name="f23" fmla="val 431363"/>
                <a:gd name="f24" fmla="val 4414134"/>
                <a:gd name="f25" fmla="+- 0 0 -180"/>
                <a:gd name="f26" fmla="+- 0 0 -183"/>
                <a:gd name="f27" fmla="+- 0 0 -273"/>
                <a:gd name="f28" fmla="+- 0 0 -363"/>
                <a:gd name="f29" fmla="*/ f3 1 1045703"/>
                <a:gd name="f30" fmla="*/ f4 1 1045756"/>
                <a:gd name="f31" fmla="val f5"/>
                <a:gd name="f32" fmla="val f6"/>
                <a:gd name="f33" fmla="val f7"/>
                <a:gd name="f34" fmla="*/ f25 f0 1"/>
                <a:gd name="f35" fmla="*/ f26 f0 1"/>
                <a:gd name="f36" fmla="*/ f27 f0 1"/>
                <a:gd name="f37" fmla="*/ f28 f0 1"/>
                <a:gd name="f38" fmla="+- f33 0 f31"/>
                <a:gd name="f39" fmla="+- f32 0 f31"/>
                <a:gd name="f40" fmla="*/ f34 1 f2"/>
                <a:gd name="f41" fmla="*/ f35 1 f2"/>
                <a:gd name="f42" fmla="*/ f36 1 f2"/>
                <a:gd name="f43" fmla="*/ f37 1 f2"/>
                <a:gd name="f44" fmla="*/ f39 1 1045703"/>
                <a:gd name="f45" fmla="*/ f38 1 1045756"/>
                <a:gd name="f46" fmla="+- f40 0 f1"/>
                <a:gd name="f47" fmla="+- f41 0 f1"/>
                <a:gd name="f48" fmla="+- f42 0 f1"/>
                <a:gd name="f49" fmla="+- f43 0 f1"/>
                <a:gd name="f50" fmla="*/ 76932 1 f44"/>
                <a:gd name="f51" fmla="*/ 522878 1 f45"/>
                <a:gd name="f52" fmla="*/ 639585 1 f44"/>
                <a:gd name="f53" fmla="*/ 1028861 1 f45"/>
                <a:gd name="f54" fmla="*/ 497357 1 f44"/>
                <a:gd name="f55" fmla="*/ 968094 1 f45"/>
                <a:gd name="f56" fmla="*/ 648382 1 f44"/>
                <a:gd name="f57" fmla="*/ 875248 1 f45"/>
                <a:gd name="f58" fmla="*/ 197228 1 f44"/>
                <a:gd name="f59" fmla="*/ 848475 1 f44"/>
                <a:gd name="f60" fmla="*/ 197236 1 f45"/>
                <a:gd name="f61" fmla="*/ 848520 1 f45"/>
                <a:gd name="f62" fmla="*/ f58 f29 1"/>
                <a:gd name="f63" fmla="*/ f59 f29 1"/>
                <a:gd name="f64" fmla="*/ f61 f30 1"/>
                <a:gd name="f65" fmla="*/ f60 f30 1"/>
                <a:gd name="f66" fmla="*/ f50 f29 1"/>
                <a:gd name="f67" fmla="*/ f51 f30 1"/>
                <a:gd name="f68" fmla="*/ f52 f29 1"/>
                <a:gd name="f69" fmla="*/ f53 f30 1"/>
                <a:gd name="f70" fmla="*/ f54 f29 1"/>
                <a:gd name="f71" fmla="*/ f55 f30 1"/>
                <a:gd name="f72" fmla="*/ f56 f29 1"/>
                <a:gd name="f73" fmla="*/ f57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6">
                  <a:pos x="f66" y="f67"/>
                </a:cxn>
                <a:cxn ang="f47">
                  <a:pos x="f68" y="f69"/>
                </a:cxn>
                <a:cxn ang="f48">
                  <a:pos x="f70" y="f71"/>
                </a:cxn>
                <a:cxn ang="f49">
                  <a:pos x="f72" y="f73"/>
                </a:cxn>
              </a:cxnLst>
              <a:rect l="f62" t="f65" r="f63" b="f64"/>
              <a:pathLst>
                <a:path w="1045703" h="1045756">
                  <a:moveTo>
                    <a:pt x="f9" y="f10"/>
                  </a:moveTo>
                  <a:arcTo wR="f11" hR="f12" stAng="f0" swAng="f13"/>
                  <a:lnTo>
                    <a:pt x="f14" y="f15"/>
                  </a:lnTo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arcTo wR="f22" hR="f23" stAng="f24" swAng="f8"/>
                  <a:close/>
                </a:path>
              </a:pathLst>
            </a:custGeom>
            <a:solidFill>
              <a:srgbClr val="C65A1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DE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877477B2-D36D-4000-2CE4-6FA72F6D96B4}"/>
                </a:ext>
              </a:extLst>
            </p:cNvPr>
            <p:cNvSpPr/>
            <p:nvPr/>
          </p:nvSpPr>
          <p:spPr>
            <a:xfrm>
              <a:off x="8202341" y="7045351"/>
              <a:ext cx="583560" cy="29566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83561"/>
                <a:gd name="f7" fmla="val 295666"/>
                <a:gd name="f8" fmla="+- 0 0 -90"/>
                <a:gd name="f9" fmla="*/ f3 1 583561"/>
                <a:gd name="f10" fmla="*/ f4 1 295666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583561"/>
                <a:gd name="f19" fmla="*/ f15 1 295666"/>
                <a:gd name="f20" fmla="*/ 0 f16 1"/>
                <a:gd name="f21" fmla="*/ 0 f15 1"/>
                <a:gd name="f22" fmla="*/ 583561 f16 1"/>
                <a:gd name="f23" fmla="*/ 295666 f15 1"/>
                <a:gd name="f24" fmla="+- f17 0 f1"/>
                <a:gd name="f25" fmla="*/ f20 1 583561"/>
                <a:gd name="f26" fmla="*/ f21 1 295666"/>
                <a:gd name="f27" fmla="*/ f22 1 583561"/>
                <a:gd name="f28" fmla="*/ f23 1 295666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583561" h="29566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7616" tIns="7616" rIns="7616" bIns="7616" anchor="ctr" anchorCtr="1" compatLnSpc="1">
              <a:noAutofit/>
            </a:bodyPr>
            <a:lstStyle/>
            <a:p>
              <a:pPr marL="0" marR="0" lvl="0" indent="0" algn="ctr" defTabSz="51117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50" b="0" i="0" u="none" strike="noStrike" kern="1200" cap="none" spc="0" baseline="0">
                  <a:solidFill>
                    <a:srgbClr val="1B2430"/>
                  </a:solidFill>
                  <a:uFillTx/>
                  <a:latin typeface="Segoe UI" pitchFamily="34"/>
                  <a:ea typeface="Calibri" pitchFamily="34"/>
                  <a:cs typeface="Segoe UI" pitchFamily="34"/>
                </a:rPr>
                <a:t>Entwurf </a:t>
              </a:r>
              <a:endParaRPr lang="en-GB" sz="11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30" name="Shape 22">
              <a:extLst>
                <a:ext uri="{FF2B5EF4-FFF2-40B4-BE49-F238E27FC236}">
                  <a16:creationId xmlns:a16="http://schemas.microsoft.com/office/drawing/2014/main" id="{12290F0A-64B6-C3DE-5ECF-6EFC04208769}"/>
                </a:ext>
              </a:extLst>
            </p:cNvPr>
            <p:cNvSpPr/>
            <p:nvPr/>
          </p:nvSpPr>
          <p:spPr>
            <a:xfrm>
              <a:off x="7680960" y="7269470"/>
              <a:ext cx="1045698" cy="10457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45703"/>
                <a:gd name="f7" fmla="val 1045756"/>
                <a:gd name="f8" fmla="+- 0 0 12907131"/>
                <a:gd name="f9" fmla="val 881912"/>
                <a:gd name="f10" fmla="val 237812"/>
                <a:gd name="f11" fmla="val 859071"/>
                <a:gd name="f12" fmla="val 255946"/>
                <a:gd name="f13" fmla="val 429287"/>
                <a:gd name="f14" fmla="val 429314"/>
                <a:gd name="f15" fmla="val 19293191"/>
                <a:gd name="f16" fmla="val 397761"/>
                <a:gd name="f17" fmla="val 871230"/>
                <a:gd name="f18" fmla="val 548229"/>
                <a:gd name="f19" fmla="val 966048"/>
                <a:gd name="f20" fmla="val 406791"/>
                <a:gd name="f21" fmla="val 1028935"/>
                <a:gd name="f22" fmla="val 403156"/>
                <a:gd name="f23" fmla="val 965454"/>
                <a:gd name="f24" fmla="val 458452"/>
                <a:gd name="f25" fmla="val 458478"/>
                <a:gd name="f26" fmla="val 6308020"/>
                <a:gd name="f27" fmla="val 12985171"/>
                <a:gd name="f28" fmla="+- 0 0 -501"/>
                <a:gd name="f29" fmla="+- 0 0 -176"/>
                <a:gd name="f30" fmla="+- 0 0 -86"/>
                <a:gd name="f31" fmla="+- 0 0 -356"/>
                <a:gd name="f32" fmla="*/ f3 1 1045703"/>
                <a:gd name="f33" fmla="*/ f4 1 1045756"/>
                <a:gd name="f34" fmla="val f5"/>
                <a:gd name="f35" fmla="val f6"/>
                <a:gd name="f36" fmla="val f7"/>
                <a:gd name="f37" fmla="*/ f28 f0 1"/>
                <a:gd name="f38" fmla="*/ f29 f0 1"/>
                <a:gd name="f39" fmla="*/ f30 f0 1"/>
                <a:gd name="f40" fmla="*/ f31 f0 1"/>
                <a:gd name="f41" fmla="+- f36 0 f34"/>
                <a:gd name="f42" fmla="+- f35 0 f34"/>
                <a:gd name="f43" fmla="*/ f37 1 f2"/>
                <a:gd name="f44" fmla="*/ f38 1 f2"/>
                <a:gd name="f45" fmla="*/ f39 1 f2"/>
                <a:gd name="f46" fmla="*/ f40 1 f2"/>
                <a:gd name="f47" fmla="*/ f42 1 1045703"/>
                <a:gd name="f48" fmla="*/ f41 1 1045756"/>
                <a:gd name="f49" fmla="+- f43 0 f1"/>
                <a:gd name="f50" fmla="+- f44 0 f1"/>
                <a:gd name="f51" fmla="+- f45 0 f1"/>
                <a:gd name="f52" fmla="+- f46 0 f1"/>
                <a:gd name="f53" fmla="*/ 870492 1 f47"/>
                <a:gd name="f54" fmla="*/ 246879 1 f48"/>
                <a:gd name="f55" fmla="*/ 406791 1 f47"/>
                <a:gd name="f56" fmla="*/ 1028935 1 f48"/>
                <a:gd name="f57" fmla="*/ 548229 1 f47"/>
                <a:gd name="f58" fmla="*/ 966048 1 f48"/>
                <a:gd name="f59" fmla="*/ 397761 1 f47"/>
                <a:gd name="f60" fmla="*/ 871230 1 f48"/>
                <a:gd name="f61" fmla="*/ 198677 1 f47"/>
                <a:gd name="f62" fmla="*/ 847026 1 f47"/>
                <a:gd name="f63" fmla="*/ 198685 1 f48"/>
                <a:gd name="f64" fmla="*/ 847071 1 f48"/>
                <a:gd name="f65" fmla="*/ f61 f32 1"/>
                <a:gd name="f66" fmla="*/ f62 f32 1"/>
                <a:gd name="f67" fmla="*/ f64 f33 1"/>
                <a:gd name="f68" fmla="*/ f63 f33 1"/>
                <a:gd name="f69" fmla="*/ f53 f32 1"/>
                <a:gd name="f70" fmla="*/ f54 f33 1"/>
                <a:gd name="f71" fmla="*/ f55 f32 1"/>
                <a:gd name="f72" fmla="*/ f56 f33 1"/>
                <a:gd name="f73" fmla="*/ f57 f32 1"/>
                <a:gd name="f74" fmla="*/ f58 f33 1"/>
                <a:gd name="f75" fmla="*/ f59 f32 1"/>
                <a:gd name="f76" fmla="*/ f60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9">
                  <a:pos x="f69" y="f70"/>
                </a:cxn>
                <a:cxn ang="f50">
                  <a:pos x="f71" y="f72"/>
                </a:cxn>
                <a:cxn ang="f51">
                  <a:pos x="f73" y="f74"/>
                </a:cxn>
                <a:cxn ang="f52">
                  <a:pos x="f75" y="f76"/>
                </a:cxn>
              </a:cxnLst>
              <a:rect l="f65" t="f68" r="f66" b="f67"/>
              <a:pathLst>
                <a:path w="1045703" h="1045756">
                  <a:moveTo>
                    <a:pt x="f9" y="f10"/>
                  </a:moveTo>
                  <a:lnTo>
                    <a:pt x="f11" y="f12"/>
                  </a:lnTo>
                  <a:arcTo wR="f13" hR="f14" stAng="f15" swAng="f8"/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arcTo wR="f24" hR="f25" stAng="f26" swAng="f27"/>
                  <a:close/>
                </a:path>
              </a:pathLst>
            </a:custGeom>
            <a:solidFill>
              <a:srgbClr val="C65A1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DE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882F547-77C0-EEBF-63F5-F271375DBC8C}"/>
                </a:ext>
              </a:extLst>
            </p:cNvPr>
            <p:cNvSpPr/>
            <p:nvPr/>
          </p:nvSpPr>
          <p:spPr>
            <a:xfrm>
              <a:off x="7910657" y="7649559"/>
              <a:ext cx="583560" cy="29164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83561"/>
                <a:gd name="f7" fmla="val 291650"/>
                <a:gd name="f8" fmla="+- 0 0 -90"/>
                <a:gd name="f9" fmla="*/ f3 1 583561"/>
                <a:gd name="f10" fmla="*/ f4 1 29165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583561"/>
                <a:gd name="f19" fmla="*/ f15 1 291650"/>
                <a:gd name="f20" fmla="*/ 0 f16 1"/>
                <a:gd name="f21" fmla="*/ 0 f15 1"/>
                <a:gd name="f22" fmla="*/ 583561 f16 1"/>
                <a:gd name="f23" fmla="*/ 291650 f15 1"/>
                <a:gd name="f24" fmla="+- f17 0 f1"/>
                <a:gd name="f25" fmla="*/ f20 1 583561"/>
                <a:gd name="f26" fmla="*/ f21 1 291650"/>
                <a:gd name="f27" fmla="*/ f22 1 583561"/>
                <a:gd name="f28" fmla="*/ f23 1 29165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583561" h="29165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3172" tIns="3172" rIns="3172" bIns="3172" anchor="ctr" anchorCtr="1" compatLnSpc="1">
              <a:noAutofit/>
            </a:bodyPr>
            <a:lstStyle/>
            <a:p>
              <a:pPr marL="0" marR="0" lvl="0" indent="0" algn="ctr" defTabSz="2222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50" b="0" i="0" u="none" strike="noStrike" kern="1200" cap="none" spc="0" baseline="0">
                  <a:solidFill>
                    <a:srgbClr val="1B2430"/>
                  </a:solidFill>
                  <a:uFillTx/>
                  <a:latin typeface="Segoe UI" pitchFamily="34"/>
                  <a:ea typeface="Calibri" pitchFamily="34"/>
                  <a:cs typeface="Segoe UI" pitchFamily="34"/>
                </a:rPr>
                <a:t>Review</a:t>
              </a:r>
            </a:p>
          </p:txBody>
        </p:sp>
        <p:sp>
          <p:nvSpPr>
            <p:cNvPr id="32" name="Circular Arrow 32">
              <a:extLst>
                <a:ext uri="{FF2B5EF4-FFF2-40B4-BE49-F238E27FC236}">
                  <a16:creationId xmlns:a16="http://schemas.microsoft.com/office/drawing/2014/main" id="{A16810BB-CD92-EEA7-AAD7-F14B12EBD43D}"/>
                </a:ext>
              </a:extLst>
            </p:cNvPr>
            <p:cNvSpPr/>
            <p:nvPr/>
          </p:nvSpPr>
          <p:spPr>
            <a:xfrm>
              <a:off x="7971464" y="7873029"/>
              <a:ext cx="1045698" cy="10457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45703"/>
                <a:gd name="f7" fmla="val 1045756"/>
                <a:gd name="f8" fmla="+- 0 0 12445019"/>
                <a:gd name="f9" fmla="val 207644"/>
                <a:gd name="f10" fmla="val 207671"/>
                <a:gd name="f11" fmla="val 445757"/>
                <a:gd name="f12" fmla="val 445784"/>
                <a:gd name="f13" fmla="val 13500000"/>
                <a:gd name="f14" fmla="val 12515316"/>
                <a:gd name="f15" fmla="val 646054"/>
                <a:gd name="f16" fmla="val 1026824"/>
                <a:gd name="f17" fmla="val 507289"/>
                <a:gd name="f18" fmla="val 955567"/>
                <a:gd name="f19" fmla="val 652517"/>
                <a:gd name="f20" fmla="val 847121"/>
                <a:gd name="f21" fmla="val 649774"/>
                <a:gd name="f22" fmla="val 923400"/>
                <a:gd name="f23" fmla="val 420127"/>
                <a:gd name="f24" fmla="val 420153"/>
                <a:gd name="f25" fmla="val 4345019"/>
                <a:gd name="f26" fmla="+- 0 0 -225"/>
                <a:gd name="f27" fmla="+- 0 0 -182"/>
                <a:gd name="f28" fmla="+- 0 0 -272"/>
                <a:gd name="f29" fmla="+- 0 0 -362"/>
                <a:gd name="f30" fmla="*/ f3 1 1045703"/>
                <a:gd name="f31" fmla="*/ f4 1 1045756"/>
                <a:gd name="f32" fmla="val f5"/>
                <a:gd name="f33" fmla="val f6"/>
                <a:gd name="f34" fmla="val f7"/>
                <a:gd name="f35" fmla="*/ f26 f0 1"/>
                <a:gd name="f36" fmla="*/ f27 f0 1"/>
                <a:gd name="f37" fmla="*/ f28 f0 1"/>
                <a:gd name="f38" fmla="*/ f29 f0 1"/>
                <a:gd name="f39" fmla="+- f34 0 f32"/>
                <a:gd name="f40" fmla="+- f33 0 f32"/>
                <a:gd name="f41" fmla="*/ f35 1 f2"/>
                <a:gd name="f42" fmla="*/ f36 1 f2"/>
                <a:gd name="f43" fmla="*/ f37 1 f2"/>
                <a:gd name="f44" fmla="*/ f38 1 f2"/>
                <a:gd name="f45" fmla="*/ f40 1 1045703"/>
                <a:gd name="f46" fmla="*/ f39 1 1045756"/>
                <a:gd name="f47" fmla="+- f41 0 f1"/>
                <a:gd name="f48" fmla="+- f42 0 f1"/>
                <a:gd name="f49" fmla="+- f43 0 f1"/>
                <a:gd name="f50" fmla="+- f44 0 f1"/>
                <a:gd name="f51" fmla="*/ 216706 1 f45"/>
                <a:gd name="f52" fmla="*/ 216732 1 f46"/>
                <a:gd name="f53" fmla="*/ 646054 1 f45"/>
                <a:gd name="f54" fmla="*/ 1026824 1 f46"/>
                <a:gd name="f55" fmla="*/ 507289 1 f45"/>
                <a:gd name="f56" fmla="*/ 955567 1 f46"/>
                <a:gd name="f57" fmla="*/ 652517 1 f45"/>
                <a:gd name="f58" fmla="*/ 847121 1 f46"/>
                <a:gd name="f59" fmla="*/ 207654 1 f45"/>
                <a:gd name="f60" fmla="*/ 838049 1 f45"/>
                <a:gd name="f61" fmla="*/ 207661 1 f46"/>
                <a:gd name="f62" fmla="*/ 838095 1 f46"/>
                <a:gd name="f63" fmla="*/ f59 f30 1"/>
                <a:gd name="f64" fmla="*/ f60 f30 1"/>
                <a:gd name="f65" fmla="*/ f62 f31 1"/>
                <a:gd name="f66" fmla="*/ f61 f31 1"/>
                <a:gd name="f67" fmla="*/ f51 f30 1"/>
                <a:gd name="f68" fmla="*/ f52 f31 1"/>
                <a:gd name="f69" fmla="*/ f53 f30 1"/>
                <a:gd name="f70" fmla="*/ f54 f31 1"/>
                <a:gd name="f71" fmla="*/ f55 f30 1"/>
                <a:gd name="f72" fmla="*/ f56 f31 1"/>
                <a:gd name="f73" fmla="*/ f57 f30 1"/>
                <a:gd name="f74" fmla="*/ f58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7">
                  <a:pos x="f67" y="f68"/>
                </a:cxn>
                <a:cxn ang="f48">
                  <a:pos x="f69" y="f70"/>
                </a:cxn>
                <a:cxn ang="f49">
                  <a:pos x="f71" y="f72"/>
                </a:cxn>
                <a:cxn ang="f50">
                  <a:pos x="f73" y="f74"/>
                </a:cxn>
              </a:cxnLst>
              <a:rect l="f63" t="f66" r="f64" b="f65"/>
              <a:pathLst>
                <a:path w="1045703" h="1045756">
                  <a:moveTo>
                    <a:pt x="f9" y="f10"/>
                  </a:moveTo>
                  <a:arcTo wR="f11" hR="f12" stAng="f13" swAng="f14"/>
                  <a:lnTo>
                    <a:pt x="f15" y="f16"/>
                  </a:lnTo>
                  <a:lnTo>
                    <a:pt x="f17" y="f18"/>
                  </a:lnTo>
                  <a:lnTo>
                    <a:pt x="f19" y="f20"/>
                  </a:lnTo>
                  <a:lnTo>
                    <a:pt x="f21" y="f22"/>
                  </a:lnTo>
                  <a:arcTo wR="f23" hR="f24" stAng="f25" swAng="f8"/>
                  <a:close/>
                </a:path>
              </a:pathLst>
            </a:custGeom>
            <a:solidFill>
              <a:srgbClr val="C65A1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DE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3F107652-F63B-7367-1315-2ECD5093CCDC}"/>
                </a:ext>
              </a:extLst>
            </p:cNvPr>
            <p:cNvSpPr/>
            <p:nvPr/>
          </p:nvSpPr>
          <p:spPr>
            <a:xfrm>
              <a:off x="8202341" y="8251426"/>
              <a:ext cx="583560" cy="29164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83561"/>
                <a:gd name="f7" fmla="val 291650"/>
                <a:gd name="f8" fmla="+- 0 0 -90"/>
                <a:gd name="f9" fmla="*/ f3 1 583561"/>
                <a:gd name="f10" fmla="*/ f4 1 29165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583561"/>
                <a:gd name="f19" fmla="*/ f15 1 291650"/>
                <a:gd name="f20" fmla="*/ 0 f16 1"/>
                <a:gd name="f21" fmla="*/ 0 f15 1"/>
                <a:gd name="f22" fmla="*/ 583561 f16 1"/>
                <a:gd name="f23" fmla="*/ 291650 f15 1"/>
                <a:gd name="f24" fmla="+- f17 0 f1"/>
                <a:gd name="f25" fmla="*/ f20 1 583561"/>
                <a:gd name="f26" fmla="*/ f21 1 291650"/>
                <a:gd name="f27" fmla="*/ f22 1 583561"/>
                <a:gd name="f28" fmla="*/ f23 1 29165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583561" h="29165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3172" tIns="3172" rIns="3172" bIns="3172" anchor="ctr" anchorCtr="1" compatLnSpc="1">
              <a:noAutofit/>
            </a:bodyPr>
            <a:lstStyle/>
            <a:p>
              <a:pPr marL="0" marR="0" lvl="0" indent="0" algn="ctr" defTabSz="2222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50" b="0" i="0" u="none" strike="noStrike" kern="1200" cap="none" spc="0" baseline="0">
                  <a:solidFill>
                    <a:srgbClr val="1B2430"/>
                  </a:solidFill>
                  <a:uFillTx/>
                  <a:latin typeface="Segoe UI" pitchFamily="34"/>
                  <a:ea typeface="Calibri" pitchFamily="34"/>
                  <a:cs typeface="Segoe UI" pitchFamily="34"/>
                </a:rPr>
                <a:t>Abstimmung</a:t>
              </a:r>
              <a:r>
                <a:rPr lang="en-US" sz="500" b="0" i="0" u="none" strike="noStrike" kern="1200" cap="none" spc="0" baseline="0">
                  <a:solidFill>
                    <a:srgbClr val="1B2430"/>
                  </a:solidFill>
                  <a:uFillTx/>
                  <a:latin typeface="Segoe UI" pitchFamily="34"/>
                  <a:ea typeface="Calibri" pitchFamily="34"/>
                  <a:cs typeface="Segoe UI" pitchFamily="34"/>
                </a:rPr>
                <a:t> </a:t>
              </a:r>
            </a:p>
          </p:txBody>
        </p:sp>
        <p:sp>
          <p:nvSpPr>
            <p:cNvPr id="34" name="Shape 34">
              <a:extLst>
                <a:ext uri="{FF2B5EF4-FFF2-40B4-BE49-F238E27FC236}">
                  <a16:creationId xmlns:a16="http://schemas.microsoft.com/office/drawing/2014/main" id="{A409CE2D-DC95-78FE-DDE1-F3F056927E67}"/>
                </a:ext>
              </a:extLst>
            </p:cNvPr>
            <p:cNvSpPr/>
            <p:nvPr/>
          </p:nvSpPr>
          <p:spPr>
            <a:xfrm>
              <a:off x="7680960" y="8474896"/>
              <a:ext cx="1045698" cy="10457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045703"/>
                <a:gd name="f7" fmla="val 1045756"/>
                <a:gd name="f8" fmla="+- 0 0 12484104"/>
                <a:gd name="f9" fmla="val 821363"/>
                <a:gd name="f10" fmla="val 224367"/>
                <a:gd name="f11" fmla="val 804881"/>
                <a:gd name="f12" fmla="val 240849"/>
                <a:gd name="f13" fmla="val 398836"/>
                <a:gd name="f14" fmla="val 398863"/>
                <a:gd name="f15" fmla="val 18900000"/>
                <a:gd name="f16" fmla="val 402005"/>
                <a:gd name="f17" fmla="val 804549"/>
                <a:gd name="f18" fmla="val 542088"/>
                <a:gd name="f19" fmla="val 932944"/>
                <a:gd name="f20" fmla="val 412535"/>
                <a:gd name="f21" fmla="val 1029023"/>
                <a:gd name="f22" fmla="val 407847"/>
                <a:gd name="f23" fmla="val 929081"/>
                <a:gd name="f24" fmla="val 422145"/>
                <a:gd name="f25" fmla="val 422172"/>
                <a:gd name="f26" fmla="val 6348476"/>
                <a:gd name="f27" fmla="val 12551524"/>
                <a:gd name="f28" fmla="+- 0 0 -495"/>
                <a:gd name="f29" fmla="+- 0 0 -177"/>
                <a:gd name="f30" fmla="+- 0 0 -87"/>
                <a:gd name="f31" fmla="+- 0 0 -357"/>
                <a:gd name="f32" fmla="*/ f3 1 1045703"/>
                <a:gd name="f33" fmla="*/ f4 1 1045756"/>
                <a:gd name="f34" fmla="val f5"/>
                <a:gd name="f35" fmla="val f6"/>
                <a:gd name="f36" fmla="val f7"/>
                <a:gd name="f37" fmla="*/ f28 f0 1"/>
                <a:gd name="f38" fmla="*/ f29 f0 1"/>
                <a:gd name="f39" fmla="*/ f30 f0 1"/>
                <a:gd name="f40" fmla="*/ f31 f0 1"/>
                <a:gd name="f41" fmla="+- f36 0 f34"/>
                <a:gd name="f42" fmla="+- f35 0 f34"/>
                <a:gd name="f43" fmla="*/ f37 1 f2"/>
                <a:gd name="f44" fmla="*/ f38 1 f2"/>
                <a:gd name="f45" fmla="*/ f39 1 f2"/>
                <a:gd name="f46" fmla="*/ f40 1 f2"/>
                <a:gd name="f47" fmla="*/ f42 1 1045703"/>
                <a:gd name="f48" fmla="*/ f41 1 1045756"/>
                <a:gd name="f49" fmla="+- f43 0 f1"/>
                <a:gd name="f50" fmla="+- f44 0 f1"/>
                <a:gd name="f51" fmla="+- f45 0 f1"/>
                <a:gd name="f52" fmla="+- f46 0 f1"/>
                <a:gd name="f53" fmla="*/ 813122 1 f47"/>
                <a:gd name="f54" fmla="*/ 232608 1 f48"/>
                <a:gd name="f55" fmla="*/ 412535 1 f47"/>
                <a:gd name="f56" fmla="*/ 1029023 1 f48"/>
                <a:gd name="f57" fmla="*/ 542088 1 f47"/>
                <a:gd name="f58" fmla="*/ 932944 1 f48"/>
                <a:gd name="f59" fmla="*/ 402005 1 f47"/>
                <a:gd name="f60" fmla="*/ 804549 1 f48"/>
                <a:gd name="f61" fmla="*/ 224350 1 f47"/>
                <a:gd name="f62" fmla="*/ 821353 1 f47"/>
                <a:gd name="f63" fmla="*/ 224358 1 f48"/>
                <a:gd name="f64" fmla="*/ 821398 1 f48"/>
                <a:gd name="f65" fmla="*/ f61 f32 1"/>
                <a:gd name="f66" fmla="*/ f62 f32 1"/>
                <a:gd name="f67" fmla="*/ f64 f33 1"/>
                <a:gd name="f68" fmla="*/ f63 f33 1"/>
                <a:gd name="f69" fmla="*/ f53 f32 1"/>
                <a:gd name="f70" fmla="*/ f54 f33 1"/>
                <a:gd name="f71" fmla="*/ f55 f32 1"/>
                <a:gd name="f72" fmla="*/ f56 f33 1"/>
                <a:gd name="f73" fmla="*/ f57 f32 1"/>
                <a:gd name="f74" fmla="*/ f58 f33 1"/>
                <a:gd name="f75" fmla="*/ f59 f32 1"/>
                <a:gd name="f76" fmla="*/ f60 f3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9">
                  <a:pos x="f69" y="f70"/>
                </a:cxn>
                <a:cxn ang="f50">
                  <a:pos x="f71" y="f72"/>
                </a:cxn>
                <a:cxn ang="f51">
                  <a:pos x="f73" y="f74"/>
                </a:cxn>
                <a:cxn ang="f52">
                  <a:pos x="f75" y="f76"/>
                </a:cxn>
              </a:cxnLst>
              <a:rect l="f65" t="f68" r="f66" b="f67"/>
              <a:pathLst>
                <a:path w="1045703" h="1045756">
                  <a:moveTo>
                    <a:pt x="f9" y="f10"/>
                  </a:moveTo>
                  <a:lnTo>
                    <a:pt x="f11" y="f12"/>
                  </a:lnTo>
                  <a:arcTo wR="f13" hR="f14" stAng="f15" swAng="f8"/>
                  <a:lnTo>
                    <a:pt x="f16" y="f17"/>
                  </a:lnTo>
                  <a:lnTo>
                    <a:pt x="f18" y="f19"/>
                  </a:lnTo>
                  <a:lnTo>
                    <a:pt x="f20" y="f21"/>
                  </a:lnTo>
                  <a:lnTo>
                    <a:pt x="f22" y="f23"/>
                  </a:lnTo>
                  <a:arcTo wR="f24" hR="f25" stAng="f26" swAng="f27"/>
                  <a:close/>
                </a:path>
              </a:pathLst>
            </a:custGeom>
            <a:solidFill>
              <a:srgbClr val="C65A11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DE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122B224C-7CFE-B35E-E1B9-77ACDF50D424}"/>
                </a:ext>
              </a:extLst>
            </p:cNvPr>
            <p:cNvSpPr/>
            <p:nvPr/>
          </p:nvSpPr>
          <p:spPr>
            <a:xfrm>
              <a:off x="7910657" y="8853632"/>
              <a:ext cx="583560" cy="29164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83561"/>
                <a:gd name="f7" fmla="val 291650"/>
                <a:gd name="f8" fmla="+- 0 0 -90"/>
                <a:gd name="f9" fmla="*/ f3 1 583561"/>
                <a:gd name="f10" fmla="*/ f4 1 29165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583561"/>
                <a:gd name="f19" fmla="*/ f15 1 291650"/>
                <a:gd name="f20" fmla="*/ 0 f16 1"/>
                <a:gd name="f21" fmla="*/ 0 f15 1"/>
                <a:gd name="f22" fmla="*/ 583561 f16 1"/>
                <a:gd name="f23" fmla="*/ 291650 f15 1"/>
                <a:gd name="f24" fmla="+- f17 0 f1"/>
                <a:gd name="f25" fmla="*/ f20 1 583561"/>
                <a:gd name="f26" fmla="*/ f21 1 291650"/>
                <a:gd name="f27" fmla="*/ f22 1 583561"/>
                <a:gd name="f28" fmla="*/ f23 1 29165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583561" h="29165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3172" tIns="3172" rIns="3172" bIns="3172" anchor="ctr" anchorCtr="1" compatLnSpc="1">
              <a:noAutofit/>
            </a:bodyPr>
            <a:lstStyle/>
            <a:p>
              <a:pPr marL="0" marR="0" lvl="0" indent="0" algn="ctr" defTabSz="2222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50" b="0" i="0" u="none" strike="noStrike" kern="1200" cap="none" spc="0" baseline="0">
                  <a:solidFill>
                    <a:srgbClr val="1B2430"/>
                  </a:solidFill>
                  <a:uFillTx/>
                  <a:latin typeface="Segoe UI" pitchFamily="34"/>
                  <a:ea typeface="Calibri" pitchFamily="34"/>
                  <a:cs typeface="Segoe UI" pitchFamily="34"/>
                </a:rPr>
                <a:t>Pull Request mit Review</a:t>
              </a:r>
              <a:endParaRPr lang="en-US" sz="1150" b="0" i="0" u="none" strike="noStrike" kern="1200" cap="none" spc="0" baseline="0">
                <a:solidFill>
                  <a:srgbClr val="000000"/>
                </a:solidFill>
                <a:uFillTx/>
                <a:latin typeface="Segoe UI" pitchFamily="34"/>
                <a:cs typeface="Segoe UI" pitchFamily="34"/>
              </a:endParaRPr>
            </a:p>
          </p:txBody>
        </p:sp>
        <p:sp>
          <p:nvSpPr>
            <p:cNvPr id="36" name="Block Arc 36">
              <a:extLst>
                <a:ext uri="{FF2B5EF4-FFF2-40B4-BE49-F238E27FC236}">
                  <a16:creationId xmlns:a16="http://schemas.microsoft.com/office/drawing/2014/main" id="{0F6F244C-4576-C84F-1EB6-CA394A728D8D}"/>
                </a:ext>
              </a:extLst>
            </p:cNvPr>
            <p:cNvSpPr/>
            <p:nvPr/>
          </p:nvSpPr>
          <p:spPr>
            <a:xfrm>
              <a:off x="8045805" y="9145289"/>
              <a:ext cx="898388" cy="898919"/>
            </a:xfrm>
            <a:custGeom>
              <a:avLst>
                <a:gd name="f13" fmla="val 132"/>
                <a:gd name="f14" fmla="val 90"/>
                <a:gd name="f15" fmla="val 12740"/>
              </a:avLst>
              <a:gdLst>
                <a:gd name="f3" fmla="val 10800000"/>
                <a:gd name="f4" fmla="val 5400000"/>
                <a:gd name="f5" fmla="val 16200000"/>
                <a:gd name="f6" fmla="val 180"/>
                <a:gd name="f7" fmla="val w"/>
                <a:gd name="f8" fmla="val h"/>
                <a:gd name="f9" fmla="val ss"/>
                <a:gd name="f10" fmla="val 0"/>
                <a:gd name="f11" fmla="*/ 5419351 1 1725033"/>
                <a:gd name="f12" fmla="+- 0 0 1"/>
                <a:gd name="f13" fmla="val 132"/>
                <a:gd name="f14" fmla="val 90"/>
                <a:gd name="f15" fmla="val 12740"/>
                <a:gd name="f16" fmla="+- 0 0 -222"/>
                <a:gd name="f17" fmla="+- 0 0 -360"/>
                <a:gd name="f18" fmla="+- 0 0 -291"/>
                <a:gd name="f19" fmla="abs f7"/>
                <a:gd name="f20" fmla="abs f8"/>
                <a:gd name="f21" fmla="abs f9"/>
                <a:gd name="f22" fmla="val f10"/>
                <a:gd name="f23" fmla="val f15"/>
                <a:gd name="f24" fmla="+- 0 0 f13"/>
                <a:gd name="f25" fmla="+- 0 0 f14"/>
                <a:gd name="f26" fmla="*/ f16 f3 1"/>
                <a:gd name="f27" fmla="*/ f17 f3 1"/>
                <a:gd name="f28" fmla="*/ f18 f3 1"/>
                <a:gd name="f29" fmla="?: f19 f7 1"/>
                <a:gd name="f30" fmla="?: f20 f8 1"/>
                <a:gd name="f31" fmla="?: f21 f9 1"/>
                <a:gd name="f32" fmla="*/ f24 f3 1"/>
                <a:gd name="f33" fmla="*/ f25 f3 1"/>
                <a:gd name="f34" fmla="*/ f26 1 f6"/>
                <a:gd name="f35" fmla="*/ f27 1 f6"/>
                <a:gd name="f36" fmla="*/ f28 1 f6"/>
                <a:gd name="f37" fmla="*/ f29 1 21600"/>
                <a:gd name="f38" fmla="*/ f30 1 21600"/>
                <a:gd name="f39" fmla="*/ 21600 f29 1"/>
                <a:gd name="f40" fmla="*/ 21600 f30 1"/>
                <a:gd name="f41" fmla="*/ f32 1 f6"/>
                <a:gd name="f42" fmla="*/ f33 1 f6"/>
                <a:gd name="f43" fmla="+- f34 0 f4"/>
                <a:gd name="f44" fmla="+- f35 0 f4"/>
                <a:gd name="f45" fmla="+- f36 0 f4"/>
                <a:gd name="f46" fmla="min f38 f37"/>
                <a:gd name="f47" fmla="*/ f39 1 f31"/>
                <a:gd name="f48" fmla="*/ f40 1 f31"/>
                <a:gd name="f49" fmla="+- f41 0 f4"/>
                <a:gd name="f50" fmla="+- f42 0 f4"/>
                <a:gd name="f51" fmla="val f47"/>
                <a:gd name="f52" fmla="val f48"/>
                <a:gd name="f53" fmla="+- 0 0 f49"/>
                <a:gd name="f54" fmla="+- 0 0 f50"/>
                <a:gd name="f55" fmla="+- f52 0 f22"/>
                <a:gd name="f56" fmla="+- f51 0 f22"/>
                <a:gd name="f57" fmla="val f53"/>
                <a:gd name="f58" fmla="val f54"/>
                <a:gd name="f59" fmla="*/ f55 1 2"/>
                <a:gd name="f60" fmla="*/ f56 1 2"/>
                <a:gd name="f61" fmla="min f56 f55"/>
                <a:gd name="f62" fmla="+- f58 0 f57"/>
                <a:gd name="f63" fmla="+- f57 f4 0"/>
                <a:gd name="f64" fmla="+- f58 f4 0"/>
                <a:gd name="f65" fmla="+- 21600000 0 f57"/>
                <a:gd name="f66" fmla="+- f4 0 f57"/>
                <a:gd name="f67" fmla="+- 27000000 0 f57"/>
                <a:gd name="f68" fmla="+- f3 0 f57"/>
                <a:gd name="f69" fmla="+- 32400000 0 f57"/>
                <a:gd name="f70" fmla="+- f5 0 f57"/>
                <a:gd name="f71" fmla="+- 37800000 0 f57"/>
                <a:gd name="f72" fmla="+- f22 f59 0"/>
                <a:gd name="f73" fmla="+- f22 f60 0"/>
                <a:gd name="f74" fmla="+- f62 21600000 0"/>
                <a:gd name="f75" fmla="*/ f63 f11 1"/>
                <a:gd name="f76" fmla="*/ f64 f11 1"/>
                <a:gd name="f77" fmla="*/ f61 f23 1"/>
                <a:gd name="f78" fmla="?: f66 f66 f67"/>
                <a:gd name="f79" fmla="?: f68 f68 f69"/>
                <a:gd name="f80" fmla="?: f70 f70 f71"/>
                <a:gd name="f81" fmla="*/ f60 f46 1"/>
                <a:gd name="f82" fmla="*/ f59 f46 1"/>
                <a:gd name="f83" fmla="?: f62 f62 f74"/>
                <a:gd name="f84" fmla="*/ f75 1 f3"/>
                <a:gd name="f85" fmla="*/ f76 1 f3"/>
                <a:gd name="f86" fmla="*/ f77 1 100000"/>
                <a:gd name="f87" fmla="*/ f73 f46 1"/>
                <a:gd name="f88" fmla="*/ f72 f46 1"/>
                <a:gd name="f89" fmla="+- 0 0 f83"/>
                <a:gd name="f90" fmla="+- 0 0 f84"/>
                <a:gd name="f91" fmla="+- 0 0 f85"/>
                <a:gd name="f92" fmla="+- f60 0 f86"/>
                <a:gd name="f93" fmla="+- f59 0 f86"/>
                <a:gd name="f94" fmla="+- f83 0 f65"/>
                <a:gd name="f95" fmla="+- f83 0 f78"/>
                <a:gd name="f96" fmla="+- f83 0 f79"/>
                <a:gd name="f97" fmla="+- f83 0 f80"/>
                <a:gd name="f98" fmla="+- 0 0 f90"/>
                <a:gd name="f99" fmla="+- 0 0 f91"/>
                <a:gd name="f100" fmla="*/ f92 f46 1"/>
                <a:gd name="f101" fmla="*/ f93 f46 1"/>
                <a:gd name="f102" fmla="*/ f98 f3 1"/>
                <a:gd name="f103" fmla="*/ f99 f3 1"/>
                <a:gd name="f104" fmla="*/ f102 1 f11"/>
                <a:gd name="f105" fmla="*/ f103 1 f11"/>
                <a:gd name="f106" fmla="+- f104 0 f4"/>
                <a:gd name="f107" fmla="+- f105 0 f4"/>
                <a:gd name="f108" fmla="sin 1 f106"/>
                <a:gd name="f109" fmla="cos 1 f106"/>
                <a:gd name="f110" fmla="sin 1 f107"/>
                <a:gd name="f111" fmla="cos 1 f107"/>
                <a:gd name="f112" fmla="+- 0 0 f108"/>
                <a:gd name="f113" fmla="+- 0 0 f109"/>
                <a:gd name="f114" fmla="+- 0 0 f110"/>
                <a:gd name="f115" fmla="+- 0 0 f111"/>
                <a:gd name="f116" fmla="+- 0 0 f112"/>
                <a:gd name="f117" fmla="+- 0 0 f113"/>
                <a:gd name="f118" fmla="+- 0 0 f114"/>
                <a:gd name="f119" fmla="+- 0 0 f115"/>
                <a:gd name="f120" fmla="*/ f116 f60 1"/>
                <a:gd name="f121" fmla="*/ f117 f59 1"/>
                <a:gd name="f122" fmla="*/ f118 f60 1"/>
                <a:gd name="f123" fmla="*/ f119 f59 1"/>
                <a:gd name="f124" fmla="*/ f118 f92 1"/>
                <a:gd name="f125" fmla="*/ f119 f93 1"/>
                <a:gd name="f126" fmla="*/ f116 f92 1"/>
                <a:gd name="f127" fmla="*/ f117 f93 1"/>
                <a:gd name="f128" fmla="+- 0 0 f121"/>
                <a:gd name="f129" fmla="+- 0 0 f120"/>
                <a:gd name="f130" fmla="+- 0 0 f123"/>
                <a:gd name="f131" fmla="+- 0 0 f122"/>
                <a:gd name="f132" fmla="+- 0 0 f125"/>
                <a:gd name="f133" fmla="+- 0 0 f124"/>
                <a:gd name="f134" fmla="+- 0 0 f127"/>
                <a:gd name="f135" fmla="+- 0 0 f126"/>
                <a:gd name="f136" fmla="+- 0 0 f128"/>
                <a:gd name="f137" fmla="+- 0 0 f129"/>
                <a:gd name="f138" fmla="+- 0 0 f130"/>
                <a:gd name="f139" fmla="+- 0 0 f131"/>
                <a:gd name="f140" fmla="+- 0 0 f132"/>
                <a:gd name="f141" fmla="+- 0 0 f133"/>
                <a:gd name="f142" fmla="+- 0 0 f134"/>
                <a:gd name="f143" fmla="+- 0 0 f135"/>
                <a:gd name="f144" fmla="at2 f136 f137"/>
                <a:gd name="f145" fmla="at2 f138 f139"/>
                <a:gd name="f146" fmla="at2 f140 f141"/>
                <a:gd name="f147" fmla="at2 f142 f143"/>
                <a:gd name="f148" fmla="+- f144 f4 0"/>
                <a:gd name="f149" fmla="+- f145 f4 0"/>
                <a:gd name="f150" fmla="+- f146 f4 0"/>
                <a:gd name="f151" fmla="+- f147 f4 0"/>
                <a:gd name="f152" fmla="*/ f148 f11 1"/>
                <a:gd name="f153" fmla="*/ f149 f11 1"/>
                <a:gd name="f154" fmla="*/ f150 f11 1"/>
                <a:gd name="f155" fmla="*/ f151 f11 1"/>
                <a:gd name="f156" fmla="*/ f152 1 f3"/>
                <a:gd name="f157" fmla="*/ f153 1 f3"/>
                <a:gd name="f158" fmla="*/ f154 1 f3"/>
                <a:gd name="f159" fmla="*/ f155 1 f3"/>
                <a:gd name="f160" fmla="+- 0 0 f156"/>
                <a:gd name="f161" fmla="+- 0 0 f157"/>
                <a:gd name="f162" fmla="+- 0 0 f158"/>
                <a:gd name="f163" fmla="+- 0 0 f159"/>
                <a:gd name="f164" fmla="val f160"/>
                <a:gd name="f165" fmla="val f161"/>
                <a:gd name="f166" fmla="val f162"/>
                <a:gd name="f167" fmla="val f163"/>
                <a:gd name="f168" fmla="+- 0 0 f164"/>
                <a:gd name="f169" fmla="+- 0 0 f165"/>
                <a:gd name="f170" fmla="+- 0 0 f166"/>
                <a:gd name="f171" fmla="+- 0 0 f167"/>
                <a:gd name="f172" fmla="*/ f168 f3 1"/>
                <a:gd name="f173" fmla="*/ f169 f3 1"/>
                <a:gd name="f174" fmla="*/ f170 f3 1"/>
                <a:gd name="f175" fmla="*/ f171 f3 1"/>
                <a:gd name="f176" fmla="*/ f172 1 f11"/>
                <a:gd name="f177" fmla="*/ f173 1 f11"/>
                <a:gd name="f178" fmla="*/ f174 1 f11"/>
                <a:gd name="f179" fmla="*/ f175 1 f11"/>
                <a:gd name="f180" fmla="+- f176 0 f4"/>
                <a:gd name="f181" fmla="+- f177 0 f4"/>
                <a:gd name="f182" fmla="+- f178 0 f4"/>
                <a:gd name="f183" fmla="+- f179 0 f4"/>
                <a:gd name="f184" fmla="cos 1 f180"/>
                <a:gd name="f185" fmla="sin 1 f180"/>
                <a:gd name="f186" fmla="cos 1 f181"/>
                <a:gd name="f187" fmla="sin 1 f181"/>
                <a:gd name="f188" fmla="cos 1 f182"/>
                <a:gd name="f189" fmla="sin 1 f182"/>
                <a:gd name="f190" fmla="cos 1 f183"/>
                <a:gd name="f191" fmla="sin 1 f183"/>
                <a:gd name="f192" fmla="+- 0 0 f184"/>
                <a:gd name="f193" fmla="+- 0 0 f185"/>
                <a:gd name="f194" fmla="+- 0 0 f186"/>
                <a:gd name="f195" fmla="+- 0 0 f187"/>
                <a:gd name="f196" fmla="+- 0 0 f188"/>
                <a:gd name="f197" fmla="+- 0 0 f189"/>
                <a:gd name="f198" fmla="+- 0 0 f190"/>
                <a:gd name="f199" fmla="+- 0 0 f191"/>
                <a:gd name="f200" fmla="*/ f12 f192 1"/>
                <a:gd name="f201" fmla="*/ f12 f193 1"/>
                <a:gd name="f202" fmla="*/ f12 f194 1"/>
                <a:gd name="f203" fmla="*/ f12 f195 1"/>
                <a:gd name="f204" fmla="*/ f12 f196 1"/>
                <a:gd name="f205" fmla="*/ f12 f197 1"/>
                <a:gd name="f206" fmla="*/ f12 f198 1"/>
                <a:gd name="f207" fmla="*/ f12 f199 1"/>
                <a:gd name="f208" fmla="*/ f200 f60 1"/>
                <a:gd name="f209" fmla="*/ f201 f59 1"/>
                <a:gd name="f210" fmla="*/ f202 f60 1"/>
                <a:gd name="f211" fmla="*/ f203 f59 1"/>
                <a:gd name="f212" fmla="*/ f204 f92 1"/>
                <a:gd name="f213" fmla="*/ f205 f93 1"/>
                <a:gd name="f214" fmla="*/ f206 f92 1"/>
                <a:gd name="f215" fmla="*/ f207 f93 1"/>
                <a:gd name="f216" fmla="+- f73 f208 0"/>
                <a:gd name="f217" fmla="+- f72 f209 0"/>
                <a:gd name="f218" fmla="+- f73 f210 0"/>
                <a:gd name="f219" fmla="+- f72 f211 0"/>
                <a:gd name="f220" fmla="+- f73 f212 0"/>
                <a:gd name="f221" fmla="+- f72 f213 0"/>
                <a:gd name="f222" fmla="+- f73 f214 0"/>
                <a:gd name="f223" fmla="+- f72 f215 0"/>
                <a:gd name="f224" fmla="max f216 f220"/>
                <a:gd name="f225" fmla="max f218 f222"/>
                <a:gd name="f226" fmla="max f217 f221"/>
                <a:gd name="f227" fmla="max f219 f223"/>
                <a:gd name="f228" fmla="min f216 f220"/>
                <a:gd name="f229" fmla="min f218 f222"/>
                <a:gd name="f230" fmla="min f217 f221"/>
                <a:gd name="f231" fmla="min f219 f223"/>
                <a:gd name="f232" fmla="+- f216 f222 0"/>
                <a:gd name="f233" fmla="+- f217 f223 0"/>
                <a:gd name="f234" fmla="+- f218 f220 0"/>
                <a:gd name="f235" fmla="+- f219 f221 0"/>
                <a:gd name="f236" fmla="*/ f216 f46 1"/>
                <a:gd name="f237" fmla="*/ f217 f46 1"/>
                <a:gd name="f238" fmla="*/ f220 f46 1"/>
                <a:gd name="f239" fmla="*/ f221 f46 1"/>
                <a:gd name="f240" fmla="max f224 f225"/>
                <a:gd name="f241" fmla="max f226 f227"/>
                <a:gd name="f242" fmla="min f228 f229"/>
                <a:gd name="f243" fmla="min f230 f231"/>
                <a:gd name="f244" fmla="*/ f232 1 2"/>
                <a:gd name="f245" fmla="*/ f233 1 2"/>
                <a:gd name="f246" fmla="*/ f234 1 2"/>
                <a:gd name="f247" fmla="*/ f235 1 2"/>
                <a:gd name="f248" fmla="?: f94 f51 f240"/>
                <a:gd name="f249" fmla="?: f95 f52 f241"/>
                <a:gd name="f250" fmla="?: f96 f22 f242"/>
                <a:gd name="f251" fmla="?: f97 f22 f243"/>
                <a:gd name="f252" fmla="*/ f244 f46 1"/>
                <a:gd name="f253" fmla="*/ f245 f46 1"/>
                <a:gd name="f254" fmla="*/ f246 f46 1"/>
                <a:gd name="f255" fmla="*/ f247 f46 1"/>
                <a:gd name="f256" fmla="*/ f250 f46 1"/>
                <a:gd name="f257" fmla="*/ f251 f46 1"/>
                <a:gd name="f258" fmla="*/ f248 f46 1"/>
                <a:gd name="f259" fmla="*/ f249 f4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252" y="f253"/>
                </a:cxn>
                <a:cxn ang="f44">
                  <a:pos x="f254" y="f255"/>
                </a:cxn>
                <a:cxn ang="f45">
                  <a:pos x="f87" y="f88"/>
                </a:cxn>
              </a:cxnLst>
              <a:rect l="f256" t="f257" r="f258" b="f259"/>
              <a:pathLst>
                <a:path>
                  <a:moveTo>
                    <a:pt x="f236" y="f237"/>
                  </a:moveTo>
                  <a:arcTo wR="f81" hR="f82" stAng="f57" swAng="f83"/>
                  <a:lnTo>
                    <a:pt x="f238" y="f239"/>
                  </a:lnTo>
                  <a:arcTo wR="f100" hR="f101" stAng="f58" swAng="f89"/>
                  <a:close/>
                </a:path>
              </a:pathLst>
            </a:custGeom>
            <a:solidFill>
              <a:srgbClr val="C65A11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DE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E3386AD-2BDD-47C2-F695-31BC14722167}"/>
                </a:ext>
              </a:extLst>
            </p:cNvPr>
            <p:cNvSpPr/>
            <p:nvPr/>
          </p:nvSpPr>
          <p:spPr>
            <a:xfrm>
              <a:off x="8202341" y="9455837"/>
              <a:ext cx="583560" cy="29164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583561"/>
                <a:gd name="f7" fmla="val 291650"/>
                <a:gd name="f8" fmla="+- 0 0 -90"/>
                <a:gd name="f9" fmla="*/ f3 1 583561"/>
                <a:gd name="f10" fmla="*/ f4 1 291650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583561"/>
                <a:gd name="f19" fmla="*/ f15 1 291650"/>
                <a:gd name="f20" fmla="*/ 0 f16 1"/>
                <a:gd name="f21" fmla="*/ 0 f15 1"/>
                <a:gd name="f22" fmla="*/ 583561 f16 1"/>
                <a:gd name="f23" fmla="*/ 291650 f15 1"/>
                <a:gd name="f24" fmla="+- f17 0 f1"/>
                <a:gd name="f25" fmla="*/ f20 1 583561"/>
                <a:gd name="f26" fmla="*/ f21 1 291650"/>
                <a:gd name="f27" fmla="*/ f22 1 583561"/>
                <a:gd name="f28" fmla="*/ f23 1 291650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583561" h="29165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3172" tIns="3172" rIns="3172" bIns="3172" anchor="ctr" anchorCtr="1" compatLnSpc="1">
              <a:noAutofit/>
            </a:bodyPr>
            <a:lstStyle/>
            <a:p>
              <a:pPr marL="0" marR="0" lvl="0" indent="0" algn="ctr" defTabSz="22225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500" b="0" i="0" u="none" strike="noStrike" kern="1200" cap="none" spc="0" baseline="0">
                  <a:solidFill>
                    <a:srgbClr val="1B2430"/>
                  </a:solidFill>
                  <a:uFillTx/>
                  <a:latin typeface="Segoe UI" pitchFamily="34"/>
                  <a:ea typeface="Calibri" pitchFamily="34"/>
                  <a:cs typeface="Segoe UI" pitchFamily="34"/>
                </a:rPr>
                <a:t> </a:t>
              </a:r>
              <a:r>
                <a:rPr lang="en-US" sz="1150" b="0" i="0" u="none" strike="noStrike" kern="1200" cap="none" spc="0" baseline="0">
                  <a:solidFill>
                    <a:srgbClr val="1B2430"/>
                  </a:solidFill>
                  <a:uFillTx/>
                  <a:latin typeface="Segoe UI" pitchFamily="34"/>
                  <a:ea typeface="Calibri" pitchFamily="34"/>
                  <a:cs typeface="Segoe UI" pitchFamily="34"/>
                </a:rPr>
                <a:t>Entscheidungslog</a:t>
              </a:r>
              <a:endParaRPr lang="en-US" sz="1150" b="0" i="0" u="none" strike="noStrike" kern="1200" cap="none" spc="0" baseline="0">
                <a:solidFill>
                  <a:srgbClr val="000000"/>
                </a:solidFill>
                <a:uFillTx/>
                <a:latin typeface="Segoe UI" pitchFamily="34"/>
                <a:cs typeface="Segoe UI" pitchFamily="34"/>
              </a:endParaRPr>
            </a:p>
          </p:txBody>
        </p:sp>
      </p:grpSp>
      <p:sp>
        <p:nvSpPr>
          <p:cNvPr id="38" name="Text 6">
            <a:extLst>
              <a:ext uri="{FF2B5EF4-FFF2-40B4-BE49-F238E27FC236}">
                <a16:creationId xmlns:a16="http://schemas.microsoft.com/office/drawing/2014/main" id="{4FF74423-2AAA-3723-C658-09F9D495514C}"/>
              </a:ext>
            </a:extLst>
          </p:cNvPr>
          <p:cNvSpPr txBox="1"/>
          <p:nvPr/>
        </p:nvSpPr>
        <p:spPr>
          <a:xfrm>
            <a:off x="3347737" y="1117351"/>
            <a:ext cx="118872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b="1" i="0" u="none" strike="noStrike" kern="1200" cap="none" spc="0" baseline="0">
                <a:solidFill>
                  <a:srgbClr val="FFFFFF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Prozessanalyse</a:t>
            </a:r>
            <a:endParaRPr lang="en-US" sz="80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39" name="Down Arrow 44">
            <a:extLst>
              <a:ext uri="{FF2B5EF4-FFF2-40B4-BE49-F238E27FC236}">
                <a16:creationId xmlns:a16="http://schemas.microsoft.com/office/drawing/2014/main" id="{339F8795-F6BA-5684-390A-AD5D0F0F261D}"/>
              </a:ext>
            </a:extLst>
          </p:cNvPr>
          <p:cNvSpPr/>
          <p:nvPr/>
        </p:nvSpPr>
        <p:spPr>
          <a:xfrm>
            <a:off x="6053327" y="2726420"/>
            <a:ext cx="45720" cy="1151997"/>
          </a:xfrm>
          <a:custGeom>
            <a:avLst>
              <a:gd name="f0" fmla="val 21171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C65A1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E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0" name="Triangle 45">
            <a:extLst>
              <a:ext uri="{FF2B5EF4-FFF2-40B4-BE49-F238E27FC236}">
                <a16:creationId xmlns:a16="http://schemas.microsoft.com/office/drawing/2014/main" id="{96E28B4C-D2C8-3C98-FB31-CDB93F74BBCA}"/>
              </a:ext>
            </a:extLst>
          </p:cNvPr>
          <p:cNvSpPr/>
          <p:nvPr/>
        </p:nvSpPr>
        <p:spPr>
          <a:xfrm rot="10643298">
            <a:off x="6047265" y="3844512"/>
            <a:ext cx="63294" cy="59033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C65A1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E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1" name="Text 0">
            <a:extLst>
              <a:ext uri="{FF2B5EF4-FFF2-40B4-BE49-F238E27FC236}">
                <a16:creationId xmlns:a16="http://schemas.microsoft.com/office/drawing/2014/main" id="{ECEEE19F-3A5E-2EC8-9B2F-6C42D722B77B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Vorgehen und Projektmanagement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5">
            <a:extLst>
              <a:ext uri="{FF2B5EF4-FFF2-40B4-BE49-F238E27FC236}">
                <a16:creationId xmlns:a16="http://schemas.microsoft.com/office/drawing/2014/main" id="{4D3E15AD-368F-CE04-73C9-99068796AFF9}"/>
              </a:ext>
            </a:extLst>
          </p:cNvPr>
          <p:cNvSpPr txBox="1"/>
          <p:nvPr/>
        </p:nvSpPr>
        <p:spPr>
          <a:xfrm>
            <a:off x="457200" y="1837322"/>
            <a:ext cx="3063239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Abo je Filiale</a:t>
            </a:r>
            <a:endParaRPr lang="en-US" sz="14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D459108D-C045-96E2-4BAF-D62B13AA6E2D}"/>
              </a:ext>
            </a:extLst>
          </p:cNvPr>
          <p:cNvSpPr txBox="1"/>
          <p:nvPr/>
        </p:nvSpPr>
        <p:spPr>
          <a:xfrm>
            <a:off x="1134176" y="2271881"/>
            <a:ext cx="1709287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Basis und Pro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68F7B41D-6226-1F4E-2597-8438C344718C}"/>
              </a:ext>
            </a:extLst>
          </p:cNvPr>
          <p:cNvSpPr txBox="1"/>
          <p:nvPr/>
        </p:nvSpPr>
        <p:spPr>
          <a:xfrm>
            <a:off x="4824566" y="1837322"/>
            <a:ext cx="3063239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Zielkunden</a:t>
            </a:r>
            <a:endParaRPr lang="en-US" sz="14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3140BBEF-331F-3121-C3B9-B523438A9FCA}"/>
              </a:ext>
            </a:extLst>
          </p:cNvPr>
          <p:cNvSpPr txBox="1"/>
          <p:nvPr/>
        </p:nvSpPr>
        <p:spPr>
          <a:xfrm>
            <a:off x="4844125" y="2271881"/>
            <a:ext cx="3063239" cy="7315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Unabhängige Werkstätten und kleine Ketten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30FFA2DF-2CC8-45D5-716A-4DDC26A89692}"/>
              </a:ext>
            </a:extLst>
          </p:cNvPr>
          <p:cNvSpPr txBox="1"/>
          <p:nvPr/>
        </p:nvSpPr>
        <p:spPr>
          <a:xfrm>
            <a:off x="457200" y="2993544"/>
            <a:ext cx="82296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C55A11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Ausblick</a:t>
            </a:r>
            <a:endParaRPr lang="en-US" sz="1600" b="0" i="0" u="none" strike="noStrike" kern="1200" cap="none" spc="0" baseline="0">
              <a:solidFill>
                <a:srgbClr val="C55A11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C95390B7-8C4C-CD87-0849-16F47F537D2E}"/>
              </a:ext>
            </a:extLst>
          </p:cNvPr>
          <p:cNvSpPr txBox="1"/>
          <p:nvPr/>
        </p:nvSpPr>
        <p:spPr>
          <a:xfrm>
            <a:off x="457200" y="3440823"/>
            <a:ext cx="233172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KI-gestützte Disposition</a:t>
            </a:r>
            <a:endParaRPr lang="en-US" sz="14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18D6883D-9476-92E1-DF6C-B28118F6FD45}"/>
              </a:ext>
            </a:extLst>
          </p:cNvPr>
          <p:cNvSpPr txBox="1"/>
          <p:nvPr/>
        </p:nvSpPr>
        <p:spPr>
          <a:xfrm>
            <a:off x="457200" y="3839071"/>
            <a:ext cx="228600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Bedarfsprognose je Filiale und Saison, damit Teile vor der Nachfrage im Lager liegen.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0" name="Text 18">
            <a:extLst>
              <a:ext uri="{FF2B5EF4-FFF2-40B4-BE49-F238E27FC236}">
                <a16:creationId xmlns:a16="http://schemas.microsoft.com/office/drawing/2014/main" id="{B37E8CA5-3879-4498-453A-8488DA2E83F5}"/>
              </a:ext>
            </a:extLst>
          </p:cNvPr>
          <p:cNvSpPr txBox="1"/>
          <p:nvPr/>
        </p:nvSpPr>
        <p:spPr>
          <a:xfrm>
            <a:off x="3429000" y="3440823"/>
            <a:ext cx="233172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Techniker-Copilot</a:t>
            </a:r>
            <a:endParaRPr lang="en-US" sz="14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8980495C-7228-D2C4-C014-5B906D44BB98}"/>
              </a:ext>
            </a:extLst>
          </p:cNvPr>
          <p:cNvSpPr txBox="1"/>
          <p:nvPr/>
        </p:nvSpPr>
        <p:spPr>
          <a:xfrm>
            <a:off x="3429000" y="3839071"/>
            <a:ext cx="228600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Schritt-für-Schritt-Empfehlung und Aufwand aus der Historie ähnlicher Aufträge vorschlagen.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16BF45CB-4771-0AE8-66FA-56CF0715FC63}"/>
              </a:ext>
            </a:extLst>
          </p:cNvPr>
          <p:cNvSpPr txBox="1"/>
          <p:nvPr/>
        </p:nvSpPr>
        <p:spPr>
          <a:xfrm>
            <a:off x="6288941" y="3440823"/>
            <a:ext cx="233172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843C0C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Digitale Geräteakte</a:t>
            </a:r>
            <a:endParaRPr lang="en-US" sz="1400" b="0" i="0" u="none" strike="noStrike" kern="1200" cap="none" spc="0" baseline="0">
              <a:solidFill>
                <a:srgbClr val="843C0C"/>
              </a:solidFill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05AE42A2-850F-669D-6659-F541E61CC266}"/>
              </a:ext>
            </a:extLst>
          </p:cNvPr>
          <p:cNvSpPr txBox="1"/>
          <p:nvPr/>
        </p:nvSpPr>
        <p:spPr>
          <a:xfrm>
            <a:off x="6288941" y="3839071"/>
            <a:ext cx="228600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1B2430"/>
                </a:solidFill>
                <a:uFillTx/>
                <a:latin typeface="Segoe UI" pitchFamily="34"/>
                <a:ea typeface="Calibri" pitchFamily="34"/>
                <a:cs typeface="Segoe UI" pitchFamily="34"/>
              </a:rPr>
              <a:t>Jedes Gerät behält seine Reparaturgeschichte über alle Filialen und Besitzer.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Segoe UI" pitchFamily="34"/>
              <a:cs typeface="Segoe UI" pitchFamily="34"/>
            </a:endParaRPr>
          </a:p>
        </p:txBody>
      </p:sp>
      <p:pic>
        <p:nvPicPr>
          <p:cNvPr id="14" name="Grafik 3" descr="Geld mit einfarbiger Füllung">
            <a:extLst>
              <a:ext uri="{FF2B5EF4-FFF2-40B4-BE49-F238E27FC236}">
                <a16:creationId xmlns:a16="http://schemas.microsoft.com/office/drawing/2014/main" id="{8C97A78B-18B6-B11F-36C8-2D57305FF5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1620" y="995982"/>
            <a:ext cx="914400" cy="9144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Grafik 31" descr="Laden mit einfarbiger Füllung">
            <a:extLst>
              <a:ext uri="{FF2B5EF4-FFF2-40B4-BE49-F238E27FC236}">
                <a16:creationId xmlns:a16="http://schemas.microsoft.com/office/drawing/2014/main" id="{9AEEDA26-4408-0528-F4D1-743C894C3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8986" y="995982"/>
            <a:ext cx="914400" cy="9144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8A33FC5F-94E9-F866-FDB6-A98E29F922D9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Geschäftsmodell und Ausblick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5">
            <a:extLst>
              <a:ext uri="{FF2B5EF4-FFF2-40B4-BE49-F238E27FC236}">
                <a16:creationId xmlns:a16="http://schemas.microsoft.com/office/drawing/2014/main" id="{33AA7A71-0C97-9185-2CB9-6814DF8F4326}"/>
              </a:ext>
            </a:extLst>
          </p:cNvPr>
          <p:cNvSpPr txBox="1"/>
          <p:nvPr/>
        </p:nvSpPr>
        <p:spPr>
          <a:xfrm>
            <a:off x="548640" y="3975235"/>
            <a:ext cx="731520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 dirty="0" err="1">
                <a:uFillTx/>
                <a:latin typeface="Segoe UI" pitchFamily="34"/>
                <a:ea typeface="Calibri" pitchFamily="34"/>
                <a:cs typeface="Segoe UI" pitchFamily="34"/>
              </a:rPr>
              <a:t>Fragen</a:t>
            </a:r>
            <a:r>
              <a:rPr lang="en-US" sz="2200" b="1" i="0" u="none" strike="noStrike" kern="1200" cap="none" spc="0" baseline="0" dirty="0">
                <a:uFillTx/>
                <a:latin typeface="Segoe UI" pitchFamily="34"/>
                <a:ea typeface="Calibri" pitchFamily="34"/>
                <a:cs typeface="Segoe UI" pitchFamily="34"/>
              </a:rPr>
              <a:t>?</a:t>
            </a:r>
            <a:endParaRPr lang="en-US" sz="2200" b="1" i="0" u="none" strike="noStrike" kern="1200" cap="none" spc="0" baseline="0" dirty="0">
              <a:uFillTx/>
              <a:latin typeface="Segoe UI" pitchFamily="34"/>
              <a:cs typeface="Segoe UI" pitchFamily="34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AC99BFE-C724-D5A0-56E3-D0BE14D8B6BE}"/>
              </a:ext>
            </a:extLst>
          </p:cNvPr>
          <p:cNvSpPr txBox="1"/>
          <p:nvPr/>
        </p:nvSpPr>
        <p:spPr>
          <a:xfrm>
            <a:off x="4807814" y="2528233"/>
            <a:ext cx="3774707" cy="458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DE" sz="1800" b="0" i="0" u="none" strike="noStrike" kern="1200" cap="none" spc="0" baseline="0">
                <a:uFillTx/>
                <a:latin typeface="Calibri"/>
              </a:rPr>
              <a:t>Disposition + KI-Sofortdiagnose als Kern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E" sz="1800" b="0" i="0" u="none" strike="noStrike" kern="1200" cap="none" spc="0" baseline="0"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E" sz="1800" b="0" i="0" u="none" strike="noStrike" kern="1200" cap="none" spc="0" baseline="0">
              <a:uFillTx/>
              <a:latin typeface="Calibri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34D3C46-532C-F28C-F879-8CA89FE726AA}"/>
              </a:ext>
            </a:extLst>
          </p:cNvPr>
          <p:cNvSpPr txBox="1"/>
          <p:nvPr/>
        </p:nvSpPr>
        <p:spPr>
          <a:xfrm>
            <a:off x="444370" y="2528233"/>
            <a:ext cx="4215868" cy="4588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DE" sz="1800" b="0" i="0" u="none" strike="noStrike" kern="1200" cap="none" spc="0" baseline="0">
                <a:uFillTx/>
                <a:latin typeface="Calibri"/>
              </a:rPr>
              <a:t>Medienbruch → digitaler Zustandsautomat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E" sz="1800" b="0" i="0" u="none" strike="noStrike" kern="1200" cap="none" spc="0" baseline="0"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DE" sz="1800" b="0" i="0" u="none" strike="noStrike" kern="1200" cap="none" spc="0" baseline="0">
              <a:uFillTx/>
              <a:latin typeface="Calibri"/>
            </a:endParaRPr>
          </a:p>
        </p:txBody>
      </p:sp>
      <p:pic>
        <p:nvPicPr>
          <p:cNvPr id="9" name="Grafik 30" descr="Smartphone mit einfarbiger Füllung">
            <a:extLst>
              <a:ext uri="{FF2B5EF4-FFF2-40B4-BE49-F238E27FC236}">
                <a16:creationId xmlns:a16="http://schemas.microsoft.com/office/drawing/2014/main" id="{70032EDA-B631-0BEA-6E5B-074E1F07C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100" y="1615433"/>
            <a:ext cx="821359" cy="82135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fik 40" descr="Künstliche Intelligenz mit einfarbiger Füllung">
            <a:extLst>
              <a:ext uri="{FF2B5EF4-FFF2-40B4-BE49-F238E27FC236}">
                <a16:creationId xmlns:a16="http://schemas.microsoft.com/office/drawing/2014/main" id="{D2E4D0E0-98A5-8B09-9621-B1B655971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4497" y="1615433"/>
            <a:ext cx="821350" cy="82135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0DD4609-FFC9-B8CB-8FAB-EC2F212AA42D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Fazit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DDAF1801-8C24-1B07-B2D0-07CBFDF03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901512"/>
              </p:ext>
            </p:extLst>
          </p:nvPr>
        </p:nvGraphicFramePr>
        <p:xfrm>
          <a:off x="457200" y="1244379"/>
          <a:ext cx="8428008" cy="320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02589">
                  <a:extLst>
                    <a:ext uri="{9D8B030D-6E8A-4147-A177-3AD203B41FA5}">
                      <a16:colId xmlns:a16="http://schemas.microsoft.com/office/drawing/2014/main" val="3183296244"/>
                    </a:ext>
                  </a:extLst>
                </a:gridCol>
                <a:gridCol w="672860">
                  <a:extLst>
                    <a:ext uri="{9D8B030D-6E8A-4147-A177-3AD203B41FA5}">
                      <a16:colId xmlns:a16="http://schemas.microsoft.com/office/drawing/2014/main" val="1666109314"/>
                    </a:ext>
                  </a:extLst>
                </a:gridCol>
                <a:gridCol w="6452559">
                  <a:extLst>
                    <a:ext uri="{9D8B030D-6E8A-4147-A177-3AD203B41FA5}">
                      <a16:colId xmlns:a16="http://schemas.microsoft.com/office/drawing/2014/main" val="71128612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Vortragende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(r)</a:t>
                      </a:r>
                      <a:endParaRPr lang="en-US" sz="1050" b="1" dirty="0">
                        <a:latin typeface="Segoe UI" panose="020B0502040204020203" pitchFamily="34" charset="0"/>
                        <a:ea typeface="Calibri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Folien</a:t>
                      </a:r>
                      <a:endParaRPr lang="en-US" sz="1050" b="1" dirty="0">
                        <a:latin typeface="Segoe UI" panose="020B0502040204020203" pitchFamily="34" charset="0"/>
                        <a:ea typeface="Calibri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Verantworteter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Beitrag</a:t>
                      </a:r>
                      <a:endParaRPr lang="en-US" sz="1050" b="1" dirty="0">
                        <a:latin typeface="Segoe UI" panose="020B0502040204020203" pitchFamily="34" charset="0"/>
                        <a:ea typeface="Calibri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7396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David Leismann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1-7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Titel und Team | Agenda | Das Problem | RepairFlow: die Lösung</a:t>
                      </a:r>
                      <a:endParaRPr lang="en-US" sz="10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079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Kilian Platter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8, 17-18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Drei Nutzenversprechen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 | </a:t>
                      </a:r>
                      <a:r>
                        <a:rPr lang="de-DE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Wer macht was im System? | Das Datenmodell: Fünf Entscheidungen</a:t>
                      </a:r>
                      <a:endParaRPr lang="de-DE" sz="10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9140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Maximilian Ewald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9-12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Auftragsreise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 | Drei </a:t>
                      </a:r>
                      <a:r>
                        <a:rPr lang="en-US" sz="1050" b="0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Prozess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-Highlights | Live-Demo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7791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Adrian Wenzler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13-16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kern="1200" cap="none" spc="0" baseline="0" dirty="0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KI-Sofortdiagnose | Was wir gebaut haben: Ergebnisse in Zahlen | Zehn Prozesse, 62 Prozent automatisiert</a:t>
                      </a:r>
                      <a:endParaRPr lang="en-US" sz="1050" b="0" i="0" u="none" strike="noStrike" kern="1200" cap="none" spc="0" baseline="0" dirty="0">
                        <a:solidFill>
                          <a:schemeClr val="tx1"/>
                        </a:solidFill>
                        <a:uFillTx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031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Jakob Schwan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19-20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Qualität: Regeln, Werkzeuge, Reviews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 | </a:t>
                      </a:r>
                      <a:r>
                        <a:rPr lang="en-US" sz="1050" b="0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Herausforderungen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 und </a:t>
                      </a:r>
                      <a:r>
                        <a:rPr lang="en-US" sz="1050" b="0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Lernerfahrungen</a:t>
                      </a:r>
                      <a:endParaRPr lang="en-US" sz="10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0473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Nina Sattler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/>
                          <a:cs typeface="Segoe UI" panose="020B0502040204020203" pitchFamily="34" charset="0"/>
                        </a:rPr>
                        <a:t>21-23</a:t>
                      </a: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kern="1200" cap="none" spc="0" baseline="0" dirty="0" err="1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Vorgehen</a:t>
                      </a:r>
                      <a:r>
                        <a:rPr lang="en-US" sz="1050" b="0" i="0" u="none" strike="noStrike" kern="1200" cap="none" spc="0" baseline="0" dirty="0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 und </a:t>
                      </a:r>
                      <a:r>
                        <a:rPr lang="en-US" sz="1050" b="0" i="0" u="none" strike="noStrike" kern="1200" cap="none" spc="0" baseline="0" dirty="0" err="1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Projektmanagement</a:t>
                      </a:r>
                      <a:r>
                        <a:rPr lang="en-US" sz="1050" b="0" i="0" u="none" strike="noStrike" kern="1200" cap="none" spc="0" baseline="0" dirty="0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 | </a:t>
                      </a:r>
                      <a:r>
                        <a:rPr lang="en-US" sz="1050" b="0" i="0" u="none" strike="noStrike" kern="1200" cap="none" spc="0" baseline="0" dirty="0" err="1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Geschäftsmodell</a:t>
                      </a:r>
                      <a:r>
                        <a:rPr lang="en-US" sz="1050" b="0" i="0" u="none" strike="noStrike" kern="1200" cap="none" spc="0" baseline="0" dirty="0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 und </a:t>
                      </a:r>
                      <a:r>
                        <a:rPr lang="en-US" sz="1050" b="0" i="0" u="none" strike="noStrike" kern="1200" cap="none" spc="0" baseline="0" dirty="0" err="1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Ausblick</a:t>
                      </a:r>
                      <a:r>
                        <a:rPr lang="en-US" sz="1050" b="0" i="0" u="none" strike="noStrike" kern="1200" cap="none" spc="0" baseline="0" dirty="0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 | </a:t>
                      </a:r>
                      <a:r>
                        <a:rPr lang="en-US" sz="1050" b="0" i="0" u="none" strike="noStrike" kern="1200" cap="none" spc="0" baseline="0" dirty="0" err="1">
                          <a:solidFill>
                            <a:schemeClr val="tx1"/>
                          </a:solidFill>
                          <a:uFillTx/>
                          <a:latin typeface="Segoe UI" panose="020B0502040204020203" pitchFamily="34" charset="0"/>
                          <a:ea typeface="Calibri" pitchFamily="34"/>
                          <a:cs typeface="Segoe UI" panose="020B0502040204020203" pitchFamily="34" charset="0"/>
                        </a:rPr>
                        <a:t>Fazit</a:t>
                      </a:r>
                      <a:endParaRPr lang="en-US" sz="1050" b="0" i="0" u="none" strike="noStrike" kern="1200" cap="none" spc="0" baseline="0" dirty="0">
                        <a:solidFill>
                          <a:schemeClr val="tx1"/>
                        </a:solidFill>
                        <a:uFillTx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5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611191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941B6FA6-054A-CCCA-B431-05056CDD4B16}"/>
              </a:ext>
            </a:extLst>
          </p:cNvPr>
          <p:cNvSpPr txBox="1"/>
          <p:nvPr/>
        </p:nvSpPr>
        <p:spPr>
          <a:xfrm>
            <a:off x="339437" y="2493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de-DE" sz="28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Beiträge der Vortragenden</a:t>
            </a:r>
            <a:endParaRPr lang="de-DE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  <clbl:label id="{ef8fba50-8da3-4418-b31b-a5eabe482877}" enabled="1" method="Standard" siteId="{655bc315-ddc8-46fd-8e94-a3e10427273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1530</Words>
  <Application>Microsoft Macintosh PowerPoint</Application>
  <PresentationFormat>Bildschirmpräsentation (16:9)</PresentationFormat>
  <Paragraphs>438</Paragraphs>
  <Slides>24</Slides>
  <Notes>24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RepairFlow – Abschlusspräsentation Fallstudie Systemanalyse</dc:title>
  <dc:subject/>
  <dc:creator>Gruppe 1 WWI25B4</dc:creator>
  <cp:lastModifiedBy>Schwan, Jakob</cp:lastModifiedBy>
  <cp:revision>20</cp:revision>
  <dcterms:created xsi:type="dcterms:W3CDTF">2026-10-15T07:59:30Z</dcterms:created>
  <dcterms:modified xsi:type="dcterms:W3CDTF">2026-10-26T18:38:26Z</dcterms:modified>
</cp:coreProperties>
</file>