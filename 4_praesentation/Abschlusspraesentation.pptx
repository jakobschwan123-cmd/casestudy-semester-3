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9" r:id="rId3"/>
    <p:sldId id="284" r:id="rId4"/>
    <p:sldId id="285" r:id="rId5"/>
    <p:sldId id="281" r:id="rId6"/>
    <p:sldId id="276" r:id="rId7"/>
    <p:sldId id="265" r:id="rId8"/>
    <p:sldId id="280" r:id="rId9"/>
    <p:sldId id="262" r:id="rId10"/>
    <p:sldId id="263" r:id="rId11"/>
    <p:sldId id="264" r:id="rId12"/>
    <p:sldId id="282" r:id="rId13"/>
    <p:sldId id="283" r:id="rId14"/>
    <p:sldId id="286" r:id="rId15"/>
    <p:sldId id="287" r:id="rId16"/>
    <p:sldId id="268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256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76"/>
            <p14:sldId id="265"/>
            <p14:sldId id="280"/>
          </p14:sldIdLst>
        </p14:section>
        <p14:section name="Adrian" id="{C59C4432-FF7E-A14B-8A5D-46FD719FCE68}">
          <p14:sldIdLst>
            <p14:sldId id="262"/>
            <p14:sldId id="263"/>
            <p14:sldId id="264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68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85"/>
    <p:restoredTop sz="86146"/>
  </p:normalViewPr>
  <p:slideViewPr>
    <p:cSldViewPr snapToGrid="0" snapToObjects="1">
      <p:cViewPr varScale="1">
        <p:scale>
          <a:sx n="111" d="100"/>
          <a:sy n="111" d="100"/>
        </p:scale>
        <p:origin x="200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addSld delSld modSld sldOrd modSection">
      <pc:chgData name="Kilian Platter" userId="c49eb2881fa751ca" providerId="LiveId" clId="{FDA102BF-EFD5-549B-81DE-49FC5087B7E9}" dt="2026-10-24T11:35:00.904" v="69" actId="2696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add setBg">
        <pc:chgData name="Kilian Platter" userId="c49eb2881fa751ca" providerId="LiveId" clId="{FDA102BF-EFD5-549B-81DE-49FC5087B7E9}" dt="2026-10-24T11:34:51.179" v="66"/>
        <pc:sldMkLst>
          <pc:docMk/>
          <pc:sldMk cId="0" sldId="286"/>
        </pc:sldMkLst>
      </pc:sldChg>
      <pc:sldChg chg="add">
        <pc:chgData name="Kilian Platter" userId="c49eb2881fa751ca" providerId="LiveId" clId="{FDA102BF-EFD5-549B-81DE-49FC5087B7E9}" dt="2026-10-24T11:34:58.692" v="68"/>
        <pc:sldMkLst>
          <pc:docMk/>
          <pc:sldMk cId="1146934768" sldId="28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1F59D-253A-3924-605E-21120D21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F0349-F106-C4E8-17E5-ED0C64CB6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4233D-DF4D-D00D-C65C-262A8E253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609AC-3073-AD42-66E5-3FF4BB1E7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067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Adrian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4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1: der Pitch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 txBox="1"/>
          <p:nvPr/>
        </p:nvSpPr>
        <p:spPr>
          <a:xfrm>
            <a:off x="1097280" y="129426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Problem: Werkstätten heute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4461" y="129426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 txBox="1"/>
          <p:nvPr/>
        </p:nvSpPr>
        <p:spPr>
          <a:xfrm>
            <a:off x="1097280" y="172403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Lösung, Nutzen, Auftragsreise, KI-Sofortdiagnose mit Live-Demo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14461" y="172403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David, Kilian, Maximilian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2: was dahintersteckt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 txBox="1"/>
          <p:nvPr/>
        </p:nvSpPr>
        <p:spPr>
          <a:xfrm>
            <a:off x="1097280" y="2616127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zehn Geschäftsprozesse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14461" y="2616127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 txBox="1"/>
          <p:nvPr/>
        </p:nvSpPr>
        <p:spPr>
          <a:xfrm>
            <a:off x="1097280" y="3045895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Rollen, Use Cases und Datenmodell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14461" y="3045895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 txBox="1"/>
          <p:nvPr/>
        </p:nvSpPr>
        <p:spPr>
          <a:xfrm>
            <a:off x="1097280" y="34781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514461" y="34781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 txBox="1"/>
          <p:nvPr/>
        </p:nvSpPr>
        <p:spPr>
          <a:xfrm>
            <a:off x="1097280" y="3899363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Geschäftsmodell, Ausblick und Fazit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514461" y="3899363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</a:t>
            </a:r>
            <a:endParaRPr lang="en-US" sz="12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20CE692E-F865-BE81-16AB-382C01B4A47B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mit vier Filialen. Sie arbeitet mit Papier, Excel-Listen und Telefon.</a:t>
            </a:r>
            <a:endParaRPr lang="de-DE" sz="130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 der KVA da ist oder das Gerät fertig ist, erfährt der Kunde nur am Telefon.</a:t>
            </a:r>
            <a:endParaRPr lang="de-DE" sz="1200"/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Zettel und Excel-Listen passen nicht zusammen. Wo ein Gerät steht, weiß niemand sofort.</a:t>
            </a:r>
            <a:endParaRPr lang="de-DE" sz="120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selbst, obwohl das Teil oft nebenan liegt.</a:t>
            </a:r>
            <a:endParaRPr lang="de-DE" sz="1200"/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zugesagt.</a:t>
            </a:r>
            <a:endParaRPr lang="de-DE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 für die ganze Reparatur, von der Anfrage per App bis zur Abholung. Wir sind das Software-Startup, FixWerk ist unser Pilotkunde.</a:t>
            </a:r>
            <a:endParaRPr lang="de-DE" sz="1400"/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49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 freigeben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</a:t>
            </a:r>
            <a:endParaRPr lang="de-DE" sz="1200"/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</a:t>
            </a:r>
            <a:endParaRPr lang="de-DE" sz="1200"/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de-DE" sz="1200"/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3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de-DE" sz="1200"/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Werkstätten und kleine Ketten mit 2 bis 10 Filialen</a:t>
            </a:r>
            <a:endParaRPr lang="de-DE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Nicht Teil der Plattform: die Reparatur selbst, Lieferantensysteme, Buchhaltung</a:t>
            </a:r>
            <a:endParaRPr lang="de-DE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/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01346-0FA1-B61E-4F34-A4548C1C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279FC891-62A7-4EE5-8538-437115166C1E}"/>
              </a:ext>
            </a:extLst>
          </p:cNvPr>
          <p:cNvGrpSpPr/>
          <p:nvPr/>
        </p:nvGrpSpPr>
        <p:grpSpPr>
          <a:xfrm>
            <a:off x="457199" y="1557128"/>
            <a:ext cx="8329602" cy="2654169"/>
            <a:chOff x="457200" y="1557129"/>
            <a:chExt cx="8366760" cy="2666012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322EE97-5F33-9296-546E-68E2B1AACF27}"/>
                </a:ext>
              </a:extLst>
            </p:cNvPr>
            <p:cNvSpPr/>
            <p:nvPr/>
          </p:nvSpPr>
          <p:spPr>
            <a:xfrm>
              <a:off x="45720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F30AE3AF-64A6-BF7C-108A-5CDBBB9BB59A}"/>
                </a:ext>
              </a:extLst>
            </p:cNvPr>
            <p:cNvSpPr txBox="1"/>
            <p:nvPr/>
          </p:nvSpPr>
          <p:spPr>
            <a:xfrm>
              <a:off x="64008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6E197140-AD58-EEF3-FC07-CB88B860C7D5}"/>
                </a:ext>
              </a:extLst>
            </p:cNvPr>
            <p:cNvSpPr txBox="1"/>
            <p:nvPr/>
          </p:nvSpPr>
          <p:spPr>
            <a:xfrm>
              <a:off x="50292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2B60CF3-6FF0-7166-6A49-DB42132E4ACB}"/>
                </a:ext>
              </a:extLst>
            </p:cNvPr>
            <p:cNvSpPr txBox="1"/>
            <p:nvPr/>
          </p:nvSpPr>
          <p:spPr>
            <a:xfrm>
              <a:off x="53949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KI-Vorschlag, Vorab-KVA, Termin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C110B1A6-4BF1-9DF3-FA85-39D1F50ABE9D}"/>
                </a:ext>
              </a:extLst>
            </p:cNvPr>
            <p:cNvSpPr/>
            <p:nvPr/>
          </p:nvSpPr>
          <p:spPr>
            <a:xfrm>
              <a:off x="1847088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6030758-50AD-8892-C859-C498CA27ED01}"/>
                </a:ext>
              </a:extLst>
            </p:cNvPr>
            <p:cNvSpPr txBox="1"/>
            <p:nvPr/>
          </p:nvSpPr>
          <p:spPr>
            <a:xfrm>
              <a:off x="2029968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BE4AB8A3-EF0C-A300-509D-CF14A6E2B2B8}"/>
                </a:ext>
              </a:extLst>
            </p:cNvPr>
            <p:cNvSpPr txBox="1"/>
            <p:nvPr/>
          </p:nvSpPr>
          <p:spPr>
            <a:xfrm>
              <a:off x="1892808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18AF9CD0-7D7C-490A-15A1-BD992FBAA389}"/>
                </a:ext>
              </a:extLst>
            </p:cNvPr>
            <p:cNvSpPr txBox="1"/>
            <p:nvPr/>
          </p:nvSpPr>
          <p:spPr>
            <a:xfrm>
              <a:off x="1929384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Gerät registriert, Auftrag angelegt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857DA967-D85F-A858-8489-6E47952A1591}"/>
                </a:ext>
              </a:extLst>
            </p:cNvPr>
            <p:cNvSpPr/>
            <p:nvPr/>
          </p:nvSpPr>
          <p:spPr>
            <a:xfrm>
              <a:off x="3236976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18511DC0-1226-332B-0BC0-E75682C3A187}"/>
                </a:ext>
              </a:extLst>
            </p:cNvPr>
            <p:cNvSpPr txBox="1"/>
            <p:nvPr/>
          </p:nvSpPr>
          <p:spPr>
            <a:xfrm>
              <a:off x="3419856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EE2A20AE-03AC-6529-CA2C-E7313D9114E4}"/>
                </a:ext>
              </a:extLst>
            </p:cNvPr>
            <p:cNvSpPr txBox="1"/>
            <p:nvPr/>
          </p:nvSpPr>
          <p:spPr>
            <a:xfrm>
              <a:off x="3282696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13AB6925-A77E-04C4-68B0-1402EC07585B}"/>
                </a:ext>
              </a:extLst>
            </p:cNvPr>
            <p:cNvSpPr txBox="1"/>
            <p:nvPr/>
          </p:nvSpPr>
          <p:spPr>
            <a:xfrm>
              <a:off x="3319272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Techniker prüft, Kunde gibt frei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BDAE9F2B-91A9-49A6-51E7-0D9B34EFF536}"/>
                </a:ext>
              </a:extLst>
            </p:cNvPr>
            <p:cNvSpPr/>
            <p:nvPr/>
          </p:nvSpPr>
          <p:spPr>
            <a:xfrm>
              <a:off x="4626864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61CB2146-0AD4-BAA1-8021-5AC92639F443}"/>
                </a:ext>
              </a:extLst>
            </p:cNvPr>
            <p:cNvSpPr txBox="1"/>
            <p:nvPr/>
          </p:nvSpPr>
          <p:spPr>
            <a:xfrm>
              <a:off x="4809744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52752689-8AEF-ACC1-53C1-3E3917F660D0}"/>
                </a:ext>
              </a:extLst>
            </p:cNvPr>
            <p:cNvSpPr txBox="1"/>
            <p:nvPr/>
          </p:nvSpPr>
          <p:spPr>
            <a:xfrm>
              <a:off x="4672584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C8B761B2-20C6-18B5-5714-E715BAFC0759}"/>
                </a:ext>
              </a:extLst>
            </p:cNvPr>
            <p:cNvSpPr txBox="1"/>
            <p:nvPr/>
          </p:nvSpPr>
          <p:spPr>
            <a:xfrm>
              <a:off x="4709160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alle Filialen, Fehlteile bestellen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74D8CB0B-5B7F-4674-84E6-609A60376742}"/>
                </a:ext>
              </a:extLst>
            </p:cNvPr>
            <p:cNvSpPr/>
            <p:nvPr/>
          </p:nvSpPr>
          <p:spPr>
            <a:xfrm>
              <a:off x="6016752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C8127221-8A4C-D5BE-97F3-35C168CFA7E9}"/>
                </a:ext>
              </a:extLst>
            </p:cNvPr>
            <p:cNvSpPr txBox="1"/>
            <p:nvPr/>
          </p:nvSpPr>
          <p:spPr>
            <a:xfrm>
              <a:off x="6199632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8C3D5FEF-7383-A38B-3CB2-0BB6EDAD636C}"/>
                </a:ext>
              </a:extLst>
            </p:cNvPr>
            <p:cNvSpPr txBox="1"/>
            <p:nvPr/>
          </p:nvSpPr>
          <p:spPr>
            <a:xfrm>
              <a:off x="6062472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Text 32">
              <a:extLst>
                <a:ext uri="{FF2B5EF4-FFF2-40B4-BE49-F238E27FC236}">
                  <a16:creationId xmlns:a16="http://schemas.microsoft.com/office/drawing/2014/main" id="{91E9EAC8-EAC8-8A8E-12BE-68225B5DF61A}"/>
                </a:ext>
              </a:extLst>
            </p:cNvPr>
            <p:cNvSpPr txBox="1"/>
            <p:nvPr/>
          </p:nvSpPr>
          <p:spPr>
            <a:xfrm>
              <a:off x="6099048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Schritte, Arbeitszeit, Endkontrolle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5958EE4-81F2-3D7D-F523-179850BF6474}"/>
                </a:ext>
              </a:extLst>
            </p:cNvPr>
            <p:cNvSpPr/>
            <p:nvPr/>
          </p:nvSpPr>
          <p:spPr>
            <a:xfrm>
              <a:off x="740664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984422EA-8EA9-0057-7CE3-C31E50BAC40F}"/>
                </a:ext>
              </a:extLst>
            </p:cNvPr>
            <p:cNvSpPr txBox="1"/>
            <p:nvPr/>
          </p:nvSpPr>
          <p:spPr>
            <a:xfrm>
              <a:off x="758952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9E6036D2-CA77-79F5-AD32-1E1090F78AC9}"/>
                </a:ext>
              </a:extLst>
            </p:cNvPr>
            <p:cNvSpPr txBox="1"/>
            <p:nvPr/>
          </p:nvSpPr>
          <p:spPr>
            <a:xfrm>
              <a:off x="745236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Text 38">
              <a:extLst>
                <a:ext uri="{FF2B5EF4-FFF2-40B4-BE49-F238E27FC236}">
                  <a16:creationId xmlns:a16="http://schemas.microsoft.com/office/drawing/2014/main" id="{6A81179B-0E6D-4261-2C86-E82B9E5AFD73}"/>
                </a:ext>
              </a:extLst>
            </p:cNvPr>
            <p:cNvSpPr txBox="1"/>
            <p:nvPr/>
          </p:nvSpPr>
          <p:spPr>
            <a:xfrm>
              <a:off x="748893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Benachrichtigung, Rechnung, Zahlung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4BD734DC-6D43-0678-E2C9-B18A97D258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55300" y="2157288"/>
              <a:ext cx="720000" cy="720000"/>
            </a:xfrm>
            <a:prstGeom prst="rect">
              <a:avLst/>
            </a:prstGeom>
          </p:spPr>
        </p:pic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FD9B80FD-F6BB-1DBA-9C78-8FE294361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05976" y="2157288"/>
              <a:ext cx="720000" cy="720000"/>
            </a:xfrm>
            <a:prstGeom prst="rect">
              <a:avLst/>
            </a:prstGeom>
          </p:spPr>
        </p:pic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E146D0C-5CE4-C481-0A7D-8604D99718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82592" y="2153270"/>
              <a:ext cx="720000" cy="720000"/>
            </a:xfrm>
            <a:prstGeom prst="rect">
              <a:avLst/>
            </a:prstGeom>
          </p:spPr>
        </p:pic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149AB788-B0A0-27E4-E44B-FB854DF58C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76251" y="2153270"/>
              <a:ext cx="720000" cy="720000"/>
            </a:xfrm>
            <a:prstGeom prst="rect">
              <a:avLst/>
            </a:prstGeom>
          </p:spPr>
        </p:pic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BE44C8A4-075B-5AB0-8CD3-8C836D862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83228" y="2147510"/>
              <a:ext cx="720000" cy="720000"/>
            </a:xfrm>
            <a:prstGeom prst="rect">
              <a:avLst/>
            </a:prstGeom>
          </p:spPr>
        </p:pic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CCCE62BC-BA7E-B8B1-0386-CFA5D2F0C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3546" y="2157288"/>
              <a:ext cx="720000" cy="720000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F6A1B6E3-88D8-142F-94E7-CD776DB106B3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führt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Reparaturaufträge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sechs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der App-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Anfrage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bis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Abholung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3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Prozess-Highlights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640079" y="192689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 dem Versand wartet ein ereignisbasiertes Gateway auf Freigabe, Ablehnung oder drei Tage Frist.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 Fristablauf erinnert RepairFlow, höchstens zweimal. Nach dem dritten Fristablauf ohne Antwort gilt der KVA als abgelehnt, das Gerät geht mit Diagnosepauschale zur Abholung.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 bleibt liegen.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42899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 Teil läuft parallel eine Prüfung: erst das eigene Lager, dann die anderen Filialen.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Lokal vorhanden: reservieren. Anderswo vorhanden: umlagern. Nirgends: als Fehlteil markieren und erst dann bestellen (P06).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Meldebestand unterschritten: Nachbestellvorschlag.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621791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 prüft den Mangel, eine Geschäftsregel entscheidet über Gewährleistung.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Gewährleistung: Die Werkstattleitung gibt die kostenfreie Nacharbeit frei, der Auftrag läuft durch die normale Auftragsreise. Sonst: kostenpflichtiges Angebot.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Modell bleibt schlank, weil die Reklamation keine eigene Reparaturlogik braucht.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010833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077889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077889"/>
            <a:ext cx="914400" cy="914400"/>
          </a:xfrm>
          <a:prstGeom prst="rect">
            <a:avLst/>
          </a:prstGeom>
        </p:spPr>
      </p:pic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7948C548-1A23-5D56-8228-CBC2E77D3897}"/>
              </a:ext>
            </a:extLst>
          </p:cNvPr>
          <p:cNvCxnSpPr>
            <a:cxnSpLocks/>
          </p:cNvCxnSpPr>
          <p:nvPr/>
        </p:nvCxnSpPr>
        <p:spPr>
          <a:xfrm>
            <a:off x="307155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EF51E887-D57F-2501-C720-EF36F9A1AD5C}"/>
              </a:ext>
            </a:extLst>
          </p:cNvPr>
          <p:cNvCxnSpPr>
            <a:cxnSpLocks/>
          </p:cNvCxnSpPr>
          <p:nvPr/>
        </p:nvCxnSpPr>
        <p:spPr>
          <a:xfrm>
            <a:off x="587571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Aufnehmen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lädt Foto, Video oder Ton in der App hoch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2139696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Erkennen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KI-Dienst nennt Gerätetyp, Ursache und Ersatzteile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3822192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Kalkulieren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berechnet einen vorläufigen KVA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5504688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Prüfen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in allen Filialen geprüft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7187184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bestätigt Termin, Teile vorreserviert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Heute machbar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 Schäden per Bildanalyse: gebrochenes Display, gerissene Kette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Vorab-KVA aus Teilepreisen und Aufwandsrichtwerten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Verfügbarkeitsprüfung und Vorreservierung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Vision und Absicherung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Geräuschanalyse von E-Bike-Motoren, Aufwand aus Video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Vorschlag bleibt vorläufig, der Techniker bestätigt oder korrigiert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Medien nur mit Einwilligung, Löschung nach Abschluss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Grafik 34" descr="Tageskalender mit einfarbiger Füllung">
            <a:extLst>
              <a:ext uri="{FF2B5EF4-FFF2-40B4-BE49-F238E27FC236}">
                <a16:creationId xmlns:a16="http://schemas.microsoft.com/office/drawing/2014/main" id="{02F94359-EFD3-0187-6F0B-1BADC1C1C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288628"/>
            <a:ext cx="648000" cy="648000"/>
          </a:xfrm>
          <a:prstGeom prst="rect">
            <a:avLst/>
          </a:prstGeom>
        </p:spPr>
      </p:pic>
      <p:pic>
        <p:nvPicPr>
          <p:cNvPr id="37" name="Grafik 36" descr="Marke mit einfarbiger Füllung">
            <a:extLst>
              <a:ext uri="{FF2B5EF4-FFF2-40B4-BE49-F238E27FC236}">
                <a16:creationId xmlns:a16="http://schemas.microsoft.com/office/drawing/2014/main" id="{5C8F8888-A908-9FE9-76AC-9817079D2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288628"/>
            <a:ext cx="648000" cy="648000"/>
          </a:xfrm>
          <a:prstGeom prst="rect">
            <a:avLst/>
          </a:prstGeom>
        </p:spPr>
      </p:pic>
      <p:pic>
        <p:nvPicPr>
          <p:cNvPr id="39" name="Grafik 38" descr="Münzen mit einfarbiger Füllung">
            <a:extLst>
              <a:ext uri="{FF2B5EF4-FFF2-40B4-BE49-F238E27FC236}">
                <a16:creationId xmlns:a16="http://schemas.microsoft.com/office/drawing/2014/main" id="{9C064899-7FF6-F1FA-094D-A2C1BE09F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260594"/>
            <a:ext cx="648000" cy="648000"/>
          </a:xfrm>
          <a:prstGeom prst="rect">
            <a:avLst/>
          </a:prstGeom>
        </p:spPr>
      </p:pic>
      <p:pic>
        <p:nvPicPr>
          <p:cNvPr id="41" name="Grafik 40" descr="Künstliche Intelligenz mit einfarbiger Füllung">
            <a:extLst>
              <a:ext uri="{FF2B5EF4-FFF2-40B4-BE49-F238E27FC236}">
                <a16:creationId xmlns:a16="http://schemas.microsoft.com/office/drawing/2014/main" id="{6DB060CD-45E9-4F32-6C01-D01512FAF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238897"/>
            <a:ext cx="648000" cy="648000"/>
          </a:xfrm>
          <a:prstGeom prst="rect">
            <a:avLst/>
          </a:prstGeom>
        </p:spPr>
      </p:pic>
      <p:pic>
        <p:nvPicPr>
          <p:cNvPr id="43" name="Grafik 42" descr="Kamera mit einfarbiger Füllung">
            <a:extLst>
              <a:ext uri="{FF2B5EF4-FFF2-40B4-BE49-F238E27FC236}">
                <a16:creationId xmlns:a16="http://schemas.microsoft.com/office/drawing/2014/main" id="{E41885DE-76B5-3C01-90F4-637E7069C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300251"/>
            <a:ext cx="648000" cy="648000"/>
          </a:xfrm>
          <a:prstGeom prst="rect">
            <a:avLst/>
          </a:prstGeom>
        </p:spPr>
      </p:pic>
      <p:cxnSp>
        <p:nvCxnSpPr>
          <p:cNvPr id="3" name="Gerade Verbindung 2">
            <a:extLst>
              <a:ext uri="{FF2B5EF4-FFF2-40B4-BE49-F238E27FC236}">
                <a16:creationId xmlns:a16="http://schemas.microsoft.com/office/drawing/2014/main" id="{2472465D-9E73-998C-EB3F-FD9359C82543}"/>
              </a:ext>
            </a:extLst>
          </p:cNvPr>
          <p:cNvCxnSpPr>
            <a:cxnSpLocks/>
          </p:cNvCxnSpPr>
          <p:nvPr/>
        </p:nvCxnSpPr>
        <p:spPr>
          <a:xfrm>
            <a:off x="487680" y="3017521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D6C3867-136C-1D68-02B8-139A62EA700B}"/>
              </a:ext>
            </a:extLst>
          </p:cNvPr>
          <p:cNvCxnSpPr>
            <a:cxnSpLocks/>
          </p:cNvCxnSpPr>
          <p:nvPr/>
        </p:nvCxnSpPr>
        <p:spPr>
          <a:xfrm>
            <a:off x="4501343" y="3192087"/>
            <a:ext cx="0" cy="121920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10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BPMN-Kollaborationsdiagramme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 Aktivitäten im Werkstatt-Pool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Use Cases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17 Rollen und Akteure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40 Assoziationen, 7 Aufzählungen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Sequenzdiagramme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3"/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Geschäftsprozesse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4"/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Camunda Modeler, BPMN 2.0, angereichert für Camunda 8. Zehn Prozesse vom ersten Foto bis zur Retoure. 45 Nachrichtenflüsse, 53 Datenobjekte, 12 Datenspeicher.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Objektorientierte Analyse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18"/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Visual Paradigm: Use-Case-Diagramm, ein vollständiges Klassendiagramm, sechs Sequenzdiagramme als Unterdiagramme der Use Cases.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Dokumentation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Rund 20 Seiten: Projekt, Vorgehen, Projektmanagement, alle Artefakte, Konsistenz der Modelle, Herausforderungen und Feedback.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8C573E46-BC93-A9B9-D7EC-17E4C6DFE18A}"/>
              </a:ext>
            </a:extLst>
          </p:cNvPr>
          <p:cNvCxnSpPr>
            <a:cxnSpLocks/>
          </p:cNvCxnSpPr>
          <p:nvPr/>
        </p:nvCxnSpPr>
        <p:spPr>
          <a:xfrm>
            <a:off x="297180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3E59AA9-5ABB-7007-6AC1-BF09D49F26D7}"/>
              </a:ext>
            </a:extLst>
          </p:cNvPr>
          <p:cNvCxnSpPr>
            <a:cxnSpLocks/>
          </p:cNvCxnSpPr>
          <p:nvPr/>
        </p:nvCxnSpPr>
        <p:spPr>
          <a:xfrm>
            <a:off x="592074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FA1FCB79-1404-2061-8A83-0CC66FC7B823}"/>
              </a:ext>
            </a:extLst>
          </p:cNvPr>
          <p:cNvCxnSpPr>
            <a:cxnSpLocks/>
          </p:cNvCxnSpPr>
          <p:nvPr/>
        </p:nvCxnSpPr>
        <p:spPr>
          <a:xfrm>
            <a:off x="487680" y="2709949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09380"/>
              </p:ext>
            </p:extLst>
          </p:nvPr>
        </p:nvGraphicFramePr>
        <p:xfrm>
          <a:off x="457200" y="1228475"/>
          <a:ext cx="5120640" cy="301752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13199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943600" y="20514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Aktivitäten im Werkstatt-Pool, im </a:t>
            </a:r>
            <a:r>
              <a:rPr lang="en-US" sz="11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Schnitt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13,6 je Diagramm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5943600" y="26915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62 %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6"/>
          <p:cNvSpPr txBox="1"/>
          <p:nvPr/>
        </p:nvSpPr>
        <p:spPr>
          <a:xfrm>
            <a:off x="5943600" y="34230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davon führt RepairFlow ohne manuelle Arbeit aus: Status, Benachrichtigung, Prüfung, Berechnung, Regel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/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 in vier Bereichen. Jeder Use Case hat genau eine Rolle.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64008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962035"/>
            <a:ext cx="1600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</a:t>
            </a:r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KI-Diagnosedienst (extern)</a:t>
            </a:r>
            <a:endParaRPr lang="de-DE" sz="1400"/>
          </a:p>
        </p:txBody>
      </p:sp>
      <p:sp>
        <p:nvSpPr>
          <p:cNvPr id="15" name="Text 10"/>
          <p:cNvSpPr txBox="1"/>
          <p:nvPr/>
        </p:nvSpPr>
        <p:spPr>
          <a:xfrm>
            <a:off x="274320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743200" y="2962035"/>
            <a:ext cx="174788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Rollen, von der Annahme bis zur Reklamation</a:t>
            </a:r>
            <a:endParaRPr lang="de-DE" sz="1400"/>
          </a:p>
        </p:txBody>
      </p:sp>
      <p:sp>
        <p:nvSpPr>
          <p:cNvPr id="20" name="Text 14"/>
          <p:cNvSpPr txBox="1"/>
          <p:nvPr/>
        </p:nvSpPr>
        <p:spPr>
          <a:xfrm>
            <a:off x="484632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846319" y="2962035"/>
            <a:ext cx="182879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Rollen</a:t>
            </a:r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Lieferant: Black Box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6949440" y="2395107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949439" y="2962035"/>
            <a:ext cx="18686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 Case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Betriebsadministrator</a:t>
            </a:r>
            <a:endParaRPr lang="de-DE" sz="1400"/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D84854F3-6298-35F4-4F2A-D9CF1A4F06B3}"/>
              </a:ext>
            </a:extLst>
          </p:cNvPr>
          <p:cNvCxnSpPr>
            <a:cxnSpLocks/>
          </p:cNvCxnSpPr>
          <p:nvPr/>
        </p:nvCxnSpPr>
        <p:spPr>
          <a:xfrm>
            <a:off x="2379094" y="1341225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B032C663-F11A-99DD-08FB-4E51CB2900F4}"/>
              </a:ext>
            </a:extLst>
          </p:cNvPr>
          <p:cNvCxnSpPr>
            <a:cxnSpLocks/>
          </p:cNvCxnSpPr>
          <p:nvPr/>
        </p:nvCxnSpPr>
        <p:spPr>
          <a:xfrm>
            <a:off x="4616390" y="1327478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13F0858-83F7-921A-5704-5A11E9DD8AF9}"/>
              </a:ext>
            </a:extLst>
          </p:cNvPr>
          <p:cNvCxnSpPr>
            <a:cxnSpLocks/>
          </p:cNvCxnSpPr>
          <p:nvPr/>
        </p:nvCxnSpPr>
        <p:spPr>
          <a:xfrm>
            <a:off x="6800418" y="1313731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/>
          </a:p>
        </p:txBody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Zwei Prüfprogramme: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070184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0">
            <a:extLst>
              <a:ext uri="{FF2B5EF4-FFF2-40B4-BE49-F238E27FC236}">
                <a16:creationId xmlns:a16="http://schemas.microsoft.com/office/drawing/2014/main" id="{765C87F5-EDD7-8E6E-8D51-45DBABBB98F3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/>
          </a:p>
        </p:txBody>
      </p:sp>
      <p:cxnSp>
        <p:nvCxnSpPr>
          <p:cNvPr id="30" name="Gerade Verbindung 29">
            <a:extLst>
              <a:ext uri="{FF2B5EF4-FFF2-40B4-BE49-F238E27FC236}">
                <a16:creationId xmlns:a16="http://schemas.microsoft.com/office/drawing/2014/main" id="{D4E11CBB-82A1-CE3E-2590-D1ACD5DB8951}"/>
              </a:ext>
            </a:extLst>
          </p:cNvPr>
          <p:cNvCxnSpPr>
            <a:cxnSpLocks/>
          </p:cNvCxnSpPr>
          <p:nvPr/>
        </p:nvCxnSpPr>
        <p:spPr>
          <a:xfrm>
            <a:off x="5861285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Wir sind der Anbieter, FixWerk ist Pilotkunde.</a:t>
            </a:r>
            <a:endParaRPr lang="de-DE" sz="14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Datenobjekte und Statuswerte heißen überall gleich.</a:t>
            </a:r>
            <a:endParaRPr lang="de-DE" sz="1400"/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Fehler im Camunda Modeler</a:t>
            </a:r>
            <a:endParaRPr lang="de-DE" sz="140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so lange ergänzt, bis keine Fehler mehr kamen.</a:t>
            </a:r>
            <a:endParaRPr lang="de-DE" sz="1400"/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aus den Coachings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Rolle je Use Case, eigene Oberflächenklassen, KI-Vision realistisch halten.</a:t>
            </a:r>
            <a:endParaRPr lang="de-DE" sz="1400"/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A48CE5FD-F9CC-24CB-FA2B-923ED5921C61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669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Themenwahl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8288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005434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Konzept + Feedback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004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33101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Prozessanalyse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46817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9436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60533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OOA (UML)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152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7516403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 + Präsentation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4008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Rollen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4008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Projektleitung Nina (Stellvertretung und Backups David), Product Owner Adrian, Scrum Master Kilian, UML Kilian und David, BPMN Maximilian, Qualität Jakob.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342900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19177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Zusammenarbeit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342900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21792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Ablauf</a:t>
            </a: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je </a:t>
            </a: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</a:t>
            </a:r>
            <a:endParaRPr lang="en-US" sz="1400" b="1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32" name="Text 26"/>
          <p:cNvSpPr txBox="1"/>
          <p:nvPr/>
        </p:nvSpPr>
        <p:spPr>
          <a:xfrm>
            <a:off x="621792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Entwurf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Zweierteam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gegenseitiges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Review, Abstimmung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Gruppentermin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Umsetzung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Pull Request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Review.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Entscheidungen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Begründung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Entscheidungslog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Korrektur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nachvollziehbar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bleibt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EF3F177-BCC2-B7E8-4C79-2BAC6028859E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583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Abo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5720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Basis: Auftrags- und Kundenverwaltung mit Kundenportal. Pro: zusätzlich filialübergreifende Disposition und KI-Sofortdiagnose.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482457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2457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Unabhängige Werkstätten und kleine Ketten mit 2 bis 10 Filialen im DACH-Raum, für die ein großes Werkstattsystem zu schwer 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57200" y="335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Ausblick (Vision, nicht modelliert)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572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Predictive 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572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Bedarfsprognose je Filiale und Saison, damit Teile vor der Nachfrage im Lager liegen.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4290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Techniker-Copilot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4290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Reparaturschritte und Aufwand aus der Historie ähnlicher Aufträge vorschlagen.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288941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Digitale Geräteakte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6288941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Gerät behält seine Reparaturgeschichte über alle Filialen und Besitzer.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Geld mit einfarbiger Füllung">
            <a:extLst>
              <a:ext uri="{FF2B5EF4-FFF2-40B4-BE49-F238E27FC236}">
                <a16:creationId xmlns:a16="http://schemas.microsoft.com/office/drawing/2014/main" id="{642898C4-E097-D67C-490C-E84451008C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5"/>
            <a:ext cx="914400" cy="914400"/>
          </a:xfrm>
          <a:prstGeom prst="rect">
            <a:avLst/>
          </a:prstGeom>
        </p:spPr>
      </p:pic>
      <p:pic>
        <p:nvPicPr>
          <p:cNvPr id="32" name="Grafik 31" descr="Laden mit einfarbiger Füllung">
            <a:extLst>
              <a:ext uri="{FF2B5EF4-FFF2-40B4-BE49-F238E27FC236}">
                <a16:creationId xmlns:a16="http://schemas.microsoft.com/office/drawing/2014/main" id="{7E835EF6-A092-A989-138F-B59E682C2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90" y="99598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löst den Medienbruch aus Papier, Excel und Telefon und macht den Reparaturauftrag zum zentralen Zustandsautomaten.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Der fachliche Mehrwert liegt in der filialübergreifenden Disposition und in der KI-Sofortdiagnose, die dem Kunden Klarheit gibt, bevor er die Werkstatt betritt.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Vielen Dank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3E3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Fragen?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 1 · WWI25B4 · RepairFlow · Diagramme und Details in der Projektdokumentation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668167"/>
              </p:ext>
            </p:extLst>
          </p:nvPr>
        </p:nvGraphicFramePr>
        <p:xfrm>
          <a:off x="457200" y="1244376"/>
          <a:ext cx="8229600" cy="3200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16–18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Vorgehen und Projektmanagement, Geschäftsmodell und Ausblick, Fazit, Moderation der Fragerunde; Projektleitung, Redaktion der Dokumentation, Abgabe-Archiv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Problem, Lösung, Nutzenversprechen; Use-Case-Diagramm und Sequenzdiagramme SD5 und SD6 in Visual Paradigm, stellvertretende Projektleitung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Ergebnisse in Zahlen, Prozesslandkarte; Product Owner, Fachkonzept und Entscheidungslog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Prozess-Highlights, Live-Demo, KI-Sofortdiagnose; BPMN-Modellierung der zehn Prozesse im Camunda Modeler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12–13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Auftragsreise, Rollen und Use Cases, Datenmodell; Klassendiagramm, SD1 bis SD4 und VP-Projekt, Scrum Master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Qualität, Herausforderungen und Lernerfahrungen; Qualitätssicherung, Reviews und Konsistenz der Modelle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066B39A-F881-C371-A34D-09F0A6E891EC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1631</Words>
  <Application>Microsoft Macintosh PowerPoint</Application>
  <PresentationFormat>Bildschirmpräsentation (16:9)</PresentationFormat>
  <Paragraphs>323</Paragraphs>
  <Slides>19</Slides>
  <Notes>19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Segoe UI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14</cp:revision>
  <dcterms:created xsi:type="dcterms:W3CDTF">2026-10-15T07:59:30Z</dcterms:created>
  <dcterms:modified xsi:type="dcterms:W3CDTF">2026-10-24T11:35:01Z</dcterms:modified>
</cp:coreProperties>
</file>