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4"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009"/>
    <p:restoredTop sz="94610"/>
  </p:normalViewPr>
  <p:slideViewPr>
    <p:cSldViewPr snapToGrid="0" snapToObjects="1">
      <p:cViewPr varScale="1">
        <p:scale>
          <a:sx n="184" d="100"/>
          <a:sy n="184" d="100"/>
        </p:scale>
        <p:origin x="176" y="6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5.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36" name="Text 33"/>
          <p:cNvSpPr txBox="1"/>
          <p:nvPr/>
        </p:nvSpPr>
        <p:spPr>
          <a:xfrm>
            <a:off x="548640" y="4389120"/>
            <a:ext cx="7772400" cy="274320"/>
          </a:xfrm>
          <a:prstGeom prst="rect">
            <a:avLst/>
          </a:prstGeom>
          <a:noFill/>
          <a:ln/>
        </p:spPr>
        <p:txBody>
          <a:bodyPr wrap="square" lIns="0" tIns="0" rIns="0" bIns="0" rtlCol="0" anchor="ctr"/>
          <a:lstStyle/>
          <a:p>
            <a:pPr marL="0" indent="0">
              <a:buNone/>
            </a:pPr>
            <a:r>
              <a:rPr lang="en-US" sz="1100" i="1" dirty="0">
                <a:solidFill>
                  <a:srgbClr val="5F6B7A"/>
                </a:solidFill>
                <a:latin typeface="Calibri" pitchFamily="34" charset="0"/>
                <a:ea typeface="Calibri" pitchFamily="34" charset="-122"/>
                <a:cs typeface="Calibri" pitchFamily="34" charset="-120"/>
              </a:rPr>
              <a:t>15 bis 20 Minuten · alle Gruppenmitglieder tragen vor · Diagramme in Dokumentation und Abgabepaket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ctr"/>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Die Auftragsreise mit RepairFlow</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sp>
        <p:nvSpPr>
          <p:cNvPr id="6" name="Shape 3"/>
          <p:cNvSpPr/>
          <p:nvPr/>
        </p:nvSpPr>
        <p:spPr>
          <a:xfrm>
            <a:off x="457200"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64008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P01</a:t>
            </a:r>
            <a:endParaRPr lang="en-US" sz="1000" dirty="0"/>
          </a:p>
        </p:txBody>
      </p:sp>
      <p:sp>
        <p:nvSpPr>
          <p:cNvPr id="8" name="Shape 5"/>
          <p:cNvSpPr/>
          <p:nvPr/>
        </p:nvSpPr>
        <p:spPr>
          <a:xfrm>
            <a:off x="457200" y="1645920"/>
            <a:ext cx="1298448" cy="1828800"/>
          </a:xfrm>
          <a:prstGeom prst="roundRect">
            <a:avLst>
              <a:gd name="adj" fmla="val 5634"/>
            </a:avLst>
          </a:prstGeom>
          <a:solidFill>
            <a:srgbClr val="FFF4D6"/>
          </a:solidFill>
          <a:ln w="12700">
            <a:solidFill>
              <a:srgbClr val="FFF4D6"/>
            </a:solidFill>
            <a:prstDash val="solid"/>
          </a:ln>
        </p:spPr>
        <p:txBody>
          <a:bodyPr/>
          <a:lstStyle/>
          <a:p>
            <a:endParaRPr lang="de-DE"/>
          </a:p>
        </p:txBody>
      </p:sp>
      <p:sp>
        <p:nvSpPr>
          <p:cNvPr id="9" name="Shape 6"/>
          <p:cNvSpPr/>
          <p:nvPr/>
        </p:nvSpPr>
        <p:spPr>
          <a:xfrm>
            <a:off x="850392" y="1755648"/>
            <a:ext cx="502920" cy="502920"/>
          </a:xfrm>
          <a:prstGeom prst="ellipse">
            <a:avLst/>
          </a:prstGeom>
          <a:solidFill>
            <a:srgbClr val="F2A900"/>
          </a:solidFill>
          <a:ln w="12700">
            <a:solidFill>
              <a:srgbClr val="F2A900"/>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976122" y="1881378"/>
            <a:ext cx="251460" cy="251460"/>
          </a:xfrm>
          <a:prstGeom prst="rect">
            <a:avLst/>
          </a:prstGeom>
        </p:spPr>
      </p:pic>
      <p:sp>
        <p:nvSpPr>
          <p:cNvPr id="11" name="Text 7"/>
          <p:cNvSpPr txBox="1"/>
          <p:nvPr/>
        </p:nvSpPr>
        <p:spPr>
          <a:xfrm>
            <a:off x="50292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Anfrage per App</a:t>
            </a:r>
            <a:endParaRPr lang="en-US" sz="1100" dirty="0"/>
          </a:p>
        </p:txBody>
      </p:sp>
      <p:sp>
        <p:nvSpPr>
          <p:cNvPr id="12" name="Text 8"/>
          <p:cNvSpPr txBox="1"/>
          <p:nvPr/>
        </p:nvSpPr>
        <p:spPr>
          <a:xfrm>
            <a:off x="53035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KI-Vorschlag, Vorab-KVA, Termin</a:t>
            </a:r>
            <a:endParaRPr lang="en-US" sz="950" dirty="0"/>
          </a:p>
        </p:txBody>
      </p:sp>
      <p:sp>
        <p:nvSpPr>
          <p:cNvPr id="13" name="Shape 9"/>
          <p:cNvSpPr/>
          <p:nvPr/>
        </p:nvSpPr>
        <p:spPr>
          <a:xfrm>
            <a:off x="1847088"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14" name="Text 10"/>
          <p:cNvSpPr txBox="1"/>
          <p:nvPr/>
        </p:nvSpPr>
        <p:spPr>
          <a:xfrm>
            <a:off x="2029968"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P02</a:t>
            </a:r>
            <a:endParaRPr lang="en-US" sz="1000" dirty="0"/>
          </a:p>
        </p:txBody>
      </p:sp>
      <p:sp>
        <p:nvSpPr>
          <p:cNvPr id="15" name="Shape 11"/>
          <p:cNvSpPr/>
          <p:nvPr/>
        </p:nvSpPr>
        <p:spPr>
          <a:xfrm>
            <a:off x="1847088"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16" name="Shape 12"/>
          <p:cNvSpPr/>
          <p:nvPr/>
        </p:nvSpPr>
        <p:spPr>
          <a:xfrm>
            <a:off x="2240280"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17" name="Image 1" descr="preencoded.png"/>
          <p:cNvPicPr>
            <a:picLocks noChangeAspect="1"/>
          </p:cNvPicPr>
          <p:nvPr/>
        </p:nvPicPr>
        <p:blipFill>
          <a:blip r:embed="rId4"/>
          <a:stretch>
            <a:fillRect/>
          </a:stretch>
        </p:blipFill>
        <p:spPr>
          <a:xfrm>
            <a:off x="2366010" y="1881378"/>
            <a:ext cx="251460" cy="251460"/>
          </a:xfrm>
          <a:prstGeom prst="rect">
            <a:avLst/>
          </a:prstGeom>
        </p:spPr>
      </p:pic>
      <p:sp>
        <p:nvSpPr>
          <p:cNvPr id="18" name="Text 13"/>
          <p:cNvSpPr txBox="1"/>
          <p:nvPr/>
        </p:nvSpPr>
        <p:spPr>
          <a:xfrm>
            <a:off x="1892808"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Annahme</a:t>
            </a:r>
            <a:endParaRPr lang="en-US" sz="1100" dirty="0"/>
          </a:p>
        </p:txBody>
      </p:sp>
      <p:sp>
        <p:nvSpPr>
          <p:cNvPr id="19" name="Text 14"/>
          <p:cNvSpPr txBox="1"/>
          <p:nvPr/>
        </p:nvSpPr>
        <p:spPr>
          <a:xfrm>
            <a:off x="1920240"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Gerät registriert, Auftrag angelegt</a:t>
            </a:r>
            <a:endParaRPr lang="en-US" sz="950" dirty="0"/>
          </a:p>
        </p:txBody>
      </p:sp>
      <p:sp>
        <p:nvSpPr>
          <p:cNvPr id="20" name="Shape 15"/>
          <p:cNvSpPr/>
          <p:nvPr/>
        </p:nvSpPr>
        <p:spPr>
          <a:xfrm>
            <a:off x="3236976"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21" name="Text 16"/>
          <p:cNvSpPr txBox="1"/>
          <p:nvPr/>
        </p:nvSpPr>
        <p:spPr>
          <a:xfrm>
            <a:off x="3419856"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P03, P04</a:t>
            </a:r>
            <a:endParaRPr lang="en-US" sz="1000" dirty="0"/>
          </a:p>
        </p:txBody>
      </p:sp>
      <p:sp>
        <p:nvSpPr>
          <p:cNvPr id="22" name="Shape 17"/>
          <p:cNvSpPr/>
          <p:nvPr/>
        </p:nvSpPr>
        <p:spPr>
          <a:xfrm>
            <a:off x="3236976"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23" name="Shape 18"/>
          <p:cNvSpPr/>
          <p:nvPr/>
        </p:nvSpPr>
        <p:spPr>
          <a:xfrm>
            <a:off x="3630168"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24" name="Image 2" descr="preencoded.png"/>
          <p:cNvPicPr>
            <a:picLocks noChangeAspect="1"/>
          </p:cNvPicPr>
          <p:nvPr/>
        </p:nvPicPr>
        <p:blipFill>
          <a:blip r:embed="rId5"/>
          <a:stretch>
            <a:fillRect/>
          </a:stretch>
        </p:blipFill>
        <p:spPr>
          <a:xfrm>
            <a:off x="3755898" y="1881378"/>
            <a:ext cx="251460" cy="251460"/>
          </a:xfrm>
          <a:prstGeom prst="rect">
            <a:avLst/>
          </a:prstGeom>
        </p:spPr>
      </p:pic>
      <p:sp>
        <p:nvSpPr>
          <p:cNvPr id="25" name="Text 19"/>
          <p:cNvSpPr txBox="1"/>
          <p:nvPr/>
        </p:nvSpPr>
        <p:spPr>
          <a:xfrm>
            <a:off x="3282696"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Diagnose und KVA</a:t>
            </a:r>
            <a:endParaRPr lang="en-US" sz="1100" dirty="0"/>
          </a:p>
        </p:txBody>
      </p:sp>
      <p:sp>
        <p:nvSpPr>
          <p:cNvPr id="26" name="Text 20"/>
          <p:cNvSpPr txBox="1"/>
          <p:nvPr/>
        </p:nvSpPr>
        <p:spPr>
          <a:xfrm>
            <a:off x="3310128"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Techniker prüft, Kunde gibt frei</a:t>
            </a:r>
            <a:endParaRPr lang="en-US" sz="950" dirty="0"/>
          </a:p>
        </p:txBody>
      </p:sp>
      <p:sp>
        <p:nvSpPr>
          <p:cNvPr id="27" name="Shape 21"/>
          <p:cNvSpPr/>
          <p:nvPr/>
        </p:nvSpPr>
        <p:spPr>
          <a:xfrm>
            <a:off x="4626864"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28" name="Text 22"/>
          <p:cNvSpPr txBox="1"/>
          <p:nvPr/>
        </p:nvSpPr>
        <p:spPr>
          <a:xfrm>
            <a:off x="4809744"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P05, P06</a:t>
            </a:r>
            <a:endParaRPr lang="en-US" sz="1000" dirty="0"/>
          </a:p>
        </p:txBody>
      </p:sp>
      <p:sp>
        <p:nvSpPr>
          <p:cNvPr id="29" name="Shape 23"/>
          <p:cNvSpPr/>
          <p:nvPr/>
        </p:nvSpPr>
        <p:spPr>
          <a:xfrm>
            <a:off x="4626864"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0" name="Shape 24"/>
          <p:cNvSpPr/>
          <p:nvPr/>
        </p:nvSpPr>
        <p:spPr>
          <a:xfrm>
            <a:off x="5020056"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1" name="Image 3" descr="preencoded.png"/>
          <p:cNvPicPr>
            <a:picLocks noChangeAspect="1"/>
          </p:cNvPicPr>
          <p:nvPr/>
        </p:nvPicPr>
        <p:blipFill>
          <a:blip r:embed="rId6"/>
          <a:stretch>
            <a:fillRect/>
          </a:stretch>
        </p:blipFill>
        <p:spPr>
          <a:xfrm>
            <a:off x="5145786" y="1881378"/>
            <a:ext cx="251460" cy="251460"/>
          </a:xfrm>
          <a:prstGeom prst="rect">
            <a:avLst/>
          </a:prstGeom>
        </p:spPr>
      </p:pic>
      <p:sp>
        <p:nvSpPr>
          <p:cNvPr id="32" name="Text 25"/>
          <p:cNvSpPr txBox="1"/>
          <p:nvPr/>
        </p:nvSpPr>
        <p:spPr>
          <a:xfrm>
            <a:off x="4672584"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Teile disponieren</a:t>
            </a:r>
            <a:endParaRPr lang="en-US" sz="1100" dirty="0"/>
          </a:p>
        </p:txBody>
      </p:sp>
      <p:sp>
        <p:nvSpPr>
          <p:cNvPr id="33" name="Text 26"/>
          <p:cNvSpPr txBox="1"/>
          <p:nvPr/>
        </p:nvSpPr>
        <p:spPr>
          <a:xfrm>
            <a:off x="4700016"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alle Filialen, Fehlteile bestellen</a:t>
            </a:r>
            <a:endParaRPr lang="en-US" sz="950" dirty="0"/>
          </a:p>
        </p:txBody>
      </p:sp>
      <p:sp>
        <p:nvSpPr>
          <p:cNvPr id="34" name="Shape 27"/>
          <p:cNvSpPr/>
          <p:nvPr/>
        </p:nvSpPr>
        <p:spPr>
          <a:xfrm>
            <a:off x="6016752"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35" name="Text 28"/>
          <p:cNvSpPr txBox="1"/>
          <p:nvPr/>
        </p:nvSpPr>
        <p:spPr>
          <a:xfrm>
            <a:off x="6199632"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P07</a:t>
            </a:r>
            <a:endParaRPr lang="en-US" sz="1000" dirty="0"/>
          </a:p>
        </p:txBody>
      </p:sp>
      <p:sp>
        <p:nvSpPr>
          <p:cNvPr id="36" name="Shape 29"/>
          <p:cNvSpPr/>
          <p:nvPr/>
        </p:nvSpPr>
        <p:spPr>
          <a:xfrm>
            <a:off x="6016752"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7" name="Shape 30"/>
          <p:cNvSpPr/>
          <p:nvPr/>
        </p:nvSpPr>
        <p:spPr>
          <a:xfrm>
            <a:off x="6409944"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8" name="Image 4" descr="preencoded.png"/>
          <p:cNvPicPr>
            <a:picLocks noChangeAspect="1"/>
          </p:cNvPicPr>
          <p:nvPr/>
        </p:nvPicPr>
        <p:blipFill>
          <a:blip r:embed="rId7"/>
          <a:stretch>
            <a:fillRect/>
          </a:stretch>
        </p:blipFill>
        <p:spPr>
          <a:xfrm>
            <a:off x="6535674" y="1881378"/>
            <a:ext cx="251460" cy="251460"/>
          </a:xfrm>
          <a:prstGeom prst="rect">
            <a:avLst/>
          </a:prstGeom>
        </p:spPr>
      </p:pic>
      <p:sp>
        <p:nvSpPr>
          <p:cNvPr id="39" name="Text 31"/>
          <p:cNvSpPr txBox="1"/>
          <p:nvPr/>
        </p:nvSpPr>
        <p:spPr>
          <a:xfrm>
            <a:off x="6062472"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Reparatur</a:t>
            </a:r>
            <a:endParaRPr lang="en-US" sz="1100" dirty="0"/>
          </a:p>
        </p:txBody>
      </p:sp>
      <p:sp>
        <p:nvSpPr>
          <p:cNvPr id="40" name="Text 32"/>
          <p:cNvSpPr txBox="1"/>
          <p:nvPr/>
        </p:nvSpPr>
        <p:spPr>
          <a:xfrm>
            <a:off x="6089904"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Schritte, Arbeitszeit, Endkontrolle</a:t>
            </a:r>
            <a:endParaRPr lang="en-US" sz="950" dirty="0"/>
          </a:p>
        </p:txBody>
      </p:sp>
      <p:sp>
        <p:nvSpPr>
          <p:cNvPr id="41" name="Shape 33"/>
          <p:cNvSpPr/>
          <p:nvPr/>
        </p:nvSpPr>
        <p:spPr>
          <a:xfrm>
            <a:off x="7406640"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42" name="Text 34"/>
          <p:cNvSpPr txBox="1"/>
          <p:nvPr/>
        </p:nvSpPr>
        <p:spPr>
          <a:xfrm>
            <a:off x="758952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P08</a:t>
            </a:r>
            <a:endParaRPr lang="en-US" sz="1000" dirty="0"/>
          </a:p>
        </p:txBody>
      </p:sp>
      <p:sp>
        <p:nvSpPr>
          <p:cNvPr id="43" name="Shape 35"/>
          <p:cNvSpPr/>
          <p:nvPr/>
        </p:nvSpPr>
        <p:spPr>
          <a:xfrm>
            <a:off x="7406640"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44" name="Shape 36"/>
          <p:cNvSpPr/>
          <p:nvPr/>
        </p:nvSpPr>
        <p:spPr>
          <a:xfrm>
            <a:off x="7799832"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45" name="Image 5" descr="preencoded.png"/>
          <p:cNvPicPr>
            <a:picLocks noChangeAspect="1"/>
          </p:cNvPicPr>
          <p:nvPr/>
        </p:nvPicPr>
        <p:blipFill>
          <a:blip r:embed="rId8"/>
          <a:stretch>
            <a:fillRect/>
          </a:stretch>
        </p:blipFill>
        <p:spPr>
          <a:xfrm>
            <a:off x="7925562" y="1881378"/>
            <a:ext cx="251460" cy="251460"/>
          </a:xfrm>
          <a:prstGeom prst="rect">
            <a:avLst/>
          </a:prstGeom>
        </p:spPr>
      </p:pic>
      <p:sp>
        <p:nvSpPr>
          <p:cNvPr id="46" name="Text 37"/>
          <p:cNvSpPr txBox="1"/>
          <p:nvPr/>
        </p:nvSpPr>
        <p:spPr>
          <a:xfrm>
            <a:off x="745236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Abholung</a:t>
            </a:r>
            <a:endParaRPr lang="en-US" sz="1100" dirty="0"/>
          </a:p>
        </p:txBody>
      </p:sp>
      <p:sp>
        <p:nvSpPr>
          <p:cNvPr id="47" name="Text 38"/>
          <p:cNvSpPr txBox="1"/>
          <p:nvPr/>
        </p:nvSpPr>
        <p:spPr>
          <a:xfrm>
            <a:off x="747979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Benachrichtigung, Rechnung, Zahlung</a:t>
            </a:r>
            <a:endParaRPr lang="en-US" sz="950" dirty="0"/>
          </a:p>
        </p:txBody>
      </p:sp>
      <p:sp>
        <p:nvSpPr>
          <p:cNvPr id="48" name="Text 39"/>
          <p:cNvSpPr txBox="1"/>
          <p:nvPr/>
        </p:nvSpPr>
        <p:spPr>
          <a:xfrm>
            <a:off x="457200" y="3611880"/>
            <a:ext cx="2743200" cy="274320"/>
          </a:xfrm>
          <a:prstGeom prst="rect">
            <a:avLst/>
          </a:prstGeom>
          <a:noFill/>
          <a:ln/>
        </p:spPr>
        <p:txBody>
          <a:bodyPr wrap="square" lIns="0" tIns="0" rIns="0" bIns="0" rtlCol="0" anchor="ctr"/>
          <a:lstStyle/>
          <a:p>
            <a:pPr marL="0" indent="0">
              <a:buNone/>
            </a:pPr>
            <a:r>
              <a:rPr lang="en-US" sz="1100" b="1" dirty="0">
                <a:solidFill>
                  <a:srgbClr val="0E5E5E"/>
                </a:solidFill>
                <a:latin typeface="Calibri" pitchFamily="34" charset="0"/>
                <a:ea typeface="Calibri" pitchFamily="34" charset="-122"/>
                <a:cs typeface="Calibri" pitchFamily="34" charset="-120"/>
              </a:rPr>
              <a:t>Status des Reparaturauftrags:</a:t>
            </a:r>
            <a:endParaRPr lang="en-US" sz="1100" dirty="0"/>
          </a:p>
        </p:txBody>
      </p:sp>
      <p:sp>
        <p:nvSpPr>
          <p:cNvPr id="49" name="Shape 40"/>
          <p:cNvSpPr/>
          <p:nvPr/>
        </p:nvSpPr>
        <p:spPr>
          <a:xfrm>
            <a:off x="45720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0" name="Text 41"/>
          <p:cNvSpPr txBox="1"/>
          <p:nvPr/>
        </p:nvSpPr>
        <p:spPr>
          <a:xfrm>
            <a:off x="45720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angenommen</a:t>
            </a:r>
            <a:endParaRPr lang="en-US" sz="900" dirty="0"/>
          </a:p>
        </p:txBody>
      </p:sp>
      <p:sp>
        <p:nvSpPr>
          <p:cNvPr id="51" name="Shape 42"/>
          <p:cNvSpPr/>
          <p:nvPr/>
        </p:nvSpPr>
        <p:spPr>
          <a:xfrm>
            <a:off x="149047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2" name="Text 43"/>
          <p:cNvSpPr txBox="1"/>
          <p:nvPr/>
        </p:nvSpPr>
        <p:spPr>
          <a:xfrm>
            <a:off x="149047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Diagnose</a:t>
            </a:r>
            <a:endParaRPr lang="en-US" sz="900" dirty="0"/>
          </a:p>
        </p:txBody>
      </p:sp>
      <p:sp>
        <p:nvSpPr>
          <p:cNvPr id="53" name="Shape 44"/>
          <p:cNvSpPr/>
          <p:nvPr/>
        </p:nvSpPr>
        <p:spPr>
          <a:xfrm>
            <a:off x="252374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4" name="Text 45"/>
          <p:cNvSpPr txBox="1"/>
          <p:nvPr/>
        </p:nvSpPr>
        <p:spPr>
          <a:xfrm>
            <a:off x="252374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KVA offen</a:t>
            </a:r>
            <a:endParaRPr lang="en-US" sz="900" dirty="0"/>
          </a:p>
        </p:txBody>
      </p:sp>
      <p:sp>
        <p:nvSpPr>
          <p:cNvPr id="55" name="Shape 46"/>
          <p:cNvSpPr/>
          <p:nvPr/>
        </p:nvSpPr>
        <p:spPr>
          <a:xfrm>
            <a:off x="3557016"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6" name="Text 47"/>
          <p:cNvSpPr txBox="1"/>
          <p:nvPr/>
        </p:nvSpPr>
        <p:spPr>
          <a:xfrm>
            <a:off x="3557016"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freigegeben</a:t>
            </a:r>
            <a:endParaRPr lang="en-US" sz="900" dirty="0"/>
          </a:p>
        </p:txBody>
      </p:sp>
      <p:sp>
        <p:nvSpPr>
          <p:cNvPr id="57" name="Shape 48"/>
          <p:cNvSpPr/>
          <p:nvPr/>
        </p:nvSpPr>
        <p:spPr>
          <a:xfrm>
            <a:off x="4590288"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8" name="Text 49"/>
          <p:cNvSpPr txBox="1"/>
          <p:nvPr/>
        </p:nvSpPr>
        <p:spPr>
          <a:xfrm>
            <a:off x="4590288"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Teile bestellt</a:t>
            </a:r>
            <a:endParaRPr lang="en-US" sz="900" dirty="0"/>
          </a:p>
        </p:txBody>
      </p:sp>
      <p:sp>
        <p:nvSpPr>
          <p:cNvPr id="59" name="Shape 50"/>
          <p:cNvSpPr/>
          <p:nvPr/>
        </p:nvSpPr>
        <p:spPr>
          <a:xfrm>
            <a:off x="562356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0" name="Text 51"/>
          <p:cNvSpPr txBox="1"/>
          <p:nvPr/>
        </p:nvSpPr>
        <p:spPr>
          <a:xfrm>
            <a:off x="562356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Reparatur</a:t>
            </a:r>
            <a:endParaRPr lang="en-US" sz="900" dirty="0"/>
          </a:p>
        </p:txBody>
      </p:sp>
      <p:sp>
        <p:nvSpPr>
          <p:cNvPr id="61" name="Shape 52"/>
          <p:cNvSpPr/>
          <p:nvPr/>
        </p:nvSpPr>
        <p:spPr>
          <a:xfrm>
            <a:off x="665683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2" name="Text 53"/>
          <p:cNvSpPr txBox="1"/>
          <p:nvPr/>
        </p:nvSpPr>
        <p:spPr>
          <a:xfrm>
            <a:off x="665683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fertig</a:t>
            </a:r>
            <a:endParaRPr lang="en-US" sz="900" dirty="0"/>
          </a:p>
        </p:txBody>
      </p:sp>
      <p:sp>
        <p:nvSpPr>
          <p:cNvPr id="63" name="Shape 54"/>
          <p:cNvSpPr/>
          <p:nvPr/>
        </p:nvSpPr>
        <p:spPr>
          <a:xfrm>
            <a:off x="769010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4" name="Text 55"/>
          <p:cNvSpPr txBox="1"/>
          <p:nvPr/>
        </p:nvSpPr>
        <p:spPr>
          <a:xfrm>
            <a:off x="769010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abgeholt</a:t>
            </a:r>
            <a:endParaRPr lang="en-US" sz="900" dirty="0"/>
          </a:p>
        </p:txBody>
      </p:sp>
      <p:sp>
        <p:nvSpPr>
          <p:cNvPr id="65" name="Text 56"/>
          <p:cNvSpPr txBox="1"/>
          <p:nvPr/>
        </p:nvSpPr>
        <p:spPr>
          <a:xfrm>
            <a:off x="457200" y="434340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Reklamation (P09) und Retoure (P10) sind Folgeprozesse; im Gewährleistungsfall startet ein kostenfreier Nacharbeitsauftrag.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131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 Zustandsdiagramm</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41 Nachrichtenflüsse, 48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 Zustandsdiagramm des Reparaturauftrags.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60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131</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13,1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60 %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Servicemitarbeiter, Techniker, Disponent, Werkstattleiter als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das Zustandsdiagramm beschreibt seine Übergänge.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Gesamtprüfung 26.09., Komplettcheck 05.10. (39 Befunde),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Zuordnung nach der Zuständigkeitsverteilung vom Gruppentermin 15.10.2026 (E-23): Jede Person trägt vor, was sie verantwortet.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4491</Words>
  <Application>Microsoft Macintosh PowerPoint</Application>
  <PresentationFormat>Bildschirmpräsentation (16:9)</PresentationFormat>
  <Paragraphs>373</Paragraphs>
  <Slides>18</Slides>
  <Notes>17</Notes>
  <HiddenSlides>3</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18</vt:i4>
      </vt:variant>
    </vt:vector>
  </HeadingPairs>
  <TitlesOfParts>
    <vt:vector size="22" baseType="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3</cp:revision>
  <dcterms:created xsi:type="dcterms:W3CDTF">2026-10-15T07:59:30Z</dcterms:created>
  <dcterms:modified xsi:type="dcterms:W3CDTF">2026-10-15T09:55:21Z</dcterms:modified>
</cp:coreProperties>
</file>