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7" r:id="rId2"/>
    <p:sldId id="279" r:id="rId3"/>
    <p:sldId id="284" r:id="rId4"/>
    <p:sldId id="285" r:id="rId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46"/>
    <p:restoredTop sz="86198"/>
  </p:normalViewPr>
  <p:slideViewPr>
    <p:cSldViewPr snapToGrid="0" snapToObjects="1">
      <p:cViewPr>
        <p:scale>
          <a:sx n="154" d="100"/>
          <a:sy n="154" d="100"/>
        </p:scale>
        <p:origin x="182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undo custSel addSld delSld modSld sldOrd delSection modSection">
      <pc:chgData name="Kilian Platter" userId="c49eb2881fa751ca" providerId="LiveId" clId="{FDA102BF-EFD5-549B-81DE-49FC5087B7E9}" dt="2026-10-25T12:40:17.181" v="114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modSp add del mod setBg">
        <pc:chgData name="Kilian Platter" userId="c49eb2881fa751ca" providerId="LiveId" clId="{FDA102BF-EFD5-549B-81DE-49FC5087B7E9}" dt="2026-10-25T12:40:17.181" v="114"/>
        <pc:sldMkLst>
          <pc:docMk/>
          <pc:sldMk cId="0" sldId="286"/>
        </pc:sldMkLst>
        <pc:spChg chg="mod">
          <ac:chgData name="Kilian Platter" userId="c49eb2881fa751ca" providerId="LiveId" clId="{FDA102BF-EFD5-549B-81DE-49FC5087B7E9}" dt="2026-10-25T12:37:15.306" v="111" actId="20577"/>
          <ac:spMkLst>
            <pc:docMk/>
            <pc:sldMk cId="0" sldId="286"/>
            <ac:spMk id="15" creationId="{00000000-0000-0000-0000-000000000000}"/>
          </ac:spMkLst>
        </pc:spChg>
      </pc:sldChg>
      <pc:sldChg chg="addSp modSp add del mod">
        <pc:chgData name="Kilian Platter" userId="c49eb2881fa751ca" providerId="LiveId" clId="{FDA102BF-EFD5-549B-81DE-49FC5087B7E9}" dt="2026-10-25T12:40:17.181" v="114"/>
        <pc:sldMkLst>
          <pc:docMk/>
          <pc:sldMk cId="1146934768" sldId="287"/>
        </pc:sldMkLst>
        <pc:spChg chg="add mod">
          <ac:chgData name="Kilian Platter" userId="c49eb2881fa751ca" providerId="LiveId" clId="{FDA102BF-EFD5-549B-81DE-49FC5087B7E9}" dt="2026-10-25T12:36:22.176" v="75" actId="767"/>
          <ac:spMkLst>
            <pc:docMk/>
            <pc:sldMk cId="1146934768" sldId="287"/>
            <ac:spMk id="3" creationId="{AAF87FD1-8161-332C-9A7A-AD7058CCCED3}"/>
          </ac:spMkLst>
        </pc:spChg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371977166" sldId="298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928356131" sldId="299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347267247" sldId="300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952413891" sldId="301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455471251" sldId="302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4028699230" sldId="303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621225341" sldId="304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207933256" sldId="305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794711449" sldId="3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David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8744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org&amp;utm_campaign=index&amp;utm_content=thumbnai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org&amp;utm_campaign=index&amp;utm_content=thumbnai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56A86EE-DC09-B033-0B1D-B21EC6A1F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9229725" cy="5146270"/>
          </a:xfrm>
          <a:prstGeom prst="rect">
            <a:avLst/>
          </a:prstGeom>
        </p:spPr>
      </p:pic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B556AB47-FAB5-4CC4-567F-A234BF027E0F}"/>
              </a:ext>
            </a:extLst>
          </p:cNvPr>
          <p:cNvSpPr/>
          <p:nvPr/>
        </p:nvSpPr>
        <p:spPr>
          <a:xfrm>
            <a:off x="374580" y="352425"/>
            <a:ext cx="3765157" cy="4438650"/>
          </a:xfrm>
          <a:prstGeom prst="roundRect">
            <a:avLst>
              <a:gd name="adj" fmla="val 9579"/>
            </a:avLst>
          </a:prstGeom>
          <a:solidFill>
            <a:srgbClr val="FFFFFF">
              <a:alpha val="9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6C365B0-8F46-FA27-8266-01F894DCD92F}"/>
              </a:ext>
            </a:extLst>
          </p:cNvPr>
          <p:cNvSpPr/>
          <p:nvPr/>
        </p:nvSpPr>
        <p:spPr>
          <a:xfrm>
            <a:off x="1192378" y="2136039"/>
            <a:ext cx="2553004" cy="365760"/>
          </a:xfrm>
          <a:prstGeom prst="roundRect">
            <a:avLst>
              <a:gd name="adj" fmla="val 35654"/>
            </a:avLst>
          </a:prstGeom>
          <a:solidFill>
            <a:srgbClr val="EC5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DF3887F-407E-3755-DDF6-F8F2B0225152}"/>
              </a:ext>
            </a:extLst>
          </p:cNvPr>
          <p:cNvSpPr txBox="1"/>
          <p:nvPr/>
        </p:nvSpPr>
        <p:spPr>
          <a:xfrm>
            <a:off x="551252" y="512794"/>
            <a:ext cx="34237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400" b="1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</a:t>
            </a:r>
            <a:r>
              <a:rPr lang="en-US" sz="4400" b="1" dirty="0" err="1">
                <a:solidFill>
                  <a:srgbClr val="EC570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Flow</a:t>
            </a:r>
            <a:endParaRPr lang="en-US" sz="4400" b="1" dirty="0">
              <a:solidFill>
                <a:srgbClr val="EC570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>
              <a:spcBef>
                <a:spcPts val="1200"/>
              </a:spcBef>
            </a:pP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-Management     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als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SaaS-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Plattform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           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 </a:t>
            </a:r>
            <a:r>
              <a:rPr lang="en-US" sz="24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</a:t>
            </a:r>
            <a:r>
              <a:rPr lang="en-US" sz="2400" dirty="0" err="1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en-US" sz="2400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Kilian Platter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Maximilian Ewald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David Leismann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Nina Sattler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Adrian Wenzler</a:t>
            </a:r>
            <a:endParaRPr lang="en-US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Jakob Schwan</a:t>
            </a:r>
          </a:p>
          <a:p>
            <a:pPr marL="0" indent="0">
              <a:buNone/>
            </a:pPr>
            <a:endParaRPr lang="en-US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837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 1: der Pitch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1097279" y="1294262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097279" y="1724030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Lösung, Nutzen, Auftragsreise, KI-Sofortdiagnose mit Live-Demo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 2: was dahintersteckt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5"/>
          <p:cNvSpPr txBox="1"/>
          <p:nvPr/>
        </p:nvSpPr>
        <p:spPr>
          <a:xfrm>
            <a:off x="1097279" y="2616127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Ergebnisse: zehn Geschäftsprozesse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1097279" y="3045895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Ergebnisse: Rollen, Use Cases und Datenmodell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7"/>
          <p:cNvSpPr txBox="1"/>
          <p:nvPr/>
        </p:nvSpPr>
        <p:spPr>
          <a:xfrm>
            <a:off x="1097279" y="3478140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31"/>
          <p:cNvSpPr txBox="1"/>
          <p:nvPr/>
        </p:nvSpPr>
        <p:spPr>
          <a:xfrm>
            <a:off x="1097279" y="3899363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Geschäftsmodell, Ausblick und Fazit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A8835FD-5497-EC50-1DD2-ED455455C932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mit vier Filialen. Sie arbeitet mit Papier, Excel-Listen und Telefon.</a:t>
            </a:r>
            <a:endParaRPr lang="de-DE" sz="130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 der KVA da ist oder das Gerät fertig ist, erfährt der Kunde nur am Telefon.</a:t>
            </a:r>
            <a:endParaRPr lang="de-DE" sz="1200"/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Zettel und Excel-Listen passen nicht zusammen. Wo ein Gerät steht, weiß niemand sofort.</a:t>
            </a:r>
            <a:endParaRPr lang="de-DE" sz="1200"/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selbst, obwohl das Teil oft nebenan liegt.</a:t>
            </a:r>
            <a:endParaRPr lang="de-DE" sz="1200"/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zugesagt.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EB356EA-8D17-78DF-665F-256C47083BC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 für die ganze Reparatur, von der Anfrage per App bis zur Abholung. Wir sind das Software-Startup, FixWerk ist unser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49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 freigeben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3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Werkstätten und kleine Ketten mit 2 bis 10 Filialen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Nicht Teil der Plattform: die Reparatur selbst, Lieferantensysteme, Buchhaltung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AB588F3B-A12F-C293-2450-D3764285F0C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: Die Lösung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den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die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Teilesuche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automatisch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Hintergrund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Mitarbeiterrolle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Camunda-Linter und Modeler-Prüfung: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Pools und Lanes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Pool mit Rollen als Lanes. Der Kunde bekam einen eigenen Ablauf.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Überschriebene Diagramme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Teamwork-Update spielte alte Versionen ein. Seitdem: Update vorher, Commit sofort.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1-4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Agenda | Das Problem: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Werkstätten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heute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RepairFlow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: die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5, 14-15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6-9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 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10-13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16-17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18-20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Macintosh PowerPoint</Application>
  <PresentationFormat>Bildschirmpräsentation (16:9)</PresentationFormat>
  <Paragraphs>346</Paragraphs>
  <Slides>21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Kilian Platter</cp:lastModifiedBy>
  <cp:revision>19</cp:revision>
  <dcterms:created xsi:type="dcterms:W3CDTF">2026-10-15T07:59:30Z</dcterms:created>
  <dcterms:modified xsi:type="dcterms:W3CDTF">2026-10-25T12:40:20Z</dcterms:modified>
</cp:coreProperties>
</file>