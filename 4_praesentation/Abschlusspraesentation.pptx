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9.xml" ContentType="application/vnd.openxmlformats-officedocument.presentationml.slide+xml"/>
  <Override PartName="/ppt/notesSlides/notesSlide19.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76" r:id="rId7"/>
    <p:sldId id="262" r:id="rId8"/>
    <p:sldId id="277" r:id="rId99"/>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87598"/>
  </p:normalViewPr>
  <p:slideViewPr>
    <p:cSldViewPr snapToGrid="0" snapToObjects="1">
      <p:cViewPr varScale="1">
        <p:scale>
          <a:sx n="149" d="100"/>
          <a:sy n="149" d="100"/>
        </p:scale>
        <p:origin x="168"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 Id="rId9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lian Platter" userId="c49eb2881fa751ca" providerId="LiveId" clId="{FDA102BF-EFD5-549B-81DE-49FC5087B7E9}"/>
    <pc:docChg chg="custSel modSld">
      <pc:chgData name="Kilian Platter" userId="c49eb2881fa751ca" providerId="LiveId" clId="{FDA102BF-EFD5-549B-81DE-49FC5087B7E9}" dt="2026-10-20T15:05:12.951" v="6" actId="478"/>
      <pc:docMkLst>
        <pc:docMk/>
      </pc:docMkLst>
      <pc:sldChg chg="delSp mod">
        <pc:chgData name="Kilian Platter" userId="c49eb2881fa751ca" providerId="LiveId" clId="{FDA102BF-EFD5-549B-81DE-49FC5087B7E9}" dt="2026-10-20T14:04:48.652" v="0" actId="478"/>
        <pc:sldMkLst>
          <pc:docMk/>
          <pc:sldMk cId="0" sldId="257"/>
        </pc:sldMkLst>
        <pc:spChg chg="del">
          <ac:chgData name="Kilian Platter" userId="c49eb2881fa751ca" providerId="LiveId" clId="{FDA102BF-EFD5-549B-81DE-49FC5087B7E9}" dt="2026-10-20T14:04:48.652" v="0" actId="478"/>
          <ac:spMkLst>
            <pc:docMk/>
            <pc:sldMk cId="0" sldId="257"/>
            <ac:spMk id="36" creationId="{00000000-0000-0000-0000-000000000000}"/>
          </ac:spMkLst>
        </pc:spChg>
      </pc:sldChg>
      <pc:sldChg chg="modSp mod modNotesTx">
        <pc:chgData name="Kilian Platter" userId="c49eb2881fa751ca" providerId="LiveId" clId="{FDA102BF-EFD5-549B-81DE-49FC5087B7E9}" dt="2026-10-20T14:09:19.776" v="4" actId="20577"/>
        <pc:sldMkLst>
          <pc:docMk/>
          <pc:sldMk cId="0" sldId="263"/>
        </pc:sldMkLst>
        <pc:spChg chg="mod">
          <ac:chgData name="Kilian Platter" userId="c49eb2881fa751ca" providerId="LiveId" clId="{FDA102BF-EFD5-549B-81DE-49FC5087B7E9}" dt="2026-10-20T14:09:01.407" v="3" actId="20577"/>
          <ac:spMkLst>
            <pc:docMk/>
            <pc:sldMk cId="0" sldId="263"/>
            <ac:spMk id="13" creationId="{00000000-0000-0000-0000-000000000000}"/>
          </ac:spMkLst>
        </pc:spChg>
      </pc:sldChg>
      <pc:sldChg chg="mod modShow">
        <pc:chgData name="Kilian Platter" userId="c49eb2881fa751ca" providerId="LiveId" clId="{FDA102BF-EFD5-549B-81DE-49FC5087B7E9}" dt="2026-10-20T14:13:14.366" v="5" actId="34476"/>
        <pc:sldMkLst>
          <pc:docMk/>
          <pc:sldMk cId="0" sldId="268"/>
        </pc:sldMkLst>
      </pc:sldChg>
      <pc:sldChg chg="delSp mod">
        <pc:chgData name="Kilian Platter" userId="c49eb2881fa751ca" providerId="LiveId" clId="{FDA102BF-EFD5-549B-81DE-49FC5087B7E9}" dt="2026-10-20T15:05:12.951" v="6" actId="478"/>
        <pc:sldMkLst>
          <pc:docMk/>
          <pc:sldMk cId="0" sldId="273"/>
        </pc:sldMkLst>
        <pc:spChg chg="del">
          <ac:chgData name="Kilian Platter" userId="c49eb2881fa751ca" providerId="LiveId" clId="{FDA102BF-EFD5-549B-81DE-49FC5087B7E9}" dt="2026-10-20T15:05:12.951" v="6" actId="478"/>
          <ac:spMkLst>
            <pc:docMk/>
            <pc:sldMk cId="0" sldId="273"/>
            <ac:spMk id="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(40 s)
Unsere Präsentation hat zwei Hälften. In der ersten erzählen wir RepairFlow so, wie wir es einer Werkstatt vorstellen würden: Problem, Lösung, Nutzen, die Reparatur aus Kundensicht und unser Alleinstellungsmerkmal, die KI-Sofortdiagnose, mit einer kurzen Demo der Kunden-App.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(50 s)
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Die physische Reparatur, die Lieferantensysteme und die Buchhaltung bleiben außerhalb.</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(60 s)
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Das spart Lieferzeit und Doppelbestellungen. Drittens: der Kunde bekommt Klarheit, bevor er die Werkstatt betritt. Mit einem Foto aus der App erhält er einen Diagnosevorschlag, einen vorläufigen Kostenvoranschlag und einen Termin. Für die Werkstatt heißt das weniger Telefon, weniger Standzeit im Lager und eine Auslastung, die sie wirklich sieht.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de-DE" dirty="0"/>
              <a:t>Vortragende(r): David (55 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(50 s)
Damit zur zweiten Hälfte: Was steckt hinter dieser Geschichte? Wir haben drei Modelle erstellt, die zusammenpassen. Zehn BPMN-Kollaborationsdiagramme mit 133 Aktivitäten im Werkstatt-Pool, dazu die Abläufe des Kunden mit 26 weiteren Aktivitäten. Ein Use-Case-Diagramm mit 19 Use Cases und 17 Akteuren. Ein vollständiges Klassendiagramm mit 27 Klassen und 36 Assoziationen. Sechs Sequenzdiagramme, gefordert waren fünf.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der KI-Diagnosedienst als externes System. Der Lieferant ist bewusst kein Akteur: Er hat keinen Zugang zu RepairFlow und bleibt eine Black Box, mit der nur Nachrichten ausgetauscht werden.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(100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 Ein Beispiel ist SD4, die Fertigmeldung: Besteht der Auftrag auch nach der zweiten Nacharbeit die Endkontrolle nicht, ruft der Endkontrolleur wechsleStatus mit dem Wert ABGELEHNT auf, also genau die Operation, die der Reparaturauftrag im Klassendiagramm anbietet. Gezeichnet ist alles in Visual Paradigm, die Sequenzdiagramme hängen als Unterdiagramme an ihren Use Cases.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(90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Als Scrum Master war mir wichtig, dass Entscheidungen nicht im Gruppenchat verloren gehen: Alles, was mehrere betrifft, steht im Entscheidungslog mit Begründung und Datum. Das hat uns bei jeder Korrektur geholfen, weil wir nachvollziehen konnten, warum ein Modell sich über mehrere Veränderungen entwickelt hat. So sind aus den ersten Entwürfen Schritt für Schritt die Modelle geworden, die Sie heute sehen.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Reviews: Jedes Diagramm wurde im Zweierteam geprüft und in den Gruppenterminen gemeinsam abgestimmt.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(60 s)
Wie sich das für den Kunden anfühlt, zeige ich Ihnen kurz in der App.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David in der Auftragsreise gezeigt hat. Die KI-Antwort ist in der Demo simuliert; Ablauf und Begriffe sind genau die aus unseren Modellen.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7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8.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 David</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388620" y="2000000"/>
            <a:ext cx="8366760" cy="2500684"/>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P01</a:t>
              </a:r>
              <a:endParaRPr lang="en-US" sz="1600" dirty="0"/>
            </a:p>
          </p:txBody>
        </p:sp>
        <p:sp>
          <p:nvSpPr>
            <p:cNvPr id="11" name="Text 7">
              <a:extLst>
                <a:ext uri="{FF2B5EF4-FFF2-40B4-BE49-F238E27FC236}">
                  <a16:creationId xmlns:a16="http://schemas.microsoft.com/office/drawing/2014/main" id="{6E197140-AD58-EEF3-FC07-CB88B860C7D5}"/>
                </a:ext>
              </a:extLst>
            </p:cNvPr>
            <p:cNvSpPr txBox="1"/>
            <p:nvPr/>
          </p:nvSpPr>
          <p:spPr>
            <a:xfrm>
              <a:off x="41148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Anfrage per App</a:t>
              </a:r>
              <a:endParaRPr lang="en-US" sz="1400" dirty="0">
                <a:solidFill>
                  <a:schemeClr val="accent2">
                    <a:lumMod val="50000"/>
                  </a:schemeClr>
                </a:solidFill>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KI-Vorschlag, Vorab-KVA, Termin</a:t>
              </a:r>
              <a:endParaRPr lang="en-US" sz="1050" dirty="0"/>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P02</a:t>
              </a:r>
              <a:endParaRPr lang="en-US" sz="1600" dirty="0"/>
            </a:p>
          </p:txBody>
        </p:sp>
        <p:sp>
          <p:nvSpPr>
            <p:cNvPr id="18" name="Text 13">
              <a:extLst>
                <a:ext uri="{FF2B5EF4-FFF2-40B4-BE49-F238E27FC236}">
                  <a16:creationId xmlns:a16="http://schemas.microsoft.com/office/drawing/2014/main" id="{BE4AB8A3-EF0C-A300-509D-CF14A6E2B2B8}"/>
                </a:ext>
              </a:extLst>
            </p:cNvPr>
            <p:cNvSpPr txBox="1"/>
            <p:nvPr/>
          </p:nvSpPr>
          <p:spPr>
            <a:xfrm>
              <a:off x="1801368"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Annahme</a:t>
              </a:r>
              <a:endParaRPr lang="en-US" sz="1400" dirty="0">
                <a:solidFill>
                  <a:schemeClr val="accent2">
                    <a:lumMod val="75000"/>
                  </a:schemeClr>
                </a:solidFill>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Gerät registriert, Auftrag angelegt</a:t>
              </a:r>
              <a:endParaRPr lang="en-US" sz="1050" dirty="0"/>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P03, P04</a:t>
              </a:r>
              <a:endParaRPr lang="en-US" sz="1600" dirty="0"/>
            </a:p>
          </p:txBody>
        </p:sp>
        <p:sp>
          <p:nvSpPr>
            <p:cNvPr id="25" name="Text 19">
              <a:extLst>
                <a:ext uri="{FF2B5EF4-FFF2-40B4-BE49-F238E27FC236}">
                  <a16:creationId xmlns:a16="http://schemas.microsoft.com/office/drawing/2014/main" id="{EE2A20AE-03AC-6529-CA2C-E7313D9114E4}"/>
                </a:ext>
              </a:extLst>
            </p:cNvPr>
            <p:cNvSpPr txBox="1"/>
            <p:nvPr/>
          </p:nvSpPr>
          <p:spPr>
            <a:xfrm>
              <a:off x="3191256"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Diagnose und KVA</a:t>
              </a:r>
              <a:endParaRPr lang="en-US" sz="1400" dirty="0">
                <a:solidFill>
                  <a:schemeClr val="accent2">
                    <a:lumMod val="50000"/>
                  </a:schemeClr>
                </a:solidFill>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Techniker prüft, Kunde gibt frei</a:t>
              </a:r>
              <a:endParaRPr lang="en-US" sz="1050" dirty="0"/>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P05, P06</a:t>
              </a:r>
              <a:endParaRPr lang="en-US" sz="1600" dirty="0"/>
            </a:p>
          </p:txBody>
        </p:sp>
        <p:sp>
          <p:nvSpPr>
            <p:cNvPr id="32" name="Text 25">
              <a:extLst>
                <a:ext uri="{FF2B5EF4-FFF2-40B4-BE49-F238E27FC236}">
                  <a16:creationId xmlns:a16="http://schemas.microsoft.com/office/drawing/2014/main" id="{52752689-8AEF-ACC1-53C1-3E3917F660D0}"/>
                </a:ext>
              </a:extLst>
            </p:cNvPr>
            <p:cNvSpPr txBox="1"/>
            <p:nvPr/>
          </p:nvSpPr>
          <p:spPr>
            <a:xfrm>
              <a:off x="4581144"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Teile disponieren</a:t>
              </a:r>
              <a:endParaRPr lang="en-US" sz="1400" dirty="0">
                <a:solidFill>
                  <a:schemeClr val="accent2">
                    <a:lumMod val="75000"/>
                  </a:schemeClr>
                </a:solidFill>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alle Filialen, Fehlteile bestellen</a:t>
              </a:r>
              <a:endParaRPr lang="en-US" sz="1050" dirty="0"/>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P07</a:t>
              </a:r>
              <a:endParaRPr lang="en-US" sz="1600" dirty="0"/>
            </a:p>
          </p:txBody>
        </p:sp>
        <p:sp>
          <p:nvSpPr>
            <p:cNvPr id="39" name="Text 31">
              <a:extLst>
                <a:ext uri="{FF2B5EF4-FFF2-40B4-BE49-F238E27FC236}">
                  <a16:creationId xmlns:a16="http://schemas.microsoft.com/office/drawing/2014/main" id="{8C3D5FEF-7383-A38B-3CB2-0BB6EDAD636C}"/>
                </a:ext>
              </a:extLst>
            </p:cNvPr>
            <p:cNvSpPr txBox="1"/>
            <p:nvPr/>
          </p:nvSpPr>
          <p:spPr>
            <a:xfrm>
              <a:off x="5971032"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Reparatur</a:t>
              </a:r>
              <a:endParaRPr lang="en-US" sz="1400" dirty="0">
                <a:solidFill>
                  <a:schemeClr val="accent2">
                    <a:lumMod val="50000"/>
                  </a:schemeClr>
                </a:solidFill>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Schritte, Arbeitszeit, Endkontrolle</a:t>
              </a:r>
              <a:endParaRPr lang="en-US" sz="1050" dirty="0"/>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P08</a:t>
              </a:r>
              <a:endParaRPr lang="en-US" sz="1600" dirty="0"/>
            </a:p>
          </p:txBody>
        </p:sp>
        <p:sp>
          <p:nvSpPr>
            <p:cNvPr id="46" name="Text 37">
              <a:extLst>
                <a:ext uri="{FF2B5EF4-FFF2-40B4-BE49-F238E27FC236}">
                  <a16:creationId xmlns:a16="http://schemas.microsoft.com/office/drawing/2014/main" id="{9E6036D2-CA77-79F5-AD32-1E1090F78AC9}"/>
                </a:ext>
              </a:extLst>
            </p:cNvPr>
            <p:cNvSpPr txBox="1"/>
            <p:nvPr/>
          </p:nvSpPr>
          <p:spPr>
            <a:xfrm>
              <a:off x="736092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Abholung</a:t>
              </a:r>
              <a:endParaRPr lang="en-US" sz="1400" dirty="0">
                <a:solidFill>
                  <a:schemeClr val="accent2">
                    <a:lumMod val="75000"/>
                  </a:schemeClr>
                </a:solidFill>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Benachrichtigung, Rechnung, Zahlung</a:t>
              </a:r>
              <a:endParaRPr lang="en-US" sz="1050" dirty="0"/>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133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err="1">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de-DE" sz="1100" dirty="0">
                <a:solidFill>
                  <a:srgbClr val="1B2430"/>
                </a:solidFill>
                <a:latin typeface="Calibri" pitchFamily="34" charset="0"/>
                <a:ea typeface="Calibri" pitchFamily="34" charset="-122"/>
                <a:cs typeface="Calibri" pitchFamily="34" charset="-120"/>
              </a:rPr>
              <a:t>als Unterdiagramme der Use Cases</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42 Nachrichtenflüsse, 51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61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133</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13,3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61 %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vier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seine Übergänge zeigen die Prozesse 02 bis 08.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Ablauf je Diagramm</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Entwurf im Zweierteam, gegenseitiges Review, Abstimmung im Gruppentermin, Umsetzung über Pull Request mit Review. Entscheidungen mit Begründung im Entscheidungslog, damit jede Korrektur nachvollziehbar bleibt.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Reviews</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Diagramm im Zweierteam geprüft, Abstimmung in den Gruppenterminen.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17</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18</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19</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17–18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3, 6, 12</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Live-Demo;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9–11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13–14</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15–16</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Live-Demo: die Kunden-App</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101" name="Text 101"/>
          <p:cNvSpPr txBox="1"/>
          <p:nvPr/>
        </p:nvSpPr>
        <p:spPr>
          <a:xfrm>
            <a:off x="457200" y="868680"/>
            <a:ext cx="8229600" cy="320040"/>
          </a:xfrm>
          <a:prstGeom prst="rect">
            <a:avLst/>
          </a:prstGeom>
          <a:noFill/>
          <a:ln/>
        </p:spPr>
        <p:txBody>
          <a:bodyPr wrap="square" lIns="0" tIns="0" rIns="0" bIns="0" rtlCol="0" anchor="ctr"/>
          <a:lstStyle/>
          <a:p>
            <a:pPr marL="0" indent="0">
              <a:buNone/>
            </a:pPr>
            <a:r>
              <a:rPr lang="de-DE" sz="1200" dirty="0">
                <a:solidFill>
                  <a:srgbClr val="5A6572"/>
                </a:solidFill>
                <a:latin typeface="Calibri" pitchFamily="34" charset="0"/>
                <a:ea typeface="Calibri" pitchFamily="34" charset="-122"/>
                <a:cs typeface="Calibri" pitchFamily="34" charset="-120"/>
              </a:rPr>
              <a:t>Drei Stationen der Sofortdiagnose, wie sie der Kunde in der App erlebt. Die Demo läuft offline im Browser.</a:t>
            </a:r>
            <a:endParaRPr lang="de-DE" sz="1200" dirty="0"/>
          </a:p>
        </p:txBody>
      </p:sp>
      <p:pic>
        <p:nvPicPr>
          <p:cNvPr id="102" name="Image 102" descr="Kunden-App"/>
          <p:cNvPicPr>
            <a:picLocks noChangeAspect="1"/>
          </p:cNvPicPr>
          <p:nvPr/>
        </p:nvPicPr>
        <p:blipFill>
          <a:blip r:embed="rId10"/>
          <a:stretch>
            <a:fillRect/>
          </a:stretch>
        </p:blipFill>
        <p:spPr>
          <a:xfrm>
            <a:off x="457200" y="1234440"/>
            <a:ext cx="1391672" cy="2926080"/>
          </a:xfrm>
          <a:prstGeom prst="rect">
            <a:avLst/>
          </a:prstGeom>
        </p:spPr>
      </p:pic>
      <p:sp>
        <p:nvSpPr>
          <p:cNvPr id="103" name="Text 103"/>
          <p:cNvSpPr txBox="1"/>
          <p:nvPr/>
        </p:nvSpPr>
        <p:spPr>
          <a:xfrm>
            <a:off x="411480" y="4221480"/>
            <a:ext cx="1483112" cy="457200"/>
          </a:xfrm>
          <a:prstGeom prst="rect">
            <a:avLst/>
          </a:prstGeom>
          <a:noFill/>
          <a:ln/>
        </p:spPr>
        <p:txBody>
          <a:bodyPr wrap="square" lIns="0" tIns="0" rIns="0" bIns="0" rtlCol="0" anchor="t"/>
          <a:lstStyle/>
          <a:p>
            <a:pPr marL="0" indent="0" algn="ctr">
              <a:buNone/>
            </a:pPr>
            <a:r>
              <a:rPr lang="de-DE" sz="1100" b="1" dirty="0">
                <a:solidFill>
                  <a:srgbClr val="0E5E5E"/>
                </a:solidFill>
                <a:latin typeface="Calibri" pitchFamily="34" charset="0"/>
                <a:ea typeface="Calibri" pitchFamily="34" charset="-122"/>
                <a:cs typeface="Calibri" pitchFamily="34" charset="-120"/>
              </a:rPr>
              <a:t>1  Problem und Foto</a:t>
            </a:r>
            <a:endParaRPr lang="de-DE" sz="1100" dirty="0"/>
          </a:p>
          <a:p>
            <a:pPr marL="0" indent="0" algn="ctr">
              <a:buNone/>
            </a:pPr>
            <a:r>
              <a:rPr lang="de-DE" sz="950" dirty="0">
                <a:solidFill>
                  <a:srgbClr val="1B2430"/>
                </a:solidFill>
                <a:latin typeface="Calibri" pitchFamily="34" charset="0"/>
                <a:ea typeface="Calibri" pitchFamily="34" charset="-122"/>
                <a:cs typeface="Calibri" pitchFamily="34" charset="-120"/>
              </a:rPr>
              <a:t>Voranmeldung mit Medienanhang</a:t>
            </a:r>
            <a:endParaRPr lang="de-DE" sz="950" dirty="0"/>
          </a:p>
        </p:txBody>
      </p:sp>
      <p:pic>
        <p:nvPicPr>
          <p:cNvPr id="104" name="Image 104" descr="Kunden-App"/>
          <p:cNvPicPr>
            <a:picLocks noChangeAspect="1"/>
          </p:cNvPicPr>
          <p:nvPr/>
        </p:nvPicPr>
        <p:blipFill>
          <a:blip r:embed="rId11"/>
          <a:stretch>
            <a:fillRect/>
          </a:stretch>
        </p:blipFill>
        <p:spPr>
          <a:xfrm>
            <a:off x="2031752" y="1234440"/>
            <a:ext cx="1391672" cy="2926080"/>
          </a:xfrm>
          <a:prstGeom prst="rect">
            <a:avLst/>
          </a:prstGeom>
        </p:spPr>
      </p:pic>
      <p:sp>
        <p:nvSpPr>
          <p:cNvPr id="105" name="Text 105"/>
          <p:cNvSpPr txBox="1"/>
          <p:nvPr/>
        </p:nvSpPr>
        <p:spPr>
          <a:xfrm>
            <a:off x="1986032" y="4221480"/>
            <a:ext cx="1483112" cy="457200"/>
          </a:xfrm>
          <a:prstGeom prst="rect">
            <a:avLst/>
          </a:prstGeom>
          <a:noFill/>
          <a:ln/>
        </p:spPr>
        <p:txBody>
          <a:bodyPr wrap="square" lIns="0" tIns="0" rIns="0" bIns="0" rtlCol="0" anchor="t"/>
          <a:lstStyle/>
          <a:p>
            <a:pPr marL="0" indent="0" algn="ctr">
              <a:buNone/>
            </a:pPr>
            <a:r>
              <a:rPr lang="de-DE" sz="1100" b="1" dirty="0">
                <a:solidFill>
                  <a:srgbClr val="0E5E5E"/>
                </a:solidFill>
                <a:latin typeface="Calibri" pitchFamily="34" charset="0"/>
                <a:ea typeface="Calibri" pitchFamily="34" charset="-122"/>
                <a:cs typeface="Calibri" pitchFamily="34" charset="-120"/>
              </a:rPr>
              <a:t>2  KI-Diagnose</a:t>
            </a:r>
            <a:endParaRPr lang="de-DE" sz="1100" dirty="0"/>
          </a:p>
          <a:p>
            <a:pPr marL="0" indent="0" algn="ctr">
              <a:buNone/>
            </a:pPr>
            <a:r>
              <a:rPr lang="de-DE" sz="950" dirty="0">
                <a:solidFill>
                  <a:srgbClr val="1B2430"/>
                </a:solidFill>
                <a:latin typeface="Calibri" pitchFamily="34" charset="0"/>
                <a:ea typeface="Calibri" pitchFamily="34" charset="-122"/>
                <a:cs typeface="Calibri" pitchFamily="34" charset="-120"/>
              </a:rPr>
              <a:t>KIDiagnosevorschlag: Ursache, Teile, Konfidenz</a:t>
            </a:r>
            <a:endParaRPr lang="de-DE" sz="950" dirty="0"/>
          </a:p>
        </p:txBody>
      </p:sp>
      <p:pic>
        <p:nvPicPr>
          <p:cNvPr id="106" name="Image 106" descr="Kunden-App"/>
          <p:cNvPicPr>
            <a:picLocks noChangeAspect="1"/>
          </p:cNvPicPr>
          <p:nvPr/>
        </p:nvPicPr>
        <p:blipFill>
          <a:blip r:embed="rId12"/>
          <a:stretch>
            <a:fillRect/>
          </a:stretch>
        </p:blipFill>
        <p:spPr>
          <a:xfrm>
            <a:off x="3606304" y="1234440"/>
            <a:ext cx="1391672" cy="2926080"/>
          </a:xfrm>
          <a:prstGeom prst="rect">
            <a:avLst/>
          </a:prstGeom>
        </p:spPr>
      </p:pic>
      <p:sp>
        <p:nvSpPr>
          <p:cNvPr id="107" name="Text 107"/>
          <p:cNvSpPr txBox="1"/>
          <p:nvPr/>
        </p:nvSpPr>
        <p:spPr>
          <a:xfrm>
            <a:off x="3560584" y="4221480"/>
            <a:ext cx="1483112" cy="457200"/>
          </a:xfrm>
          <a:prstGeom prst="rect">
            <a:avLst/>
          </a:prstGeom>
          <a:noFill/>
          <a:ln/>
        </p:spPr>
        <p:txBody>
          <a:bodyPr wrap="square" lIns="0" tIns="0" rIns="0" bIns="0" rtlCol="0" anchor="t"/>
          <a:lstStyle/>
          <a:p>
            <a:pPr marL="0" indent="0" algn="ctr">
              <a:buNone/>
            </a:pPr>
            <a:r>
              <a:rPr lang="de-DE" sz="1100" b="1" dirty="0">
                <a:solidFill>
                  <a:srgbClr val="0E5E5E"/>
                </a:solidFill>
                <a:latin typeface="Calibri" pitchFamily="34" charset="0"/>
                <a:ea typeface="Calibri" pitchFamily="34" charset="-122"/>
                <a:cs typeface="Calibri" pitchFamily="34" charset="-120"/>
              </a:rPr>
              <a:t>3  Bestätigung</a:t>
            </a:r>
            <a:endParaRPr lang="de-DE" sz="1100" dirty="0"/>
          </a:p>
          <a:p>
            <a:pPr marL="0" indent="0" algn="ctr">
              <a:buNone/>
            </a:pPr>
            <a:r>
              <a:rPr lang="de-DE" sz="950" dirty="0">
                <a:solidFill>
                  <a:srgbClr val="1B2430"/>
                </a:solidFill>
                <a:latin typeface="Calibri" pitchFamily="34" charset="0"/>
                <a:ea typeface="Calibri" pitchFamily="34" charset="-122"/>
                <a:cs typeface="Calibri" pitchFamily="34" charset="-120"/>
              </a:rPr>
              <a:t>Voranmeldung, Termin, Teile vorreserviert</a:t>
            </a:r>
            <a:endParaRPr lang="de-DE" sz="950" dirty="0"/>
          </a:p>
        </p:txBody>
      </p:sp>
      <p:sp>
        <p:nvSpPr>
          <p:cNvPr id="108" name="Shape 108"/>
          <p:cNvSpPr/>
          <p:nvPr/>
        </p:nvSpPr>
        <p:spPr>
          <a:xfrm>
            <a:off x="5226576" y="1234440"/>
            <a:ext cx="3460224" cy="292608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09" name="Text 109"/>
          <p:cNvSpPr txBox="1"/>
          <p:nvPr/>
        </p:nvSpPr>
        <p:spPr>
          <a:xfrm>
            <a:off x="5409456" y="1371600"/>
            <a:ext cx="3094464" cy="320040"/>
          </a:xfrm>
          <a:prstGeom prst="rect">
            <a:avLst/>
          </a:prstGeom>
          <a:noFill/>
          <a:ln/>
        </p:spPr>
        <p:txBody>
          <a:bodyPr wrap="square" lIns="0" tIns="0" rIns="0" bIns="0" rtlCol="0" anchor="ctr"/>
          <a:lstStyle/>
          <a:p>
            <a:pPr marL="0" indent="0">
              <a:buNone/>
            </a:pPr>
            <a:r>
              <a:rPr lang="de-DE" sz="1300" b="1" dirty="0">
                <a:solidFill>
                  <a:srgbClr val="0E5E5E"/>
                </a:solidFill>
                <a:latin typeface="Calibri" pitchFamily="34" charset="0"/>
                <a:ea typeface="Calibri" pitchFamily="34" charset="-122"/>
                <a:cs typeface="Calibri" pitchFamily="34" charset="-120"/>
              </a:rPr>
              <a:t>Was die Demo zeigt</a:t>
            </a:r>
            <a:endParaRPr lang="de-DE" sz="1300" dirty="0"/>
          </a:p>
        </p:txBody>
      </p:sp>
      <p:sp>
        <p:nvSpPr>
          <p:cNvPr id="110" name="Text 110"/>
          <p:cNvSpPr txBox="1"/>
          <p:nvPr/>
        </p:nvSpPr>
        <p:spPr>
          <a:xfrm>
            <a:off x="5409456" y="1737360"/>
            <a:ext cx="3094464" cy="2331720"/>
          </a:xfrm>
          <a:prstGeom prst="rect">
            <a:avLst/>
          </a:prstGeom>
          <a:noFill/>
          <a:ln/>
        </p:spPr>
        <p:txBody>
          <a:bodyPr wrap="square" lIns="0" tIns="0" rIns="0" bIns="0" rtlCol="0" anchor="t"/>
          <a:lstStyle/>
          <a:p>
            <a:pPr marL="228600" indent="-228600">
              <a:spcAft>
                <a:spcPts val="600"/>
              </a:spcAft>
              <a:buSzPct val="100000"/>
              <a:buChar char="•"/>
            </a:pPr>
            <a:r>
              <a:rPr lang="de-DE" sz="1050" dirty="0">
                <a:solidFill>
                  <a:srgbClr val="1B2430"/>
                </a:solidFill>
                <a:latin typeface="Calibri" pitchFamily="34" charset="0"/>
                <a:ea typeface="Calibri" pitchFamily="34" charset="-122"/>
                <a:cs typeface="Calibri" pitchFamily="34" charset="-120"/>
              </a:rPr>
              <a:t>Acht Schritte von der Geräteauswahl bis zum Auftragsstatus, Bedienung mit Weiter und Zurück.</a:t>
            </a:r>
            <a:endParaRPr lang="de-DE" sz="1050" dirty="0"/>
          </a:p>
          <a:p>
            <a:pPr marL="228600" indent="-228600">
              <a:spcAft>
                <a:spcPts val="600"/>
              </a:spcAft>
              <a:buSzPct val="100000"/>
              <a:buChar char="•"/>
            </a:pPr>
            <a:r>
              <a:rPr lang="de-DE" sz="1050" dirty="0">
                <a:solidFill>
                  <a:srgbClr val="1B2430"/>
                </a:solidFill>
                <a:latin typeface="Calibri" pitchFamily="34" charset="0"/>
                <a:ea typeface="Calibri" pitchFamily="34" charset="-122"/>
                <a:cs typeface="Calibri" pitchFamily="34" charset="-120"/>
              </a:rPr>
              <a:t>Begriffe und Werte wie im Modell: Voranmeldung, KIDiagnosevorschlag, KVA-Status vorläufig, Reservierung vorreserviert.</a:t>
            </a:r>
            <a:endParaRPr lang="de-DE" sz="1050" dirty="0"/>
          </a:p>
          <a:p>
            <a:pPr marL="228600" indent="-228600">
              <a:spcAft>
                <a:spcPts val="600"/>
              </a:spcAft>
              <a:buSzPct val="100000"/>
              <a:buChar char="•"/>
            </a:pPr>
            <a:r>
              <a:rPr lang="de-DE" sz="1050" dirty="0">
                <a:solidFill>
                  <a:srgbClr val="1B2430"/>
                </a:solidFill>
                <a:latin typeface="Calibri" pitchFamily="34" charset="0"/>
                <a:ea typeface="Calibri" pitchFamily="34" charset="-122"/>
                <a:cs typeface="Calibri" pitchFamily="34" charset="-120"/>
              </a:rPr>
              <a:t>Der Reparaturauftrag entsteht erst bei der Abgabe in der Filiale (Prozess 02), die App bestätigt nur die Voranmeldung.</a:t>
            </a:r>
            <a:endParaRPr lang="de-DE" sz="1050" dirty="0"/>
          </a:p>
          <a:p>
            <a:pPr marL="228600" indent="-228600">
              <a:spcAft>
                <a:spcPts val="600"/>
              </a:spcAft>
              <a:buSzPct val="100000"/>
              <a:buChar char="•"/>
            </a:pPr>
            <a:r>
              <a:rPr lang="de-DE" sz="1050" dirty="0">
                <a:solidFill>
                  <a:srgbClr val="1B2430"/>
                </a:solidFill>
                <a:latin typeface="Calibri" pitchFamily="34" charset="0"/>
                <a:ea typeface="Calibri" pitchFamily="34" charset="-122"/>
                <a:cs typeface="Calibri" pitchFamily="34" charset="-120"/>
              </a:rPr>
              <a:t>Die KI-Antwort ist simuliert: keine echte Anbindung, damit die Demo zuverlässig läuft.</a:t>
            </a:r>
            <a:endParaRPr lang="de-DE"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4568</Words>
  <Application>Microsoft Macintosh PowerPoint</Application>
  <PresentationFormat>Bildschirmpräsentation (16:9)</PresentationFormat>
  <Paragraphs>362</Paragraphs>
  <Slides>18</Slides>
  <Notes>18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18</vt:i4>
      </vt:variant>
    </vt:vector>
  </HeadingPairs>
  <TitlesOfParts>
    <vt:vector size="22"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Kilian Platter</cp:lastModifiedBy>
  <cp:revision>4</cp:revision>
  <dcterms:created xsi:type="dcterms:W3CDTF">2026-10-15T07:59:30Z</dcterms:created>
  <dcterms:modified xsi:type="dcterms:W3CDTF">2026-10-20T15:05:13Z</dcterms:modified>
</cp:coreProperties>
</file>