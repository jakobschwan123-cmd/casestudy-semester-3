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8" r:id="rId29"/>
    <p:sldId id="309" r:id="rId30"/>
    <p:sldId id="310" r:id="rId31"/>
    <p:sldId id="311" r:id="rId32"/>
    <p:sldId id="312" r:id="rId33"/>
    <p:sldId id="313" r:id="rId34"/>
    <p:sldId id="314" r:id="rId3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46"/>
    <p:restoredTop sz="86198"/>
  </p:normalViewPr>
  <p:slideViewPr>
    <p:cSldViewPr snapToGrid="0" snapToObjects="1">
      <p:cViewPr>
        <p:scale>
          <a:sx n="154" d="100"/>
          <a:sy n="154" d="100"/>
        </p:scale>
        <p:origin x="182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undo custSel addSld delSld modSld sldOrd delSection modSection">
      <pc:chgData name="Kilian Platter" userId="c49eb2881fa751ca" providerId="LiveId" clId="{FDA102BF-EFD5-549B-81DE-49FC5087B7E9}" dt="2026-10-25T12:40:17.181" v="114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modSp add del mod setBg">
        <pc:chgData name="Kilian Platter" userId="c49eb2881fa751ca" providerId="LiveId" clId="{FDA102BF-EFD5-549B-81DE-49FC5087B7E9}" dt="2026-10-25T12:40:17.181" v="114"/>
        <pc:sldMkLst>
          <pc:docMk/>
          <pc:sldMk cId="0" sldId="286"/>
        </pc:sldMkLst>
        <pc:spChg chg="mod">
          <ac:chgData name="Kilian Platter" userId="c49eb2881fa751ca" providerId="LiveId" clId="{FDA102BF-EFD5-549B-81DE-49FC5087B7E9}" dt="2026-10-25T12:37:15.306" v="111" actId="20577"/>
          <ac:spMkLst>
            <pc:docMk/>
            <pc:sldMk cId="0" sldId="286"/>
            <ac:spMk id="15" creationId="{00000000-0000-0000-0000-000000000000}"/>
          </ac:spMkLst>
        </pc:spChg>
      </pc:sldChg>
      <pc:sldChg chg="addSp modSp add del mod">
        <pc:chgData name="Kilian Platter" userId="c49eb2881fa751ca" providerId="LiveId" clId="{FDA102BF-EFD5-549B-81DE-49FC5087B7E9}" dt="2026-10-25T12:40:17.181" v="114"/>
        <pc:sldMkLst>
          <pc:docMk/>
          <pc:sldMk cId="1146934768" sldId="287"/>
        </pc:sldMkLst>
        <pc:spChg chg="add mod">
          <ac:chgData name="Kilian Platter" userId="c49eb2881fa751ca" providerId="LiveId" clId="{FDA102BF-EFD5-549B-81DE-49FC5087B7E9}" dt="2026-10-25T12:36:22.176" v="75" actId="767"/>
          <ac:spMkLst>
            <pc:docMk/>
            <pc:sldMk cId="1146934768" sldId="287"/>
            <ac:spMk id="3" creationId="{AAF87FD1-8161-332C-9A7A-AD7058CCCED3}"/>
          </ac:spMkLst>
        </pc:spChg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371977166" sldId="298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928356131" sldId="299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347267247" sldId="300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952413891" sldId="301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455471251" sldId="302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4028699230" sldId="303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621225341" sldId="304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207933256" sldId="305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794711449" sldId="30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Relationship Id="rId6" Type="http://schemas.openxmlformats.org/officeDocument/2006/relationships/image" Target="../media/image62.jpg"/><Relationship Id="rId7" Type="http://schemas.openxmlformats.org/officeDocument/2006/relationships/image" Target="../media/image63.jpg"/><Relationship Id="rId8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4.svg"/><Relationship Id="rId3" Type="http://schemas.openxmlformats.org/officeDocument/2006/relationships/image" Target="../media/image65.svg"/><Relationship Id="rId4" Type="http://schemas.openxmlformats.org/officeDocument/2006/relationships/image" Target="../media/image66.svg"/><Relationship Id="rId5" Type="http://schemas.openxmlformats.org/officeDocument/2006/relationships/image" Target="../media/image67.svg"/><Relationship Id="rId6" Type="http://schemas.openxmlformats.org/officeDocument/2006/relationships/image" Target="../media/image68.svg"/><Relationship Id="rId7" Type="http://schemas.openxmlformats.org/officeDocument/2006/relationships/image" Target="../media/image69.svg"/><Relationship Id="rId8" Type="http://schemas.openxmlformats.org/officeDocument/2006/relationships/image" Target="../media/image70.png"/><Relationship Id="rId9" Type="http://schemas.openxmlformats.org/officeDocument/2006/relationships/image" Target="../media/image71.png"/><Relationship Id="rId10" Type="http://schemas.openxmlformats.org/officeDocument/2006/relationships/image" Target="../media/image72.png"/><Relationship Id="rId11" Type="http://schemas.openxmlformats.org/officeDocument/2006/relationships/image" Target="../media/image73.png"/><Relationship Id="rId12" Type="http://schemas.openxmlformats.org/officeDocument/2006/relationships/image" Target="../media/image74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notesSlide" Target="../notesSlides/notesSlide2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notesSlide" Target="../notesSlides/notesSlide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notesSlide" Target="../notesSlides/notes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svg"/><Relationship Id="rId4" Type="http://schemas.openxmlformats.org/officeDocument/2006/relationships/image" Target="../media/image35.svg"/><Relationship Id="rId5" Type="http://schemas.openxmlformats.org/officeDocument/2006/relationships/image" Target="../media/image36.svg"/><Relationship Id="rId6" Type="http://schemas.openxmlformats.org/officeDocument/2006/relationships/image" Target="../media/image37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svg"/><Relationship Id="rId4" Type="http://schemas.openxmlformats.org/officeDocument/2006/relationships/image" Target="../media/image53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svg"/><Relationship Id="rId4" Type="http://schemas.openxmlformats.org/officeDocument/2006/relationships/image" Target="../media/image55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elbild ChatGPT 24.10. (Original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0F14">
                  <a:alpha val="55000"/>
                </a:srgbClr>
              </a:gs>
              <a:gs pos="40000">
                <a:srgbClr val="0B0F14">
                  <a:alpha val="35000"/>
                </a:srgbClr>
              </a:gs>
              <a:gs pos="65000">
                <a:srgbClr val="0B0F1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gradFill rotWithShape="1">
            <a:gsLst>
              <a:gs pos="0">
                <a:srgbClr val="0B0F14">
                  <a:alpha val="0"/>
                </a:srgbClr>
              </a:gs>
              <a:gs pos="40000">
                <a:srgbClr val="0B0F14">
                  <a:alpha val="80000"/>
                </a:srgbClr>
              </a:gs>
              <a:gs pos="100000">
                <a:srgbClr val="0B0F14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Werkstatt-Management als SaaS-Plattform</a:t>
            </a:r>
          </a:p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mit KI-Sofortdiagnose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00400"/>
            <a:ext cx="64008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Fallstudie Systemanalyse · WWI25B4 · Gruppe 1 · 27.10.2026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6D0C8"/>
                </a:solidFill>
                <a:latin typeface="Calibri"/>
              </a:rPr>
              <a:t>Maximilian Ewald · David Leismann · Kilian Platter · Nina Sattler · Jakob Schwan · Adrian Wenzler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Team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Unsere Projektrollen und die Themen, die jede Person heute vorstellt.</a:t>
            </a:r>
          </a:p>
        </p:txBody>
      </p:sp>
      <p:pic>
        <p:nvPicPr>
          <p:cNvPr id="4" name="Picture 3" descr="Dav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2003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David Leismann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3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Stellv. Leitung &amp; 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Problem und Lösung</a:t>
            </a:r>
          </a:p>
        </p:txBody>
      </p:sp>
      <p:pic>
        <p:nvPicPr>
          <p:cNvPr id="8" name="Picture 7" descr="Kil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73735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Kilian Platter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5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Scrum Master &amp; UML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7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Nutzen, Rollen und Datenmodell</a:t>
            </a:r>
          </a:p>
        </p:txBody>
      </p:sp>
      <p:pic>
        <p:nvPicPr>
          <p:cNvPr id="12" name="Picture 11" descr="Maximili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1546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Maximilian Ewald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7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BPMN-Modellierung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39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Auftragsreise und Live-Demo</a:t>
            </a:r>
          </a:p>
        </p:txBody>
      </p:sp>
      <p:pic>
        <p:nvPicPr>
          <p:cNvPr id="16" name="Picture 15" descr="Adri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57200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Adrian Wenzler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Product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KI-Sofortdiagnose und Ergebnisse</a:t>
            </a:r>
          </a:p>
        </p:txBody>
      </p:sp>
      <p:pic>
        <p:nvPicPr>
          <p:cNvPr id="20" name="Picture 19" descr="Jako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98932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Jakob Schwan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Qualitätsmanagement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Qualität und Lernerfahrungen</a:t>
            </a:r>
          </a:p>
        </p:txBody>
      </p:sp>
      <p:pic>
        <p:nvPicPr>
          <p:cNvPr id="24" name="Picture 23" descr="Nin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40664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Nina Sattler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Projektleitung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Vorgehen und Geschäftsmodell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1417320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1042416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39319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39319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493775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1203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459943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459943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704087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64323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65562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67025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67025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104241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760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100858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100858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125272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650724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120426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121889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121889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146304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75384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1414576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1429207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1429207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16733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5696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1624888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16395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16395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-8275319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-8961119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-896111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37676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-9299447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-9299447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-68580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34556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-734263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-719632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-719632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-4754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631436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-523951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-509320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-509320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-2651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528316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-313639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-299008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-299008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393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393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4937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120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45994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45994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7040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432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655624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670255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670255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C55A11"/>
                </a:solidFill>
                <a:latin typeface="Calibri"/>
              </a:rPr>
              <a:t>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Wie weit ist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mein Auftrag?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Die Frage, die bei FixWerk</a:t>
            </a:r>
          </a:p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heute oft nur das Telefon beantwortet.</a:t>
            </a:r>
          </a:p>
        </p:txBody>
      </p:sp>
      <p:sp>
        <p:nvSpPr>
          <p:cNvPr id="2" name="Text 0"/>
          <p:cNvSpPr txBox="1"/>
          <p:nvPr/>
        </p:nvSpPr>
        <p:spPr>
          <a:xfrm>
            <a:off x="4343400" y="274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4343400" y="132588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blem-nachfra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3011" y="1415491"/>
            <a:ext cx="460857" cy="460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66360" y="13441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Kunde muss nachfragen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66420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Status oft nur per Telefon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219456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blem-statu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011" y="2284171"/>
            <a:ext cx="460857" cy="4608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6360" y="22128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Kein zentraler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Der Stand steht nur auf Zetteln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3063239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blem-best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3011" y="3152851"/>
            <a:ext cx="460857" cy="4608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60" y="308152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Bestellt trotz Bestand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401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Teil liegt in der Nachbarfiliale</a:t>
            </a:r>
          </a:p>
        </p:txBody>
      </p:sp>
      <p:sp>
        <p:nvSpPr>
          <p:cNvPr id="18" name="Oval 17"/>
          <p:cNvSpPr/>
          <p:nvPr/>
        </p:nvSpPr>
        <p:spPr>
          <a:xfrm>
            <a:off x="4343400" y="393192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blem-auslast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3011" y="4021531"/>
            <a:ext cx="460857" cy="4608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6360" y="395020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Auslastung unsichtbar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270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Termine nach Gefühl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Kunde und Werkstatt arbeiten am selben Auftrag.</a:t>
            </a:r>
          </a:p>
        </p:txBody>
      </p:sp>
      <p:sp>
        <p:nvSpPr>
          <p:cNvPr id="4" name="!!block"/>
          <p:cNvSpPr/>
          <p:nvPr/>
        </p:nvSpPr>
        <p:spPr>
          <a:xfrm>
            <a:off x="1188720" y="2240280"/>
            <a:ext cx="6766560" cy="237744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name"/>
          <p:cNvSpPr txBox="1"/>
          <p:nvPr/>
        </p:nvSpPr>
        <p:spPr>
          <a:xfrm>
            <a:off x="1554480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!!bsub"/>
          <p:cNvSpPr txBox="1"/>
          <p:nvPr/>
        </p:nvSpPr>
        <p:spPr>
          <a:xfrm>
            <a:off x="3749040" y="2514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9CED4"/>
                </a:solidFill>
                <a:latin typeface="Calibri"/>
              </a:rPr>
              <a:t>Cloud-Plattform für Werkstätten und kleine Ketten</a:t>
            </a:r>
          </a:p>
        </p:txBody>
      </p:sp>
      <p:sp>
        <p:nvSpPr>
          <p:cNvPr id="7" name="!!m0"/>
          <p:cNvSpPr/>
          <p:nvPr/>
        </p:nvSpPr>
        <p:spPr>
          <a:xfrm>
            <a:off x="155448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m0icon" descr="handy-843C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3172968"/>
            <a:ext cx="457200" cy="457200"/>
          </a:xfrm>
          <a:prstGeom prst="rect">
            <a:avLst/>
          </a:prstGeom>
        </p:spPr>
      </p:pic>
      <p:sp>
        <p:nvSpPr>
          <p:cNvPr id="9" name="!!m0text"/>
          <p:cNvSpPr txBox="1"/>
          <p:nvPr/>
        </p:nvSpPr>
        <p:spPr>
          <a:xfrm>
            <a:off x="155448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Kundenportal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und App</a:t>
            </a:r>
          </a:p>
        </p:txBody>
      </p:sp>
      <p:sp>
        <p:nvSpPr>
          <p:cNvPr id="10" name="!!m1"/>
          <p:cNvSpPr/>
          <p:nvPr/>
        </p:nvSpPr>
        <p:spPr>
          <a:xfrm>
            <a:off x="310896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!!m1icon" descr="klemmbrett-843C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172968"/>
            <a:ext cx="457200" cy="457200"/>
          </a:xfrm>
          <a:prstGeom prst="rect">
            <a:avLst/>
          </a:prstGeom>
        </p:spPr>
      </p:pic>
      <p:sp>
        <p:nvSpPr>
          <p:cNvPr id="12" name="!!m1text"/>
          <p:cNvSpPr txBox="1"/>
          <p:nvPr/>
        </p:nvSpPr>
        <p:spPr>
          <a:xfrm>
            <a:off x="310896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Auftrag und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Werkstatt</a:t>
            </a:r>
          </a:p>
        </p:txBody>
      </p:sp>
      <p:sp>
        <p:nvSpPr>
          <p:cNvPr id="13" name="!!m2"/>
          <p:cNvSpPr/>
          <p:nvPr/>
        </p:nvSpPr>
        <p:spPr>
          <a:xfrm>
            <a:off x="466344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!!m2icon" descr="lager-843C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172968"/>
            <a:ext cx="457200" cy="457200"/>
          </a:xfrm>
          <a:prstGeom prst="rect">
            <a:avLst/>
          </a:prstGeom>
        </p:spPr>
      </p:pic>
      <p:sp>
        <p:nvSpPr>
          <p:cNvPr id="15" name="!!m2text"/>
          <p:cNvSpPr txBox="1"/>
          <p:nvPr/>
        </p:nvSpPr>
        <p:spPr>
          <a:xfrm>
            <a:off x="466344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Ersatzteil-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Disposition</a:t>
            </a:r>
          </a:p>
        </p:txBody>
      </p:sp>
      <p:sp>
        <p:nvSpPr>
          <p:cNvPr id="16" name="!!m3"/>
          <p:cNvSpPr/>
          <p:nvPr/>
        </p:nvSpPr>
        <p:spPr>
          <a:xfrm>
            <a:off x="621792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m3icon" descr="rechnung-euro-843C0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172968"/>
            <a:ext cx="457200" cy="457200"/>
          </a:xfrm>
          <a:prstGeom prst="rect">
            <a:avLst/>
          </a:prstGeom>
        </p:spPr>
      </p:pic>
      <p:sp>
        <p:nvSpPr>
          <p:cNvPr id="18" name="!!m3text"/>
          <p:cNvSpPr txBox="1"/>
          <p:nvPr/>
        </p:nvSpPr>
        <p:spPr>
          <a:xfrm>
            <a:off x="621792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19" name="!!akteur0"/>
          <p:cNvSpPr txBox="1"/>
          <p:nvPr/>
        </p:nvSpPr>
        <p:spPr>
          <a:xfrm>
            <a:off x="960120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0" name="!!akteur0sub"/>
          <p:cNvSpPr txBox="1"/>
          <p:nvPr/>
        </p:nvSpPr>
        <p:spPr>
          <a:xfrm>
            <a:off x="960120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1" name="!!akteur0linie"/>
          <p:cNvCxnSpPr/>
          <p:nvPr/>
        </p:nvCxnSpPr>
        <p:spPr>
          <a:xfrm>
            <a:off x="224028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akteur1"/>
          <p:cNvSpPr txBox="1"/>
          <p:nvPr/>
        </p:nvSpPr>
        <p:spPr>
          <a:xfrm>
            <a:off x="4069079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3" name="!!akteur1sub"/>
          <p:cNvSpPr txBox="1"/>
          <p:nvPr/>
        </p:nvSpPr>
        <p:spPr>
          <a:xfrm>
            <a:off x="4069079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4" name="!!akteur1linie"/>
          <p:cNvCxnSpPr/>
          <p:nvPr/>
        </p:nvCxnSpPr>
        <p:spPr>
          <a:xfrm>
            <a:off x="534924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Was gehört zum System und was nicht?</a:t>
            </a:r>
          </a:p>
        </p:txBody>
      </p:sp>
      <p:sp>
        <p:nvSpPr>
          <p:cNvPr id="4" name="!!grenze"/>
          <p:cNvSpPr/>
          <p:nvPr/>
        </p:nvSpPr>
        <p:spPr>
          <a:xfrm>
            <a:off x="2770632" y="1353312"/>
            <a:ext cx="3602736" cy="35570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lock"/>
          <p:cNvSpPr/>
          <p:nvPr/>
        </p:nvSpPr>
        <p:spPr>
          <a:xfrm>
            <a:off x="2880360" y="1463040"/>
            <a:ext cx="3383280" cy="333756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name"/>
          <p:cNvSpPr txBox="1"/>
          <p:nvPr/>
        </p:nvSpPr>
        <p:spPr>
          <a:xfrm>
            <a:off x="3108960" y="16459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7" name="!!grenzlabel"/>
          <p:cNvSpPr txBox="1"/>
          <p:nvPr/>
        </p:nvSpPr>
        <p:spPr>
          <a:xfrm>
            <a:off x="4800600" y="1207008"/>
            <a:ext cx="1234440" cy="237744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C55A11"/>
                </a:solidFill>
                <a:latin typeface="Calibri"/>
              </a:rPr>
              <a:t>Systemgrenze</a:t>
            </a:r>
          </a:p>
        </p:txBody>
      </p:sp>
      <p:sp>
        <p:nvSpPr>
          <p:cNvPr id="8" name="!!m0"/>
          <p:cNvSpPr/>
          <p:nvPr/>
        </p:nvSpPr>
        <p:spPr>
          <a:xfrm>
            <a:off x="3108960" y="2121408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!!m0icon" descr="handy-843C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264" y="2221992"/>
            <a:ext cx="365760" cy="365760"/>
          </a:xfrm>
          <a:prstGeom prst="rect">
            <a:avLst/>
          </a:prstGeom>
        </p:spPr>
      </p:pic>
      <p:sp>
        <p:nvSpPr>
          <p:cNvPr id="10" name="!!m0text"/>
          <p:cNvSpPr txBox="1"/>
          <p:nvPr/>
        </p:nvSpPr>
        <p:spPr>
          <a:xfrm>
            <a:off x="3767328" y="212140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Kundenportal und App</a:t>
            </a:r>
          </a:p>
        </p:txBody>
      </p:sp>
      <p:sp>
        <p:nvSpPr>
          <p:cNvPr id="11" name="!!m1"/>
          <p:cNvSpPr/>
          <p:nvPr/>
        </p:nvSpPr>
        <p:spPr>
          <a:xfrm>
            <a:off x="3108960" y="2816352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m1icon" descr="klemmbrett-843C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2916936"/>
            <a:ext cx="365760" cy="365760"/>
          </a:xfrm>
          <a:prstGeom prst="rect">
            <a:avLst/>
          </a:prstGeom>
        </p:spPr>
      </p:pic>
      <p:sp>
        <p:nvSpPr>
          <p:cNvPr id="13" name="!!m1text"/>
          <p:cNvSpPr txBox="1"/>
          <p:nvPr/>
        </p:nvSpPr>
        <p:spPr>
          <a:xfrm>
            <a:off x="3767328" y="28163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Auftrag und Werkstatt</a:t>
            </a:r>
          </a:p>
        </p:txBody>
      </p:sp>
      <p:sp>
        <p:nvSpPr>
          <p:cNvPr id="14" name="!!m2"/>
          <p:cNvSpPr/>
          <p:nvPr/>
        </p:nvSpPr>
        <p:spPr>
          <a:xfrm>
            <a:off x="3108960" y="3511296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!!m2icon" descr="lager-843C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5264" y="3611880"/>
            <a:ext cx="365760" cy="365760"/>
          </a:xfrm>
          <a:prstGeom prst="rect">
            <a:avLst/>
          </a:prstGeom>
        </p:spPr>
      </p:pic>
      <p:sp>
        <p:nvSpPr>
          <p:cNvPr id="16" name="!!m2text"/>
          <p:cNvSpPr txBox="1"/>
          <p:nvPr/>
        </p:nvSpPr>
        <p:spPr>
          <a:xfrm>
            <a:off x="3767328" y="3511296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Ersatzteil-Disposition</a:t>
            </a:r>
          </a:p>
        </p:txBody>
      </p:sp>
      <p:sp>
        <p:nvSpPr>
          <p:cNvPr id="17" name="!!m3"/>
          <p:cNvSpPr/>
          <p:nvPr/>
        </p:nvSpPr>
        <p:spPr>
          <a:xfrm>
            <a:off x="3108960" y="4206240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!!m3icon" descr="rechnung-euro-843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5264" y="4306824"/>
            <a:ext cx="365760" cy="365760"/>
          </a:xfrm>
          <a:prstGeom prst="rect">
            <a:avLst/>
          </a:prstGeom>
        </p:spPr>
      </p:pic>
      <p:sp>
        <p:nvSpPr>
          <p:cNvPr id="19" name="!!m3text"/>
          <p:cNvSpPr txBox="1"/>
          <p:nvPr/>
        </p:nvSpPr>
        <p:spPr>
          <a:xfrm>
            <a:off x="3767328" y="420624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20" name="!!akteur0"/>
          <p:cNvSpPr txBox="1"/>
          <p:nvPr/>
        </p:nvSpPr>
        <p:spPr>
          <a:xfrm>
            <a:off x="320040" y="213055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1" name="!!akteur0sub"/>
          <p:cNvSpPr txBox="1"/>
          <p:nvPr/>
        </p:nvSpPr>
        <p:spPr>
          <a:xfrm>
            <a:off x="320040" y="24414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2" name="!!akteur0linie"/>
          <p:cNvCxnSpPr/>
          <p:nvPr/>
        </p:nvCxnSpPr>
        <p:spPr>
          <a:xfrm>
            <a:off x="2514600" y="2404872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akteur1"/>
          <p:cNvSpPr txBox="1"/>
          <p:nvPr/>
        </p:nvSpPr>
        <p:spPr>
          <a:xfrm>
            <a:off x="320040" y="2825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4" name="!!akteur1sub"/>
          <p:cNvSpPr txBox="1"/>
          <p:nvPr/>
        </p:nvSpPr>
        <p:spPr>
          <a:xfrm>
            <a:off x="320040" y="3136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5" name="!!akteur1linie"/>
          <p:cNvCxnSpPr/>
          <p:nvPr/>
        </p:nvCxnSpPr>
        <p:spPr>
          <a:xfrm>
            <a:off x="2514600" y="3099816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aussen0"/>
          <p:cNvSpPr txBox="1"/>
          <p:nvPr/>
        </p:nvSpPr>
        <p:spPr>
          <a:xfrm>
            <a:off x="6812280" y="21305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KI-Diagnosedienst</a:t>
            </a:r>
          </a:p>
        </p:txBody>
      </p:sp>
      <p:sp>
        <p:nvSpPr>
          <p:cNvPr id="27" name="!!aussen0sub"/>
          <p:cNvSpPr txBox="1"/>
          <p:nvPr/>
        </p:nvSpPr>
        <p:spPr>
          <a:xfrm>
            <a:off x="6812280" y="24414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wertet Foto, Video, Ton aus</a:t>
            </a:r>
          </a:p>
        </p:txBody>
      </p:sp>
      <p:cxnSp>
        <p:nvCxnSpPr>
          <p:cNvPr id="28" name="!!aussen0linie"/>
          <p:cNvCxnSpPr/>
          <p:nvPr/>
        </p:nvCxnSpPr>
        <p:spPr>
          <a:xfrm>
            <a:off x="6035040" y="2404872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!!aussen1"/>
          <p:cNvSpPr txBox="1"/>
          <p:nvPr/>
        </p:nvSpPr>
        <p:spPr>
          <a:xfrm>
            <a:off x="6812280" y="2825496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F6B7A"/>
                </a:solidFill>
                <a:latin typeface="Calibri"/>
              </a:rPr>
              <a:t>Reparatur selbst</a:t>
            </a:r>
          </a:p>
        </p:txBody>
      </p:sp>
      <p:sp>
        <p:nvSpPr>
          <p:cNvPr id="30" name="!!aussen1sub"/>
          <p:cNvSpPr txBox="1"/>
          <p:nvPr/>
        </p:nvSpPr>
        <p:spPr>
          <a:xfrm>
            <a:off x="6812280" y="3136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bleibt in der Werkstatt</a:t>
            </a:r>
          </a:p>
        </p:txBody>
      </p:sp>
      <p:sp>
        <p:nvSpPr>
          <p:cNvPr id="31" name="!!aussen2"/>
          <p:cNvSpPr txBox="1"/>
          <p:nvPr/>
        </p:nvSpPr>
        <p:spPr>
          <a:xfrm>
            <a:off x="6812280" y="3520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Lieferantensysteme</a:t>
            </a:r>
          </a:p>
        </p:txBody>
      </p:sp>
      <p:sp>
        <p:nvSpPr>
          <p:cNvPr id="32" name="!!aussen2sub"/>
          <p:cNvSpPr txBox="1"/>
          <p:nvPr/>
        </p:nvSpPr>
        <p:spPr>
          <a:xfrm>
            <a:off x="6812280" y="38313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Bestellung, Lieferung, Retoure</a:t>
            </a:r>
          </a:p>
        </p:txBody>
      </p:sp>
      <p:cxnSp>
        <p:nvCxnSpPr>
          <p:cNvPr id="33" name="!!aussen2linie"/>
          <p:cNvCxnSpPr/>
          <p:nvPr/>
        </p:nvCxnSpPr>
        <p:spPr>
          <a:xfrm>
            <a:off x="6035040" y="3794760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aussen3"/>
          <p:cNvSpPr txBox="1"/>
          <p:nvPr/>
        </p:nvSpPr>
        <p:spPr>
          <a:xfrm>
            <a:off x="6812280" y="421538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Buchhaltung</a:t>
            </a:r>
          </a:p>
        </p:txBody>
      </p:sp>
      <p:sp>
        <p:nvSpPr>
          <p:cNvPr id="35" name="!!aussen3sub"/>
          <p:cNvSpPr txBox="1"/>
          <p:nvPr/>
        </p:nvSpPr>
        <p:spPr>
          <a:xfrm>
            <a:off x="6812280" y="4526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bekommt nur einen Export</a:t>
            </a:r>
          </a:p>
        </p:txBody>
      </p:sp>
      <p:cxnSp>
        <p:nvCxnSpPr>
          <p:cNvPr id="36" name="!!aussen3linie"/>
          <p:cNvCxnSpPr/>
          <p:nvPr/>
        </p:nvCxnSpPr>
        <p:spPr>
          <a:xfrm>
            <a:off x="6035040" y="4489704"/>
            <a:ext cx="640080" cy="0"/>
          </a:xfrm>
          <a:prstGeom prst="line">
            <a:avLst/>
          </a:prstGeom>
          <a:ln w="25400">
            <a:solidFill>
              <a:srgbClr val="9A62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Stellen, an denen RepairFlow Fristen, Teilesuche und Regeln im Hintergrund übernimmt.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Rolle in den Prozessen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Camunda-Linter und Modeler-Prüfung: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Pools und Lanes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Pool mit Rollen als Lanes. Der Kunde bekam einen eigenen Ablauf.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Überschriebene Diagramme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Teamwork-Update spielte alte Versionen ein. Seitdem: Update vorher, Commit sofort.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Titel und Team | Agenda | Das Problem | RepairFlow: die 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8, 17-18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9-12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13-16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19-20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21-23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Macintosh PowerPoint</Application>
  <PresentationFormat>Bildschirmpräsentation (16:9)</PresentationFormat>
  <Paragraphs>346</Paragraphs>
  <Slides>21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/>
  <dc:creator>Gruppe 1 WWI25B4</dc:creator>
  <cp:lastModifiedBy>Gruppe 1 WWI25B4</cp:lastModifiedBy>
  <cp:revision>19</cp:revision>
  <dcterms:created xsi:type="dcterms:W3CDTF">2026-10-15T07:59:30Z</dcterms:created>
  <dcterms:modified xsi:type="dcterms:W3CDTF">2026-10-25T12:40:20Z</dcterms:modified>
</cp:coreProperties>
</file>