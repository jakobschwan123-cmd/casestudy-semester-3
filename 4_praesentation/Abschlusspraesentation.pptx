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4" r:id="rId6"/>
    <p:sldId id="276" r:id="rId7"/>
    <p:sldId id="277" r:id="rId8"/>
    <p:sldId id="262" r:id="rId9"/>
    <p:sldId id="263" r:id="rId10"/>
    <p:sldId id="264" r:id="rId11"/>
    <p:sldId id="265" r:id="rId12"/>
    <p:sldId id="266" r:id="rId13"/>
    <p:sldId id="267" r:id="rId14"/>
    <p:sldId id="268" r:id="rId15"/>
    <p:sldId id="269" r:id="rId16"/>
    <p:sldId id="270" r:id="rId17"/>
    <p:sldId id="271" r:id="rId18"/>
    <p:sldId id="272"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001"/>
    <p:restoredTop sz="94610"/>
  </p:normalViewPr>
  <p:slideViewPr>
    <p:cSldViewPr snapToGrid="0" snapToObjects="1">
      <p:cViewPr>
        <p:scale>
          <a:sx n="144" d="100"/>
          <a:sy n="144" d="100"/>
        </p:scale>
        <p:origin x="672" y="1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3804D-9745-E945-7036-E99B9769A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EDE184-F0A1-587B-634E-F467BBE5AC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D8B795-ED07-383D-F935-03E690DBE814}"/>
              </a:ext>
            </a:extLst>
          </p:cNvPr>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p>
        </p:txBody>
      </p:sp>
      <p:sp>
        <p:nvSpPr>
          <p:cNvPr id="4" name="Slide Number Placeholder 3">
            <a:extLst>
              <a:ext uri="{FF2B5EF4-FFF2-40B4-BE49-F238E27FC236}">
                <a16:creationId xmlns:a16="http://schemas.microsoft.com/office/drawing/2014/main" id="{32569B22-EA7A-28D0-7E6A-0FFE1EDE3B9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4460752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1.xml"/><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5.svg"/><Relationship Id="rId4" Type="http://schemas.openxmlformats.org/officeDocument/2006/relationships/image" Target="../media/image24.svg"/></Relationships>
</file>

<file path=ppt/slides/_rels/slide12.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43.png"/><Relationship Id="rId4" Type="http://schemas.openxmlformats.org/officeDocument/2006/relationships/image" Target="../media/image42.png"/></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5.sv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548640" y="1234440"/>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8" name="Text 5"/>
          <p:cNvSpPr txBox="1"/>
          <p:nvPr/>
        </p:nvSpPr>
        <p:spPr>
          <a:xfrm>
            <a:off x="548640" y="1234440"/>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1</a:t>
            </a:r>
            <a:endParaRPr lang="en-US" sz="1400" dirty="0">
              <a:latin typeface="Segoe UI" panose="020B0502040204020203" pitchFamily="34" charset="0"/>
              <a:cs typeface="Segoe UI" panose="020B0502040204020203" pitchFamily="34" charset="0"/>
            </a:endParaRPr>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Das Problem: Werkstätten heute</a:t>
            </a:r>
            <a:endParaRPr lang="en-US" sz="1500" dirty="0">
              <a:latin typeface="Segoe UI" panose="020B0502040204020203" pitchFamily="34" charset="0"/>
              <a:cs typeface="Segoe UI" panose="020B0502040204020203" pitchFamily="34" charset="0"/>
            </a:endParaRPr>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David</a:t>
            </a:r>
            <a:endParaRPr lang="en-US" sz="1200" dirty="0">
              <a:latin typeface="Segoe UI" panose="020B0502040204020203" pitchFamily="34" charset="0"/>
              <a:cs typeface="Segoe UI" panose="020B0502040204020203" pitchFamily="34" charset="0"/>
            </a:endParaRPr>
          </a:p>
        </p:txBody>
      </p:sp>
      <p:sp>
        <p:nvSpPr>
          <p:cNvPr id="11" name="Shape 8"/>
          <p:cNvSpPr/>
          <p:nvPr/>
        </p:nvSpPr>
        <p:spPr>
          <a:xfrm>
            <a:off x="548640" y="1664208"/>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12" name="Text 9"/>
          <p:cNvSpPr txBox="1"/>
          <p:nvPr/>
        </p:nvSpPr>
        <p:spPr>
          <a:xfrm>
            <a:off x="548640" y="1664208"/>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2</a:t>
            </a:r>
            <a:endParaRPr lang="en-US" sz="1400" dirty="0">
              <a:latin typeface="Segoe UI" panose="020B0502040204020203" pitchFamily="34" charset="0"/>
              <a:cs typeface="Segoe UI" panose="020B0502040204020203" pitchFamily="34" charset="0"/>
            </a:endParaRPr>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RepairFlow: Lösung, Nutzen, Auftragsreise, KI-Sofortdiagnose</a:t>
            </a:r>
            <a:endParaRPr lang="en-US" sz="1500" dirty="0">
              <a:latin typeface="Segoe UI" panose="020B0502040204020203" pitchFamily="34" charset="0"/>
              <a:cs typeface="Segoe UI" panose="020B0502040204020203" pitchFamily="34" charset="0"/>
            </a:endParaRPr>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Adrian</a:t>
            </a:r>
            <a:endParaRPr lang="en-US" sz="1200" dirty="0">
              <a:latin typeface="Segoe UI" panose="020B0502040204020203" pitchFamily="34" charset="0"/>
              <a:cs typeface="Segoe UI" panose="020B0502040204020203" pitchFamily="34" charset="0"/>
            </a:endParaRPr>
          </a:p>
        </p:txBody>
      </p:sp>
      <p:sp>
        <p:nvSpPr>
          <p:cNvPr id="16" name="Shape 13"/>
          <p:cNvSpPr/>
          <p:nvPr/>
        </p:nvSpPr>
        <p:spPr>
          <a:xfrm>
            <a:off x="548640" y="2368296"/>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17" name="Text 14"/>
          <p:cNvSpPr txBox="1"/>
          <p:nvPr/>
        </p:nvSpPr>
        <p:spPr>
          <a:xfrm>
            <a:off x="548640" y="2368296"/>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3</a:t>
            </a:r>
            <a:endParaRPr lang="en-US" sz="1400" dirty="0">
              <a:latin typeface="Segoe UI" panose="020B0502040204020203" pitchFamily="34" charset="0"/>
              <a:cs typeface="Segoe UI" panose="020B0502040204020203" pitchFamily="34" charset="0"/>
            </a:endParaRPr>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Ergebnisse: zehn Geschäftsprozesse</a:t>
            </a:r>
            <a:endParaRPr lang="en-US" sz="1500" dirty="0">
              <a:latin typeface="Segoe UI" panose="020B0502040204020203" pitchFamily="34" charset="0"/>
              <a:cs typeface="Segoe UI" panose="020B0502040204020203" pitchFamily="34" charset="0"/>
            </a:endParaRPr>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Maximilian</a:t>
            </a:r>
            <a:endParaRPr lang="en-US" sz="1200" dirty="0">
              <a:latin typeface="Segoe UI" panose="020B0502040204020203" pitchFamily="34" charset="0"/>
              <a:cs typeface="Segoe UI" panose="020B0502040204020203" pitchFamily="34" charset="0"/>
            </a:endParaRPr>
          </a:p>
        </p:txBody>
      </p:sp>
      <p:sp>
        <p:nvSpPr>
          <p:cNvPr id="20" name="Shape 17"/>
          <p:cNvSpPr/>
          <p:nvPr/>
        </p:nvSpPr>
        <p:spPr>
          <a:xfrm>
            <a:off x="548640" y="2798064"/>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1" name="Text 18"/>
          <p:cNvSpPr txBox="1"/>
          <p:nvPr/>
        </p:nvSpPr>
        <p:spPr>
          <a:xfrm>
            <a:off x="548640" y="2798064"/>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4</a:t>
            </a:r>
            <a:endParaRPr lang="en-US" sz="1400" dirty="0">
              <a:latin typeface="Segoe UI" panose="020B0502040204020203" pitchFamily="34" charset="0"/>
              <a:cs typeface="Segoe UI" panose="020B0502040204020203" pitchFamily="34" charset="0"/>
            </a:endParaRPr>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Ergebnisse: Rollen, Use Cases und Datenmodell</a:t>
            </a:r>
            <a:endParaRPr lang="en-US" sz="1500" dirty="0">
              <a:latin typeface="Segoe UI" panose="020B0502040204020203" pitchFamily="34" charset="0"/>
              <a:cs typeface="Segoe UI" panose="020B0502040204020203" pitchFamily="34" charset="0"/>
            </a:endParaRPr>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David, Kilian</a:t>
            </a:r>
            <a:endParaRPr lang="en-US" sz="1200" dirty="0">
              <a:latin typeface="Segoe UI" panose="020B0502040204020203" pitchFamily="34" charset="0"/>
              <a:cs typeface="Segoe UI" panose="020B0502040204020203" pitchFamily="34" charset="0"/>
            </a:endParaRPr>
          </a:p>
        </p:txBody>
      </p:sp>
      <p:sp>
        <p:nvSpPr>
          <p:cNvPr id="24" name="Shape 21"/>
          <p:cNvSpPr/>
          <p:nvPr/>
        </p:nvSpPr>
        <p:spPr>
          <a:xfrm>
            <a:off x="548640" y="3227832"/>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5" name="Text 22"/>
          <p:cNvSpPr txBox="1"/>
          <p:nvPr/>
        </p:nvSpPr>
        <p:spPr>
          <a:xfrm>
            <a:off x="548640" y="3227832"/>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5</a:t>
            </a:r>
            <a:endParaRPr lang="en-US" sz="1400" dirty="0">
              <a:latin typeface="Segoe UI" panose="020B0502040204020203" pitchFamily="34" charset="0"/>
              <a:cs typeface="Segoe UI" panose="020B0502040204020203" pitchFamily="34" charset="0"/>
            </a:endParaRPr>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Vorgehen und Projektmanagement</a:t>
            </a:r>
            <a:endParaRPr lang="en-US" sz="1500" dirty="0">
              <a:latin typeface="Segoe UI" panose="020B0502040204020203" pitchFamily="34" charset="0"/>
              <a:cs typeface="Segoe UI" panose="020B0502040204020203" pitchFamily="34" charset="0"/>
            </a:endParaRPr>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Kilian</a:t>
            </a:r>
            <a:endParaRPr lang="en-US" sz="1200" dirty="0">
              <a:latin typeface="Segoe UI" panose="020B0502040204020203" pitchFamily="34" charset="0"/>
              <a:cs typeface="Segoe UI" panose="020B0502040204020203" pitchFamily="34" charset="0"/>
            </a:endParaRPr>
          </a:p>
        </p:txBody>
      </p:sp>
      <p:sp>
        <p:nvSpPr>
          <p:cNvPr id="28" name="Shape 25"/>
          <p:cNvSpPr/>
          <p:nvPr/>
        </p:nvSpPr>
        <p:spPr>
          <a:xfrm>
            <a:off x="548640" y="3657600"/>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9" name="Text 26"/>
          <p:cNvSpPr txBox="1"/>
          <p:nvPr/>
        </p:nvSpPr>
        <p:spPr>
          <a:xfrm>
            <a:off x="548640" y="3657600"/>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6</a:t>
            </a:r>
            <a:endParaRPr lang="en-US" sz="1400" dirty="0">
              <a:latin typeface="Segoe UI" panose="020B0502040204020203" pitchFamily="34" charset="0"/>
              <a:cs typeface="Segoe UI" panose="020B0502040204020203" pitchFamily="34" charset="0"/>
            </a:endParaRPr>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Qualität, Herausforderungen und Lernerfahrungen</a:t>
            </a:r>
            <a:endParaRPr lang="en-US" sz="1500" dirty="0">
              <a:latin typeface="Segoe UI" panose="020B0502040204020203" pitchFamily="34" charset="0"/>
              <a:cs typeface="Segoe UI" panose="020B0502040204020203" pitchFamily="34" charset="0"/>
            </a:endParaRPr>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Jakob</a:t>
            </a:r>
            <a:endParaRPr lang="en-US" sz="1200" dirty="0">
              <a:latin typeface="Segoe UI" panose="020B0502040204020203" pitchFamily="34" charset="0"/>
              <a:cs typeface="Segoe UI" panose="020B0502040204020203" pitchFamily="34" charset="0"/>
            </a:endParaRPr>
          </a:p>
        </p:txBody>
      </p:sp>
      <p:sp>
        <p:nvSpPr>
          <p:cNvPr id="32" name="Shape 29"/>
          <p:cNvSpPr/>
          <p:nvPr/>
        </p:nvSpPr>
        <p:spPr>
          <a:xfrm>
            <a:off x="548640" y="4087368"/>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3" name="Text 30"/>
          <p:cNvSpPr txBox="1"/>
          <p:nvPr/>
        </p:nvSpPr>
        <p:spPr>
          <a:xfrm>
            <a:off x="548640" y="4087368"/>
            <a:ext cx="384048" cy="384048"/>
          </a:xfrm>
          <a:prstGeom prst="rect">
            <a:avLst/>
          </a:prstGeom>
          <a:noFill/>
          <a:ln>
            <a:noFill/>
          </a:ln>
        </p:spPr>
        <p:txBody>
          <a:bodyPr wrap="square" lIns="0" tIns="0" rIns="0" bIns="0" rtlCol="0" anchor="ctr"/>
          <a:lstStyle/>
          <a:p>
            <a:pPr marL="0" indent="0" algn="ctr">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7</a:t>
            </a:r>
            <a:endParaRPr lang="en-US" sz="1400" dirty="0">
              <a:latin typeface="Segoe UI" panose="020B0502040204020203" pitchFamily="34" charset="0"/>
              <a:cs typeface="Segoe UI" panose="020B0502040204020203" pitchFamily="34" charset="0"/>
            </a:endParaRPr>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Geschäftsmodell, Ausblick und Fazit</a:t>
            </a:r>
            <a:endParaRPr lang="en-US" sz="1500" dirty="0">
              <a:latin typeface="Segoe UI" panose="020B0502040204020203" pitchFamily="34" charset="0"/>
              <a:cs typeface="Segoe UI" panose="020B0502040204020203" pitchFamily="34" charset="0"/>
            </a:endParaRPr>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Segoe UI" panose="020B0502040204020203" pitchFamily="34" charset="0"/>
                <a:ea typeface="Calibri" pitchFamily="34" charset="-122"/>
                <a:cs typeface="Segoe UI" panose="020B0502040204020203" pitchFamily="34" charset="0"/>
              </a:rPr>
              <a:t>Nina</a:t>
            </a:r>
            <a:endParaRPr lang="en-US" sz="1200" dirty="0">
              <a:latin typeface="Segoe UI" panose="020B0502040204020203" pitchFamily="34" charset="0"/>
              <a:cs typeface="Segoe UI" panose="020B0502040204020203" pitchFamily="34" charset="0"/>
            </a:endParaRPr>
          </a:p>
        </p:txBody>
      </p:sp>
      <p:sp>
        <p:nvSpPr>
          <p:cNvPr id="3" name="Textfeld 2">
            <a:extLst>
              <a:ext uri="{FF2B5EF4-FFF2-40B4-BE49-F238E27FC236}">
                <a16:creationId xmlns:a16="http://schemas.microsoft.com/office/drawing/2014/main" id="{EF5C446E-67D4-8DA9-776B-AADF737992E4}"/>
              </a:ext>
            </a:extLst>
          </p:cNvPr>
          <p:cNvSpPr txBox="1"/>
          <p:nvPr/>
        </p:nvSpPr>
        <p:spPr>
          <a:xfrm rot="19711761">
            <a:off x="3181378" y="1839165"/>
            <a:ext cx="5150449" cy="1323439"/>
          </a:xfrm>
          <a:prstGeom prst="rect">
            <a:avLst/>
          </a:prstGeom>
          <a:noFill/>
        </p:spPr>
        <p:txBody>
          <a:bodyPr wrap="none" rtlCol="0">
            <a:spAutoFit/>
          </a:bodyPr>
          <a:lstStyle/>
          <a:p>
            <a:r>
              <a:rPr lang="de-DE" sz="8000" b="1" dirty="0">
                <a:solidFill>
                  <a:srgbClr val="FF0000"/>
                </a:solidFill>
              </a:rPr>
              <a:t>Besprechen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mit Sofortdiagnose, Voranmeldung, KVA-Freigabe und 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Auftragsstatus, Diagnose, Kostenvoranschlag, Reparaturschritte, 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aller Filialen, Reservierung, Umlagerung, Bestellung, 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Rechnung, Zahlung, Übergabe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11707356" cy="3499132"/>
            <a:chOff x="457200" y="1557129"/>
            <a:chExt cx="8366760" cy="2500684"/>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D07C062-CECE-758C-F23E-76755D09D423}"/>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94C75B7A-F4A9-86A4-9F84-444E2B34528C}"/>
              </a:ext>
            </a:extLst>
          </p:cNvPr>
          <p:cNvGrpSpPr/>
          <p:nvPr/>
        </p:nvGrpSpPr>
        <p:grpSpPr>
          <a:xfrm>
            <a:off x="-2876311" y="1557128"/>
            <a:ext cx="11707356" cy="3499132"/>
            <a:chOff x="457200" y="1557129"/>
            <a:chExt cx="8366760" cy="2500684"/>
          </a:xfrm>
        </p:grpSpPr>
        <p:sp>
          <p:nvSpPr>
            <p:cNvPr id="6" name="Shape 3">
              <a:extLst>
                <a:ext uri="{FF2B5EF4-FFF2-40B4-BE49-F238E27FC236}">
                  <a16:creationId xmlns:a16="http://schemas.microsoft.com/office/drawing/2014/main" id="{2E181FAA-36EF-144D-B56A-D77168F78B73}"/>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E7E58A4B-9203-2F78-19FA-6FE57CDDD22F}"/>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12C912F7-108E-212A-4788-2B6166EB19B6}"/>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60E2483F-F87D-BAC9-4869-7EE49ED76D48}"/>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73E6B55D-527E-7CBA-DEFF-50673B372522}"/>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5E037742-466D-8A88-27E2-CD020237D4EB}"/>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2AD78538-85F3-9616-279F-E65A45A1033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A5A217F9-4D0B-47B3-F955-DE78E0738C28}"/>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CBCDDFBB-55B6-F087-2BC9-18BB2AE0AAF6}"/>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93E4DB57-E3C7-75E6-CE79-88EACB5049D1}"/>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0D053BF0-3A12-F977-3F56-D7417C79E03F}"/>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E1EC901-30BE-5BDA-CD5C-E8F9C0631333}"/>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7084DA7-1A52-1596-AE3C-2E59E8C3DF50}"/>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DA8F6F7D-8344-65D1-BE8A-7211D60B702E}"/>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CAA51218-6ED7-8BE6-8523-F749F5BB8169}"/>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EBEEB3CE-BF1E-C06F-66B7-8E195CA797D5}"/>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AD8B4186-9B77-034E-6DF2-37A6D1ECD2C6}"/>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B14C7FAE-56D1-2B18-04AE-D96B48D316CC}"/>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AC451797-4598-3DCA-6C09-D2AC7C742D82}"/>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EE3D317B-1054-6ED4-B95A-DA3BAF51A099}"/>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33BDC169-3063-B1D4-890E-C9EEE8D6550C}"/>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0873EE84-DF4D-9A2C-342D-6076B3D6E492}"/>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073735B-FB1B-6895-4160-764DB7C6CEA1}"/>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5C6FABB9-40A4-EEAC-72AB-035884AB7AD8}"/>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E994FC96-1833-4218-D6E5-BD75A29B1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E5BDB458-3BA9-B11B-2A1D-63A824D706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421A7AFA-72A5-9CD1-2EC3-35F5916E11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028FFCC5-100D-274D-CC6D-CA29C12D473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FF39013E-C94B-91F2-8C6F-50FC2F09648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FF161112-AEC9-DBA2-EF43-9D05A44CA2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EFA6E04A-F220-CEB6-7786-4E0DF5207F8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933254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5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131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27</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36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 Zustandsdiagramm</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41 Nachrichtenflüsse, 48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 Zustandsdiagramm des Reparaturauftrags.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60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794826599"/>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131</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Schnitt 13,1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60 %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Segoe UI" panose="020B0502040204020203" pitchFamily="34" charset="0"/>
                <a:ea typeface="Calibri" pitchFamily="34" charset="-122"/>
                <a:cs typeface="Segoe UI" panose="020B0502040204020203" pitchFamily="34" charset="0"/>
              </a:rPr>
              <a:t>Handwerk bleibt Handwerk: Diagnose, Reparatur und Endkontrolle sind Aktivitäten des Technikers mit Unterstützung durch das System.</a:t>
            </a:r>
            <a:endParaRPr lang="en-US" sz="1000" dirty="0">
              <a:latin typeface="Segoe UI" panose="020B0502040204020203" pitchFamily="34" charset="0"/>
              <a:cs typeface="Segoe UI" panose="020B0502040204020203" pitchFamily="34" charset="0"/>
            </a:endParaRPr>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Segoe UI" panose="020B0502040204020203" pitchFamily="34" charset="0"/>
                <a:ea typeface="Calibri" pitchFamily="34" charset="-122"/>
                <a:cs typeface="Segoe UI" panose="020B0502040204020203" pitchFamily="34" charset="0"/>
              </a:rPr>
              <a:t>01 bis 08: durchgehende Auftragsreise · 09 und 10: Reklamation und Retoure · Pool Werkstattbetrieb mit Lanes Service, Techniker, Werkstattleitung, Disposition; Kunde mit eigenem Ablauf, Lieferant als Black Box</a:t>
            </a:r>
            <a:endParaRPr lang="en-US" sz="950" dirty="0">
              <a:latin typeface="Segoe UI" panose="020B0502040204020203" pitchFamily="34" charset="0"/>
              <a:cs typeface="Segoe UI" panose="020B0502040204020203"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Sofortdiagnose</a:t>
            </a:r>
            <a:r>
              <a:rPr lang="en-US" sz="1150" dirty="0">
                <a:solidFill>
                  <a:srgbClr val="1B2430"/>
                </a:solidFill>
                <a:latin typeface="Segoe UI" panose="020B0502040204020203" pitchFamily="34" charset="0"/>
                <a:ea typeface="Calibri" pitchFamily="34" charset="-122"/>
                <a:cs typeface="Segoe UI" panose="020B0502040204020203" pitchFamily="34" charset="0"/>
              </a:rPr>
              <a:t> </a:t>
            </a:r>
            <a:r>
              <a:rPr lang="en-US" sz="1150" dirty="0" err="1">
                <a:solidFill>
                  <a:srgbClr val="1B2430"/>
                </a:solidFill>
                <a:latin typeface="Segoe UI" panose="020B0502040204020203" pitchFamily="34" charset="0"/>
                <a:ea typeface="Calibri" pitchFamily="34" charset="-122"/>
                <a:cs typeface="Segoe UI" panose="020B0502040204020203" pitchFamily="34" charset="0"/>
              </a:rPr>
              <a:t>anfordern</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Voranmeldung</a:t>
            </a:r>
            <a:r>
              <a:rPr lang="en-US" sz="1150" dirty="0">
                <a:solidFill>
                  <a:srgbClr val="1B2430"/>
                </a:solidFill>
                <a:latin typeface="Segoe UI" panose="020B0502040204020203" pitchFamily="34" charset="0"/>
                <a:ea typeface="Calibri" pitchFamily="34" charset="-122"/>
                <a:cs typeface="Segoe UI" panose="020B0502040204020203" pitchFamily="34" charset="0"/>
              </a:rPr>
              <a:t> </a:t>
            </a:r>
            <a:r>
              <a:rPr lang="en-US" sz="1150" dirty="0" err="1">
                <a:solidFill>
                  <a:srgbClr val="1B2430"/>
                </a:solidFill>
                <a:latin typeface="Segoe UI" panose="020B0502040204020203" pitchFamily="34" charset="0"/>
                <a:ea typeface="Calibri" pitchFamily="34" charset="-122"/>
                <a:cs typeface="Segoe UI" panose="020B0502040204020203" pitchFamily="34" charset="0"/>
              </a:rPr>
              <a:t>bestätigen</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a:solidFill>
                  <a:srgbClr val="1B2430"/>
                </a:solidFill>
                <a:latin typeface="Segoe UI" panose="020B0502040204020203" pitchFamily="34" charset="0"/>
                <a:ea typeface="Calibri" pitchFamily="34" charset="-122"/>
                <a:cs typeface="Segoe UI" panose="020B0502040204020203" pitchFamily="34" charset="0"/>
              </a:rPr>
              <a:t>KVA freigeben / ablehnen</a:t>
            </a:r>
            <a:endParaRPr lang="en-US" sz="1150" dirty="0">
              <a:latin typeface="Segoe UI" panose="020B0502040204020203" pitchFamily="34" charset="0"/>
              <a:cs typeface="Segoe UI" panose="020B0502040204020203" pitchFamily="34" charset="0"/>
            </a:endParaRPr>
          </a:p>
          <a:p>
            <a:pPr marL="228600" indent="-228600">
              <a:buFont typeface="+mj-lt"/>
              <a:buAutoNum type="arabicPeriod"/>
            </a:pPr>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828800" cy="2103120"/>
          </a:xfrm>
          <a:prstGeom prst="rect">
            <a:avLst/>
          </a:prstGeom>
          <a:noFill/>
          <a:ln/>
        </p:spPr>
        <p:txBody>
          <a:bodyPr wrap="square" lIns="0" tIns="0" rIns="0" bIns="0" rtlCol="0" anchor="t"/>
          <a:lstStyle/>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Serviceannahme</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Diagnoseprüfer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Diagnostiker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Kalkulato</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Werkstattplaner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Reparateur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Endkontrolleur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Geräteausgabe</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Reklamationsbearbeiter</a:t>
            </a:r>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20" y="2962035"/>
            <a:ext cx="1600200" cy="2103120"/>
          </a:xfrm>
          <a:prstGeom prst="rect">
            <a:avLst/>
          </a:prstGeom>
          <a:noFill/>
          <a:ln/>
        </p:spPr>
        <p:txBody>
          <a:bodyPr wrap="square" lIns="0" tIns="0" rIns="0" bIns="0" rtlCol="0" anchor="t"/>
          <a:lstStyle/>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Teiledisponent</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Bestandsplaner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Einkäufer</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Wareneingang</a:t>
            </a:r>
            <a:endParaRPr lang="en-US" sz="1150" dirty="0">
              <a:solidFill>
                <a:srgbClr val="1B2430"/>
              </a:solidFill>
              <a:latin typeface="Segoe UI" panose="020B0502040204020203" pitchFamily="34" charset="0"/>
              <a:ea typeface="Calibri" pitchFamily="34" charset="-122"/>
              <a:cs typeface="Segoe UI" panose="020B0502040204020203" pitchFamily="34" charset="0"/>
            </a:endParaRPr>
          </a:p>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Retourenbearbeiter</a:t>
            </a:r>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40" y="2962035"/>
            <a:ext cx="1554480" cy="2103120"/>
          </a:xfrm>
          <a:prstGeom prst="rect">
            <a:avLst/>
          </a:prstGeom>
          <a:noFill/>
          <a:ln/>
        </p:spPr>
        <p:txBody>
          <a:bodyPr wrap="square" lIns="0" tIns="0" rIns="0" bIns="0" rtlCol="0" anchor="t"/>
          <a:lstStyle/>
          <a:p>
            <a:pPr marL="228600" indent="-228600">
              <a:buFont typeface="+mj-lt"/>
              <a:buAutoNum type="arabicPeriod"/>
            </a:pPr>
            <a:r>
              <a:rPr lang="en-US" sz="1150" dirty="0" err="1">
                <a:solidFill>
                  <a:srgbClr val="1B2430"/>
                </a:solidFill>
                <a:latin typeface="Segoe UI" panose="020B0502040204020203" pitchFamily="34" charset="0"/>
                <a:ea typeface="Calibri" pitchFamily="34" charset="-122"/>
                <a:cs typeface="Segoe UI" panose="020B0502040204020203" pitchFamily="34" charset="0"/>
              </a:rPr>
              <a:t>Werkstattbetrieb</a:t>
            </a:r>
            <a:r>
              <a:rPr lang="en-US" sz="1150" dirty="0">
                <a:solidFill>
                  <a:srgbClr val="1B2430"/>
                </a:solidFill>
                <a:latin typeface="Segoe UI" panose="020B0502040204020203" pitchFamily="34" charset="0"/>
                <a:ea typeface="Calibri" pitchFamily="34" charset="-122"/>
                <a:cs typeface="Segoe UI" panose="020B0502040204020203" pitchFamily="34" charset="0"/>
              </a:rPr>
              <a:t> und Filialen verwalten (</a:t>
            </a:r>
            <a:r>
              <a:rPr lang="en-US" sz="1150" dirty="0" err="1">
                <a:solidFill>
                  <a:srgbClr val="1B2430"/>
                </a:solidFill>
                <a:latin typeface="Segoe UI" panose="020B0502040204020203" pitchFamily="34" charset="0"/>
                <a:ea typeface="Calibri" pitchFamily="34" charset="-122"/>
                <a:cs typeface="Segoe UI" panose="020B0502040204020203" pitchFamily="34" charset="0"/>
              </a:rPr>
              <a:t>Mandant</a:t>
            </a:r>
            <a:r>
              <a:rPr lang="en-US" sz="1150" dirty="0">
                <a:solidFill>
                  <a:srgbClr val="1B2430"/>
                </a:solidFill>
                <a:latin typeface="Segoe UI" panose="020B0502040204020203" pitchFamily="34" charset="0"/>
                <a:ea typeface="Calibri" pitchFamily="34" charset="-122"/>
                <a:cs typeface="Segoe UI" panose="020B0502040204020203" pitchFamily="34" charset="0"/>
              </a:rPr>
              <a:t>)</a:t>
            </a:r>
            <a:endParaRPr lang="en-US" sz="1150" dirty="0">
              <a:latin typeface="Segoe UI" panose="020B0502040204020203" pitchFamily="34" charset="0"/>
              <a:cs typeface="Segoe UI" panose="020B0502040204020203" pitchFamily="34" charset="0"/>
            </a:endParaRPr>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Servicemitarbeiter, Techniker, Disponent, Werkstattleiter als Unterklassen von Mitarbeiter, passend zu Lanes und Rollen.</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27 Klassen · 36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das Zustandsdiagramm beschreibt seine Übergänge.</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4303</Words>
  <Application>Microsoft Macintosh PowerPoint</Application>
  <PresentationFormat>Bildschirmpräsentation (16:9)</PresentationFormat>
  <Paragraphs>332</Paragraphs>
  <Slides>18</Slides>
  <Notes>17</Notes>
  <HiddenSlides>3</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18</vt:i4>
      </vt:variant>
    </vt:vector>
  </HeadingPairs>
  <TitlesOfParts>
    <vt:vector size="23"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10</cp:revision>
  <dcterms:created xsi:type="dcterms:W3CDTF">2026-10-15T07:59:30Z</dcterms:created>
  <dcterms:modified xsi:type="dcterms:W3CDTF">2026-10-21T10:06:47Z</dcterms:modified>
</cp:coreProperties>
</file>