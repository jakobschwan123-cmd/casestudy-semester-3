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3f2ed7914d490b" /><Relationship Type="http://schemas.openxmlformats.org/officeDocument/2006/relationships/extended-properties" Target="/docProps/app.xml" Id="R83151604ae9b4118" /><Relationship Type="http://schemas.openxmlformats.org/officeDocument/2006/relationships/officeDocument" Target="/ppt/presentation.xml" Id="R47216434da4344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d3109ccf3d4d45"/>
  </p:sldMasterIdLst>
  <p:notesMasterIdLst>
    <p:notesMasterId xmlns:r="http://schemas.openxmlformats.org/officeDocument/2006/relationships" r:id="R793cf32ebdf24776"/>
  </p:notesMasterIdLst>
  <p:sldIdLst>
    <p:sldId xmlns:r="http://schemas.openxmlformats.org/officeDocument/2006/relationships" id="256" r:id="R0e310929ce5f4208"/>
    <p:sldId xmlns:r="http://schemas.openxmlformats.org/officeDocument/2006/relationships" id="257" r:id="R9b17254d3b38474a"/>
    <p:sldId xmlns:r="http://schemas.openxmlformats.org/officeDocument/2006/relationships" id="258" r:id="R76c80f0e0e444265"/>
    <p:sldId xmlns:r="http://schemas.openxmlformats.org/officeDocument/2006/relationships" id="259" r:id="R3921d8b7e38c43fc"/>
    <p:sldId xmlns:r="http://schemas.openxmlformats.org/officeDocument/2006/relationships" id="260" r:id="Rb19445de7b6245ae"/>
    <p:sldId xmlns:r="http://schemas.openxmlformats.org/officeDocument/2006/relationships" id="261" r:id="Rfba8acfba89543bd"/>
    <p:sldId xmlns:r="http://schemas.openxmlformats.org/officeDocument/2006/relationships" id="262" r:id="Rbd2e669d0ab64bf4"/>
    <p:sldId xmlns:r="http://schemas.openxmlformats.org/officeDocument/2006/relationships" id="263" r:id="R04d627c4673748fa"/>
    <p:sldId xmlns:r="http://schemas.openxmlformats.org/officeDocument/2006/relationships" id="264" r:id="R94020558ba124313"/>
    <p:sldId xmlns:r="http://schemas.openxmlformats.org/officeDocument/2006/relationships" id="265" r:id="Re910f08e8f7a450a"/>
    <p:sldId xmlns:r="http://schemas.openxmlformats.org/officeDocument/2006/relationships" id="266" r:id="Re8a49bd465a4452c"/>
    <p:sldId xmlns:r="http://schemas.openxmlformats.org/officeDocument/2006/relationships" id="267" r:id="R4c1a20ff25714e9e"/>
    <p:sldId xmlns:r="http://schemas.openxmlformats.org/officeDocument/2006/relationships" id="268" r:id="R5df61bde1ed145b9"/>
    <p:sldId xmlns:r="http://schemas.openxmlformats.org/officeDocument/2006/relationships" id="269" r:id="R6539d72787ff451d"/>
    <p:sldId xmlns:r="http://schemas.openxmlformats.org/officeDocument/2006/relationships" id="270" r:id="R04061440218e4587"/>
    <p:sldId xmlns:r="http://schemas.openxmlformats.org/officeDocument/2006/relationships" id="271" r:id="R1863e1f445b64e52"/>
    <p:sldId xmlns:r="http://schemas.openxmlformats.org/officeDocument/2006/relationships" id="272" r:id="R6dcbcb6846dd406a"/>
    <p:sldId xmlns:r="http://schemas.openxmlformats.org/officeDocument/2006/relationships" id="273" r:id="R3c29d1e4fc4e4d8a"/>
    <p:sldId xmlns:r="http://schemas.openxmlformats.org/officeDocument/2006/relationships" id="274" r:id="R5db4384b2b074bf8"/>
    <p:sldId xmlns:r="http://schemas.openxmlformats.org/officeDocument/2006/relationships" id="275" r:id="R7830795ee2f34bd5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c8573296cf43ac" /><Relationship Type="http://schemas.openxmlformats.org/officeDocument/2006/relationships/slideMaster" Target="/ppt/slideMasters/slideMaster1.xml" Id="R05d3109ccf3d4d45" /><Relationship Type="http://schemas.openxmlformats.org/officeDocument/2006/relationships/notesMaster" Target="/ppt/notesMasters/notesMaster1.xml" Id="R793cf32ebdf24776" /><Relationship Type="http://schemas.openxmlformats.org/officeDocument/2006/relationships/presProps" Target="/ppt/presProps.xml" Id="R58f6c428b24a4e39" /><Relationship Type="http://schemas.openxmlformats.org/officeDocument/2006/relationships/viewProps" Target="/ppt/viewProps.xml" Id="Rd61e965fc3294cfd" /><Relationship Type="http://schemas.openxmlformats.org/officeDocument/2006/relationships/tableStyles" Target="/ppt/tableStyles.xml" Id="R07b1e6ec666844fb" /><Relationship Type="http://schemas.openxmlformats.org/officeDocument/2006/relationships/slide" Target="/ppt/slides/slide1.xml" Id="R0e310929ce5f4208" /><Relationship Type="http://schemas.openxmlformats.org/officeDocument/2006/relationships/slide" Target="/ppt/slides/slide2.xml" Id="R9b17254d3b38474a" /><Relationship Type="http://schemas.openxmlformats.org/officeDocument/2006/relationships/slide" Target="/ppt/slides/slide3.xml" Id="R76c80f0e0e444265" /><Relationship Type="http://schemas.openxmlformats.org/officeDocument/2006/relationships/slide" Target="/ppt/slides/slide4.xml" Id="R3921d8b7e38c43fc" /><Relationship Type="http://schemas.openxmlformats.org/officeDocument/2006/relationships/slide" Target="/ppt/slides/slide5.xml" Id="Rb19445de7b6245ae" /><Relationship Type="http://schemas.openxmlformats.org/officeDocument/2006/relationships/slide" Target="/ppt/slides/slide6.xml" Id="Rfba8acfba89543bd" /><Relationship Type="http://schemas.openxmlformats.org/officeDocument/2006/relationships/slide" Target="/ppt/slides/slide7.xml" Id="Rbd2e669d0ab64bf4" /><Relationship Type="http://schemas.openxmlformats.org/officeDocument/2006/relationships/slide" Target="/ppt/slides/slide8.xml" Id="R04d627c4673748fa" /><Relationship Type="http://schemas.openxmlformats.org/officeDocument/2006/relationships/slide" Target="/ppt/slides/slide9.xml" Id="R94020558ba124313" /><Relationship Type="http://schemas.openxmlformats.org/officeDocument/2006/relationships/slide" Target="/ppt/slides/slide10.xml" Id="Re910f08e8f7a450a" /><Relationship Type="http://schemas.openxmlformats.org/officeDocument/2006/relationships/slide" Target="/ppt/slides/slide11.xml" Id="Re8a49bd465a4452c" /><Relationship Type="http://schemas.openxmlformats.org/officeDocument/2006/relationships/slide" Target="/ppt/slides/slide12.xml" Id="R4c1a20ff25714e9e" /><Relationship Type="http://schemas.openxmlformats.org/officeDocument/2006/relationships/slide" Target="/ppt/slides/slide13.xml" Id="R5df61bde1ed145b9" /><Relationship Type="http://schemas.openxmlformats.org/officeDocument/2006/relationships/slide" Target="/ppt/slides/slide14.xml" Id="R6539d72787ff451d" /><Relationship Type="http://schemas.openxmlformats.org/officeDocument/2006/relationships/slide" Target="/ppt/slides/slide15.xml" Id="R04061440218e4587" /><Relationship Type="http://schemas.openxmlformats.org/officeDocument/2006/relationships/slide" Target="/ppt/slides/slide16.xml" Id="R1863e1f445b64e52" /><Relationship Type="http://schemas.openxmlformats.org/officeDocument/2006/relationships/slide" Target="/ppt/slides/slide17.xml" Id="R6dcbcb6846dd406a" /><Relationship Type="http://schemas.openxmlformats.org/officeDocument/2006/relationships/slide" Target="/ppt/slides/slide18.xml" Id="R3c29d1e4fc4e4d8a" /><Relationship Type="http://schemas.openxmlformats.org/officeDocument/2006/relationships/slide" Target="/ppt/slides/slide19.xml" Id="R5db4384b2b074bf8" /><Relationship Type="http://schemas.openxmlformats.org/officeDocument/2006/relationships/slide" Target="/ppt/slides/slide20.xml" Id="R7830795ee2f34b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9b6154f6a54a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b0a897f5024203" /><Relationship Type="http://schemas.openxmlformats.org/officeDocument/2006/relationships/notesMaster" Target="/ppt/notesMasters/notesMaster1.xml" Id="R14a755bd253049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997ba41797426c" /><Relationship Type="http://schemas.openxmlformats.org/officeDocument/2006/relationships/notesMaster" Target="/ppt/notesMasters/notesMaster1.xml" Id="Rf5b1efad1cac49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ba1f75aaa140cc" /><Relationship Type="http://schemas.openxmlformats.org/officeDocument/2006/relationships/notesMaster" Target="/ppt/notesMasters/notesMaster1.xml" Id="Ra056b03eed0c49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bdff84de2f4e51" /><Relationship Type="http://schemas.openxmlformats.org/officeDocument/2006/relationships/notesMaster" Target="/ppt/notesMasters/notesMaster1.xml" Id="R2325ae1497754a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8f197f72264592" /><Relationship Type="http://schemas.openxmlformats.org/officeDocument/2006/relationships/notesMaster" Target="/ppt/notesMasters/notesMaster1.xml" Id="Rb180b368a48746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0e6c328be546b5" /><Relationship Type="http://schemas.openxmlformats.org/officeDocument/2006/relationships/notesMaster" Target="/ppt/notesMasters/notesMaster1.xml" Id="Rc49993f10c144a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7c4ca19f5346b6" /><Relationship Type="http://schemas.openxmlformats.org/officeDocument/2006/relationships/notesMaster" Target="/ppt/notesMasters/notesMaster1.xml" Id="R6f6e44b06e7d41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285f59d1f64ec2" /><Relationship Type="http://schemas.openxmlformats.org/officeDocument/2006/relationships/notesMaster" Target="/ppt/notesMasters/notesMaster1.xml" Id="R1bd44471f32b4e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44c708f1e46422d" /><Relationship Type="http://schemas.openxmlformats.org/officeDocument/2006/relationships/notesMaster" Target="/ppt/notesMasters/notesMaster1.xml" Id="Rc8082ff9bb1946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8967a7ea80437a" /><Relationship Type="http://schemas.openxmlformats.org/officeDocument/2006/relationships/notesMaster" Target="/ppt/notesMasters/notesMaster1.xml" Id="R8fa4b2f351ed4d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7f52c447264c63" /><Relationship Type="http://schemas.openxmlformats.org/officeDocument/2006/relationships/notesMaster" Target="/ppt/notesMasters/notesMaster1.xml" Id="R627eeab102c449c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8cbe72d3894dc1" /><Relationship Type="http://schemas.openxmlformats.org/officeDocument/2006/relationships/notesMaster" Target="/ppt/notesMasters/notesMaster1.xml" Id="Rcfc442acbfd6429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32399e1c0b84353" /><Relationship Type="http://schemas.openxmlformats.org/officeDocument/2006/relationships/notesMaster" Target="/ppt/notesMasters/notesMaster1.xml" Id="Redad04c03cb44e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395ca00d924467" /><Relationship Type="http://schemas.openxmlformats.org/officeDocument/2006/relationships/notesMaster" Target="/ppt/notesMasters/notesMaster1.xml" Id="R9c7aa721282c4c9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62e1be985642af" /><Relationship Type="http://schemas.openxmlformats.org/officeDocument/2006/relationships/notesMaster" Target="/ppt/notesMasters/notesMaster1.xml" Id="R80cfaa4c91d04f8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d4521bf6c54e07" /><Relationship Type="http://schemas.openxmlformats.org/officeDocument/2006/relationships/notesMaster" Target="/ppt/notesMasters/notesMaster1.xml" Id="R52d3b201f1fe42a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c3d86c94c7b4c99" /><Relationship Type="http://schemas.openxmlformats.org/officeDocument/2006/relationships/notesMaster" Target="/ppt/notesMasters/notesMaster1.xml" Id="Rbbc13ee56a424dd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b17ffbc1acc4033" /><Relationship Type="http://schemas.openxmlformats.org/officeDocument/2006/relationships/notesMaster" Target="/ppt/notesMasters/notesMaster1.xml" Id="R57522681af9747c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37e4466519a48ff" /><Relationship Type="http://schemas.openxmlformats.org/officeDocument/2006/relationships/notesMaster" Target="/ppt/notesMasters/notesMaster1.xml" Id="Rc58b37e4914f455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a8d5be477114428" /><Relationship Type="http://schemas.openxmlformats.org/officeDocument/2006/relationships/notesMaster" Target="/ppt/notesMasters/notesMaster1.xml" Id="R2de4e354936d45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Nina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Nina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David
Pilotkunde FixWerk GmbH: vier Filialen, Fahrrad, E-Bike und Elektronik.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Adrian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Adrian
Fahrrad: fixdesk, RO App, Repero. Elektronik: RepairDesk, RepairShopr. Stand der Recherche September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Maxi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Maxi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Maxi
Message-Start aus der App, Voranmeldung wird sofort angelegt, Medienprüfung mit Rückfrage (Antwort oder 7-Tage-Timer), KI als Business Rule Task, Vorab-KVA, Verfügbarkeit über alle Filialen, Terminvorschlag, ereignisbasiertes Gateway: Bestätigung, Ablehnung oder 7-Tage-Timer.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Maxi
Ereignisbasiertes Gateway: Freigabe, Ablehnung oder Timer. Die Erinnerung protokollieren und den KVA erneut senden; nach der dritten Erinnerung gilt der KVA als abgelehnt. Abgelehnte Aufträge gehen über Prozess 08 mit Diagnosepauschale zur Abholung.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Kilian
19 Use Cases in vier Bereichen, acht Akteure (je Lane ein Akteur). include = immer, extend = bedingt.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Kilian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BPMN 01: Medien nachreichen oder nach sieben Tagen verwerfen; KI erst nach Medienprüfung. Bestätigung, Terminablehnung und Timeout getrennt. Klassenbotschaften sind Operationen.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Jakob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BPMN 05: parallele Teileprüfung; Fehlteile zunächst markieren. Reservierungen bestätigen, Meldebestand prüfen, Kunde informieren, erst danach bestellen.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David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Jakob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Nina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Nina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Vortragende(r): -
Pflichtangabe für den PDF-Export laut Ablauf: welche/r Vortragende welchen Beitrag verantwortet.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74c904c20c4e2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7c23ab885a4f7a" /><Relationship Type="http://schemas.openxmlformats.org/officeDocument/2006/relationships/slideLayout" Target="/ppt/slideLayouts/slideLayout1.xml" Id="Ra6caa686d7bf433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caa686d7bf433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34fccf9764b4c" /><Relationship Type="http://schemas.openxmlformats.org/officeDocument/2006/relationships/image" Target="/ppt/media/image.png" Id="R6a638979e7c04049" /><Relationship Type="http://schemas.openxmlformats.org/officeDocument/2006/relationships/notesSlide" Target="/ppt/notesSlides/notesSlide1.xml" Id="R8d1b81a7aebc4a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5e3f5da0a4b75" /><Relationship Type="http://schemas.openxmlformats.org/officeDocument/2006/relationships/notesSlide" Target="/ppt/notesSlides/notesSlide2.xml" Id="Re303e51e74614e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a23c352594daa" /><Relationship Type="http://schemas.openxmlformats.org/officeDocument/2006/relationships/image" Target="/ppt/media/image2.png" Id="Rd9c3b1329ad443ca" /><Relationship Type="http://schemas.openxmlformats.org/officeDocument/2006/relationships/image" Target="/ppt/media/image3.png" Id="R7781ce838e3e4d66" /><Relationship Type="http://schemas.openxmlformats.org/officeDocument/2006/relationships/image" Target="/ppt/media/image4.png" Id="R234c878784dd49b0" /><Relationship Type="http://schemas.openxmlformats.org/officeDocument/2006/relationships/image" Target="/ppt/media/image5.png" Id="Re7b168593d044580" /><Relationship Type="http://schemas.openxmlformats.org/officeDocument/2006/relationships/notesSlide" Target="/ppt/notesSlides/notesSlide3.xml" Id="R44e382be398f41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772d4213b4ac7" /><Relationship Type="http://schemas.openxmlformats.org/officeDocument/2006/relationships/image" Target="/ppt/media/image6.png" Id="R2c71b1e68fc34f1e" /><Relationship Type="http://schemas.openxmlformats.org/officeDocument/2006/relationships/notesSlide" Target="/ppt/notesSlides/notesSlide4.xml" Id="Rde0f0bf54b764c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e6e17ad6647b1" /><Relationship Type="http://schemas.openxmlformats.org/officeDocument/2006/relationships/image" Target="/ppt/media/image7.png" Id="R3edb022c79844b92" /><Relationship Type="http://schemas.openxmlformats.org/officeDocument/2006/relationships/image" Target="/ppt/media/image8.png" Id="R66ad4e0f206f4f7b" /><Relationship Type="http://schemas.openxmlformats.org/officeDocument/2006/relationships/image" Target="/ppt/media/image9.png" Id="Rf92925cdd5904882" /><Relationship Type="http://schemas.openxmlformats.org/officeDocument/2006/relationships/notesSlide" Target="/ppt/notesSlides/notesSlide5.xml" Id="Re4b8e7fc27fa45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0be0888d14c97" /><Relationship Type="http://schemas.openxmlformats.org/officeDocument/2006/relationships/image" Target="/ppt/media/image10.png" Id="R2dbd3d4e77d94a0c" /><Relationship Type="http://schemas.openxmlformats.org/officeDocument/2006/relationships/notesSlide" Target="/ppt/notesSlides/notesSlide6.xml" Id="Rb6ba843cf47143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4d9614e26495d" /><Relationship Type="http://schemas.openxmlformats.org/officeDocument/2006/relationships/notesSlide" Target="/ppt/notesSlides/notesSlide7.xml" Id="Rf873eb3f2f844a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83bdc3f3164f2c" /><Relationship Type="http://schemas.openxmlformats.org/officeDocument/2006/relationships/image" Target="/ppt/media/image11.png" Id="R6164a8c4cd6146ac" /><Relationship Type="http://schemas.openxmlformats.org/officeDocument/2006/relationships/image" Target="/ppt/media/image12.png" Id="R4bd06b3a76ed46a8" /><Relationship Type="http://schemas.openxmlformats.org/officeDocument/2006/relationships/image" Target="/ppt/media/image13.png" Id="R3babb65c8b8a4b3c" /><Relationship Type="http://schemas.openxmlformats.org/officeDocument/2006/relationships/image" Target="/ppt/media/image14.png" Id="R76c7d319074a421b" /><Relationship Type="http://schemas.openxmlformats.org/officeDocument/2006/relationships/image" Target="/ppt/media/image15.png" Id="R92743c7f32af4e4b" /><Relationship Type="http://schemas.openxmlformats.org/officeDocument/2006/relationships/notesSlide" Target="/ppt/notesSlides/notesSlide8.xml" Id="Ref873233c6874a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e4991651643ae" /><Relationship Type="http://schemas.openxmlformats.org/officeDocument/2006/relationships/image" Target="/ppt/media/image16.png" Id="R238be7d21841448c" /><Relationship Type="http://schemas.openxmlformats.org/officeDocument/2006/relationships/notesSlide" Target="/ppt/notesSlides/notesSlide9.xml" Id="R06a33ac5530a48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a3656ac1b469f" /><Relationship Type="http://schemas.openxmlformats.org/officeDocument/2006/relationships/image" Target="/ppt/media/image17.png" Id="Rc32811a81f6441e7" /><Relationship Type="http://schemas.openxmlformats.org/officeDocument/2006/relationships/notesSlide" Target="/ppt/notesSlides/notesSlide10.xml" Id="Rb169468d4c814c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dd7a35d314b88" /><Relationship Type="http://schemas.openxmlformats.org/officeDocument/2006/relationships/image" Target="/ppt/media/image18.png" Id="R2899e39207b04181" /><Relationship Type="http://schemas.openxmlformats.org/officeDocument/2006/relationships/image" Target="/ppt/media/image19.png" Id="R6c4c169f4b864788" /><Relationship Type="http://schemas.openxmlformats.org/officeDocument/2006/relationships/image" Target="/ppt/media/image20.png" Id="R5e591b1b7d5142e0" /><Relationship Type="http://schemas.openxmlformats.org/officeDocument/2006/relationships/image" Target="/ppt/media/image21.png" Id="Ra43d6917a9044d22" /><Relationship Type="http://schemas.openxmlformats.org/officeDocument/2006/relationships/image" Target="/ppt/media/image22.png" Id="R2486cec2d7f1491f" /><Relationship Type="http://schemas.openxmlformats.org/officeDocument/2006/relationships/notesSlide" Target="/ppt/notesSlides/notesSlide11.xml" Id="R5db3400ba45447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1604d75a347e3" /><Relationship Type="http://schemas.openxmlformats.org/officeDocument/2006/relationships/image" Target="/ppt/media/image23.png" Id="R613477435d884bac" /><Relationship Type="http://schemas.openxmlformats.org/officeDocument/2006/relationships/notesSlide" Target="/ppt/notesSlides/notesSlide12.xml" Id="R52bf96226c5047b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7fcf6a69d4d53" /><Relationship Type="http://schemas.openxmlformats.org/officeDocument/2006/relationships/image" Target="/ppt/media/image24.png" Id="Ra4f5181d33074523" /><Relationship Type="http://schemas.openxmlformats.org/officeDocument/2006/relationships/notesSlide" Target="/ppt/notesSlides/notesSlide13.xml" Id="R1fb577da13794b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8ffd8aedb4ddd" /><Relationship Type="http://schemas.openxmlformats.org/officeDocument/2006/relationships/image" Target="/ppt/media/image25.png" Id="Rf37f54758f674528" /><Relationship Type="http://schemas.openxmlformats.org/officeDocument/2006/relationships/notesSlide" Target="/ppt/notesSlides/notesSlide14.xml" Id="R7d9261f035b941a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f577320fd4a7c" /><Relationship Type="http://schemas.openxmlformats.org/officeDocument/2006/relationships/image" Target="/ppt/media/image26.png" Id="Rdc34bfe3f78f4546" /><Relationship Type="http://schemas.openxmlformats.org/officeDocument/2006/relationships/notesSlide" Target="/ppt/notesSlides/notesSlide15.xml" Id="R9690d90c316841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5c080dce94db8" /><Relationship Type="http://schemas.openxmlformats.org/officeDocument/2006/relationships/image" Target="/ppt/media/image27.png" Id="R3ca14dd50fcb4d60" /><Relationship Type="http://schemas.openxmlformats.org/officeDocument/2006/relationships/image" Target="/ppt/media/image28.png" Id="R19b41e61701c4e4b" /><Relationship Type="http://schemas.openxmlformats.org/officeDocument/2006/relationships/image" Target="/ppt/media/image29.png" Id="Rac979e6d5bd84f99" /><Relationship Type="http://schemas.openxmlformats.org/officeDocument/2006/relationships/notesSlide" Target="/ppt/notesSlides/notesSlide16.xml" Id="R882ade21767d48e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eb34658c74ea3" /><Relationship Type="http://schemas.openxmlformats.org/officeDocument/2006/relationships/image" Target="/ppt/media/image30.png" Id="Rc019e7a539bb4f35" /><Relationship Type="http://schemas.openxmlformats.org/officeDocument/2006/relationships/image" Target="/ppt/media/image31.png" Id="R63c751733f324650" /><Relationship Type="http://schemas.openxmlformats.org/officeDocument/2006/relationships/image" Target="/ppt/media/image32.png" Id="R805322e92ecf4830" /><Relationship Type="http://schemas.openxmlformats.org/officeDocument/2006/relationships/image" Target="/ppt/media/image33.png" Id="Re3bac05ad9db41ee" /><Relationship Type="http://schemas.openxmlformats.org/officeDocument/2006/relationships/notesSlide" Target="/ppt/notesSlides/notesSlide17.xml" Id="Rbf6fdaebe5f14ee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402bfcbde4871" /><Relationship Type="http://schemas.openxmlformats.org/officeDocument/2006/relationships/notesSlide" Target="/ppt/notesSlides/notesSlide18.xml" Id="R90682c1b2b7a490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17ffa8fb24ded" /><Relationship Type="http://schemas.openxmlformats.org/officeDocument/2006/relationships/image" Target="/ppt/media/image34.png" Id="R2dfbf9850e9e44c2" /><Relationship Type="http://schemas.openxmlformats.org/officeDocument/2006/relationships/notesSlide" Target="/ppt/notesSlides/notesSlide19.xml" Id="R7a73b638aa9643c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d208d6afd4d65" /><Relationship Type="http://schemas.openxmlformats.org/officeDocument/2006/relationships/notesSlide" Target="/ppt/notesSlides/notesSlide20.xml" Id="R6baf5bb9ea7448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5E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CE1C72-71AC-4099-9322-78E2EF64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EB09EB-D877-4A98-9F79-912C4565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1</a:t>
            </a:r>
            <a:endParaRPr sz="9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BCC13F0-D138-4FA6-9525-9384AF1B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-109728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A7A"/>
          </a:solidFill>
          <a:ln xmlns:a="http://schemas.openxmlformats.org/drawingml/2006/main" w="12700">
            <a:solidFill>
              <a:srgbClr val="147A7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092B51D-E874-4796-921F-E8A1569D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188720"/>
            <a:ext cx="73152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RepairFlow</a:t>
            </a:r>
            <a:endParaRPr sz="5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00AA23A-4DBC-4056-8AA8-35873F6D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94560"/>
            <a:ext cx="6858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Werkstatt-Management als SaaS-Plattform mit KI-Sofortdiagnose</a:t>
            </a:r>
            <a:endParaRPr sz="20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79C2672-063D-405A-ABD0-DAB3F114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1752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Fallstudie Systemanalyse · Methoden der WI · DHBW Karlsruhe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5480A17-F167-472D-894A-88E0AA90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7863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Kurs WWI25B4 · Gruppe 1: Maximilian Ewald, David Leismann, Kilian Platter, Nina Sattler, Jakob Schwan, Adrian Wenzler</a:t>
            </a:r>
            <a:endParaRPr sz="12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5F366BBC-D041-4AD0-8DF2-C81F4140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7863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Abschlusspräsentation · 27.10.2026, 09:00 Uhr · Raum B458</a:t>
            </a:r>
            <a:endParaRPr sz="12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AA6C6BB-F819-4414-B34F-32A55E65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09728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12700">
            <a:solidFill>
              <a:srgbClr val="F2A900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638979e7c040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0" y="132588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2964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53BF19-F9FB-4DD7-A340-A0BBC4BA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Agenda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9E16CF4-436E-4C93-9665-4EE5F63B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56F7317-3D64-412C-8FFC-362EF966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16D89513-EE36-4D24-BA92-86057031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5156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0AC90B6-2216-4DD0-83D8-DBF47435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5156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C05A9C2-9FBE-477E-8CAF-9E5BE3D1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051560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Ausgangslage und Problem</a:t>
            </a:r>
            <a:endParaRPr sz="16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1DC163E-6C1A-474F-8C7E-A927B403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051560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David</a:t>
            </a:r>
            <a:endParaRPr sz="12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FFDCC256-08C1-48C4-897E-82C91A0B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813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678C5E7-BD96-40E9-9BB2-99E14183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813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4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0B2C487-01E5-4DF8-8A27-DC1B1DA4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481328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Das Startup RepairFlow und der Markt</a:t>
            </a:r>
            <a:endParaRPr sz="16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DBEC6E5-E021-4736-9E9D-540FFE27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81328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Adrian</a:t>
            </a:r>
            <a:endParaRPr sz="1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2CAC4016-1888-4428-BC1D-CFE62B29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1109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5FB40A2-1ABD-4945-AB61-D9ABC007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1109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4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C1DC3DF-E8DE-493D-B1E6-78BB3867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911096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Geschäftsprozesse (BPMN)</a:t>
            </a:r>
            <a:endParaRPr sz="16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D049789-4B3B-441F-8521-EB6F15E0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911096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Maxi</a:t>
            </a:r>
            <a:endParaRPr sz="12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3476C2D3-A6B7-478F-9508-470169D9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4086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E13A4B7-499F-45AA-9A96-8895A613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4086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4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CC44BB16-3DFD-4708-BFFB-D34F1744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40864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KI-Sofortdiagnose als Alleinstellungsmerkmal</a:t>
            </a:r>
            <a:endParaRPr sz="16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C5249D4-3F2E-4375-AC5E-A703D2E1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40864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Adrian</a:t>
            </a:r>
            <a:endParaRPr sz="120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C3736EF-8B81-446A-8ED8-93A29880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7063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498A18A-6D92-4858-897C-6BCB18BD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7063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4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5D5C972-8C00-4961-BE38-734CD045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70632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Objektorientierte Analyse (UML)</a:t>
            </a:r>
            <a:endParaRPr sz="16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EFECDF3-7E8D-4DAE-AB25-6F8C5A46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770632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Kilian, Jakob</a:t>
            </a:r>
            <a:endParaRPr sz="12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EB9A8B8-4B1A-4672-9F46-99AD679E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879566A-9C2E-487E-9F30-5293197C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400"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3D4B64C-1C4B-4953-80A6-7ECBA2AC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00400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Vorgehen und Projektmanagement</a:t>
            </a:r>
            <a:endParaRPr sz="16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BAD2F61-8D0C-47EF-86F7-5D05FF6C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00400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David</a:t>
            </a:r>
            <a:endParaRPr sz="12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3ABED53-3915-40EB-8CD8-F29F52B7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016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C2519DA3-093D-4FB6-AC10-F35AE386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2ADFFC5-D99F-448E-893C-7ED32CD2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630168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Herausforderungen und Fazit</a:t>
            </a:r>
            <a:endParaRPr sz="16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FB7E483-5D7E-4066-AD67-ADC2D847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30168"/>
            <a:ext cx="2286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Jakob, Nina</a:t>
            </a:r>
            <a:endParaRPr sz="120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6996CBD7-4C4F-4DD3-87FA-1C324EC2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15 bis 20 Minuten · alle Gruppenmitglieder tragen vor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200189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CF0CCA6-F9D6-4331-AF37-18AA83F1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Werkstätten heute: Papier, Excel und Telefon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B55224-03AD-434B-952A-9BC8771E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458611D-7AAC-4A29-8BAA-E9F150C5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81E99AB-C33F-4E81-8285-ECCF0290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Unabhängige Reparaturwerkstätten für Fahrräder, E-Bikes und Elektronik wachsen, ihre Abläufe nicht. Unser Pilotkunde FixWerk GmbH (vier Filialen) zeigt die typischen Probleme:</a:t>
            </a:r>
            <a:endParaRPr sz="13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1274F211-471A-4567-84C8-7D864E53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7360"/>
            <a:ext cx="397764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9A314C42-997F-4D16-9459-35104D6F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c3b1329ad443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20345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D0BB53A-2FEC-4DB1-B570-C4DA4F77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0195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Kunden hören nichts</a:t>
            </a:r>
            <a:endParaRPr sz="14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05848D2-D373-475F-8B82-EEDA5FD1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611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Keine zuverlässige Info, wann ein Kostenvoranschlag freizugeben oder das Gerät abholbereit ist. Rückfragen per Telefon, Geräte stehen wochenlang im Lager.</a:t>
            </a:r>
            <a:endParaRPr sz="115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88E9363-BD60-4175-BFCA-753AA548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737360"/>
            <a:ext cx="397764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D9556D0-031E-4CCC-A25B-78FEC357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1ce838e3e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6340" y="20345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9B648577-F8BA-4847-A862-8222383A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90195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Kein Auftragsstatus</a:t>
            </a:r>
            <a:endParaRPr sz="14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910A21E-82BC-48BF-A470-86740153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468880"/>
            <a:ext cx="3611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Wer wissen will, wo ein Gerät steht, fragt in der Werkstatt nach. Papierzettel und Excel-Listen laufen auseinander.</a:t>
            </a:r>
            <a:endParaRPr sz="11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0D65F25E-21CE-4F94-A577-AA4341E0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397764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D1B56D03-AAFA-4E7F-8F2F-DCB1E0F4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c878784dd49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349758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2F85A615-CAE1-4BF8-A7A2-8E668174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36499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Teile doppelt bestellt</a:t>
            </a:r>
            <a:endParaRPr sz="140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100DB023-8274-4008-ACAD-8AF433FC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3611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Jede Filiale bestellt für sich, obwohl das Teil in der Nachbarfiliale liegt. Das kostet Zeit und Geld.</a:t>
            </a:r>
            <a:endParaRPr sz="1150"/>
          </a:p>
        </p:txBody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C4F8805B-F147-4E82-813B-ABAF9D51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00400"/>
            <a:ext cx="397764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E6529C4A-7B90-4F2F-BEB2-2034C2A9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3832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168593d0445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6340" y="349758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63914ECE-9C79-4B1A-94C2-67DBC296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6499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Auslastung intransparent</a:t>
            </a:r>
            <a:endParaRPr sz="1400"/>
          </a:p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ED58669F-A090-4066-BA81-E099B8CF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931920"/>
            <a:ext cx="3611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Termine werden nach Gefühl zugesagt, die Kapazität der Techniker kennt niemand genau.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17078181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AA74EC-BEE2-45E9-836B-D82BFD14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RepairFlow: Solution Provider für Werkstätten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7AE1B5E-4047-4C90-94CA-25EF80D7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128F0B-1848-4693-A9AB-EEB6E213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AA3AD74-B7E0-422A-B817-83EE9806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1560"/>
            <a:ext cx="39319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Wir sind das Software-Startup, nicht die Werkstatt: RepairFlow ist eine Cloud-Plattform für den gesamten Reparatur-Lebenszyklus.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Vier Module: Kundenportal mit App, Auftrags- und Werkstattmodul, Dispositionsmodul, Abrechnung.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Zielkunden: unabhängige Werkstätten und kleine Ketten mit 2 bis 10 Filialen im DACH-Raum.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Geschäftsmodell: monatliches Abo je Filiale, Stufen Basis und Pro (Disposition und KI-Sofortdiagnose).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Pilotkunde FixWerk GmbH: an ihren Prozessen haben wir die Plattform entworfen.</a:t>
            </a:r>
            <a:endParaRPr sz="1300"/>
          </a:p>
        </p:txBody>
      </p:sp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1b1e68fc34f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1051560"/>
            <a:ext cx="4114800" cy="2656347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F041AE4-A10E-4F35-827B-8F01034E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53627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Systemkontext: Plattform, Mandant, Kunde, Lieferant, KI-Dienst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646344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990956-BEA0-49C6-831C-C8C42FFD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Markt und Wettbewerb: drei Unterschiede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3009B88-F76C-4571-A481-20213584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3886555-02A3-431D-8F09-534487DE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0D32BC0-FE1A-4FDD-9EFB-6F1AAEA2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Werkstattsoftware gibt es, aber getrennt nach Welten: Fahrrad (fixdesk, RO App, Repero) oder Elektronik (RepairDesk, RepairShopr).</a:t>
            </a:r>
            <a:endParaRPr sz="13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5099724A-4CA3-4568-8731-4C8A4B79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2651760" cy="292608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0198506A-FFDA-4FD2-A14C-EC9F569A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b022c79844b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189738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C653AF9-D2E6-4BEB-84DC-54979E49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764792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Eine Plattform</a:t>
            </a:r>
            <a:endParaRPr sz="14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9003809-A956-482F-99B9-F580A49C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228600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Fahrrad, E-Bike und Elektronik auf einer Plattform, mit gemeinsamer Kundenbasis und gemeinsamem Ersatzteillager.</a:t>
            </a:r>
            <a:endParaRPr sz="115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D8B6C6F-063B-4584-994C-4071C8C3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2651760" cy="292608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8F12979-F5B8-44A7-A5C6-4AA89C00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3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d4e0f206f4f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43300" y="189738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3691BFD-C0DD-448F-8A16-C62339AF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1764792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Filialübergreifend</a:t>
            </a:r>
            <a:endParaRPr sz="14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71471C01-CEB0-45EB-A051-E81DD29D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1720"/>
            <a:ext cx="228600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Bestände, Reservierungen und Umlagerungen über alle Standorte. Bestellt wird nur, was nirgends liegt.</a:t>
            </a:r>
            <a:endParaRPr sz="11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2BFF090E-9650-4AC0-AB8A-2B551481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600200"/>
            <a:ext cx="2651760" cy="292608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2700">
            <a:solidFill>
              <a:srgbClr val="FFF4D6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28CD3991-2CF3-41C1-B177-CDBBF96F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925cdd5904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32220" y="189738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8B00BD3B-2B99-4367-A877-20FB263F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764792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KI-Sofortdiagnose</a:t>
            </a:r>
            <a:endParaRPr sz="140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DBB02371-087B-4AB8-8FD0-ED02F2E2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31720"/>
            <a:ext cx="228600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Diagnosevorschlag, vorläufiger Kostenvoranschlag und Termin, bevor der Kunde die Werkstatt betritt.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5177414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4FDFC58-860A-4181-B1AC-1DC1A686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Der Reparaturauftrag als Zustandsautomat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C97C88B-5EEE-4FD6-85E2-18B47CA8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515EAC9-829B-457D-985A-16BCC009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d3d4e77d94a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0116" y="960120"/>
            <a:ext cx="2474649" cy="365760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5C192EFA-AE17-4768-83AE-E89D0A31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188720"/>
            <a:ext cx="411480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angenommen → in Diagnose → KVA offen → freigegeben | abgelehnt → Teile bestellt → in Reparatur → fertig → abgeholt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Die zehn BPMN-Prozesse sind die Übergänge dieses Automaten.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Das Klassendiagramm führt ihn als Attribut status : AuftragStatus.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Die Sequenzdiagramme markieren die Statuswechsel, an denen sie beteiligt sind.</a:t>
            </a:r>
            <a:endParaRPr sz="13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Reklamation im Gewährleistungsfall startet einen neuen, kostenfreien Zyklus.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0658053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2D36C53-F634-43B6-BFD0-BC7445D9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Zehn Geschäftsprozesse als Kollaborationsdiagramme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1F0A95D-810A-4E03-A2E9-F72C8FDA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A8B12DB-19DD-4C68-9864-09115302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graphicFrame>
        <p:nvGraphicFramePr>
          <p:cNvPr id="16" name="Table 0"/>
          <p:cNvGraphicFramePr/>
          <p:nvPr/>
        </p:nvGraphicFramePr>
        <p:xfrm>
          <a:off xmlns:a="http://schemas.openxmlformats.org/drawingml/2006/main" x="457200" y="960120"/>
          <a:ext xmlns:a="http://schemas.openxmlformats.org/drawingml/2006/main" cx="576072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Nr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Prozess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Pools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Akt.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autom.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01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KI-Sofortdiagnose und Voranmeldung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100 %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02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Auftragsannahme, Geräteregistrierung und Terminplanung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33 %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03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Fehlerdiagnose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42 %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04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Kostenvoranschlag und Kundenfreigabe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11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64 %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05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Ersatzteil-Verfügbarkeit und Reservierung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13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77 %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06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Ersatzteil-Bestellung beim Lieferanten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Lieferant,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64 %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07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Reparaturdurchführung und Arbeitszeiterfassung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30 %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08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Abholung, Rechnung und Zahlung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73 %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09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Reklamation und Gewährleistung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Kunde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53 %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Ersatzteil-Retoure und Lieferanten-Reklamation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Werkstattbetrieb, Lieferant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11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73 %</a:t>
                      </a:r>
                      <a:endParaRPr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7CDB0DD-A2D3-470C-9CA0-A9A9E041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188720"/>
            <a:ext cx="21031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125</a:t>
            </a:r>
            <a:endParaRPr sz="40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C55FCF-B152-45A2-A48C-FE63D47E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92024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Aktivitäten im Werkstatt-Pool, im Schnitt 12,5 je Diagramm</a:t>
            </a:r>
            <a:endParaRPr sz="11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9537839-DE5B-4E68-9780-6F05B724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651760"/>
            <a:ext cx="21031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62 %</a:t>
            </a:r>
            <a:endParaRPr sz="40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FE36C90-B3AC-4802-985C-0B80FBD2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38328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davon führt RepairFlow ohne manuelle Arbeit aus</a:t>
            </a:r>
            <a:endParaRPr sz="11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976D1A7-B935-4719-848A-DEC14DF3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Prozesse 01 bis 08: durchgehende Auftragsreise · 09 und 10: Reklamation und Retoure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22134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D10C2B-7166-4D31-86D9-053D9682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So lesen sich unsere BPMN-Diagramme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498B076-D3B8-43BA-AD0E-E86F5D0F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E6B27DE-6FCE-4030-9C23-5D93E3D4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7C72B191-2A81-4002-954C-158CBF49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5840"/>
            <a:ext cx="3977640" cy="128016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319D1BB-19A4-4C65-AB2E-B227A5BA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4a8c4cd6146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130302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5B37846-3F88-402E-B019-D40A09B0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17043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Pools und Lanes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09A882E-9532-4141-AFC3-B3BA01C9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611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Pool = Unternehmen: Werkstattbetrieb (Mandant), Kunde mit eigenem Ablauf, Lieferant als Black Box. Lanes = Rollen: Service, Techniker, Werkstattleitung, Disposition.</a:t>
            </a:r>
            <a:endParaRPr sz="115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6E1888C-7766-4CB1-9FC6-84ABE287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005840"/>
            <a:ext cx="3977640" cy="128016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8D40245-4BBF-48BE-B32E-CF4BDF37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18872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d06b3a76ed46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6340" y="130302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FC659C3-445F-4542-8C1F-D8DACEB8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17043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Automatisierung als Aktivitätstyp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91B501F4-A902-446D-AA99-924E458A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737360"/>
            <a:ext cx="3611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Service Task = RepairFlow allein, Business Rule Task = Regel oder KI, Send/Receive = Nachricht, User Task = Mensch mit RepairFlow, Manual = außerhalb.</a:t>
            </a:r>
            <a:endParaRPr sz="11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2576085C-0E1D-4713-B8D7-B92F79FA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3977640" cy="128016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CE96A4DC-A8A3-4B52-AF06-08293D6A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bb65c8b8a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27203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0E0B4DA7-F064-46FB-ABC3-6A206CB1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58775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Nachrichtenflüsse und Daten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01758CD7-8511-44F1-B9A3-9DF69773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3611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Kommunikation mit Kunde und Lieferant nur als Nachrichtenfluss. Datenobjekte tragen Klassennamen mit Zustand, z. B. Reparaturauftrag [freigegeben].</a:t>
            </a:r>
            <a:endParaRPr sz="115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2C2184E3-B663-4F49-AD1C-534EBE6E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3977640" cy="128016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EBEDD8CD-E534-485D-AA34-39EE1F99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6060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7d319074a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6340" y="27203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DB90F009-49D4-4811-A56C-8C37899A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8775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Ein Start, ein Ende, Linter sauber</a:t>
            </a:r>
            <a:endParaRPr sz="1400"/>
          </a:p>
        </p:txBody>
      </p:sp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F64C1615-CC02-472B-90EE-0CB5F212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154680"/>
            <a:ext cx="3611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Je Prozess ein Start- und ein Endereignis. Camunda-8-Anreicherung: Task-Definitionen, Subscriptions, Timer, FEEL-Bedingungen. Camunda-Linter: 0 Befunde.</a:t>
            </a:r>
            <a:endParaRPr sz="1150"/>
          </a:p>
        </p:txBody>
      </p:sp>
      <p:pic>
        <p:nvPicPr>
          <p:cNvPr id="5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43c7f32af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66497" y="3794760"/>
            <a:ext cx="3011006" cy="713232"/>
          </a:xfrm>
          <a:prstGeom xmlns:a="http://schemas.openxmlformats.org/drawingml/2006/main" prst="rect">
            <a:avLst/>
          </a:prstGeom>
        </p:spPr>
      </p:pic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4820DAF2-00DA-49F2-A6DA-DA2DB620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53712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Ausschnitt Prozess 05: paralleler Mehrfach-Teilprozess je Ersatzteil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7272523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439699-E1A9-483B-ADFA-734820E4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Prozess 01: KI-Sofortdiagnose und Voranmeldung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28BDE23-2FFA-4017-B83F-69E6FD66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658AB2E-D94F-44A5-8824-D13CBB9C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be7d2184144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18537" y="960120"/>
            <a:ext cx="5106927" cy="246888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3C6565F-FC31-4025-AAB1-40C2606E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Ausschnitt Pool Kunde und Lane Service / Annahme: Aufnahme und Anfrage, Voranmeldung anlegen, Medienprüfung mit Rückfrage an den Kunden, KI-Diagnosevorschlag, Vorab-KVA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8D6AD98-6530-41DE-9AF4-19542671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8229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Kunde: Foto, Video oder Ton aufnehmen und in der App senden; RepairFlow legt daraus sofort die Voranmeldung an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Rückfrage bei nicht auswertbaren Medien: neue Aufnahme oder nach 7 Tagen verwerfen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KI-Diagnosevorschlag als Geschäftsregel-Aktivität, danach Vorab-KVA, Verfügbarkeitsprüfung und Terminvorschlag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Warten auf Bestätigung (Vorreservierung), Ablehnung oder 7-Tage-Timer (Voranmeldung verwerfen)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877832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D365F5D-E7CC-47A5-B8FD-D7574B0D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Prozess 04: Kostenvoranschlag und Kundenfreigabe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93962DC-D24B-4D97-9C09-E1E25480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6229E6-3531-47DB-A9B4-0BAAA945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811a81f6441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97978" y="960120"/>
            <a:ext cx="5748044" cy="242316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A5E5E214-8743-4235-9C7B-E747F80E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Ausschnitt Pool Kunde und Lane Service / Annahme: Kunde prüft und entscheidet, ereignisbasiertes Gateway mit Freigabe, Ablehnung und Timer, Erinnerungsschleife mit Ausstieg nach der dritten Erinnerung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9A6243-CA47-4156-ACD2-2DA7B112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8229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Techniker erfasst Positionen, RepairFlow übernimmt Ersatzteilpreise und berechnet den KVA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Ereignisbasiertes Gateway: Freigabe erhalten, Ablehnung erhalten oder 3 Tage verstrichen (Erinnerung, höchstens dreimal)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Freigabe ruft Prozess 05 (Ersatzteile disponieren) auf; Ablehnung setzt den Auftrag auf „abgelehnt" und ruft Prozess 08 (Abholung mit Diagnosepauschale) auf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019664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E0E26BB-92CF-4BCC-85B0-6D29CFCC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KVA in 60 Sekunden: die KI-Sofortdiagnose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FF541E3-5D34-4C26-946F-8A53574D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CFDC45F-3E44-4288-A8FA-76CA7736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0CF974C-6036-4CF1-9D12-8ECA8199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1560"/>
            <a:ext cx="1554480" cy="19202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11EA162-F2A9-49C3-B228-8F450A28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18872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9e39207b041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7280" y="1325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889D6E6-B97A-496F-BBAC-20C86021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Aufnehmen</a:t>
            </a:r>
            <a:endParaRPr sz="13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A8B60EC-AB5A-45D9-848C-CFB56B30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1371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Kunde lädt Foto, Video oder Ton in der App hoch</a:t>
            </a:r>
            <a:endParaRPr sz="10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08661AE-777A-46B5-842B-2738ADD9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696" y="1051560"/>
            <a:ext cx="1554480" cy="19202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2700">
            <a:solidFill>
              <a:srgbClr val="FFF4D6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270ACD0-51F7-4E17-8783-63631C18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616" y="118872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12700">
            <a:solidFill>
              <a:srgbClr val="F2A900"/>
            </a:solidFill>
            <a:prstDash val="solid"/>
          </a:ln>
        </p:spPr>
      </p:sp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c169f4b8647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79776" y="1325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9099CDF1-8052-499F-8938-6E60B897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696" y="182880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Erkennen</a:t>
            </a:r>
            <a:endParaRPr sz="13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BF885EA6-C4CF-487F-AC65-DFB313C8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1136" y="2148840"/>
            <a:ext cx="1371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KI-Dienst nennt Gerätetyp, Ursache und Ersatzteile</a:t>
            </a:r>
            <a:endParaRPr sz="10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DC324A54-98B7-4F87-83EE-83A79272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92" y="1051560"/>
            <a:ext cx="1554480" cy="19202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86D88516-ABC6-413C-9514-DC2DCAFB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18872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5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591b1b7d5142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62272" y="1325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6599A9A1-9663-4DFE-ADAA-252BB23E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92" y="182880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Kalkulieren</a:t>
            </a:r>
            <a:endParaRPr sz="13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F786BD36-FF9D-415F-A390-227509EA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632" y="2148840"/>
            <a:ext cx="1371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RepairFlow berechnet einen vorläufigen KVA</a:t>
            </a:r>
            <a:endParaRPr sz="100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A3B46922-8D56-484E-A6C5-CC4B2891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1051560"/>
            <a:ext cx="1554480" cy="19202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6FDC7EA5-308C-4146-9476-E83E3597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118872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6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d6917a904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44768" y="1325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95E74409-F664-4279-8511-EF4E5503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182880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Reservieren</a:t>
            </a:r>
            <a:endParaRPr sz="1300"/>
          </a:p>
        </p:txBody>
      </p:sp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6B7AE353-8453-4071-9F6D-46B23B73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128" y="2148840"/>
            <a:ext cx="1371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Verfügbarkeit in allen Filialen, Teile vorreserviert</a:t>
            </a:r>
            <a:endParaRPr sz="1000"/>
          </a:p>
        </p:txBody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10D56394-CE98-49F7-81A8-2631953B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7184" y="1051560"/>
            <a:ext cx="1554480" cy="19202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4F0B55E3-3E75-4F3E-8715-D80BE8AF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0104" y="118872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6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6cec2d7f149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7264" y="1325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6D83A083-55C1-47B3-BD9B-893167F2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7184" y="182880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Termin</a:t>
            </a:r>
            <a:endParaRPr sz="1300"/>
          </a:p>
        </p:txBody>
      </p:sp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E3025ECA-4688-4142-A485-B4E5487F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24" y="2148840"/>
            <a:ext cx="1371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Filiale und Termin vorgeschlagen, Kunde bestätigt</a:t>
            </a:r>
            <a:endParaRPr sz="1000"/>
          </a:p>
        </p:txBody>
      </p:sp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DB58058E-2B28-4593-A00C-E6398882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Heute machbar</a:t>
            </a:r>
            <a:endParaRPr sz="1300"/>
          </a:p>
        </p:txBody>
      </p:sp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5AFF0F4C-122D-4C84-AEE8-860E9BC5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39319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Sichtbare Schäden per Bildanalyse: gebrochenes Display, gerissene Kette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Vorab-KVA aus Teilepreisen und Aufwandsrichtwerten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Verfügbarkeitsprüfung und Vorreservierung</a:t>
            </a:r>
            <a:endParaRPr sz="11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5BD6C198-8CA9-40AA-8FAC-EB8F62EC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20040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Vision und Absicherung</a:t>
            </a:r>
            <a:endParaRPr sz="1300"/>
          </a:p>
        </p:txBody>
      </p:sp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9388AAE2-F83F-418A-8C55-2F3BD78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520440"/>
            <a:ext cx="39319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Geräuschanalyse von E-Bike-Motoren, Aufwand aus Video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Vorschlag bleibt vorläufig, der Techniker bestätigt oder korrigiert</a:t>
            </a:r>
            <a:endParaRPr sz="110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Medien nur mit Einwilligung, Löschung nach Abschluss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961709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BAD284D-CB8C-4072-8D4C-42DB430E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Use-Case-Diagramm: was RepairFlow leistet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8EE868C-CD42-403A-A7C4-C69E20F8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2C9DD76-2B18-4DF1-9B15-7B8C118E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477435d884bac"/>
          <a:stretch xmlns:a="http://schemas.openxmlformats.org/drawingml/2006/main"/>
        </p:blipFill>
        <p:spPr>
          <a:xfrm xmlns:a="http://schemas.openxmlformats.org/drawingml/2006/main">
            <a:off x="1220020" y="960120"/>
            <a:ext cx="3412120" cy="374904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3E7DF0C3-344E-46D0-B3C7-23F603AE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097280"/>
            <a:ext cx="30175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19 Use Cases in vier Bereichen: Kundenportal, Auftrag und Werkstatt, Ersatzteil-Disposition, Administration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Primäre Akteure: Kunde, Servicemitarbeiter, Techniker, Disponent, Werkstattleiter, Werkstattinhaber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Sekundär und extern: Lieferant, KI-Diagnosedienst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«include» für Pflicht-Teilschritte, z. B. </a:t>
            </a: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Ersatzteile disponieren → Ersatzteil-Verfügbarkeit prüfen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«extend» für bedingtes Verhalten, z. B. Voranmeldung bestätigen → Sofortdiagnose anfordern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21104446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4B53FD-82B6-4B78-8B06-99B76322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Klassendiagramm: ein vollständiges Modell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1CCDACD-00FA-4271-A71D-484C6B9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B816083-484F-4D70-9A5C-407B019B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5181d33074523"/>
          <a:stretch xmlns:a="http://schemas.openxmlformats.org/drawingml/2006/main"/>
        </p:blipFill>
        <p:spPr>
          <a:xfrm xmlns:a="http://schemas.openxmlformats.org/drawingml/2006/main">
            <a:off x="1083276" y="960120"/>
            <a:ext cx="3685608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C2C54C82-0CA5-46E3-AE18-D74B9D55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34840"/>
            <a:ext cx="5120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Ein vollständiges Diagramm mit 27 Klassen (Anhang C der Dokumentation)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B8948B0-4796-4562-9B64-09B018C2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097280"/>
            <a:ext cx="30175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Reparaturauftrag als Aggregatwurzel: Befund und Reparaturschritte sind Kompositionen; KVA und Gerät sind nur zugeordnet (Vorab-KVA entsteht vor dem Auftrag)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Lagerbestand als eigene Klasse zwischen Ersatzteil und Filiale: nur so geht filialübergreifende Verfügbarkeit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ErsatzteilReservierung mit eigenem Lebenszyklus: vorreserviert, reserviert, entnommen, storniert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Werkstattbetrieb als Mandant; Rollen Servicemitarbeiter, Techniker, Disponent, Werkstattleiter als Unterklassen von Mitarbeiter – wie die vier Lanes im BPMN</a:t>
            </a:r>
            <a:endParaRPr sz="11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Voranmeldung, Medienanhang, KIDiagnosevorschlag tragen die Sofortdiagnose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199839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6C4B045-AA64-4D1B-A6E9-BAF1287A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Sequenzdiagramm SD1: Sofortdiagnose anfordern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A64C251-288C-414D-ABDF-113959CB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3D337D5-00D0-4052-B3D6-936EE01E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7f54758f674528"/>
          <a:stretch xmlns:a="http://schemas.openxmlformats.org/drawingml/2006/main"/>
        </p:blipFill>
        <p:spPr>
          <a:xfrm xmlns:a="http://schemas.openxmlformats.org/drawingml/2006/main">
            <a:off x="1854776" y="960120"/>
            <a:ext cx="2874128" cy="374904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B847646A-BE6F-40B7-A63C-1370DA39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097280"/>
            <a:ext cx="228600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Medienqualität prüfen; nur auswertbare Medien an den KI-Dienst senden</a:t>
            </a:r>
            <a:endParaRPr sz="10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Rückfrage mit Nachreichung; nach 7 Tagen ohne neue Aufnahme abbrechen</a:t>
            </a:r>
            <a:endParaRPr sz="10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loop je Ersatzteil und Filiale über Lagerbestand</a:t>
            </a:r>
            <a:endParaRPr sz="10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Bestätigung → verfügbare Teile vorreservieren; Ablehnung oder 7-Tage-Timer → verwerfen</a:t>
            </a:r>
            <a:endParaRPr sz="10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Klassenbotschaften verwenden Operationen des Klassendiagramms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4881858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9C276A-DFB7-4C41-AFD0-79D9767E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Sequenzdiagramm SD3: Ersatzteile disponieren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F52B76-6684-4ECB-B61A-8DB55B3E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BC628A1-D67B-4361-9AC0-9075F58F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4bfe3f78f4546"/>
          <a:stretch xmlns:a="http://schemas.openxmlformats.org/drawingml/2006/main"/>
        </p:blipFill>
        <p:spPr>
          <a:xfrm xmlns:a="http://schemas.openxmlformats.org/drawingml/2006/main">
            <a:off x="1501631" y="960120"/>
            <a:ext cx="3580418" cy="374904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A8A337D0-F78E-4985-8F1A-8A2CDD52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097280"/>
            <a:ext cx="228600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Erst der eigene Lagerbestand, dann loop über die anderen Filialen</a:t>
            </a:r>
            <a:endParaRPr sz="10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Je Teil: lokal reservieren, Umlagerung oder Fehlteil markieren; parallele Teileprüfung</a:t>
            </a:r>
            <a:endParaRPr sz="10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Danach Reservierungen bestätigen und Meldebestand prüfen (UC12)</a:t>
            </a:r>
            <a:endParaRPr sz="1050"/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Kunde über Reparaturbeginn informieren; erst danach Bestellung bei Bedarf (UC10)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6468760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E149FA1-194B-4FA7-A69D-0D57E5D0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Vorgehen und Projektmanagement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549E94-AD71-478A-B01D-523E593A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F9192F0-08B4-48AE-82F6-F331F660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BF463C91-106D-485E-9E89-EB1CE975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5840"/>
            <a:ext cx="1371600" cy="54864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2769EE8-FF41-4F43-AFF0-3A79901D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005840"/>
            <a:ext cx="1143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Themenwahl</a:t>
            </a:r>
            <a:endParaRPr sz="10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40E05178-B0D8-4095-AD87-7D0C6598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005840"/>
            <a:ext cx="1371600" cy="54864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47A7A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2017932-086C-4221-8C7D-AA151247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005840"/>
            <a:ext cx="1143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Konzept + Feedback</a:t>
            </a:r>
            <a:endParaRPr sz="10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50B6CA5-D842-4E84-8814-286725FF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05840"/>
            <a:ext cx="1371600" cy="54864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4EC2714C-299C-4FA3-A16C-D1942890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1005840"/>
            <a:ext cx="1143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Prozessanalyse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01F9852-45FB-404C-A3DC-89542E82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005840"/>
            <a:ext cx="1371600" cy="54864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47A7A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AE80D64-155D-4C1C-BC95-B7DEC82E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005840"/>
            <a:ext cx="1143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BPMN</a:t>
            </a:r>
            <a:endParaRPr sz="10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C28D47D-75D8-4218-86F7-704A2149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005840"/>
            <a:ext cx="1371600" cy="54864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102995-909F-4BA8-989B-D6A79F7F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005840"/>
            <a:ext cx="1143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OOA (UML)</a:t>
            </a:r>
            <a:endParaRPr sz="10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310701D9-F761-40A4-872C-31F8ACE6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005840"/>
            <a:ext cx="1371600" cy="54864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47A7A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930969FF-5535-46A0-9843-37B6DBD0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005840"/>
            <a:ext cx="1143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Doku + Präsentation</a:t>
            </a:r>
            <a:endParaRPr sz="10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4BF1CE7-88A9-4DF2-AE6B-172E4EE6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83080"/>
            <a:ext cx="2651760" cy="283464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F63D7632-B7B2-4266-80F7-81D85E4A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14dd50fcb4d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208026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A63D2F0-6489-4B3D-8E16-113AE275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47672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Rollen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B9DAFC6-0A11-43CA-8B81-BB65D969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228600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Projektleitung Nina (Stellvertretung und Backups David), Product Owner Adrian, Scrum Master und UML Kilian, BPMN Maxi, Qualität Jakob, Dokumanager: KI-Werkzeug Claude.</a:t>
            </a:r>
            <a:endParaRPr sz="11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848B7F1A-3C1B-4C20-8A21-253D25AF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783080"/>
            <a:ext cx="2651760" cy="283464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6098BA83-2796-4298-9BAD-61BDD85B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659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41e61701c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43300" y="208026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39B1864D-CFC9-4183-A7D1-2054E081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1947672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Zusammenarbeit</a:t>
            </a:r>
            <a:endParaRPr sz="1400"/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EBFAFB8A-522D-4228-AE74-56B76656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14600"/>
            <a:ext cx="228600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sz="1150"/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BA470E70-E53F-4895-AF5D-DFAE1EB5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783080"/>
            <a:ext cx="2651760" cy="283464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791E2994-5E48-4DD5-ADCE-448ADD05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9659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6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79e6d5bd84f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32220" y="208026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245ADD6D-05FA-475D-AE33-43958A16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947672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Meilensteine</a:t>
            </a:r>
            <a:endParaRPr sz="1400"/>
          </a:p>
        </p:txBody>
      </p:sp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085C99A1-DF16-48E9-8C3F-A23F1368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228600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6948129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404401-015A-42C7-AA9B-EF94D95C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Herausforderungen und was wir gelernt haben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502884D-CDC0-4535-A445-387DB578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0B27A9C-05FB-4E93-A5E5-9B22CB12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110F4367-9BEE-4BD6-B101-9BBB7D5C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5840"/>
            <a:ext cx="3977640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57EB9599-816A-419B-B24B-F5782EF9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3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19e7a539bb4f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130302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E3835D5-0724-4BDB-B9DE-6754DB1E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17043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Perspektive klären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EE0B223-2735-4EDB-93FB-AF3B04CF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611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sz="115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CE025AB-6667-43C5-B5C3-C5CB42C0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005840"/>
            <a:ext cx="3977640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A0FD97C-8E17-4135-89AE-99CCC873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18872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751733f324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6340" y="130302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D5FBF3D5-DCB2-4264-9748-C6CD8F5A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17043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Drei Modelle, ein Vokabular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6B3AA93-73F7-436D-A621-B07A049B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737360"/>
            <a:ext cx="3611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Datenobjekte, Klassen, Lebenslinien und Statuswerte müssen wortgleich sein. Eine gemeinsame Modellbeschreibung als Single Source of Truth hat die Abweichungen beseitigt.</a:t>
            </a:r>
            <a:endParaRPr sz="11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32F722B0-82EC-4813-A03A-854406C4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977640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BC6E7348-4402-49C2-8C06-061C1161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4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322e92ecf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" y="31775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68892577-6B52-4C66-8CA5-5CDD92EF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04495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Engine-ready statt Fehlerliste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CFCCB8A8-CBE4-4703-B8DB-1D8000C5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3611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sz="115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93077F41-7910-4D3E-ACF1-E220FC7F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880360"/>
            <a:ext cx="3977640" cy="173736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12700">
            <a:solidFill>
              <a:srgbClr val="EEF4F4"/>
            </a:solidFill>
            <a:prstDash val="solid"/>
          </a:ln>
        </p:spPr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1EEA3020-1CA9-492C-AFF3-8D92AF48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063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5E5E"/>
          </a:solidFill>
          <a:ln xmlns:a="http://schemas.openxmlformats.org/drawingml/2006/main" w="12700">
            <a:solidFill>
              <a:srgbClr val="0E5E5E"/>
            </a:solidFill>
            <a:prstDash val="solid"/>
          </a:ln>
        </p:spPr>
      </p:sp>
      <p:pic>
        <p:nvPicPr>
          <p:cNvPr id="5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ac05ad9db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6340" y="31775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7538EC69-5DF9-445E-8D85-1887B33A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44952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Vision mit Absicherung</a:t>
            </a:r>
            <a:endParaRPr sz="1400"/>
          </a:p>
        </p:txBody>
      </p:sp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018CDB54-C05C-4310-9F9B-53F27FD2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611880"/>
            <a:ext cx="3611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Die KI-Sofortdiagnose soll beeindrucken, aber glaubwürdig bleiben: klare Trennung von heute Machbarem und Vision, Vorschlag bleibt vorläufig.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50456976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E5E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40CEFA-4BCB-42D6-8C21-80A7297E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Fazit und Ausblick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C2BF90-AFB6-42DD-8DDC-AF3B6446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9F63FDD-84EA-496F-88E4-6FB945D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4CD7ED5-F4EE-4FA8-8C52-609FC5C8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20116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10</a:t>
            </a:r>
            <a:endParaRPr sz="4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15205ED-B25C-4D25-94C3-13AA0585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BPMN-Kollaborationsdiagramme, 125 Aktivitäten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3A23C82-BB20-450D-B3E6-A1F82AF8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1097280"/>
            <a:ext cx="20116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19</a:t>
            </a:r>
            <a:endParaRPr sz="40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E40C84E-7F97-40B3-8D40-A30B30FC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182880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Use Cases, 8 Akteure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D2A690C1-038C-48A2-893D-CB483F75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097280"/>
            <a:ext cx="20116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27</a:t>
            </a:r>
            <a:endParaRPr sz="40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B945356-801D-40DE-ADF4-9F0D2F96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82880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Klassen, 36 Assoziationen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0A66ED7-5C5B-4AEE-8369-B0008FAC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097280"/>
            <a:ext cx="20116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2A900"/>
                </a:solidFill>
                <a:latin typeface="Calibri"/>
                <a:ea typeface="Calibri"/>
                <a:cs typeface="Calibri"/>
              </a:rPr>
              <a:t>6</a:t>
            </a:r>
            <a:endParaRPr sz="40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07015D43-8E8A-4EF8-AB47-A2A81C45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2880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Sequenzdiagramme + Zustandsdiagramm</a:t>
            </a:r>
            <a:endParaRPr sz="1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F5B6AC0-4BBD-4AF0-8764-F5D80D79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82296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RepairFlow löst den Medienbruch aus Papier, Excel und Telefon und macht den Reparaturauftrag zum zentralen Zustandsautomaten. </a:t>
            </a:r>
            <a:endParaRPr sz="1400"/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Der fachliche Mehrwert liegt in der filialübergreifenden Disposition und in der KI-Sofortdiagnose, die dem Kunden Klarheit gibt, bevor er die Werkstatt betritt.</a:t>
            </a:r>
            <a:endParaRPr sz="1400"/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Ausblick: Predictive Disposition (Bedarfsprognose je Filiale und Saison), Techniker-Copilot und digitale Geräteakte.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7623304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E5E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F875E8-5A40-44D6-A0D7-47CF0418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5B83E9-9D91-4DA4-B5EA-28C4B1A8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7D817A0-3A12-435B-86B6-D9D589C6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7315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Vielen Dank</a:t>
            </a:r>
            <a:endParaRPr sz="4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FCEC578-C65C-4C6F-AB50-BBBBDEDC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0320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CFE3E3"/>
                </a:solidFill>
                <a:latin typeface="Calibri"/>
                <a:ea typeface="Calibri"/>
                <a:cs typeface="Calibri"/>
              </a:rPr>
              <a:t>Fragen?</a:t>
            </a:r>
            <a:endParaRPr sz="2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CA27993-E14E-4064-997E-1E6BDCC7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Gruppe 1 · WWI25B4 · RepairFlow</a:t>
            </a:r>
            <a:endParaRPr sz="14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E90A338-991D-414B-8BA0-ED597E50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630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12700">
            <a:solidFill>
              <a:srgbClr val="F2A900"/>
            </a:solidFill>
            <a:prstDash val="solid"/>
          </a:ln>
        </p:spPr>
      </p:sp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fbf9850e9e44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0" y="169164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24847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5B0CED-878D-4384-B45B-BDAF08E1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E5E5E"/>
                </a:solidFill>
                <a:latin typeface="Calibri"/>
                <a:ea typeface="Calibri"/>
                <a:cs typeface="Calibri"/>
              </a:rPr>
              <a:t>Anhang: Beiträge der Vortragenden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5EAE93-AF6C-4808-AC33-BFC48886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RepairFlow · Fallstudie Systemanalyse · WWI25B4 Gruppe 1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A66F5E5-00C0-4C18-9554-170C1741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graphicFrame>
        <p:nvGraphicFramePr>
          <p:cNvPr id="12" name="Table 0"/>
          <p:cNvGraphicFramePr/>
          <p:nvPr/>
        </p:nvGraphicFramePr>
        <p:xfrm>
          <a:off xmlns:a="http://schemas.openxmlformats.org/drawingml/2006/main" x="457200" y="1005840"/>
          <a:ext xmlns:a="http://schemas.openxmlformats.org/drawingml/2006/main" cx="822960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Vortragende(r)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Folien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Verantworteter Beitrag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Nina Sattler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1–2, 18–19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Einleitung und Agenda, Fazit und Ausblick, Moderation der Fragerunde; Projektleitung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David Leismann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3, 16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Ausgangslage und Problem; Vorgehen und Projektmanagement; stellvertretende Projektleitung, Backups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Adrian Wenzler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4–6, 11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Startup und Markt, Zustandsautomat, KI-Sofortdiagnose; Product Owner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Maximilian Ewald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7–10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Geschäftsprozessmodell: Prozesslandkarte, Konventionen, Prozesse 01 und 04; BPMN-Modellierung im Camunda Modeler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Kilian Platter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12–14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Use-Case-Diagramm, Klassendiagramm, Sequenzdiagramm SD1; UML-Modellierung in Visual Paradigm, Scrum Master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Jakob Schwan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15, 17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B2430"/>
                          </a:solidFill>
                          <a:latin typeface="Calibri"/>
                          <a:ea typeface="Calibri"/>
                          <a:cs typeface="Calibri"/>
                        </a:rPr>
                        <a:t>Sequenzdiagramm SD3, Herausforderungen; Qualitätssicherung und Konsistenz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D5DEDE"/>
                      </a:solidFill>
                      <a:prstDash val="solid"/>
                    </a:lnL>
                    <a:lnR w="6350" cmpd="sng">
                      <a:solidFill>
                        <a:srgbClr val="D5DEDE"/>
                      </a:solidFill>
                      <a:prstDash val="solid"/>
                    </a:lnR>
                    <a:lnT w="6350" cmpd="sng">
                      <a:solidFill>
                        <a:srgbClr val="D5DEDE"/>
                      </a:solidFill>
                      <a:prstDash val="solid"/>
                    </a:lnT>
                    <a:lnB w="6350" cmpd="sng">
                      <a:solidFill>
                        <a:srgbClr val="D5DED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C5CF873E-DB54-4BF9-9EA1-099E4BDD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5F6B7A"/>
                </a:solidFill>
                <a:latin typeface="Calibri"/>
                <a:ea typeface="Calibri"/>
                <a:cs typeface="Calibri"/>
              </a:rPr>
              <a:t>Zuordnung nach der Rollenverteilung vom Gruppentermin 02.09.2026.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8908233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2026-10-05T08:06:19.8210000Z</dcterms:created>
  <dcterms:modified xsi:type="dcterms:W3CDTF">2026-10-05T08:06:19.8210000Z</dcterms:modified>
</coreProperties>
</file>