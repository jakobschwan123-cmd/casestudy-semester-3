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David
Pilotkunde FixWerk GmbH: vier Filialen, Fahrrad, E-Bike und Elektronik.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
Fahrrad: fixdesk, RO App, Repero. Elektronik: RepairDesk, RepairShopr. Stand der Recherche September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
Der Automat ist der gemeinsame Nenner aller Modelle: BPMN-Prozesse sind seine Übergänge, das Klassendiagramm führt ihn als Attribut status, die Sequenzdiagramme markieren die Wechsel.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
Regeln aus der Vorlesung: Pool = Unternehmen, Lane = Rolle, keine Lane für Software. Automatisierung zeigt der Aktivitätstyp.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
Message-Start aus der App, Medienprüfung mit Rückfrageschleife, KI als Business Rule Task, Vorab-KVA, Verfügbarkeit über alle Filialen, Terminvorschlag, ereignisbasiertes Gateway: Bestätigung oder 7-Tage-Timer.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
Ereignisbasiertes Gateway: Freigabe, Ablehnung oder Timer. Die Erinnerung protokollieren und den KVA erneut senden statt einer separaten Nachricht, damit das Diagramm ohne Kreuzungen bleibt.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
Rückmeldung des Dozenten: ein Gimmick, das uns abhebt, darf visionär sein. Heute machbar: sichtbare Schäden per Bildanalyse. Vision: Geräuschanalyse, Aufwandsschätzung aus Video. Deshalb: Vorschlag bleibt vorläufig, Techniker bestätigt.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Kilian
18 Use Cases in vier Bereichen, sieben Akteure. include = immer, extend = bedingt.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Kilian
Entwurfsentscheidungen: Reparaturauftrag als Aggregatwurzel, Lagerbestand je Filiale, Reservierung als eigene Klasse, Werkstattbetrieb als Mandant, Rollen als Unterklassen von Mitarbeiter, drei KI-Klassen.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Kilian
Lebenslinien sind Klassen, Botschaften sind Operationen. Fragmente: loop je Medienanhang, alt auswertbar/nicht, loop je Teil und Filiale, alt Bestätigung/Timer, opt Reservierung.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Jakob
Fachlicher Mehrwert der Disposition. Verschachteltes alt, loop über die anderen Filialen, opt Nachbestellvorschlag.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Jakob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alle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-
Pflichtangabe für den PDF-Export laut Ablauf: welche/r Vortragende welchen Beitrag verantwortet.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5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147A7A"/>
          </a:solidFill>
          <a:ln w="12700">
            <a:solidFill>
              <a:srgbClr val="147A7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1887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9456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Werkstatt-Management als SaaS-Plattform mit KI-Sofortdiagnose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017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Fallstudie Systemanalyse · Methoden der WI · DHBW Karlsruhe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4290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Kurs WWI25B4 · Gruppe 1: Maximilian Ewald, David Leismann, Kilian Platter, Nina Sattler, Jakob Schwan, Adrian Wenzler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9776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Abschlusspräsentation · 27.10.2026, 09:00 Uhr · Raum B458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315200" y="1097280"/>
            <a:ext cx="914400" cy="9144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32588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051560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105156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Ausgangslage und Problem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217920" y="105156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1481328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97280" y="148132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Startup RepairFlow und der Markt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148132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Adrian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1911096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097280" y="1911096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Geschäftsprozesse (BPMN)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217920" y="191109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2340864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2340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097280" y="234086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Automatisierung und KI-Sofortdiagnose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217920" y="2340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Adrian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48640" y="2770632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097280" y="277063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Objektorientierte Analyse (UML)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6217920" y="277063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Kilian, Jakob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48640" y="3200400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864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097280" y="32004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Vorgehen und Projektmanagement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6217920" y="32004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8640" y="3630168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4864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097280" y="36301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Herausforderungen und Fazit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6217920" y="36301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Jakob, Nina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4297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bis 20 Minuten · alle Gruppenmitglieder tragen vor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Werkstätten heute: Papier, Excel und Telefon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Unabhängige Reparaturwerkstätten für Fahrräder, E-Bikes und Elektronik wachsen, ihre Abläufe nicht. Unser Pilotkunde FixWerk GmbH (vier Filialen) zeigt die typischen Probleme: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7373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920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203454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Kunden hören nichts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2468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zuverlässige Info, wann ein Kostenvoranschlag freizugeben oder das Gerät abholbereit ist. Rückfragen per Telefon, Geräte stehen wochenlang im Lager.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709160" y="17373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892040" y="1920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2034540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8640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Auftragsstatus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892040" y="2468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wissen will, wo ein Gerät steht, fragt in der Werkstatt nach. Papierzettel und Excel-Listen laufen auseinander.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457200" y="32004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3497580"/>
            <a:ext cx="228600" cy="2286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34440" y="33649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Teile doppelt bestellt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640080" y="3931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Filiale bestellt für sich, obwohl das Teil in der Nachbarfiliale liegt. Das kostet Zeit und Geld.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4709160" y="32004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892040" y="33832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3497580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486400" y="33649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Auslastung intransparent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4892040" y="3931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Termine werden nach Gefühl zugesagt, die Kapazität der Techniker kennt niemand genau.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RepairFlow: Solution Provider für Werkstätten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51560"/>
            <a:ext cx="3931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sind das Software-Startup, nicht die Werkstatt: RepairFlow ist eine Cloud-Plattform für den gesamten Reparatur-Lebenszyklus.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Module: Kundenportal mit App, Auftrags- und Werkstattmodul, Dispositionsmodul, Abrechnung.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Zielkunden: unabhängige Werkstätten und kleine Ketten mit 2 bis 10 Filialen im DACH-Raum.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Geschäftsmodell: monatliches Abo je Filiale, Stufen Basis und Pro (Disposition und KI-Sofortdiagnose).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Pilotkunde FixWerk GmbH: an ihren Prozessen haben wir die Plattform entworfen.</a:t>
            </a:r>
            <a:endParaRPr lang="en-US" sz="1300" dirty="0"/>
          </a:p>
        </p:txBody>
      </p:sp>
      <p:pic>
        <p:nvPicPr>
          <p:cNvPr id="7" name="Image 0" descr="/tmp/repo/tools/uml2/systemkon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051560"/>
            <a:ext cx="4114800" cy="191669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0" y="30139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Systemkontext: Plattform, Mandant, Kunde, Lieferant, KI-Dienst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 und Wettbewerb: drei Unterschiede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Werkstattsoftware gibt es, aber getrennt nach Welten: Fahrrad (fixdesk, RO App, Repero) oder Elektronik (RepairDesk, RepairShopr).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60020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89738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17647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Plattform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233172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Fahrrad, E-Bike und Elektronik auf einer Plattform, mit gemeinsamer Kundenbasis und gemeinsamem Ersatzteillager.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3246120" y="160020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429000" y="17830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1897380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023360" y="17647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Filialübergreifend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3429000" y="233172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Bestände, Reservierungen und Umlagerungen über alle Standorte. Bestellt wird nur, was nirgends liegt.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6035040" y="160020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217920" y="17830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20" y="1897380"/>
            <a:ext cx="228600" cy="2286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812280" y="17647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KI-Sofortdiagnose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6217920" y="233172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Diagnosevorschlag, vorläufiger Kostenvoranschlag und Termin, bevor der Kunde die Werkstatt betritt.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Reparaturauftrag als Zustandsautomat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pic>
        <p:nvPicPr>
          <p:cNvPr id="6" name="Image 0" descr="/tmp/repo/tools/uml2/zustand-reparaturauftr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0866" y="960120"/>
            <a:ext cx="2253147" cy="3657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0" y="1188720"/>
            <a:ext cx="41148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angenommen → in Diagnose → KVA offen → freigegeben | abgelehnt → Teile bestellt → in Reparatur → fertig → abgeholt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zehn BPMN-Prozesse sind die Übergänge dieses Automaten.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Klassendiagramm führt ihn als Attribut status : AuftragStatus.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Sequenzdiagramme markieren die Statuswechsel, an denen sie beteiligt sind.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Reklamation im Gewährleistungsfall startet einen neuen, kostenfreien Zyklus.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Zehn Geschäftsprozesse als Kollaborationsdiagramme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76072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1463040"/>
                <a:gridCol w="457200"/>
                <a:gridCol w="54864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Prozess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KI-Sofortdiagnose und Voranmeldung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Auftragsannahme, Geräteregistrierung und Terminplanung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Fehlerdiagnose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Kostenvoranschlag und Kundenfreigabe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Ersatzteil-Verfügbarkeit und Reservierung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Ersatzteil-Bestellung beim Lieferanten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Lieferant,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Reparaturdurchführung und Arbeitszeiterfassung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Abholung, Rechnung und Zahlung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Reklamation und Gewährleistung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Ersatzteil-Retoure und Lieferanten-Reklamation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Lieferant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492240" y="1188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649224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Aktivitäten, im Schnitt 12,1 je Diagramm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6492240" y="2651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61 %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6492240" y="3383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davon führt RepairFlow ohne manuelle Arbeit aus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Prozesse 01 bis 08: durchgehende Auftragsreise · 09 und 10: Reklamation und Retoure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lesen sich unsere BPMN-Diagramme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Pools und Lanes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= Unternehmen: Werkstattbetrieb (Mandant), Kunde und Lieferant als Empty Pools. Lanes = Rollen: Service, Techniker, Werkstattleitung, Disposition.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709160" y="100584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Automatisierung als Aktivitätstyp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Task = RepairFlow allein, Business Rule Task = Regel oder KI, Send/Receive = Nachricht, User Task = Mensch mit RepairFlow, Manual = außerhalb.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57200" y="242316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26060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72034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25877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Nachrichtenflüsse und Daten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15468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 mit Kunde und Lieferant nur als Nachrichtenfluss. Datenobjekte tragen Klassennamen mit Zustand, z. B. Reparaturauftrag [freigegeben].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4709160" y="242316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892040" y="26060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27203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25877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Start, ein Ende, Linter sauber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4892040" y="315468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Prozess ein Start- und ein Endereignis. Camunda-8-Anreicherung: Task-Definitionen, Subscriptions, Timer, FEEL-Bedingungen. Camunda-Linter: 0 Befunde.</a:t>
            </a:r>
            <a:endParaRPr lang="en-US" sz="1150" dirty="0"/>
          </a:p>
        </p:txBody>
      </p:sp>
      <p:pic>
        <p:nvPicPr>
          <p:cNvPr id="26" name="Image 4" descr="/tmp/repo/tools/pres/crop-05-link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6497" y="3794760"/>
            <a:ext cx="3011006" cy="71323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57200" y="45537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Ausschnitt Prozess 05: paralleler Mehrfach-Teilprozess je Ersatzteil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 01: KI-Sofortdiagnose und Voranmeldung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pic>
        <p:nvPicPr>
          <p:cNvPr id="6" name="Image 0" descr="/tmp/repo/tools/pres/crop-01-lin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3709" y="960120"/>
            <a:ext cx="4076582" cy="24688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Linker Teil des Diagramms: Anfrage, Medienprüfung mit Rückfrage, KI-Diagnosevorschlag, Vorab-KVA, Verfügbarkeit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37947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Auslöser: Nachricht aus der App mit Foto, Video oder Ton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Rückfrageschleife bei nicht auswertbaren Medien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KI-Diagnosevorschlag als Geschäftsregel-Aktivität, danach Vorab-KVA, Verfügbarkeitsprüfung und Terminvorschlag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Warten auf Bestätigung oder 7-Tage-Timer, dann Voranmeldung mit Vorreservierung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 04: Kostenvoranschlag und Kundenfreigabe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pic>
        <p:nvPicPr>
          <p:cNvPr id="6" name="Image 0" descr="/tmp/repo/tools/pres/crop-04-mit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5127" y="960120"/>
            <a:ext cx="4713746" cy="24231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429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Mittlerer Teil: Senden, ereignisbasiertes Gateway mit Freigabe, Ablehnung und Timer, Erinnerungsschleife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Techniker erfasst Positionen, RepairFlow übernimmt Ersatzteilpreise und berechnet den KVA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Ereignisbasiertes Gateway: Freigabe erhalten, Ablehnung erhalten oder 3 Tage verstrichen (Erinnerung)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Freigabe ruft Prozess 05 (Ersatzteile disponieren) als Call Activity auf; Ablehnung führt zur Diagnosepauschale und Abholaufforderung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KVA in 60 Sekunden: die KI-Sofortdiagnose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60120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32588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Aufnehmen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 lädt Foto, Video oder Ton in der App hoch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2139696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642616" y="1188720"/>
            <a:ext cx="548640" cy="54864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9776" y="132588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139696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Erkennen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2231136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KI-Dienst nennt Gerätetyp, Ursache und Ersatzteile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3822192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325112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132588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3822192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Kalkulieren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3913632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berechnet einen vorläufigen KVA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5504688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007608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1325880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504688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Reservieren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5596128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Verfügbarkeit in allen Filialen, Teile vorreserviert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7187184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7690104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7264" y="1325880"/>
            <a:ext cx="274320" cy="27432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87184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</a:t>
            </a:r>
            <a:endParaRPr lang="en-US" sz="1300" dirty="0"/>
          </a:p>
        </p:txBody>
      </p:sp>
      <p:sp>
        <p:nvSpPr>
          <p:cNvPr id="30" name="Text 22"/>
          <p:cNvSpPr txBox="1"/>
          <p:nvPr/>
        </p:nvSpPr>
        <p:spPr>
          <a:xfrm>
            <a:off x="7278624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Filiale und Termin vorgeschlagen, Kunde bestätigt</a:t>
            </a:r>
            <a:endParaRPr lang="en-US" sz="1000" dirty="0"/>
          </a:p>
        </p:txBody>
      </p:sp>
      <p:sp>
        <p:nvSpPr>
          <p:cNvPr id="31" name="Text 23"/>
          <p:cNvSpPr txBox="1"/>
          <p:nvPr/>
        </p:nvSpPr>
        <p:spPr>
          <a:xfrm>
            <a:off x="457200" y="3200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machbar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457200" y="35204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Sichtbare Schäden per Bildanalyse: gebrochenes Display, gerissene Kette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Vorab-KVA aus Teilepreisen und Aufwandsrichtwerten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Verfügbarkeitsprüfung und Vorreservierung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4754880" y="3200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und Absicherung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4754880" y="35204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Geräuschanalyse von E-Bike-Motoren, Aufwand aus Video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Vorschlag bleibt vorläufig, der Techniker bestätigt oder korrigiert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Medien nur mit Einwilligung, Löschung nach Abschluss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Use-Case-Diagramm: was RepairFlow leistet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pic>
        <p:nvPicPr>
          <p:cNvPr id="6" name="Image 0" descr="/tmp/repo/tools/uml2/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960120"/>
            <a:ext cx="3771900" cy="3749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669280" y="1097280"/>
            <a:ext cx="3017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Use Cases in vier Bereichen: Kundenportal, Auftrag und Werkstatt, Ersatzteil-Disposition, Administration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Primäre Akteure: Kunde, Techniker, Disponent, Werkstattleiter, Werkstattinhaber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Sekundär und extern: Lieferant, KI-Diagnosedienst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«include» für Pflicht-Teilschritte, z. B. KVA erstellen → Diagnosebefund erfassen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«extend» für bedingtes Verhalten, z. B. Voranmeldung bestätigen → Sofortdiagnose anfordern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Klassendiagramm: 26 Klassen, ein Zustandsautomat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pic>
        <p:nvPicPr>
          <p:cNvPr id="6" name="Image 0" descr="/tmp/repo/tools/uml2/klassen-fokus-1-sofortdiagn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758" y="960120"/>
            <a:ext cx="4124644" cy="34290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65760" y="44348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Ausschnitt: Kundenkontakt und KI-Sofortdiagnose (vollständiges Diagramm in der Dokumentation)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5669280" y="1097280"/>
            <a:ext cx="3017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Reparaturauftrag als Aggregatwurzel: Befund, KVA und Reparaturschritte sind Kompositionen, das Gerät ist nur zugeordnet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Lagerbestand als eigene Klasse zwischen Ersatzteil und Filiale: nur so geht filialübergreifende Verfügbarkeit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ErsatzteilReservierung mit eigenem Lebenszyklus: vorreserviert, reserviert, entnommen, storniert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Werkstattbetrieb als Mandant; Rollen Techniker, Disponent, Werkstattleiter als Unterklassen von Mitarbeiter – wie die Lanes Techniker, Ersatzteil-Disposition und Werkstattleitung im BPMN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Voranmeldung, Medienanhang, KIDiagnosevorschlag tragen die Sofortdiagnose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Sequenzdiagramm SD1: Sofortdiagnose anfordern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pic>
        <p:nvPicPr>
          <p:cNvPr id="6" name="Image 0" descr="/tmp/repo/tools/uml2/sequenz-01-sofortdiagn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072" y="960120"/>
            <a:ext cx="4353536" cy="3749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0" y="1097280"/>
            <a:ext cx="2286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Voranmeldung lässt jeden Medienanhang analysieren, der KI-Diagnosedienst wertet aus (loop)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alt: Medien nicht auswertbar → Rückfrage; sonst KIDiagnosevorschlag und vorläufiger KVA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je Ersatzteil und Filiale über Lagerbestand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alt: Kunde bestätigt → opt Vorreservierung; sonst Timer → verwerfen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Botschaften sind Operationen des Klassendiagramms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Sequenzdiagramm SD3: Ersatzteil filialübergreifend reservieren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pic>
        <p:nvPicPr>
          <p:cNvPr id="6" name="Image 0" descr="/tmp/repo/tools/uml2/sequenz-03-reservier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2539" y="960120"/>
            <a:ext cx="4018602" cy="3749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0" y="1097280"/>
            <a:ext cx="2286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der eigene Lagerbestand, dann loop über die anderen Filialen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Verschachteltes alt: lokal reservieren, extern reservieren mit Umlagerung oder ref auf UC10 Lieferantenbestellung (→ Prozess 06)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opt: Meldebestand unterschritten → ref auf UC12 Nachbestellvorschlag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Reservierung erhöht nur den reservierten Bestand, abgebucht wird erst bei der Entnahme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Vorgehen und Projektmanagement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1371600" cy="548640"/>
          </a:xfrm>
          <a:prstGeom prst="chevron">
            <a:avLst/>
          </a:prstGeom>
          <a:solidFill>
            <a:srgbClr val="0E5E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Themenwahl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28800" y="1005840"/>
            <a:ext cx="1371600" cy="548640"/>
          </a:xfrm>
          <a:prstGeom prst="chevron">
            <a:avLst/>
          </a:prstGeom>
          <a:solidFill>
            <a:srgbClr val="147A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9659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Konzept + Feedback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0" y="1005840"/>
            <a:ext cx="1371600" cy="548640"/>
          </a:xfrm>
          <a:prstGeom prst="chevron">
            <a:avLst/>
          </a:prstGeom>
          <a:solidFill>
            <a:srgbClr val="0E5E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3375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Prozessanalyse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0" y="1005840"/>
            <a:ext cx="1371600" cy="548640"/>
          </a:xfrm>
          <a:prstGeom prst="chevron">
            <a:avLst/>
          </a:prstGeom>
          <a:solidFill>
            <a:srgbClr val="147A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3600" y="1005840"/>
            <a:ext cx="1371600" cy="548640"/>
          </a:xfrm>
          <a:prstGeom prst="chevron">
            <a:avLst/>
          </a:prstGeom>
          <a:solidFill>
            <a:srgbClr val="0E5E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807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OOA (UML)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315200" y="1005840"/>
            <a:ext cx="1371600" cy="548640"/>
          </a:xfrm>
          <a:prstGeom prst="chevron">
            <a:avLst/>
          </a:prstGeom>
          <a:solidFill>
            <a:srgbClr val="147A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523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 + Präsentation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1783080"/>
            <a:ext cx="2651760" cy="283464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080" y="196596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2080260"/>
            <a:ext cx="228600" cy="22860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234440" y="1947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Rollen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40080" y="251460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Projektleitung Nina (Stellvertretung und Backups David), Product Owner Adrian, Scrum Master und UML Kilian, BPMN Maxi, Qualität Jakob, Dokumanager: KI-Werkzeug Claude.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3246120" y="1783080"/>
            <a:ext cx="2651760" cy="283464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429000" y="196596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2080260"/>
            <a:ext cx="228600" cy="2286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4023360" y="1947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Zusammenarbeit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3429000" y="251460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im Takt der vier Gruppentermine, Trello-Board mit einer Liste je Termin und einer Karte je Person und Aufgabe, Prüfung jedes Diagramms im Zweierteam, GitHub mit Branches, Pull Requests und Review.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035040" y="1783080"/>
            <a:ext cx="2651760" cy="283464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6217920" y="196596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20" y="2080260"/>
            <a:ext cx="228600" cy="2286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6812280" y="1947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Meilensteine</a:t>
            </a:r>
            <a:endParaRPr lang="en-US" sz="1400" dirty="0"/>
          </a:p>
        </p:txBody>
      </p:sp>
      <p:sp>
        <p:nvSpPr>
          <p:cNvPr id="32" name="Text 26"/>
          <p:cNvSpPr txBox="1"/>
          <p:nvPr/>
        </p:nvSpPr>
        <p:spPr>
          <a:xfrm>
            <a:off x="6217920" y="251460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02.09. alle Diagramme erstellt, Prüfung im Zweierteam verteilt, 05.10. Korrekturen und Sequenzdiagramme, 15.10. Modelle, Doku und Folien fertig, 22.10. Generalprobe, 27.10. Präsentation, 13.11. Abgabe.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Herausforderungen und was wir gelernt haben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Perspektive klären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 oder Softwareanbieter? Die Rückfrage des Dozenten hat uns zur klaren Entscheidung gezwungen: Solution Provider, FixWerk als Pilotkunde. Prozesse blieben, Texte und Klassenmodell zogen nach.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709160" y="100584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Modelle, ein Vokabular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Datenobjekte, Klassen, Lebenslinien und Statuswerte müssen wortgleich sein. Eine gemeinsame Modellbeschreibung als Single Source of Truth hat die Abweichungen beseitigt.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57200" y="288036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317754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3044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Engine-ready statt Fehlerliste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Camunda Modeler meldet für Camunda 8 fehlende technische Details als Fehler. Wir haben die Diagramme angereichert, bis der Camunda-Linter (Regeln des Problems-Panels) keine Befunde mehr meldete.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4709160" y="288036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892040" y="3063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31775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3044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mit Absicherung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489204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KI-Sofortdiagnose soll beeindrucken, aber glaubwürdig bleiben: klare Trennung von heute Machbarem und Vision, Vorschlag bleibt vorläufig.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5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Fazit und Ausblick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BPMN-Kollaborationsdiagramme, 121 Aktivitäten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65176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265176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Cases, 7 Akteure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84632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484632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Klassen, 35 Assoziationen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Sequenzdiagramme + Zustandsdiagramm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274320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löst den Medienbruch aus Papier, Excel und Telefon und macht den Reparaturauftrag zum zentralen Zustandsautomaten. 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fachliche Mehrwert liegt in der filialübergreifenden Disposition und in der KI-Sofortdiagnose, die dem Kunden Klarheit gibt, bevor er die Werkstatt betritt.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Ausblick: Predictive Disposition (Bedarfsprognose je Filiale und Saison), Techniker-Copilot und digitale Geräteakte.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E5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45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560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Fragen?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 1 · WWI25B4 · RepairFlow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0" y="1463040"/>
            <a:ext cx="914400" cy="9144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69164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Anhang: Beiträge der Vortragenden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097280"/>
                <a:gridCol w="5486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Vortragende(r)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Folien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Verantworteter Beitrag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Nina Sattler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1–2, 18–19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Einleitung und Agenda, Fazit und Ausblick; Projektleitung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Leismann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3, 16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Ausgangslage und Problem; Vorgehen und Projektmanagement; stellvertretende Projektleitung, Backups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Adrian Wenzler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4–6, 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Startup und Markt, Zustandsautomat, KI-Sofortdiagnose; Product Owner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Maximilian Ewald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Geschäftsprozessmodell: Prozesslandkarte, Konventionen, Prozesse 01 und 04; BPMN-Modellierung im Camunda Modeler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Kilian Platter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12–14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Use-Case-Diagramm, Klassendiagramm, Sequenzdiagramm SD1; UML-Modellierung in Visual Paradigm, Scrum Master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Jakob Schwan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15, 17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Sequenzdiagramm SD3, Herausforderungen; Qualitätssicherung und Konsistenz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Zuordnung nach der Rollenverteilung vom Gruppentermin 02.09.2026.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RepairFlow – Abschlusspräsentation Fallstudie Systemanalyse</dc:title>
  <dc:subject>PptxGenJS Presentation</dc:subject>
  <dc:creator>Gruppe 1 WWI25B4</dc:creator>
  <cp:lastModifiedBy>Gruppe 1 WWI25B4</cp:lastModifiedBy>
  <cp:revision>1</cp:revision>
  <dcterms:created xsi:type="dcterms:W3CDTF">2026-09-26T16:15:46Z</dcterms:created>
  <dcterms:modified xsi:type="dcterms:W3CDTF">2026-09-26T16:15:46Z</dcterms:modified>
</cp:coreProperties>
</file>