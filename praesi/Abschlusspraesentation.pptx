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
Kurz die sieben Teile und die Vortragenden nennen; Fragen bitte am 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
FixWerk GmbH ist ein fiktiver Pilotkunde mit vier Filialen in der Region Karlsruhe (Fahrrad, E-Bike, Elektronik). Die vier Probleme sind Annahmen unseres Szenarios, keine erhobenen Daten.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Rückfrage des Dozenten bei der Konzeptvorstellung: Betreiber oder Solution Provider? Wir sind der Softwareanbieter, FixWerk ist der Pilotkunde. Systemkontext: Buchhaltung, Lieferantensysteme und die physische Reparatur liegen außerhalb der Systemgrenze.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Die drei Merkmale beschreiben den Zuschnitt unseres Entwurfs. Einen belegten Funktionsvergleich mit bestehenden Werkstattlösungen haben wir nicht erstellt; deshalb nennen wir keine Wettbewerber.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Der Automat ist der gemeinsame Nenner aller Modelle: BPMN-Prozesse sind seine Übergänge, das Klassendiagramm führt ihn als Attribut status, die Sequenzdiagramme markieren die Wechsel.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Prozesse 01 bis 08 sind die Auftragsreise entlang des Zustandsautomaten, 09 und 10 die Folgeprozesse Reklamation und Retoure. Gezählt sind nur die Aktivitäten im Werkstatt-Pool; die 26 Aktivitäten der Kundenabläufe kommen hinzu.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Regeln aus der Vorlesung: Pool = Unternehmen, Lane = Rolle, keine Lane für Software. Automatisierung zeigt der Aktivitätstyp. Der Kunde hat einen eigenen, nicht ausführbaren Ablauf (z. B. Foto aufnehmen, Anfrage senden, KVA freigeben), der Lieferant bleibt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Message-Start aus der App, Voranmeldung wird sofort angelegt, Medienprüfung mit Rückfrage (Antwort oder 7-Tage-Timer), KI als Business Rule Task, Vorab-KVA, Verfügbarkeit über alle Filialen, Terminvorschlag, ereignisbasiertes Gateway: Bestätigung, Ablehnung oder 7-Tage-Timer.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Ereignisbasiertes Gateway: Freigabe, Ablehnung oder Timer. Die Erinnerung protokollieren und den KVA erneut senden; nach der dritten Erinnerung gilt der KVA als abgelehnt. Abgelehnte Aufträge gehen über Prozess 08 mit Diagnosepauschale zur Abholung.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Rückmeldung des Dozenten: ein Gimmick, das uns abhebt, darf visionär sein. Heute machbar: sichtbare Schäden per Bildanalyse. Vision: Geräuschanalyse, Aufwandsschätzung aus Video. Deshalb: Vorschlag bleibt vorläufig, Techniker bestätigt.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19 Use Cases in vier Bereichen, acht Akteure (je Lane ein Akteur). include = immer, extend = bedingt.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Entwurfsentscheidungen: Reparaturauftrag als Aggregatwurzel, Lagerbestand je Filiale, Reservierung als eigene Klasse, Werkstattbetrieb als Mandant, Rollen als Unterklassen von Mitarbeiter, drei KI-Klassen.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BPMN 01: Medien nachreichen oder nach sieben Tagen verwerfen; KI erst nach Medienprüfung. Bestätigung, Terminablehnung und Timeout getrennt. Klassenbotschaften sind Operationen.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
BPMN 05: parallele Teileprüfung; Fehlteile zunächst markieren. Reservierungen bestätigen, Meldebestand prüfen, Kunde informieren, erst danach bestellen.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
Scrum im Takt der Gruppentermine: Review, Retrospektive und Planning je Termin. Jede Änderung über Branch, Pull Request und Review; Merge durch Jakob als Qualitätsmanager. Abstimmung über WhatsApp, Dateien nur über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
Beispiel für die Konsistenzprüfung: Nach den Korrekturen an Prozess 07 (E-19) musste SD4 nachgezogen werden. Prüfrunden: Gesamtprüfung am 26.09., Komplettcheck am 05.10. mit 39 Befunden, QA-Checkliste mit Q1 bis Q8.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
Kennzahlen kurz nennen, dann die zwei Kernaussagen. Der Ausblick ist Vision, nicht modelliert.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-
Pflichtangabe für den PDF-Export laut Ablauf: welche/r Vortragende welchen Beitrag verantwortet.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27.10.2026, 09:00 Uhr · Raum B458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05156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0515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 und Problem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0515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148132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14813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Startup RepairFlow und der Markt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4813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1911096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19110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Geschäftsprozesse (BPMN)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19110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Maximilian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2340864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234086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 als Alleinstellungsmerkmal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27706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Objektorientierte Analyse (UML)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217920" y="27706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Kilian, Jakob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97280" y="32004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217920" y="32004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363016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97280" y="3630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Fazit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3630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bis 20 Minuten · alle Gruppenmitglieder tragen vor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Werkstätten heute: Papier, Excel und Telefon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Szenario: Die fiktive Werkstattkette FixWerk GmbH (vier Filialen, Fahrrad, E-Bike und Elektronik) arbeitet mit Papier, Excel-Listen und Telefon. Wir gehen von vier Problemen aus: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 hören nichts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zuverlässige Info, wann ein Kostenvoranschlag freizugeben oder das Gerät abholbereit ist. Rückfragen per Telefon, Geräte stehen wochenlang im 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70916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Auftragsstatus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wissen will, wo ein Gerät steht, fragt in der Werkstatt nach. Papierzettel und Excel-Listen laufen auseinander.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5720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Teile doppelt bestellt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Filiale bestellt für sich, obwohl das Teil in der Nachbarfiliale liegt. Das kostet Zeit und Geld.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470916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Auslastung intransparent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 werden nach Gefühl zugesagt, die Kapazität der Techniker kennt niemand genau.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Solution Provider für Werkstätten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sind das Software-Startup, nicht die Werkstatt: RepairFlow ist eine Cloud-Plattform für den gesamten Reparatur-Lebenszyklus.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Module: Kundenportal mit App, Auftrags- und Werkstattmodul, Dispositionsmodul, Abrechnung.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Zielkunden: unabhängige Werkstätten und kleine Ketten mit 2 bis 10 Filialen im DACH-Raum.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Geschäftsmodell: monatliches Abo je Filiale, Stufen Basis und Pro (Disposition und KI-Sofortdiagnose).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Pilotkunde FixWerk GmbH: an ihren Prozessen haben wir die Plattform entworfen.</a:t>
            </a:r>
            <a:endParaRPr lang="en-US" sz="1300" dirty="0"/>
          </a:p>
        </p:txBody>
      </p:sp>
      <p:pic>
        <p:nvPicPr>
          <p:cNvPr id="7" name="Image 0" descr="/tmp/repo/uml/systemk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51560"/>
            <a:ext cx="4114800" cy="2656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3753627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Systemkontext: Plattform, Mandant, Kunde, Lieferant, KI-Dienst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Zuschnitt: drei Merkmale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soll Fahrrad-, E-Bike- und Elektronikreparaturen gemeinsam abbilden. Drei Merkmale prägen unseren Entwurf: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8973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Plattform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Fahrrad, E-Bike und Elektronik auf einer Plattform, mit gemeinsamer Kundenbasis und gemeinsamem Ersatzteillager.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4612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42900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89738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02336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Filialübergreifend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42900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Bestände, Reservierungen und Umlagerungen über alle Standorte. Bestellt wird nur, was nirgends liegt.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3504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8973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1228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Diagnosevorschlag, vorläufiger Kostenvoranschlag und Termin, bevor der Kunde die Werkstatt betritt.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Reparaturauftrag als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/tmp/repo/uml/zustand-reparatur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613" y="960120"/>
            <a:ext cx="2755654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0" y="1188720"/>
            <a:ext cx="4114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angenommen → in Diagnose → KVA offen → freigegeben | abgelehnt → Teile bestellt → in Reparatur → fertig → abgeholt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zehn BPMN-Prozesse sind die Übergänge dieses Automaten.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Klassendiagramm führt ihn als Attribut status : AuftragStatus.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Sequenzdiagramme markieren die Statuswechsel, an denen sie beteiligt sind.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Reklamation im Gewährleistungsfall startet einen neuen, kostenfreien Zyklus.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Zehn Geschäftsprozesse als Kollaborationsdiagramme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1463040"/>
                <a:gridCol w="457200"/>
                <a:gridCol w="54864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92240" y="1188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Aktivitäten im Werkstatt-Pool, im Schnitt 13,1 je Diagramm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651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davon führt RepairFlow ohne manuelle Arbeit aus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Prozesse 01 bis 08: durchgehende Auftragsreise · 09 und 10: Reklamation und Retoure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lesen sich unsere BPMN-Diagramme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 und Lanes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Unternehmen: Werkstattbetrieb (Mandant), Kunde mit eigenem Ablauf, Lieferant als Black Box. Lanes = Rollen: Service, Techniker, Werkstattleitung, Disposition.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als Aktivitätstyp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Task = RepairFlow allein, Business Rule Task = Regel oder KI, Send/Receive = Nachricht, User Task = Mensch mit RepairFlow, Manual = außerhalb.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7203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Nachrichtenflüsse und Daten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 mit Kunde und Lieferant nur als Nachrichtenfluss. Datenobjekte tragen Klassennamen mit Zustand, z. B. Reparaturauftrag [freigegeben].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7203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Start, ein Ende, Linter sauber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Prozess ein Start- und ein Endereignis. Camunda-8-Anreicherung: Task-Definitionen, Subscriptions, Timer, FEEL-Bedingungen. Camunda-Linter: 0 Befunde.</a:t>
            </a:r>
            <a:endParaRPr lang="en-US" sz="1150" dirty="0"/>
          </a:p>
        </p:txBody>
      </p:sp>
      <p:pic>
        <p:nvPicPr>
          <p:cNvPr id="26" name="Image 4" descr="/tmp/repo/tools/pres/crop-05-lin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6497" y="3794760"/>
            <a:ext cx="3011006" cy="7132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7200" y="45537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Prozess 05: paralleler Mehrfach-Teilprozess je Ersatzteil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01: KI-Sofortdiagnose und Voranmeldung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6" name="Image 0" descr="/tmp/repo/tools/pres/crop-01-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37" y="960120"/>
            <a:ext cx="5106927" cy="2468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Aufnahme und Anfrage, Voranmeldung anlegen, Medienprüfung mit Rückfrage an den Kunden, KI-Diagnosevorschlag, Vorab-KVA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Kunde: Foto, Video oder Ton aufnehmen und in der App senden; RepairFlow legt daraus sofort die Voranmeldung an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 bei nicht auswertbaren Medien: neue Aufnahme oder nach 7 Tagen verwerfen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KI-Diagnosevorschlag als Geschäftsregel-Aktivität, danach Vorab-KVA, Verfügbarkeitsprüfung und Terminvorschlag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Warten auf Bestätigung (Vorreservierung), Ablehnung oder 7-Tage-Timer (Voranmeldung verwerfen)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04: Kostenvoranschlag und Kundenfreigabe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6" name="Image 0" descr="/tmp/repo/tools/pres/crop-04-mit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7978" y="960120"/>
            <a:ext cx="5748044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Kunde prüft und entscheidet, ereignisbasiertes Gateway mit Freigabe, Ablehnung und Timer, Erinnerungsschleife mit Ausstieg nach der dritten Erinnerung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Techniker erfasst Positionen, RepairFlow übernimmt Ersatzteilpreise und berechnet den KVA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Ereignisbasiertes Gateway: Freigabe erhalten, Ablehnung erhalten oder 3 Tage verstrichen (Erinnerung, höchstens dreimal)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Freigabe ruft Prozess 05 (Ersatzteile disponieren) auf; Ablehnung setzt den Auftrag auf „abgelehnt" und ruft Prozess 08 (Abholung mit Diagnosepauschale) auf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 in 60 Sekunden: die KI-Sofortdiagnose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0120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Aufnehmen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lädt Foto, Video oder Ton in der App hoch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139696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642616" y="118872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776" y="1325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139696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Erkennen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KI-Dienst nennt Gerätetyp, Ursache und Ersatzteile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22192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325112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3258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822192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Kalkulieren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berechnet einen vorläufigen KVA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5504688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07608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32588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04688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Reservieren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 in allen Filialen, Teile vorreserviert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187184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7690104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4" y="132588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87184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und Termin vorgeschlagen, Kunde bestätigt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machbar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Sichtbare Schäden per Bildanalyse: gebrochenes Display, gerissene Kette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Vorab-KVA aus Teilepreisen und Aufwandsrichtwerten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Verfügbarkeitsprüfung und Vorreservierung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und Absicherung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Geräuschanalyse von E-Bike-Motoren, Aufwand aus Video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Vorschlag bleibt vorläufig, der Techniker bestätigt oder korrigiert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nur mit Einwilligung, Löschung nach Abschluss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Use-Case-Diagramm: was RepairFlow leistet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6" name="Image 0" descr="/tmp/repo/uml/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2172" y="960120"/>
            <a:ext cx="3427817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Use Cases in vier Bereichen: Kundenportal, Auftrag und Werkstatt, Ersatzteil-Disposition, Administration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Primäre Akteure: Kunde, Servicemitarbeiter, Techniker, Disponent, Werkstattleiter, Werkstattinhaber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Sekundär und extern: Lieferant, KI-Diagnosedienst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«include» für Pflicht-Teilschritte, z. B. Ersatzteile disponieren → Ersatzteil-Verfügbarkeit prüfen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«extend» für bedingtes Verhalten, z. B. Voranmeldung bestätigen → Sofortdiagnose anfordern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Klassendiagramm: ein vollständiges Modell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6" name="Image 0" descr="/tmp/repo/uml/klass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276" y="960120"/>
            <a:ext cx="3685608" cy="3429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4434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vollständiges Diagramm mit 27 Klassen (Anhang C der Dokumentation)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Reparaturauftrag als Aggregatwurzel: Befund und Reparaturschritte sind Kompositionen; KVA und Gerät sind nur zugeordnet (Vorab-KVA entsteht vor dem Auftrag)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Lagerbestand als eigene Klasse zwischen Ersatzteil und Filiale: nur so geht filialübergreifende Verfügbarkeit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ErsatzteilReservierung mit eigenem Lebenszyklus: vorreserviert, reserviert, entnommen, storniert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Werkstattbetrieb als Mandant; Rollen Servicemitarbeiter, Techniker, Disponent, Werkstattleiter als Unterklassen von Mitarbeiter – wie die vier Lanes im BPMN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Voranmeldung, Medienanhang, KIDiagnosevorschlag tragen die Sofortdiagnose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SD1: Sofortdiagnose anfordern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6" name="Image 0" descr="/tmp/repo/uml/sequenz-0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4776" y="960120"/>
            <a:ext cx="2874128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Medienqualität prüfen; nur auswertbare Medien an den KI-Dienst senden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 mit Nachreichung; nach 7 Tagen ohne neue Aufnahme abbrechen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je Ersatzteil und Filiale über Lagerbestand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Bestätigung → verfügbare Teile vorreservieren; Ablehnung oder 7-Tage-Timer → verwerfen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Klassenbotschaften verwenden Operationen des Klassendiagramms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SD3: Ersatzteile disponieren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6" name="Image 0" descr="/tmp/repo/uml/sequenz-03-reserv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0193" y="960120"/>
            <a:ext cx="3743294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eigene Lagerbestand, dann loop über die anderen Filialen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Teil: lokal reservieren, Umlagerung oder Fehlteil markieren; parallele Teileprüfung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 Reservierungen bestätigen und Meldebestand prüfen (UC12)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über Reparaturbeginn informieren; danach Bestellung nur bei Fehlteilen (UC10)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Themenwahl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288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 + Feedback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375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Prozessanalyse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807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OOA (UML)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 + Präsentation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8026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4008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Projektleitung Nina (Stellvertretung und Backups David), Product Owner Adrian, Scrum Master und UML Kilian, BPMN Maximilian, Qualität Jakob.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324612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42900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08026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342900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03504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21792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08026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Meilensteine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21792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02.09. alle Diagramme erstellt, Prüfung im Zweierteam verteilt, 05.10. Korrekturen und Sequenzdiagramme, 15.10. Modelle, Doku und Folien fertig, 22.10. Generalprobe, 27.10. Präsentation, 13.11. Abgabe.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was wir gelernt haben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Die Rückfrage des Dozenten hat uns zur klaren Entscheidung gezwungen: Solution Provider, FixWerk als Pilotkunde. Prozesse blieben, Texte und Klassenmodell zogen nach.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Datenobjekte, Klassen, Lebenslinien und Statuswerte müssen wortgleich sein. Gemeinsame Namensregeln und ein Abgleich nach jeder Änderung (QA-Checkliste) halten die Modelle zusammen.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Engine-ready statt Fehlerliste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Camunda Modeler meldet für Camunda 8 fehlende technische Details als Fehler. Wir haben die Diagramme angereichert, bis der Camunda-Linter (Regeln des Problems-Panels) keine Befunde mehr meldete.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mit Absicherung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KI-Sofortdiagnose soll beeindrucken, aber glaubwürdig bleiben: klare Trennung von heute Machbarem und Vision, Vorschlag bleibt vorläufig.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und Ausblick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BPMN-Kollaborationsdiagramme, 131 Aktivitäten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Cases, 8 Akteure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Klassen, 36 Assoziationen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Sequenzdiagramme + Zustandsdiagramm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7432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löst den Medienbruch aus Papier, Excel und Telefon und macht den Reparaturauftrag zum zentralen Zustandsautomaten.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fachliche Mehrwert liegt in der filialübergreifenden Disposition und in der KI-Sofortdiagnose, die dem Kunden Klarheit gibt, bevor er die Werkstatt betritt.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Predictive Disposition (Bedarfsprognose je Filiale und Saison), Techniker-Copilot und digitale Geräteakte.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1 · WWI25B4 · RepairFlow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0" y="146304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69164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Anhang: Beiträge der Vortragenden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18–19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Fazit und Ausblick, Moderation der Fragerunde; Projektleitung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Ausgangslage und Problem; Vorgehen und Projektmanagement; stellvertretende Projektleitung, Backups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4–6, 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Startup und Markt, Zustandsautomat, KI-Sofortdiagnose; Product 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Geschäftsprozessmodell: Prozesslandkarte, Konventionen, Prozesse 01 und 04; BPMN-Modellierung im Camunda Modeler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Use-Case-Diagramm, Klassendiagramm, Sequenzdiagramm SD1; UML-Modellierung in Visual Paradigm, Scrum Master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Sequenzdiagramm SD3, Herausforderungen; Qualitätssicherung und Konsistenz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Zuordnung nach der Rollenverteilung vom Gruppentermin 02.09.2026.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/>
  <dc:creator>Gruppe 1 WWI25B4</dc:creator>
  <cp:lastModifiedBy/>
  <cp:revision>1</cp:revision>
  <dcterms:created xsi:type="dcterms:W3CDTF">2026-10-08T14:51:01Z</dcterms:created>
  <dcterms:modified xsi:type="dcterms:W3CDTF">2026-10-08T14:51:01Z</dcterms:modified>
</cp:coreProperties>
</file>