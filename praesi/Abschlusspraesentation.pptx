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RepairFlow — Werkstatt-Management-System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Systemanalyse-Fallstudie * FixWerk GmbH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RepairFlow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Werkstatt-Management-System für die FixWerk GmbH</a:t>
            </a:r>
          </a:p>
          <a:p>
            <a:pPr lvl="0" indent="0" marL="0">
              <a:buNone/>
            </a:pPr>
            <a:r>
              <a:rPr/>
              <a:t>Systemanalyse-Fallstudie (SYAN)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Ausgangslage &amp; Problem</a:t>
            </a:r>
          </a:p>
          <a:p>
            <a:pPr lvl="0"/>
            <a:r>
              <a:rPr/>
              <a:t>Projekt / Szenario</a:t>
            </a:r>
          </a:p>
          <a:p>
            <a:pPr lvl="0"/>
            <a:r>
              <a:rPr/>
              <a:t>Geschäftsprozesse (BPMN-Überblick)</a:t>
            </a:r>
          </a:p>
          <a:p>
            <a:pPr lvl="0"/>
            <a:r>
              <a:rPr/>
              <a:t>Automatisierungspotential</a:t>
            </a:r>
          </a:p>
          <a:p>
            <a:pPr lvl="0"/>
            <a:r>
              <a:rPr/>
              <a:t>UML: Use-Case- &amp; Klassendiagramm</a:t>
            </a:r>
          </a:p>
          <a:p>
            <a:pPr lvl="0"/>
            <a:r>
              <a:rPr/>
              <a:t>Drei Schlüsselabläufe (Sequenzdiagramme)</a:t>
            </a:r>
          </a:p>
          <a:p>
            <a:pPr lvl="0"/>
            <a:r>
              <a:rPr/>
              <a:t>Fazit &amp; Ausblick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Ausgangslage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FixWerk GmbH: </a:t>
            </a:r>
            <a:r>
              <a:rPr b="1"/>
              <a:t>4 Filialen</a:t>
            </a:r>
            <a:r>
              <a:rPr/>
              <a:t>, repariert Fahrräder/E-Bikes und Consumer-Elektronik</a:t>
            </a:r>
          </a:p>
          <a:p>
            <a:pPr lvl="0"/>
            <a:r>
              <a:rPr/>
              <a:t>Abläufe laufen heute über </a:t>
            </a:r>
            <a:r>
              <a:rPr b="1"/>
              <a:t>Papier-Auftragszettel, Excel und Telefon</a:t>
            </a:r>
          </a:p>
          <a:p>
            <a:pPr lvl="0"/>
            <a:r>
              <a:rPr/>
              <a:t>Folgen:</a:t>
            </a:r>
          </a:p>
          <a:p>
            <a:pPr lvl="1"/>
            <a:r>
              <a:rPr/>
              <a:t>Medienbrüche, doppelte Datenerfassung</a:t>
            </a:r>
          </a:p>
          <a:p>
            <a:pPr lvl="1"/>
            <a:r>
              <a:rPr/>
              <a:t>kein zentraler Auftragsstatus</a:t>
            </a:r>
          </a:p>
          <a:p>
            <a:pPr lvl="1"/>
            <a:r>
              <a:rPr/>
              <a:t>doppelte, filial-lokale Ersatzteilbestellungen</a:t>
            </a:r>
          </a:p>
          <a:p>
            <a:pPr lvl="0"/>
            <a:r>
              <a:rPr b="1"/>
              <a:t>Schmerzpunkt:</a:t>
            </a:r>
            <a:r>
              <a:rPr/>
              <a:t> Kunden werden nicht zuverlässig über KVA-Freigabe und Fertigstellung informiert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Projekt / Szenario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Ziel: System </a:t>
            </a:r>
            <a:r>
              <a:rPr b="1"/>
              <a:t>RepairFlow</a:t>
            </a:r>
            <a:r>
              <a:rPr/>
              <a:t> führt den Reparaturauftrag als </a:t>
            </a:r>
            <a:r>
              <a:rPr b="1"/>
              <a:t>zentralen Zustandsautomaten</a:t>
            </a:r>
          </a:p>
          <a:p>
            <a:pPr lvl="0"/>
            <a:r>
              <a:rPr/>
              <a:t>Koppelt 4 Rollen über definierte Nachrichten: Kunde, Techniker, Disposition, Lieferant</a:t>
            </a:r>
          </a:p>
          <a:p>
            <a:pPr lvl="0"/>
            <a:r>
              <a:rPr/>
              <a:t>Kernnutzen:</a:t>
            </a:r>
          </a:p>
          <a:p>
            <a:pPr lvl="1"/>
            <a:r>
              <a:rPr/>
              <a:t>Durchgängiger Auftragsstatus als </a:t>
            </a:r>
            <a:r>
              <a:rPr i="1"/>
              <a:t>Single Source of Truth</a:t>
            </a:r>
          </a:p>
          <a:p>
            <a:pPr lvl="1"/>
            <a:r>
              <a:rPr/>
              <a:t>Aktive Kundenkommunikation bei </a:t>
            </a:r>
            <a:r>
              <a:rPr>
                <a:latin typeface="Courier"/>
              </a:rPr>
              <a:t>KVA offen</a:t>
            </a:r>
            <a:r>
              <a:rPr/>
              <a:t> und </a:t>
            </a:r>
            <a:r>
              <a:rPr>
                <a:latin typeface="Courier"/>
              </a:rPr>
              <a:t>fertig</a:t>
            </a:r>
          </a:p>
          <a:p>
            <a:pPr lvl="1"/>
            <a:r>
              <a:rPr/>
              <a:t>Filialübergreifende Bestandssicht -&gt; Umlagerung statt Sofortbestellung</a:t>
            </a:r>
          </a:p>
          <a:p>
            <a:pPr lvl="0"/>
            <a:r>
              <a:rPr/>
              <a:t>Zustandsautomat: </a:t>
            </a:r>
            <a:r>
              <a:rPr>
                <a:latin typeface="Courier"/>
              </a:rPr>
              <a:t>angenommen -&gt; in Diagnose -&gt; KVA offen -&gt; freigegeben/abgelehnt -&gt; Teile bestellt -&gt; in Reparatur -&gt; fertig -&gt; abgeholt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Geschäftsprozesse (Überblick)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Modelliert als </a:t>
            </a:r>
            <a:r>
              <a:rPr b="1"/>
              <a:t>10 BPMN-2.0-Kollaborationsdiagramme</a:t>
            </a:r>
            <a:r>
              <a:rPr/>
              <a:t>, 4 Pools, Message-Flows</a:t>
            </a:r>
          </a:p>
          <a:p>
            <a:pPr lvl="0"/>
            <a:r>
              <a:rPr/>
              <a:t>P1–P7 bilden eine durchgehende Auftragsreise, P8–P10 sind Teilprozesse: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Prozess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Auftragsannahme + Geräteregistrierung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Fehlerdiagnose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KVA-Erstellung + Kundenfreigabe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Ersatzteil-Verfügbarkeit + Reservierung (filialübergreifend)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Ersatzteil-Bestellung beim Lieferanten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Reparaturdurchführung + Arbeitszeiterfassung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Abholung + Rechnung + Zahlung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Reklamation / Gewährleistung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Terminplanung + Werkstattauslastung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Ersatzteil-Retoure + Lieferanten-Reklamation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Automatisierungspotential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Innerhalb der Systemgrenze</a:t>
            </a:r>
            <a:r>
              <a:rPr/>
              <a:t> (RepairFlow automatisiert):</a:t>
            </a:r>
          </a:p>
          <a:p>
            <a:pPr lvl="1"/>
            <a:r>
              <a:rPr/>
              <a:t>Statussteuerung des Auftrags über den gesamten Zustandsautomaten</a:t>
            </a:r>
          </a:p>
          <a:p>
            <a:pPr lvl="1"/>
            <a:r>
              <a:rPr/>
              <a:t>Erzeugung + Versand von Kostenvoranschlägen</a:t>
            </a:r>
          </a:p>
          <a:p>
            <a:pPr lvl="1"/>
            <a:r>
              <a:rPr/>
              <a:t>Filialübergreifende Disposition inkl. Nachbestellvorschlag bei Meldebestand</a:t>
            </a:r>
          </a:p>
          <a:p>
            <a:pPr lvl="1"/>
            <a:r>
              <a:rPr/>
              <a:t>Kundenbenachrichtigungen an relevanten Statusübergängen</a:t>
            </a:r>
          </a:p>
          <a:p>
            <a:pPr lvl="0"/>
            <a:r>
              <a:rPr b="1"/>
              <a:t>Bewusst außerhalb</a:t>
            </a:r>
            <a:r>
              <a:rPr/>
              <a:t> der Systemgrenze:</a:t>
            </a:r>
          </a:p>
          <a:p>
            <a:pPr lvl="1"/>
            <a:r>
              <a:rPr/>
              <a:t>Physische Reparatur (handwerkliche Tätigkeit)</a:t>
            </a:r>
          </a:p>
          <a:p>
            <a:pPr lvl="1"/>
            <a:r>
              <a:rPr/>
              <a:t>Lieferanten-eigene Systeme (nur über Schnittstelle)</a:t>
            </a:r>
          </a:p>
          <a:p>
            <a:pPr lvl="1"/>
            <a:r>
              <a:rPr/>
              <a:t>Buchhaltung/DATEV (nur Datenübergabe)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Use-Case-Diagramm</a:t>
            </a:r>
          </a:p>
        </p:txBody>
      </p:sp>
      <p:pic>
        <p:nvPicPr>
          <p:cNvPr descr="/Users/I766445/Library/CloudStorage/OneDrive-SAPSE/Dev/Uni/Uni/wiki/uebungen/syan/diagramme/repairflow-usec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4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Use-Case-Diagramm — Notizen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14 Use Cases, 5 Aktoren</a:t>
            </a:r>
            <a:r>
              <a:rPr/>
              <a:t>: Kunde, Techniker, Disponent, Werkstattleiter (intern), Lieferant (sekundär, extern)</a:t>
            </a:r>
          </a:p>
          <a:p>
            <a:pPr lvl="0"/>
            <a:r>
              <a:rPr b="1"/>
              <a:t>«include»</a:t>
            </a:r>
            <a:r>
              <a:rPr/>
              <a:t> = immer ausgeführter Teilschritt, z. B. </a:t>
            </a:r>
            <a:r>
              <a:rPr>
                <a:latin typeface="Courier"/>
              </a:rPr>
              <a:t>KVA erstellen</a:t>
            </a:r>
            <a:r>
              <a:rPr/>
              <a:t> -&gt; </a:t>
            </a:r>
            <a:r>
              <a:rPr>
                <a:latin typeface="Courier"/>
              </a:rPr>
              <a:t>Diagnosebefund erfassen</a:t>
            </a:r>
          </a:p>
          <a:p>
            <a:pPr lvl="0"/>
            <a:r>
              <a:rPr b="1"/>
              <a:t>«extend»</a:t>
            </a:r>
            <a:r>
              <a:rPr/>
              <a:t> = bedingtes Verhalten, z. B. </a:t>
            </a:r>
            <a:r>
              <a:rPr>
                <a:latin typeface="Courier"/>
              </a:rPr>
              <a:t>Reklamation bearbeiten</a:t>
            </a:r>
            <a:r>
              <a:rPr/>
              <a:t> nach Abschluss</a:t>
            </a:r>
          </a:p>
          <a:p>
            <a:pPr lvl="0"/>
            <a:r>
              <a:rPr/>
              <a:t>Systemgrenze trennt automatisierte Auftragslogik von physischer Arbeit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Klassendiagramm</a:t>
            </a:r>
          </a:p>
        </p:txBody>
      </p:sp>
      <p:pic>
        <p:nvPicPr>
          <p:cNvPr descr="/Users/I766445/Library/CloudStorage/OneDrive-SAPSE/Dev/Uni/Uni/wiki/uebungen/syan/diagramme/repairflow-klass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59000" y="1193800"/>
            <a:ext cx="4826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Klassendiagramm — Notizen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18 Klassen</a:t>
            </a:r>
            <a:r>
              <a:rPr/>
              <a:t>, </a:t>
            </a:r>
            <a:r>
              <a:rPr>
                <a:latin typeface="Courier"/>
              </a:rPr>
              <a:t>AuftragStatus</a:t>
            </a:r>
            <a:r>
              <a:rPr/>
              <a:t>-Enum als Herzstück</a:t>
            </a:r>
          </a:p>
          <a:p>
            <a:pPr lvl="0"/>
            <a:r>
              <a:rPr>
                <a:latin typeface="Courier"/>
              </a:rPr>
              <a:t>Reparaturauftrag</a:t>
            </a:r>
            <a:r>
              <a:rPr/>
              <a:t> als </a:t>
            </a:r>
            <a:r>
              <a:rPr b="1"/>
              <a:t>Aggregatwurzel</a:t>
            </a:r>
            <a:r>
              <a:rPr/>
              <a:t> (Kompositionen zu Gerät, Fehlerbefund, KVA, Reparaturschritt)</a:t>
            </a:r>
          </a:p>
          <a:p>
            <a:pPr lvl="0"/>
            <a:r>
              <a:rPr b="1">
                <a:latin typeface="Courier"/>
              </a:rPr>
              <a:t>Lagerbestand</a:t>
            </a:r>
            <a:r>
              <a:rPr b="1"/>
              <a:t> eigene Klasse</a:t>
            </a:r>
            <a:r>
              <a:rPr/>
              <a:t> (nicht Attribut) -&gt; Bestand pro Filiale -&gt; filialübergreifende Prüfung möglich</a:t>
            </a:r>
          </a:p>
          <a:p>
            <a:pPr lvl="0"/>
            <a:r>
              <a:rPr b="1">
                <a:latin typeface="Courier"/>
              </a:rPr>
              <a:t>ErsatzteilReservierung</a:t>
            </a:r>
            <a:r>
              <a:rPr/>
              <a:t> als assoziative Klasse mit eigenem Lebenszyklus</a:t>
            </a:r>
          </a:p>
          <a:p>
            <a:pPr lvl="0"/>
            <a:r>
              <a:rPr/>
              <a:t>Methoden nach </a:t>
            </a:r>
            <a:r>
              <a:rPr b="1"/>
              <a:t>Information-Expert-Prinzip</a:t>
            </a:r>
            <a:r>
              <a:rPr/>
              <a:t> (z. B. </a:t>
            </a:r>
            <a:r>
              <a:rPr>
                <a:latin typeface="Courier"/>
              </a:rPr>
              <a:t>wechsleStatus</a:t>
            </a:r>
            <a:r>
              <a:rPr/>
              <a:t> beim Auftrag, </a:t>
            </a:r>
            <a:r>
              <a:rPr>
                <a:latin typeface="Courier"/>
              </a:rPr>
              <a:t>berechneSumme</a:t>
            </a:r>
            <a:r>
              <a:rPr/>
              <a:t> beim KVA)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Schlüsselablauf 1: KVA-Freigabe mit Kundenschleife</a:t>
            </a:r>
          </a:p>
        </p:txBody>
      </p:sp>
      <p:pic>
        <p:nvPicPr>
          <p:cNvPr descr="/Users/I766445/Library/CloudStorage/OneDrive-SAPSE/Dev/Uni/Uni/wiki/uebungen/syan/diagramme/repairflow-sequenz-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11500" y="1193800"/>
            <a:ext cx="2908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Schlüsselablauf 1 — Notizen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Techniker erstellt KVA mit Positionen (</a:t>
            </a:r>
            <a:r>
              <a:rPr>
                <a:latin typeface="Courier"/>
              </a:rPr>
              <a:t>loop</a:t>
            </a:r>
            <a:r>
              <a:rPr/>
              <a:t>), Status -&gt; </a:t>
            </a:r>
            <a:r>
              <a:rPr>
                <a:latin typeface="Courier"/>
              </a:rPr>
              <a:t>KVA offen</a:t>
            </a:r>
          </a:p>
          <a:p>
            <a:pPr lvl="0"/>
            <a:r>
              <a:rPr>
                <a:latin typeface="Courier"/>
              </a:rPr>
              <a:t>loop</a:t>
            </a:r>
            <a:r>
              <a:rPr/>
              <a:t> = Erinnerungs-/Warteschleife, wenn Kunde nicht sofort reagiert</a:t>
            </a:r>
          </a:p>
          <a:p>
            <a:pPr lvl="0"/>
            <a:r>
              <a:rPr>
                <a:latin typeface="Courier"/>
              </a:rPr>
              <a:t>alt</a:t>
            </a:r>
            <a:r>
              <a:rPr/>
              <a:t> verzweigt: </a:t>
            </a:r>
            <a:r>
              <a:rPr b="1"/>
              <a:t>freigegeben</a:t>
            </a:r>
            <a:r>
              <a:rPr/>
              <a:t> -&gt; Beschaffung startet vs. </a:t>
            </a:r>
            <a:r>
              <a:rPr b="1"/>
              <a:t>abgelehnt</a:t>
            </a:r>
            <a:r>
              <a:rPr/>
              <a:t> -&gt; Endzustand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Schlüsselablauf 2: Filialübergreifende Ersatzteil-Reservierung</a:t>
            </a:r>
          </a:p>
        </p:txBody>
      </p:sp>
      <p:pic>
        <p:nvPicPr>
          <p:cNvPr descr="/Users/I766445/Library/CloudStorage/OneDrive-SAPSE/Dev/Uni/Uni/wiki/uebungen/syan/diagramme/repairflow-sequenz-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403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Schlüsselablauf 2 — Notizen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Disposition prüft zuerst eigenen </a:t>
            </a:r>
            <a:r>
              <a:rPr>
                <a:latin typeface="Courier"/>
              </a:rPr>
              <a:t>Lagerbestand</a:t>
            </a:r>
            <a:r>
              <a:rPr/>
              <a:t>, dann andere Filialen</a:t>
            </a:r>
          </a:p>
          <a:p>
            <a:pPr lvl="0"/>
            <a:r>
              <a:rPr/>
              <a:t>Verschachtelt: äußeres </a:t>
            </a:r>
            <a:r>
              <a:rPr>
                <a:latin typeface="Courier"/>
              </a:rPr>
              <a:t>alt</a:t>
            </a:r>
            <a:r>
              <a:rPr/>
              <a:t> (lokal vs. nicht lokal), innere </a:t>
            </a:r>
            <a:r>
              <a:rPr>
                <a:latin typeface="Courier"/>
              </a:rPr>
              <a:t>loop</a:t>
            </a:r>
            <a:r>
              <a:rPr/>
              <a:t> über Filialen</a:t>
            </a:r>
          </a:p>
          <a:p>
            <a:pPr lvl="0"/>
            <a:r>
              <a:rPr/>
              <a:t>Reservierung mindert </a:t>
            </a:r>
            <a:r>
              <a:rPr b="1"/>
              <a:t>verfügbaren</a:t>
            </a:r>
            <a:r>
              <a:rPr/>
              <a:t> Bestand, bucht aber erst beim Einbau ab</a:t>
            </a:r>
          </a:p>
          <a:p>
            <a:pPr lvl="0"/>
            <a:r>
              <a:rPr/>
              <a:t>Kern des fachlichen Mehrwerts: Umlagerung statt teurer Sofortbestellung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Schlüsselablauf 3: Fertigmeldung + Kundenbenachrichtigung</a:t>
            </a:r>
          </a:p>
        </p:txBody>
      </p:sp>
      <p:pic>
        <p:nvPicPr>
          <p:cNvPr descr="/Users/I766445/Library/CloudStorage/OneDrive-SAPSE/Dev/Uni/Uni/wiki/uebungen/syan/diagramme/repairflow-sequenz-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Schlüsselablauf 3 — Notizen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Techniker schließt letzten Reparaturschritt ab, bucht Arbeitszeit</a:t>
            </a:r>
          </a:p>
          <a:p>
            <a:pPr lvl="0"/>
            <a:r>
              <a:rPr>
                <a:latin typeface="Courier"/>
              </a:rPr>
              <a:t>alt</a:t>
            </a:r>
            <a:r>
              <a:rPr/>
              <a:t> prüft, ob </a:t>
            </a:r>
            <a:r>
              <a:rPr b="1"/>
              <a:t>alle</a:t>
            </a:r>
            <a:r>
              <a:rPr/>
              <a:t> Schritte fertig -&gt; nur dann Status </a:t>
            </a:r>
            <a:r>
              <a:rPr>
                <a:latin typeface="Courier"/>
              </a:rPr>
              <a:t>fertig</a:t>
            </a:r>
            <a:r>
              <a:rPr/>
              <a:t> (keine verfrühte Meldung)</a:t>
            </a:r>
          </a:p>
          <a:p>
            <a:pPr lvl="0"/>
            <a:r>
              <a:rPr>
                <a:latin typeface="Courier"/>
              </a:rPr>
              <a:t>opt</a:t>
            </a:r>
            <a:r>
              <a:rPr/>
              <a:t> = bevorzugter Benachrichtigungskanal (E-Mail/SMS je nach Kundenpräferenz)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 &amp; Ausblick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RepairFlow löst den Medienbruch aus Papier, Excel und Telefon</a:t>
            </a:r>
          </a:p>
          <a:p>
            <a:pPr lvl="0"/>
            <a:r>
              <a:rPr b="1"/>
              <a:t>Modell-Konsistenz:</a:t>
            </a:r>
            <a:r>
              <a:rPr/>
              <a:t> 14 Use Cases ↔ 10 Prozesse ↔ 18 Klassen, ein Zustandsautomat</a:t>
            </a:r>
          </a:p>
          <a:p>
            <a:pPr lvl="0"/>
            <a:r>
              <a:rPr/>
              <a:t>Fachlicher Mehrwert liegt in zwei Entwurfsentscheidungen:</a:t>
            </a:r>
          </a:p>
          <a:p>
            <a:pPr lvl="1"/>
            <a:r>
              <a:rPr/>
              <a:t>Filialübergreifende Bestandssicht (</a:t>
            </a:r>
            <a:r>
              <a:rPr>
                <a:latin typeface="Courier"/>
              </a:rPr>
              <a:t>Lagerbestand</a:t>
            </a:r>
            <a:r>
              <a:rPr/>
              <a:t>, </a:t>
            </a:r>
            <a:r>
              <a:rPr>
                <a:latin typeface="Courier"/>
              </a:rPr>
              <a:t>ErsatzteilReservierung</a:t>
            </a:r>
            <a:r>
              <a:rPr/>
              <a:t>)</a:t>
            </a:r>
          </a:p>
          <a:p>
            <a:pPr lvl="1"/>
            <a:r>
              <a:rPr/>
              <a:t>Aktive Kundenkommunikation an </a:t>
            </a:r>
            <a:r>
              <a:rPr>
                <a:latin typeface="Courier"/>
              </a:rPr>
              <a:t>KVA offen</a:t>
            </a:r>
            <a:r>
              <a:rPr/>
              <a:t> und </a:t>
            </a:r>
            <a:r>
              <a:rPr>
                <a:latin typeface="Courier"/>
              </a:rPr>
              <a:t>fertig</a:t>
            </a:r>
          </a:p>
          <a:p>
            <a:pPr lvl="0"/>
            <a:r>
              <a:rPr/>
              <a:t>Ausblick: Anbindung Lieferanten- und DATEV-Schnittstelle, mobile Techniker-App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Vielen Dank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Fragen?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— Werkstatt-Management-System</dc:title>
  <dc:creator/>
  <cp:keywords/>
  <dcterms:created xsi:type="dcterms:W3CDTF">2026-08-05T06:42:32Z</dcterms:created>
  <dcterms:modified xsi:type="dcterms:W3CDTF">2026-08-05T06:42:32Z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ubtitle">
    <vt:lpwstr>Systemanalyse-Fallstudie * FixWerk GmbH</vt:lpwstr>
  </property>
</Properties>
</file>