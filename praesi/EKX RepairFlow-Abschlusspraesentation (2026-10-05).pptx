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0" y="0"/>
            <a:ext cx="4190695" cy="6858000"/>
          </a:xfrm>
          <a:prstGeom prst="rect">
            <a:avLst/>
          </a:prstGeom>
          <a:solidFill>
            <a:srgbClr val="DD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66760" y="914400"/>
            <a:ext cx="128016" cy="5029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400" y="914400"/>
            <a:ext cx="128016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64040" y="914400"/>
            <a:ext cx="128016" cy="5029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914400"/>
            <a:ext cx="128016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61320" y="914400"/>
            <a:ext cx="128016" cy="5029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09960" y="914400"/>
            <a:ext cx="128016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6675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2B3038"/>
                </a:solidFill>
                <a:latin typeface="Segoe UI"/>
              </a:rPr>
              <a:t>RepairFlow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F6FB0"/>
                </a:solidFill>
                <a:latin typeface="Segoe UI"/>
              </a:rPr>
              <a:t>Werkstatt-Management als Cloud-Plattform mit KI-Sofortdiagnose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6675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Abschlusspräsentation · Fallstudie Systemanalyse · Methoden der WI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Gruppe 1 · WWI25B4 · DHBW Karlsruhe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27.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B3038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25296"/>
            <a:ext cx="868680" cy="594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73352"/>
            <a:ext cx="96012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B3038"/>
                </a:solidFill>
                <a:latin typeface="Segoe UI"/>
              </a:rPr>
              <a:t>Das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Warum Werkstätten heute an Papier, Excel und Telefon scheitern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32888"/>
            <a:ext cx="10332720" cy="12700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587752"/>
            <a:ext cx="548640" cy="5486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8775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69464"/>
            <a:ext cx="96012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B3038"/>
                </a:solidFill>
                <a:latin typeface="Segoe UI"/>
              </a:rPr>
              <a:t>Die Idee: RepairFlow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Eine Cloud-Plattform für den gesamten Reparatur-Lebenszyklus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29000"/>
            <a:ext cx="10332720" cy="12700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483864"/>
            <a:ext cx="548640" cy="5486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8386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65576"/>
            <a:ext cx="96012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B3038"/>
                </a:solidFill>
                <a:latin typeface="Segoe UI"/>
              </a:rPr>
              <a:t>Features &amp; Use Cases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Was RepairFlow kann – und die KI-Sofortdiagnose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25112"/>
            <a:ext cx="10332720" cy="12700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379976"/>
            <a:ext cx="548640" cy="5486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799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61688"/>
            <a:ext cx="96012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B3038"/>
                </a:solidFill>
                <a:latin typeface="Segoe UI"/>
              </a:rPr>
              <a:t>Live-Demo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Der Prototyp der KI-Sofortdiagnose in Aktion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221224"/>
            <a:ext cx="10332720" cy="12700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5276088"/>
            <a:ext cx="548640" cy="5486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76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57800"/>
            <a:ext cx="96012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B3038"/>
                </a:solidFill>
                <a:latin typeface="Segoe UI"/>
              </a:rPr>
              <a:t>Ergebnis &amp; Ausblick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Nutzen, Erkenntnisse und wie es weitergeht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4A90D9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B3038"/>
                </a:solidFill>
                <a:latin typeface="Segoe UI"/>
              </a:rPr>
              <a:t>Mein E-Bike ist seit drei Wochen in der Werkstatt – und niemand kann mir sagen, wann es fertig 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F6FB0"/>
                </a:solidFill>
                <a:latin typeface="Segoe UI"/>
              </a:rPr>
              <a:t>– Kundin der FixWerk GmbH, unserem Pilotkunden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B3038"/>
                </a:solidFill>
                <a:latin typeface="Segoe UI"/>
              </a:rPr>
              <a:t>Werkstätten heute: Zettel, Excel und Telefon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25296"/>
            <a:ext cx="868680" cy="594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Unser Pilotkunde FixWerk GmbH (vier Filialen) zeigt die typischen Probleme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5257800" cy="1920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194560"/>
            <a:ext cx="475488" cy="475488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6776" y="2194560"/>
            <a:ext cx="4105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038"/>
                </a:solidFill>
                <a:latin typeface="Segoe UI"/>
              </a:rPr>
              <a:t>Kunden hören nichts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470916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Keine verlässliche Info, wann der Kostenvoranschlag freizugeben oder das Gerät abholbereit ist. Rückfragen laufen übers Telefon.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20240"/>
            <a:ext cx="5257800" cy="1920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19672" y="2194560"/>
            <a:ext cx="475488" cy="475488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19456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2194560"/>
            <a:ext cx="4105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038"/>
                </a:solidFill>
                <a:latin typeface="Segoe UI"/>
              </a:rPr>
              <a:t>Kein Auftragsstatus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834640"/>
            <a:ext cx="470916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Wer wissen will, wo ein Gerät steht, muss nachfragen. Papierzettel und Excel-Listen laufen auseinander.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5257800" cy="1920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389120"/>
            <a:ext cx="475488" cy="475488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89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6776" y="4389120"/>
            <a:ext cx="4105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038"/>
                </a:solidFill>
                <a:latin typeface="Segoe UI"/>
              </a:rPr>
              <a:t>Teile doppelt bestellt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29200"/>
            <a:ext cx="470916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Jede Filiale bestellt für sich, obwohl das Teil in der Nachbarfiliale liegt. Das kostet Zeit und Geld.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4114800"/>
            <a:ext cx="5257800" cy="1920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19672" y="4389120"/>
            <a:ext cx="475488" cy="475488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389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4389120"/>
            <a:ext cx="4105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038"/>
                </a:solidFill>
                <a:latin typeface="Segoe UI"/>
              </a:rPr>
              <a:t>Auslastung intransparent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5029200"/>
            <a:ext cx="470916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Termine werden nach Gefühl zugesagt. Die echte Kapazität der Techniker kennt niemand genau.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B3038"/>
                </a:solidFill>
                <a:latin typeface="Segoe UI"/>
              </a:rPr>
              <a:t>Die Idee: RepairFlow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25296"/>
            <a:ext cx="868680" cy="594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7607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1" i="0">
                <a:solidFill>
                  <a:srgbClr val="2F6FB0"/>
                </a:solidFill>
                <a:latin typeface="Segoe UI"/>
              </a:rPr>
              <a:t>Wir sind das Software-Startup, nicht die Werkstatt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2B3038"/>
                </a:solidFill>
                <a:latin typeface="Segoe UI"/>
              </a:rPr>
              <a:t>RepairFlow ist eine Cloud-Plattform für den gesamten Reparatur-Lebenszyklus – von der Anmeldung bis zur Abholung. Zielkunden sind unabhängige Werkstätten und kleine Ketten für Fahrrad, E-Bike und Elektronik.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B3038"/>
                </a:solidFill>
                <a:latin typeface="Segoe UI"/>
              </a:rPr>
              <a:t>Pilot- und Referenzkunde ist die FixWerk GmbH mit vier Filialen. An ihren Abläufen haben wir die Plattform entworfen; abgerechnet wird als monatliches Abo je Filiale.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83080"/>
            <a:ext cx="4572000" cy="41605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Vier Module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260604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60604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Kundenportal mit App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338328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38328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Auftrags- und Werkstattmodul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416052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160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1605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Ersatzteil-Disposition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493776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937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93776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Abrechnung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B3038"/>
                </a:solidFill>
                <a:latin typeface="Segoe UI"/>
              </a:rPr>
              <a:t>Drei Dinge machen uns anders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25296"/>
            <a:ext cx="868680" cy="594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410712" cy="356616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3410712" cy="12801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2331720"/>
            <a:ext cx="640080" cy="64008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26791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B3038"/>
                </a:solidFill>
                <a:latin typeface="Segoe UI"/>
              </a:rPr>
              <a:t>Eine Plattform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86200"/>
            <a:ext cx="26791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Fahrrad, E-Bike und Elektronik auf einer Plattform – mit gemeinsamer Kundenbasis und einem gemeinsamen Ersatzteillager.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410712" cy="356616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20240"/>
            <a:ext cx="3410712" cy="12801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00600" y="2331720"/>
            <a:ext cx="640080" cy="64008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331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00400"/>
            <a:ext cx="26791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B3038"/>
                </a:solidFill>
                <a:latin typeface="Segoe UI"/>
              </a:rPr>
              <a:t>Filialübergreifend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886200"/>
            <a:ext cx="26791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Bestände, Reservierungen und Umlagerungen über alle Standorte. Bestellt wird nur, was nirgends liegt.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920240"/>
            <a:ext cx="3410712" cy="356616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920240"/>
            <a:ext cx="3410712" cy="12801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2331720"/>
            <a:ext cx="640080" cy="64008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331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200400"/>
            <a:ext cx="26791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B3038"/>
                </a:solidFill>
                <a:latin typeface="Segoe UI"/>
              </a:rPr>
              <a:t>KI-Sofortdiagnose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886200"/>
            <a:ext cx="26791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Diagnosevorschlag, vorläufiger Kostenvoranschlag und Termin – bevor der Kunde die Werkstatt überhaupt betritt.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B3038"/>
                </a:solidFill>
                <a:latin typeface="Segoe UI"/>
              </a:rPr>
              <a:t>KI-Sofortdiagnose: Kostenvoranschlag in 60 Sekunden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25296"/>
            <a:ext cx="868680" cy="594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4206240" cy="402336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420624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>
                <a:solidFill>
                  <a:srgbClr val="FFFFFF"/>
                </a:solidFill>
                <a:latin typeface="Segoe UI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Sekunden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AF3FC"/>
                </a:solidFill>
                <a:latin typeface="Segoe UI"/>
              </a:rPr>
              <a:t>vom Foto zum vorläufigen Kostenvoranschlag – das Alleinstellungsmerkmal von RepairFlow</a:t>
            </a:r>
          </a:p>
        </p:txBody>
      </p:sp>
      <p:sp>
        <p:nvSpPr>
          <p:cNvPr id="9" name="Oval 8"/>
          <p:cNvSpPr/>
          <p:nvPr/>
        </p:nvSpPr>
        <p:spPr>
          <a:xfrm>
            <a:off x="5440680" y="1965960"/>
            <a:ext cx="512064" cy="51206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96596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1965960"/>
            <a:ext cx="53035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B3038"/>
                </a:solidFill>
                <a:latin typeface="Segoe UI"/>
              </a:rPr>
              <a:t>Aufnehmen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Foto, Video oder Ton in der App hochladen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2770632"/>
            <a:ext cx="512064" cy="51206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77063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770632"/>
            <a:ext cx="53035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B3038"/>
                </a:solidFill>
                <a:latin typeface="Segoe UI"/>
              </a:rPr>
              <a:t>Erkennen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KI nennt Gerätetyp, Ursache und Ersatzteile</a:t>
            </a:r>
          </a:p>
        </p:txBody>
      </p:sp>
      <p:sp>
        <p:nvSpPr>
          <p:cNvPr id="15" name="Oval 14"/>
          <p:cNvSpPr/>
          <p:nvPr/>
        </p:nvSpPr>
        <p:spPr>
          <a:xfrm>
            <a:off x="5440680" y="3575304"/>
            <a:ext cx="512064" cy="51206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357530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3575304"/>
            <a:ext cx="53035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B3038"/>
                </a:solidFill>
                <a:latin typeface="Segoe UI"/>
              </a:rPr>
              <a:t>Kalkulieren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RepairFlow berechnet einen vorläufigen KVA</a:t>
            </a:r>
          </a:p>
        </p:txBody>
      </p:sp>
      <p:sp>
        <p:nvSpPr>
          <p:cNvPr id="18" name="Oval 17"/>
          <p:cNvSpPr/>
          <p:nvPr/>
        </p:nvSpPr>
        <p:spPr>
          <a:xfrm>
            <a:off x="5440680" y="4379976"/>
            <a:ext cx="512064" cy="51206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437997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4379976"/>
            <a:ext cx="53035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B3038"/>
                </a:solidFill>
                <a:latin typeface="Segoe UI"/>
              </a:rPr>
              <a:t>Reservieren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Verfügbarkeit über alle Filialen prüfen</a:t>
            </a:r>
          </a:p>
        </p:txBody>
      </p:sp>
      <p:sp>
        <p:nvSpPr>
          <p:cNvPr id="21" name="Oval 20"/>
          <p:cNvSpPr/>
          <p:nvPr/>
        </p:nvSpPr>
        <p:spPr>
          <a:xfrm>
            <a:off x="5440680" y="5184648"/>
            <a:ext cx="512064" cy="51206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518464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5184648"/>
            <a:ext cx="53035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B3038"/>
                </a:solidFill>
                <a:latin typeface="Segoe UI"/>
              </a:rPr>
              <a:t>Termin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Filiale und Termin vorschlagen, Kunde bestätigt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B3038"/>
                </a:solidFill>
                <a:latin typeface="Segoe UI"/>
              </a:rPr>
              <a:t>Was RepairFlow kann: 19 Use Cases in 4 Bereichen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25296"/>
            <a:ext cx="868680" cy="594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35024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Verdichtet aus unserem Use-Case-Diagramm – die vier Funktionsbereiche der Plattform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5257800" cy="18288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240280"/>
            <a:ext cx="475488" cy="475488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6776" y="2240280"/>
            <a:ext cx="4105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038"/>
                </a:solidFill>
                <a:latin typeface="Segoe UI"/>
              </a:rPr>
              <a:t>Kundenportal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470916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Sofortdiagnose anfordern, Voranmeldung bestätigen, Kostenvoranschlag freigeben oder ablehnen.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65960"/>
            <a:ext cx="5257800" cy="18288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19672" y="2240280"/>
            <a:ext cx="475488" cy="475488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2402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2240280"/>
            <a:ext cx="4105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038"/>
                </a:solidFill>
                <a:latin typeface="Segoe UI"/>
              </a:rPr>
              <a:t>Auftrag &amp; Werkstatt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880360"/>
            <a:ext cx="470916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Auftrag anlegen, Diagnose erfassen, reparieren, fertigmelden, abrechnen, Reklamation bearbeiten.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50792"/>
            <a:ext cx="5257800" cy="18288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325112"/>
            <a:ext cx="475488" cy="475488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2511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6776" y="4325112"/>
            <a:ext cx="4105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038"/>
                </a:solidFill>
                <a:latin typeface="Segoe UI"/>
              </a:rPr>
              <a:t>Ersatzteil-Disposition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65192"/>
            <a:ext cx="470916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Verfügbarkeit prüfen, reservieren, bestellen, Wareneingang buchen, Nachbestellvorschlag, Retoure.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4050792"/>
            <a:ext cx="5257800" cy="18288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19672" y="4325112"/>
            <a:ext cx="475488" cy="475488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32511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4325112"/>
            <a:ext cx="41056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038"/>
                </a:solidFill>
                <a:latin typeface="Segoe UI"/>
              </a:rPr>
              <a:t>Administration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965192"/>
            <a:ext cx="470916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Werkstattbetrieb und Filialen verwalten – die Basis für den Mehr-Filial-Betrieb.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B3038"/>
                </a:solidFill>
                <a:latin typeface="Segoe UI"/>
              </a:rPr>
              <a:t>Der Reparaturauftrag – lückenlos nachverfolgt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25296"/>
            <a:ext cx="868680" cy="594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6634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2F6FB0"/>
                </a:solidFill>
                <a:latin typeface="Segoe UI"/>
              </a:rPr>
              <a:t>Jeder Schritt ist sichtbar – für Kunde und Werkstatt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2B3038"/>
                </a:solidFill>
                <a:latin typeface="Segoe UI"/>
              </a:rPr>
              <a:t>Hinter jedem Status steckt ein automatisierter Ablauf. Der Kunde sieht jederzeit, wo sein Gerät steht – ganz ohne Anruf in der Werkstatt.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B3038"/>
                </a:solidFill>
                <a:latin typeface="Segoe UI"/>
              </a:rPr>
              <a:t>Eine Reklamation startet bei Bedarf einen neuen, kostenfreien Zyklus.</a:t>
            </a:r>
          </a:p>
        </p:txBody>
      </p:sp>
      <p:sp>
        <p:nvSpPr>
          <p:cNvPr id="7" name="Oval 6"/>
          <p:cNvSpPr/>
          <p:nvPr/>
        </p:nvSpPr>
        <p:spPr>
          <a:xfrm>
            <a:off x="5943600" y="178308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783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78308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B3038"/>
                </a:solidFill>
                <a:latin typeface="Segoe UI"/>
              </a:rPr>
              <a:t>Angenommen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2240280"/>
            <a:ext cx="25400" cy="21031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0" y="2450592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4505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450592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B3038"/>
                </a:solidFill>
                <a:latin typeface="Segoe UI"/>
              </a:rPr>
              <a:t>In Diagnose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2907792"/>
            <a:ext cx="25400" cy="21031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0" y="3118104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31181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118104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B3038"/>
                </a:solidFill>
                <a:latin typeface="Segoe UI"/>
              </a:rPr>
              <a:t>KVA freigegeben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3575304"/>
            <a:ext cx="25400" cy="21031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0" y="3785616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7856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785616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B3038"/>
                </a:solidFill>
                <a:latin typeface="Segoe UI"/>
              </a:rPr>
              <a:t>In Reparatur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4242816"/>
            <a:ext cx="25400" cy="21031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0" y="4453128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44531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453128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B3038"/>
                </a:solidFill>
                <a:latin typeface="Segoe UI"/>
              </a:rPr>
              <a:t>Fertig gemeldet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4910328"/>
            <a:ext cx="25400" cy="21031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0" y="512064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51206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512064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B3038"/>
                </a:solidFill>
                <a:latin typeface="Segoe UI"/>
              </a:rPr>
              <a:t>Abgeholt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274320" cy="68580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0" y="0"/>
            <a:ext cx="274320" cy="68580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0"/>
            <a:ext cx="274320" cy="68580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64240" y="0"/>
            <a:ext cx="274320" cy="68580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0" y="0"/>
            <a:ext cx="274320" cy="68580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9144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6000" b="1" i="0">
                <a:solidFill>
                  <a:srgbClr val="FFFFFF"/>
                </a:solidFill>
                <a:latin typeface="Segoe UI"/>
              </a:rPr>
              <a:t>Live-Demo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703320"/>
            <a:ext cx="128016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EAF3FC"/>
                </a:solidFill>
                <a:latin typeface="Segoe UI"/>
              </a:rPr>
              <a:t>Der Prototyp der KI-Sofortdiagnose in Aktion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B3038"/>
                </a:solidFill>
                <a:latin typeface="Segoe UI"/>
              </a:rPr>
              <a:t>Was Sie gleich sehen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25296"/>
            <a:ext cx="868680" cy="594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6634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2F6FB0"/>
                </a:solidFill>
                <a:latin typeface="Segoe UI"/>
              </a:rPr>
              <a:t>Ein klickbarer Prototyp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B3038"/>
                </a:solidFill>
                <a:latin typeface="Segoe UI"/>
              </a:rPr>
              <a:t>Wir zeigen den Weg des Kunden vom defekten Gerät bis zum bestätigten Termin – genau die 60 Sekunden, die RepairFlow von jeder anderen Werkstattsoftware unterscheiden.</a:t>
            </a:r>
          </a:p>
        </p:txBody>
      </p:sp>
      <p:sp>
        <p:nvSpPr>
          <p:cNvPr id="7" name="Oval 6"/>
          <p:cNvSpPr/>
          <p:nvPr/>
        </p:nvSpPr>
        <p:spPr>
          <a:xfrm>
            <a:off x="5943600" y="1828800"/>
            <a:ext cx="512064" cy="51206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1828800"/>
            <a:ext cx="5029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Kunde lädt ein Foto des gebrochenen Displays hoch</a:t>
            </a:r>
          </a:p>
        </p:txBody>
      </p:sp>
      <p:sp>
        <p:nvSpPr>
          <p:cNvPr id="10" name="Oval 9"/>
          <p:cNvSpPr/>
          <p:nvPr/>
        </p:nvSpPr>
        <p:spPr>
          <a:xfrm>
            <a:off x="5943600" y="2651760"/>
            <a:ext cx="512064" cy="51206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651760"/>
            <a:ext cx="5029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KI erkennt den Schaden und das passende Ersatzteil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3474720"/>
            <a:ext cx="512064" cy="51206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347472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474720"/>
            <a:ext cx="5029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Vorläufiger Kostenvoranschlag erscheint sofort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0" y="4297680"/>
            <a:ext cx="512064" cy="51206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29768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4297680"/>
            <a:ext cx="5029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Verfügbarkeit und Termin werden vorgeschlagen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5120640"/>
            <a:ext cx="512064" cy="512064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51206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5120640"/>
            <a:ext cx="5029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Kunde bestätigt – die Voranmeldung ist angelegt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B3038"/>
                </a:solidFill>
                <a:latin typeface="Segoe UI"/>
              </a:rPr>
              <a:t>Was RepairFlow bringt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25296"/>
            <a:ext cx="868680" cy="594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4206240" cy="402336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4206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0" b="1" i="0">
                <a:solidFill>
                  <a:srgbClr val="4A90D9"/>
                </a:solidFill>
                <a:latin typeface="Segoe UI"/>
              </a:rPr>
              <a:t>60 %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B3038"/>
                </a:solidFill>
                <a:latin typeface="Segoe UI"/>
              </a:rPr>
              <a:t>der Werkstatt-Schritte laufen ohne manuelle Arbeit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modelliert in 10 Geschäftsprozessen</a:t>
            </a:r>
          </a:p>
        </p:txBody>
      </p:sp>
      <p:sp>
        <p:nvSpPr>
          <p:cNvPr id="9" name="Oval 8"/>
          <p:cNvSpPr/>
          <p:nvPr/>
        </p:nvSpPr>
        <p:spPr>
          <a:xfrm>
            <a:off x="5440680" y="205740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2057400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Kunden sehen jederzeit den Auftragsstatus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2990088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9900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990088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Keine doppelten Bestellungen dank filialübergreifendem Lager</a:t>
            </a:r>
          </a:p>
        </p:txBody>
      </p:sp>
      <p:sp>
        <p:nvSpPr>
          <p:cNvPr id="15" name="Oval 14"/>
          <p:cNvSpPr/>
          <p:nvPr/>
        </p:nvSpPr>
        <p:spPr>
          <a:xfrm>
            <a:off x="5440680" y="3922776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39227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922776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Termine nach echter Kapazität statt Bauchgefühl</a:t>
            </a:r>
          </a:p>
        </p:txBody>
      </p:sp>
      <p:sp>
        <p:nvSpPr>
          <p:cNvPr id="18" name="Oval 17"/>
          <p:cNvSpPr/>
          <p:nvPr/>
        </p:nvSpPr>
        <p:spPr>
          <a:xfrm>
            <a:off x="5440680" y="4855464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48554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4855464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Vorläufiger Kostenvoranschlag schon vor dem Werkstattbesuch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B3038"/>
                </a:solidFill>
                <a:latin typeface="Segoe UI"/>
              </a:rPr>
              <a:t>Was wir gelernt haben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25296"/>
            <a:ext cx="868680" cy="594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410712" cy="356616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3410712" cy="12801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2331720"/>
            <a:ext cx="640080" cy="64008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26791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B3038"/>
                </a:solidFill>
                <a:latin typeface="Segoe UI"/>
              </a:rPr>
              <a:t>Perspektive klären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267919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Werkstatt oder Softwareanbieter? Die klare Entscheidung für den Solution Provider hat das ganze Projekt geschärft.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410712" cy="356616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20240"/>
            <a:ext cx="3410712" cy="12801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00600" y="2331720"/>
            <a:ext cx="640080" cy="64008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331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00400"/>
            <a:ext cx="26791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B3038"/>
                </a:solidFill>
                <a:latin typeface="Segoe UI"/>
              </a:rPr>
              <a:t>Ein Vokabular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840480"/>
            <a:ext cx="267919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Prozesse, Klassen und Use Cases müssen dieselbe Sprache sprechen. Eine gemeinsame Modellbasis beseitigte die Abweichungen.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920240"/>
            <a:ext cx="3410712" cy="356616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920240"/>
            <a:ext cx="3410712" cy="12801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2331720"/>
            <a:ext cx="640080" cy="64008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3317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200400"/>
            <a:ext cx="26791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B3038"/>
                </a:solidFill>
                <a:latin typeface="Segoe UI"/>
              </a:rPr>
              <a:t>Prototyp zeigt Nutzen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840480"/>
            <a:ext cx="267919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Erst der klickbare Prototyp machte die KI-Sofortdiagnose für alle greifbar – mehr als jedes Diagramm.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2B3038"/>
                </a:solidFill>
                <a:latin typeface="Segoe UI"/>
              </a:rPr>
              <a:t>Fazit &amp; 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25296"/>
            <a:ext cx="868680" cy="5943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1" i="0">
                <a:solidFill>
                  <a:srgbClr val="2F6FB0"/>
                </a:solidFill>
                <a:latin typeface="Segoe UI"/>
              </a:rPr>
              <a:t>Aus einem Problem wurde ein Produkt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B3038"/>
                </a:solidFill>
                <a:latin typeface="Segoe UI"/>
              </a:rPr>
              <a:t>RepairFlow macht den Reparatur-Lebenszyklus transparent, filialübergreifend und schnell. Die KI-Sofortdiagnose bringt den Kostenvoranschlag zum Kunden, bevor er die Werkstatt betritt.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83080"/>
            <a:ext cx="4846320" cy="4160520"/>
          </a:xfrm>
          <a:prstGeom prst="roundRect">
            <a:avLst/>
          </a:prstGeom>
          <a:solidFill>
            <a:srgbClr val="DD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20116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F6FB0"/>
                </a:solidFill>
                <a:latin typeface="Segoe UI"/>
              </a:rPr>
              <a:t>Ausblick</a:t>
            </a:r>
          </a:p>
        </p:txBody>
      </p:sp>
      <p:sp>
        <p:nvSpPr>
          <p:cNvPr id="9" name="Oval 8"/>
          <p:cNvSpPr/>
          <p:nvPr/>
        </p:nvSpPr>
        <p:spPr>
          <a:xfrm>
            <a:off x="7040880" y="265176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651760"/>
            <a:ext cx="3566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B3038"/>
                </a:solidFill>
                <a:latin typeface="Segoe UI"/>
              </a:rPr>
              <a:t>Pilotbetrieb mit der FixWerk GmbH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0" y="365760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657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657600"/>
            <a:ext cx="3566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B3038"/>
                </a:solidFill>
                <a:latin typeface="Segoe UI"/>
              </a:rPr>
              <a:t>KI-Diagnose um Geräuschanalyse erweitern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0" y="466344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46634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663440"/>
            <a:ext cx="3566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B3038"/>
                </a:solidFill>
                <a:latin typeface="Segoe UI"/>
              </a:rPr>
              <a:t>Weitere Werkstätten im DACH-Raum gewinnen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DD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3474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2B3038"/>
                </a:solidFill>
                <a:latin typeface="Segoe UI"/>
              </a:rPr>
              <a:t>Vielen Dank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2400" b="1" i="0">
                <a:solidFill>
                  <a:srgbClr val="2F6FB0"/>
                </a:solidFill>
                <a:latin typeface="Segoe UI"/>
              </a:rPr>
              <a:t>Fragen?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Gruppe 1 · WWI25B4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00584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B7280"/>
                </a:solidFill>
                <a:latin typeface="Segoe UI"/>
              </a:rPr>
              <a:t>Wer welchen Beitrag vorgetragen hat</a:t>
            </a:r>
          </a:p>
        </p:txBody>
      </p:sp>
      <p:sp>
        <p:nvSpPr>
          <p:cNvPr id="6" name="Oval 5"/>
          <p:cNvSpPr/>
          <p:nvPr/>
        </p:nvSpPr>
        <p:spPr>
          <a:xfrm>
            <a:off x="5120640" y="169164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6916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91640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Nina Sattler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Einleitung, Fazit &amp; Ausblick</a:t>
            </a:r>
          </a:p>
        </p:txBody>
      </p:sp>
      <p:sp>
        <p:nvSpPr>
          <p:cNvPr id="9" name="Oval 8"/>
          <p:cNvSpPr/>
          <p:nvPr/>
        </p:nvSpPr>
        <p:spPr>
          <a:xfrm>
            <a:off x="5120640" y="2441448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24414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41448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David Leismann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Problem &amp; Ausgangslage</a:t>
            </a:r>
          </a:p>
        </p:txBody>
      </p:sp>
      <p:sp>
        <p:nvSpPr>
          <p:cNvPr id="12" name="Oval 11"/>
          <p:cNvSpPr/>
          <p:nvPr/>
        </p:nvSpPr>
        <p:spPr>
          <a:xfrm>
            <a:off x="5120640" y="3191256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1912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191256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Adrian Wenzler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Idee, Markt &amp; KI-Sofortdiagnose</a:t>
            </a:r>
          </a:p>
        </p:txBody>
      </p:sp>
      <p:sp>
        <p:nvSpPr>
          <p:cNvPr id="15" name="Oval 14"/>
          <p:cNvSpPr/>
          <p:nvPr/>
        </p:nvSpPr>
        <p:spPr>
          <a:xfrm>
            <a:off x="5120640" y="3941064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39410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941064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Kilian Platter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Features &amp; Use Cases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4690872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46908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690872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Maximilian Ewald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Reparatur-Lebenszyklus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0" y="544068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5440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5440680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B3038"/>
                </a:solidFill>
                <a:latin typeface="Segoe UI"/>
              </a:rPr>
              <a:t>Jakob Schwan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Live-Demo &amp; Erkenntnisse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RepairFlow  ·  Fallstudie Systemanalyse  ·  WWI25B4 Gruppe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